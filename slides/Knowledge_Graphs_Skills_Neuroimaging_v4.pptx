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ec636b44-225a-ccc8-5f10-4d4aa4baf0d9}">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Backup" id="{fecbfd8d-21a1-78a0-636c-c5eb9f8178a6}">
          <p14:sldIdLst>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topic, two forms. The Wikipedia article on the hippocampus is written for people: it opens by calling the hippocampus “a major component of the brain of humans and many other vertebrates”, and it exists in 62 languages. Wikidata holds the same topic as one item, Q48360, linked to all 62 articles by sitelinks, and says it as statements a program can use: part of the temporal lobe, subclass of brain region, instance of brain region type. A person reads the article; a program or an AI assistant needs statements with identifiers. Those identifiers matter most: the item carries 48 external identifiers, including InterLex birnlex_721, NeuroNames 3157, FMA 275020, MeSH D006624 and OpenAlex C2781161787, and they are what let one graph be joined to another, which is exactly what this talk does with datasets and papers. Two limits carry over to our own graphs. Wikidata has no UBERON identifier for the hippocampus, so a join on UBERON would miss it: it is not recorded. And the query at the bottom, which regions are part of the temporal lobe, returns five items, archicortex, auditory cortex, entorhinal cortex, hippocampus and one item with no English label, because the answer holds only what someone has recorded, not what anatomy says. Sources: slides/demo/wikidata_SOURCE.md (Q48360 revision 2516828778; English Wikipedia revision 1374836959; query run on query.wikidata.org on 2026-10-16).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Claude Code examples use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Before the worked examples, where a graph comes from. There are three starting points, and which lane you start in depends on what you have. If you have your own data, start with the dataset lane: PyNIDM's bidsmri2nidm and csv2nidm turn a BIDS dataset and its phenotype tables into NIDM, ReproNim's NIDM BIDS apps add FreeSurfer, ANTs and MRIQC outputs as NIDM, and the neuroimaging-kg skill (sensein/agent_skills PR #49) wraps these steps with validation and provenance. If you want what one paper reports, StructSense extracts named entities and resources such as datasets and tools, with the span of text each came from. If your question spans a literature, SynthScholar runs a systematic review from a protocol through search, screening and charting, and writes the result as a review graph. Questionnaires have their own route: ReproSchema Extraction turns a PDF questionnaire into ReproSchema assessments. All three lanes end as graphs that carry shared identifiers (participant IDs, dataset accessions, DOIs, ORCIDs), so they can be ingested into BrainKB (the sandbox's Ingest Knowledge Graph page, with a job-status page), queried with the brainkb skill or the BrainKB MCP server, and joined to each other: that is Objective 2. How this slide was checked: the sandbox page names were identified from the brainkb-ui source code (commit a4815a3) and were not exercised in this session, because the browser was unavailable, hence 'unverified'. What was actually done for the 'used here' examples: the ABIDE I graph (Knowledge graph around a single participant; Joining graphs through shared identifiers) was built by general sub-agents without a skill, and the neuroimaging-kg skill was written afterwards from that work and used for the Caltech one-site build (the two Claude Code example slides); the Kim 2023 claims came from a StructSense skill pilot run by Codex (Linking a claim to its evaluation and cohort; backup: StructSense extraction pilot), and the 74-study systematic review (SynthScholar skill for protocol, retrieval and export; screening and charting by sub-agents) (Evaluation schemes in 74 ABIDE studies; Asking Claude about the literature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The systematic review of 74 ABIDE studies (SynthScholar skill for protocol, retrieval and export; screening and charting by sub-agents), joining on DOI plus cohort description, found 9 studies reusing the 871-participant ABIDE I subset, including Abraham 2017, Parisot 2018 and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Which analyses the joined graph can support: the left panel adds one required data element at a time (Analyst B's prediction inputs; then IQ and FreeSurfer volumes, as for the phenotype embedding; then SRS, for a symptom-severity analysis) and shows how many participants remain and which element limits each step; the right panel shows, per site, the share of participants with each element.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Systematic review (SynthScholar skill for protocol validation, open-access retrieval, corpus build and export; OpenAlex search, screening and charting by sub-agents):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systematic review (SynthScholar skill v0.3.0 for protocol validation, open-access retrieval, corpus build, schema check and export; OpenAlex search and selection, screening and charting by eight sub-agents, quote checks and synthesis by sub-agents):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run (Claude Sonnet, 2026-10-15) recorded in the transcript; the slides show those actual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run (Claude Sonnet, 2026-10-15) recorded in the transcript; the slides show those actual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(1793 triples) and the answer is shown as returned. The badge in the corner of every slide is the same record. Who produced what: an orchestrating Claude Code session briefed general sub-agents (badge A) that built the ABIDE experiment, the deck and the figures with their own code; named skills (badge S) were used only where a slide says so: the pptx skill for the deck, SynthScholar for the review's protocol, retrieval and export, StructSense for the Kim 2023 claim pilot (run by Codex), and neuroimaging-kg for the Claude Code examples and the Caltech harmonisation numbers; Brain Researcher was reached through MCP (badge M).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1:00 Wikipedia and Wikidata, 0:40 objectives, 0:30 the two datasets, 1:00 four-statement primer; objective 1: 1:00 dataset and publication components, 1:00 building a graph from a dataset, a paper or a set of papers, 0:30 entities, 1:00 participant graph, 1:30 claim chain, 0:45 claim exercise, 0:30 quotation checks; objective 2: 1:30 joining graphs, 1:00 harmonising graphs, 0:45 analyses supported by the joined data, 0:45 ABIDE design, 1:00 ABIDE results, 0:30 QC exercise, 0:45 dependency tracing, 0:30 publications and abstracts, 1:00 asking Claude about the literature graph, 0:30 evaluation schemes, 1:00 ReproPond and ReproLake; with an assistant: 1:15 example: building a graph in Claude Code, 1:15 example: querying and using the graph, 0:45 the lecture's provenance graph; close: 1:00 practices, 0:45 discussion). Open the floor: which link in the chain (manifest, scope, derivative lineage, review) would your lab require before an agent's change is accepted? Offer a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'Analyses supported by the joined data': the share of each ABIDE I site's participants with a value for each data element, from results/element_coverage.json (query Q14).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eproNim/llm-workshop-kg" TargetMode="External"/><Relationship Id="rId3" Type="http://schemas.openxmlformats.org/officeDocument/2006/relationships/hyperlink" Target="https://github.com/ReproNim/llm-workshop-kg"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1800" b="1" dirty="0">
                <a:solidFill>
                  <a:schemeClr val="bg2"/>
                </a:solidFill>
              </a:rPr>
              <a:t>Satrajit Ghosh</a:t>
            </a:r>
            <a:endParaRPr lang="en-US" sz="2000" dirty="0"/>
          </a:p>
        </p:txBody>
      </p:sp>
      <p:pic>
        <p:nvPicPr>
          <p:cNvPr id="4" name="repoQR" descr="/Users/satra/software/repronim/llm-workshop-kg/slides/figs_slide/repo_qr.png">
            <a:hlinkClick r:id="rId2" tooltip="github.com/ReproNim/llm-workshop-kg"/>
          </p:cNvPr>
          <p:cNvPicPr>
            <a:picLocks noChangeAspect="1"/>
          </p:cNvPicPr>
          <p:nvPr/>
        </p:nvPicPr>
        <p:blipFill>
          <a:blip r:embed="rId1"/>
          <a:stretch>
            <a:fillRect/>
          </a:stretch>
        </p:blipFill>
        <p:spPr>
          <a:xfrm>
            <a:off x="731520" y="4251960"/>
            <a:ext cx="1554480" cy="1554480"/>
          </a:xfrm>
          <a:prstGeom prst="rect">
            <a:avLst/>
          </a:prstGeom>
        </p:spPr>
      </p:pic>
      <p:sp>
        <p:nvSpPr>
          <p:cNvPr id="5" name="text1"/>
          <p:cNvSpPr txBox="1"/>
          <p:nvPr/>
        </p:nvSpPr>
        <p:spPr>
          <a:xfrm>
            <a:off x="2468880" y="4572000"/>
            <a:ext cx="3840480" cy="868680"/>
          </a:xfrm>
          <a:prstGeom prst="rect">
            <a:avLst/>
          </a:prstGeom>
          <a:noFill/>
          <a:ln/>
        </p:spPr>
        <p:txBody>
          <a:bodyPr wrap="square" lIns="0" tIns="0" rIns="0" bIns="0" rtlCol="0" anchor="ctr"/>
          <a:lstStyle/>
          <a:p>
            <a:pPr indent="0" marL="0">
              <a:buNone/>
            </a:pPr>
            <a:r>
              <a:rPr lang="en-US" sz="1400" dirty="0">
                <a:solidFill>
                  <a:srgbClr val="C9D3D7"/>
                </a:solidFill>
              </a:rPr>
              <a:t>Slides, code, graphs and provenance</a:t>
            </a:r>
            <a:endParaRPr lang="en-US" sz="1800" dirty="0"/>
          </a:p>
          <a:p>
            <a:pPr indent="0" marL="0">
              <a:buNone/>
            </a:pPr>
            <a:r>
              <a:rPr lang="en-US" sz="16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github.com/ReproNim/llm-workshop-kg</a:t>
            </a:r>
            <a:endParaRPr lang="en-US" sz="1800" dirty="0"/>
          </a:p>
        </p:txBody>
      </p:sp>
      <p:sp>
        <p:nvSpPr>
          <p:cNvPr id="6" name="text2"/>
          <p:cNvSpPr txBox="1"/>
          <p:nvPr/>
        </p:nvSpPr>
        <p:spPr>
          <a:xfrm>
            <a:off x="6355080" y="370332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7" name="text3"/>
          <p:cNvSpPr txBox="1"/>
          <p:nvPr/>
        </p:nvSpPr>
        <p:spPr>
          <a:xfrm>
            <a:off x="6355080" y="411480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8" name="keyChipH"/>
          <p:cNvSpPr txBox="1"/>
          <p:nvPr/>
        </p:nvSpPr>
        <p:spPr>
          <a:xfrm>
            <a:off x="6355080" y="44256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9" name="text4"/>
          <p:cNvSpPr txBox="1"/>
          <p:nvPr/>
        </p:nvSpPr>
        <p:spPr>
          <a:xfrm>
            <a:off x="6665976" y="438912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10" name="keyChipL"/>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11" name="text5"/>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2" name="keyChipS"/>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S</a:t>
            </a:r>
            <a:endParaRPr lang="en-US" sz="1100" dirty="0"/>
          </a:p>
        </p:txBody>
      </p:sp>
      <p:sp>
        <p:nvSpPr>
          <p:cNvPr id="13" name="text6"/>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an agent followed a named skill (named on slide)</a:t>
            </a:r>
            <a:endParaRPr lang="en-US" sz="1200" dirty="0"/>
          </a:p>
        </p:txBody>
      </p:sp>
      <p:sp>
        <p:nvSpPr>
          <p:cNvPr id="14"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5" name="text7"/>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general agent work: own code, no skill</a:t>
            </a:r>
            <a:endParaRPr lang="en-US" sz="1200" dirty="0"/>
          </a:p>
        </p:txBody>
      </p:sp>
      <p:sp>
        <p:nvSpPr>
          <p:cNvPr id="16"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7" name="text8"/>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8"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9" name="text9"/>
          <p:cNvSpPr txBox="1"/>
          <p:nvPr/>
        </p:nvSpPr>
        <p:spPr>
          <a:xfrm>
            <a:off x="6665976" y="5760720"/>
            <a:ext cx="3063240" cy="274320"/>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a:t>
            </a:r>
            <a:endParaRPr lang="en-US" sz="1200" dirty="0"/>
          </a:p>
        </p:txBody>
      </p:sp>
      <p:sp>
        <p:nvSpPr>
          <p:cNvPr id="20" name="keyChipP"/>
          <p:cNvSpPr txBox="1"/>
          <p:nvPr/>
        </p:nvSpPr>
        <p:spPr>
          <a:xfrm>
            <a:off x="6355080" y="60716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21" name="text10"/>
          <p:cNvSpPr txBox="1"/>
          <p:nvPr/>
        </p:nvSpPr>
        <p:spPr>
          <a:xfrm>
            <a:off x="6665976" y="6035040"/>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22" name="text11"/>
          <p:cNvSpPr txBox="1"/>
          <p:nvPr/>
        </p:nvSpPr>
        <p:spPr>
          <a:xfrm>
            <a:off x="9829800" y="411480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23" name="text12"/>
          <p:cNvSpPr txBox="1"/>
          <p:nvPr/>
        </p:nvSpPr>
        <p:spPr>
          <a:xfrm>
            <a:off x="9829800" y="440740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4" name="text13"/>
          <p:cNvSpPr txBox="1"/>
          <p:nvPr/>
        </p:nvSpPr>
        <p:spPr>
          <a:xfrm>
            <a:off x="9829800" y="483717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5" name="text14"/>
          <p:cNvSpPr txBox="1"/>
          <p:nvPr/>
        </p:nvSpPr>
        <p:spPr>
          <a:xfrm>
            <a:off x="9829800" y="526694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6" name="text15"/>
          <p:cNvSpPr txBox="1"/>
          <p:nvPr/>
        </p:nvSpPr>
        <p:spPr>
          <a:xfrm>
            <a:off x="9829800" y="585216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8"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9"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30"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Wikipedia and Wikidata: prose and a structured graph</a:t>
            </a:r>
            <a:endParaRPr lang="en-US" sz="3200" dirty="0"/>
          </a:p>
        </p:txBody>
      </p:sp>
      <p:sp>
        <p:nvSpPr>
          <p:cNvPr id="3" name="text16"/>
          <p:cNvSpPr txBox="1"/>
          <p:nvPr/>
        </p:nvSpPr>
        <p:spPr>
          <a:xfrm>
            <a:off x="411480" y="1325880"/>
            <a:ext cx="3657600" cy="411480"/>
          </a:xfrm>
          <a:prstGeom prst="rect">
            <a:avLst/>
          </a:prstGeom>
          <a:noFill/>
          <a:ln/>
        </p:spPr>
        <p:txBody>
          <a:bodyPr wrap="square" lIns="0" tIns="0" rIns="0" bIns="0" rtlCol="0" anchor="ctr"/>
          <a:lstStyle/>
          <a:p>
            <a:pPr indent="0" marL="0">
              <a:buNone/>
            </a:pPr>
            <a:r>
              <a:rPr lang="en-US" sz="1800" b="1" dirty="0">
                <a:solidFill>
                  <a:schemeClr val="tx2"/>
                </a:solidFill>
              </a:rPr>
              <a:t>Wikipedia: written for people</a:t>
            </a:r>
            <a:endParaRPr lang="en-US" sz="1800" dirty="0"/>
          </a:p>
        </p:txBody>
      </p:sp>
      <p:sp>
        <p:nvSpPr>
          <p:cNvPr id="4" name="text17"/>
          <p:cNvSpPr txBox="1"/>
          <p:nvPr/>
        </p:nvSpPr>
        <p:spPr>
          <a:xfrm>
            <a:off x="5760720" y="1325880"/>
            <a:ext cx="6035040" cy="411480"/>
          </a:xfrm>
          <a:prstGeom prst="rect">
            <a:avLst/>
          </a:prstGeom>
          <a:noFill/>
          <a:ln/>
        </p:spPr>
        <p:txBody>
          <a:bodyPr wrap="square" lIns="0" tIns="0" rIns="0" bIns="0" rtlCol="0" anchor="ctr"/>
          <a:lstStyle/>
          <a:p>
            <a:pPr indent="0" marL="0">
              <a:buNone/>
            </a:pPr>
            <a:r>
              <a:rPr lang="en-US" sz="1800" b="1" dirty="0">
                <a:solidFill>
                  <a:schemeClr val="tx2"/>
                </a:solidFill>
              </a:rPr>
              <a:t>Wikidata: statements a program can use</a:t>
            </a:r>
            <a:endParaRPr lang="en-US" sz="1800" dirty="0"/>
          </a:p>
        </p:txBody>
      </p:sp>
      <p:sp>
        <p:nvSpPr>
          <p:cNvPr id="5" name="shape18"/>
          <p:cNvSpPr/>
          <p:nvPr/>
        </p:nvSpPr>
        <p:spPr>
          <a:xfrm>
            <a:off x="411480" y="1810512"/>
            <a:ext cx="3520440" cy="2743200"/>
          </a:xfrm>
          <a:prstGeom prst="roundRect">
            <a:avLst>
              <a:gd name="adj" fmla="val 2000"/>
            </a:avLst>
          </a:prstGeom>
          <a:solidFill>
            <a:schemeClr val="bg1"/>
          </a:solidFill>
          <a:ln w="19050">
            <a:solidFill>
              <a:srgbClr val="C9D3D7"/>
            </a:solidFill>
            <a:prstDash val="solid"/>
          </a:ln>
        </p:spPr>
      </p:sp>
      <p:sp>
        <p:nvSpPr>
          <p:cNvPr id="6" name="text19"/>
          <p:cNvSpPr txBox="1"/>
          <p:nvPr/>
        </p:nvSpPr>
        <p:spPr>
          <a:xfrm>
            <a:off x="621792" y="1901952"/>
            <a:ext cx="3108960" cy="457200"/>
          </a:xfrm>
          <a:prstGeom prst="rect">
            <a:avLst/>
          </a:prstGeom>
          <a:noFill/>
          <a:ln/>
        </p:spPr>
        <p:txBody>
          <a:bodyPr wrap="square" lIns="0" tIns="0" rIns="0" bIns="0" rtlCol="0" anchor="ctr"/>
          <a:lstStyle/>
          <a:p>
            <a:pPr indent="0" marL="0">
              <a:buNone/>
            </a:pPr>
            <a:r>
              <a:rPr lang="en-US" sz="2400" dirty="0">
                <a:solidFill>
                  <a:schemeClr val="tx1"/>
                </a:solidFill>
                <a:latin typeface="Georgia" pitchFamily="34" charset="0"/>
                <a:ea typeface="Georgia" pitchFamily="34" charset="-122"/>
                <a:cs typeface="Georgia" pitchFamily="34" charset="-120"/>
              </a:rPr>
              <a:t>Hippocampus</a:t>
            </a:r>
            <a:endParaRPr lang="en-US" sz="2400" dirty="0"/>
          </a:p>
        </p:txBody>
      </p:sp>
      <p:sp>
        <p:nvSpPr>
          <p:cNvPr id="7" name="shape20"/>
          <p:cNvSpPr/>
          <p:nvPr/>
        </p:nvSpPr>
        <p:spPr>
          <a:xfrm>
            <a:off x="621792" y="2377440"/>
            <a:ext cx="3108960" cy="18288"/>
          </a:xfrm>
          <a:prstGeom prst="rect">
            <a:avLst/>
          </a:prstGeom>
          <a:solidFill>
            <a:srgbClr val="C9D3D7"/>
          </a:solidFill>
          <a:ln/>
        </p:spPr>
      </p:sp>
      <p:sp>
        <p:nvSpPr>
          <p:cNvPr id="8" name="text21"/>
          <p:cNvSpPr txBox="1"/>
          <p:nvPr/>
        </p:nvSpPr>
        <p:spPr>
          <a:xfrm>
            <a:off x="621792" y="2468880"/>
            <a:ext cx="3108960" cy="868680"/>
          </a:xfrm>
          <a:prstGeom prst="rect">
            <a:avLst/>
          </a:prstGeom>
          <a:noFill/>
          <a:ln/>
        </p:spPr>
        <p:txBody>
          <a:bodyPr wrap="square" lIns="0" tIns="0" rIns="0" bIns="0" rtlCol="0" anchor="t"/>
          <a:lstStyle/>
          <a:p>
            <a:pPr indent="0" marL="0">
              <a:buNone/>
            </a:pPr>
            <a:r>
              <a:rPr lang="en-US" sz="1600" i="1" dirty="0">
                <a:solidFill>
                  <a:schemeClr val="tx1"/>
                </a:solidFill>
                <a:latin typeface="Georgia" pitchFamily="34" charset="0"/>
                <a:ea typeface="Georgia" pitchFamily="34" charset="-122"/>
                <a:cs typeface="Georgia" pitchFamily="34" charset="-120"/>
              </a:rPr>
              <a:t>“… a major component of the brain of humans and many other vertebrates …”</a:t>
            </a:r>
            <a:endParaRPr lang="en-US" sz="1600" dirty="0"/>
          </a:p>
        </p:txBody>
      </p:sp>
      <p:sp>
        <p:nvSpPr>
          <p:cNvPr id="9" name="shape22"/>
          <p:cNvSpPr/>
          <p:nvPr/>
        </p:nvSpPr>
        <p:spPr>
          <a:xfrm>
            <a:off x="621792" y="3456432"/>
            <a:ext cx="3017520" cy="91440"/>
          </a:xfrm>
          <a:prstGeom prst="roundRect">
            <a:avLst>
              <a:gd name="adj" fmla="val 500000"/>
            </a:avLst>
          </a:prstGeom>
          <a:solidFill>
            <a:srgbClr val="E3E9EC"/>
          </a:solidFill>
          <a:ln/>
        </p:spPr>
      </p:sp>
      <p:sp>
        <p:nvSpPr>
          <p:cNvPr id="10" name="shape23"/>
          <p:cNvSpPr/>
          <p:nvPr/>
        </p:nvSpPr>
        <p:spPr>
          <a:xfrm>
            <a:off x="621792" y="3657600"/>
            <a:ext cx="2788920" cy="91440"/>
          </a:xfrm>
          <a:prstGeom prst="roundRect">
            <a:avLst>
              <a:gd name="adj" fmla="val 500000"/>
            </a:avLst>
          </a:prstGeom>
          <a:solidFill>
            <a:srgbClr val="E3E9EC"/>
          </a:solidFill>
          <a:ln/>
        </p:spPr>
      </p:sp>
      <p:sp>
        <p:nvSpPr>
          <p:cNvPr id="11" name="shape24"/>
          <p:cNvSpPr/>
          <p:nvPr/>
        </p:nvSpPr>
        <p:spPr>
          <a:xfrm>
            <a:off x="621792" y="3858768"/>
            <a:ext cx="3108960" cy="91440"/>
          </a:xfrm>
          <a:prstGeom prst="roundRect">
            <a:avLst>
              <a:gd name="adj" fmla="val 500000"/>
            </a:avLst>
          </a:prstGeom>
          <a:solidFill>
            <a:srgbClr val="E3E9EC"/>
          </a:solidFill>
          <a:ln/>
        </p:spPr>
      </p:sp>
      <p:sp>
        <p:nvSpPr>
          <p:cNvPr id="12" name="shape25"/>
          <p:cNvSpPr/>
          <p:nvPr/>
        </p:nvSpPr>
        <p:spPr>
          <a:xfrm>
            <a:off x="621792" y="4059936"/>
            <a:ext cx="2377440" cy="91440"/>
          </a:xfrm>
          <a:prstGeom prst="roundRect">
            <a:avLst>
              <a:gd name="adj" fmla="val 500000"/>
            </a:avLst>
          </a:prstGeom>
          <a:solidFill>
            <a:srgbClr val="E3E9EC"/>
          </a:solidFill>
          <a:ln/>
        </p:spPr>
      </p:sp>
      <p:sp>
        <p:nvSpPr>
          <p:cNvPr id="13" name="shape26"/>
          <p:cNvSpPr/>
          <p:nvPr/>
        </p:nvSpPr>
        <p:spPr>
          <a:xfrm>
            <a:off x="621792" y="4261104"/>
            <a:ext cx="2926080" cy="91440"/>
          </a:xfrm>
          <a:prstGeom prst="roundRect">
            <a:avLst>
              <a:gd name="adj" fmla="val 500000"/>
            </a:avLst>
          </a:prstGeom>
          <a:solidFill>
            <a:srgbClr val="E3E9EC"/>
          </a:solidFill>
          <a:ln/>
        </p:spPr>
      </p:sp>
      <p:sp>
        <p:nvSpPr>
          <p:cNvPr id="14" name="text27"/>
          <p:cNvSpPr txBox="1"/>
          <p:nvPr/>
        </p:nvSpPr>
        <p:spPr>
          <a:xfrm>
            <a:off x="411480" y="4599432"/>
            <a:ext cx="3520440" cy="365760"/>
          </a:xfrm>
          <a:prstGeom prst="rect">
            <a:avLst/>
          </a:prstGeom>
          <a:noFill/>
          <a:ln/>
        </p:spPr>
        <p:txBody>
          <a:bodyPr wrap="square" lIns="0" tIns="0" rIns="0" bIns="0" rtlCol="0" anchor="ctr"/>
          <a:lstStyle/>
          <a:p>
            <a:pPr algn="ctr" indent="0" marL="0">
              <a:buNone/>
            </a:pPr>
            <a:r>
              <a:rPr lang="en-US" sz="1600" dirty="0">
                <a:solidFill>
                  <a:schemeClr val="accent3"/>
                </a:solidFill>
              </a:rPr>
              <a:t>62 language versions</a:t>
            </a:r>
            <a:endParaRPr lang="en-US" sz="1600" dirty="0"/>
          </a:p>
        </p:txBody>
      </p:sp>
      <p:sp>
        <p:nvSpPr>
          <p:cNvPr id="15" name="curve28"/>
          <p:cNvSpPr/>
          <p:nvPr/>
        </p:nvSpPr>
        <p:spPr>
          <a:xfrm>
            <a:off x="3931920" y="2834640"/>
            <a:ext cx="2743200" cy="45720"/>
          </a:xfrm>
          <a:custGeom>
            <a:avLst/>
            <a:gdLst/>
            <a:ahLst/>
            <a:cxnLst/>
            <a:rect l="l" t="t" r="r" b="b"/>
            <a:pathLst>
              <a:path w="2743200" h="45720">
                <a:moveTo>
                  <a:pt x="0" y="45720"/>
                </a:moveTo>
                <a:cubicBezTo>
                  <a:pt x="1371600" y="45720"/>
                  <a:pt x="1371600" y="0"/>
                  <a:pt x="2743200" y="0"/>
                </a:cubicBezTo>
              </a:path>
            </a:pathLst>
          </a:custGeom>
          <a:ln w="31750">
            <a:solidFill>
              <a:schemeClr val="accent2"/>
            </a:solidFill>
            <a:prstDash val="solid"/>
            <a:tailEnd type="triangle"/>
          </a:ln>
        </p:spPr>
      </p:sp>
      <p:sp>
        <p:nvSpPr>
          <p:cNvPr id="16" name="curve29"/>
          <p:cNvSpPr/>
          <p:nvPr/>
        </p:nvSpPr>
        <p:spPr>
          <a:xfrm>
            <a:off x="3931920" y="3154680"/>
            <a:ext cx="2743200" cy="45720"/>
          </a:xfrm>
          <a:custGeom>
            <a:avLst/>
            <a:gdLst/>
            <a:ahLst/>
            <a:cxnLst/>
            <a:rect l="l" t="t" r="r" b="b"/>
            <a:pathLst>
              <a:path w="2743200" h="45720">
                <a:moveTo>
                  <a:pt x="2743200" y="0"/>
                </a:moveTo>
                <a:cubicBezTo>
                  <a:pt x="1371600" y="0"/>
                  <a:pt x="1371600" y="45720"/>
                  <a:pt x="0" y="45720"/>
                </a:cubicBezTo>
              </a:path>
            </a:pathLst>
          </a:custGeom>
          <a:ln w="31750">
            <a:solidFill>
              <a:schemeClr val="accent2"/>
            </a:solidFill>
            <a:prstDash val="solid"/>
            <a:tailEnd type="triangle"/>
          </a:ln>
        </p:spPr>
      </p:sp>
      <p:sp>
        <p:nvSpPr>
          <p:cNvPr id="17" name="text30"/>
          <p:cNvSpPr txBox="1"/>
          <p:nvPr/>
        </p:nvSpPr>
        <p:spPr>
          <a:xfrm>
            <a:off x="4069080" y="2423160"/>
            <a:ext cx="2468880" cy="365760"/>
          </a:xfrm>
          <a:prstGeom prst="rect">
            <a:avLst/>
          </a:prstGeom>
          <a:noFill/>
          <a:ln/>
        </p:spPr>
        <p:txBody>
          <a:bodyPr wrap="square" lIns="0" tIns="0" rIns="0" bIns="0" rtlCol="0" anchor="ctr"/>
          <a:lstStyle/>
          <a:p>
            <a:pPr algn="ctr" indent="0" marL="0">
              <a:buNone/>
            </a:pPr>
            <a:r>
              <a:rPr lang="en-US" sz="1600" b="1" i="1" dirty="0">
                <a:solidFill>
                  <a:schemeClr val="accent2"/>
                </a:solidFill>
              </a:rPr>
              <a:t>sitelink</a:t>
            </a:r>
            <a:endParaRPr lang="en-US" sz="1600" dirty="0"/>
          </a:p>
        </p:txBody>
      </p:sp>
      <p:sp>
        <p:nvSpPr>
          <p:cNvPr id="18" name="text31"/>
          <p:cNvSpPr txBox="1"/>
          <p:nvPr/>
        </p:nvSpPr>
        <p:spPr>
          <a:xfrm>
            <a:off x="4069080" y="3291840"/>
            <a:ext cx="2468880" cy="365760"/>
          </a:xfrm>
          <a:prstGeom prst="rect">
            <a:avLst/>
          </a:prstGeom>
          <a:noFill/>
          <a:ln/>
        </p:spPr>
        <p:txBody>
          <a:bodyPr wrap="square" lIns="0" tIns="0" rIns="0" bIns="0" rtlCol="0" anchor="ctr"/>
          <a:lstStyle/>
          <a:p>
            <a:pPr algn="ctr" indent="0" marL="0">
              <a:buNone/>
            </a:pPr>
            <a:r>
              <a:rPr lang="en-US" sz="1500" dirty="0">
                <a:solidFill>
                  <a:schemeClr val="accent2"/>
                </a:solidFill>
              </a:rPr>
              <a:t>one item ↔ 62 articles</a:t>
            </a:r>
            <a:endParaRPr lang="en-US" sz="1500" dirty="0"/>
          </a:p>
        </p:txBody>
      </p:sp>
      <p:sp>
        <p:nvSpPr>
          <p:cNvPr id="19" name="shape32"/>
          <p:cNvSpPr txBox="1"/>
          <p:nvPr/>
        </p:nvSpPr>
        <p:spPr>
          <a:xfrm>
            <a:off x="6675120" y="2487168"/>
            <a:ext cx="2194560" cy="96012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Q48360</a:t>
            </a:r>
            <a:endParaRPr lang="en-US" sz="1800" dirty="0"/>
          </a:p>
          <a:p>
            <a:pPr algn="ctr" indent="0" marL="0">
              <a:buNone/>
            </a:pPr>
            <a:r>
              <a:rPr lang="en-US" sz="1600" dirty="0">
                <a:solidFill>
                  <a:schemeClr val="bg1"/>
                </a:solidFill>
              </a:rPr>
              <a:t>hippocampus</a:t>
            </a:r>
            <a:endParaRPr lang="en-US" sz="1800" dirty="0"/>
          </a:p>
        </p:txBody>
      </p:sp>
      <p:sp>
        <p:nvSpPr>
          <p:cNvPr id="20" name="curve33"/>
          <p:cNvSpPr/>
          <p:nvPr/>
        </p:nvSpPr>
        <p:spPr>
          <a:xfrm>
            <a:off x="8869680" y="2093976"/>
            <a:ext cx="1188720" cy="873252"/>
          </a:xfrm>
          <a:custGeom>
            <a:avLst/>
            <a:gdLst/>
            <a:ahLst/>
            <a:cxnLst/>
            <a:rect l="l" t="t" r="r" b="b"/>
            <a:pathLst>
              <a:path w="1188720" h="873252">
                <a:moveTo>
                  <a:pt x="0" y="873252"/>
                </a:moveTo>
                <a:cubicBezTo>
                  <a:pt x="594360" y="873252"/>
                  <a:pt x="594360" y="0"/>
                  <a:pt x="1188720" y="0"/>
                </a:cubicBezTo>
              </a:path>
            </a:pathLst>
          </a:custGeom>
          <a:ln w="25400">
            <a:solidFill>
              <a:schemeClr val="accent1"/>
            </a:solidFill>
            <a:prstDash val="solid"/>
            <a:tailEnd type="triangle"/>
          </a:ln>
        </p:spPr>
      </p:sp>
      <p:sp>
        <p:nvSpPr>
          <p:cNvPr id="21" name="shape34"/>
          <p:cNvSpPr txBox="1"/>
          <p:nvPr/>
        </p:nvSpPr>
        <p:spPr>
          <a:xfrm>
            <a:off x="10058400" y="1810512"/>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temporal lobe</a:t>
            </a:r>
            <a:endParaRPr lang="en-US" sz="1500" dirty="0"/>
          </a:p>
        </p:txBody>
      </p:sp>
      <p:sp>
        <p:nvSpPr>
          <p:cNvPr id="22" name="text35"/>
          <p:cNvSpPr txBox="1"/>
          <p:nvPr/>
        </p:nvSpPr>
        <p:spPr>
          <a:xfrm>
            <a:off x="8887968" y="1828800"/>
            <a:ext cx="1188720" cy="274320"/>
          </a:xfrm>
          <a:prstGeom prst="rect">
            <a:avLst/>
          </a:prstGeom>
          <a:noFill/>
          <a:ln/>
        </p:spPr>
        <p:txBody>
          <a:bodyPr wrap="square" lIns="0" tIns="0" rIns="0" bIns="0" rtlCol="0" anchor="ctr"/>
          <a:lstStyle/>
          <a:p>
            <a:pPr algn="ctr" indent="0" marL="0">
              <a:buNone/>
            </a:pPr>
            <a:r>
              <a:rPr lang="en-US" sz="1400" i="1" dirty="0">
                <a:solidFill>
                  <a:schemeClr val="accent1"/>
                </a:solidFill>
              </a:rPr>
              <a:t>part of</a:t>
            </a:r>
            <a:endParaRPr lang="en-US" sz="1400" dirty="0"/>
          </a:p>
        </p:txBody>
      </p:sp>
      <p:sp>
        <p:nvSpPr>
          <p:cNvPr id="23" name="curve36"/>
          <p:cNvSpPr/>
          <p:nvPr/>
        </p:nvSpPr>
        <p:spPr>
          <a:xfrm>
            <a:off x="8869680" y="2967228"/>
            <a:ext cx="1188720" cy="4572"/>
          </a:xfrm>
          <a:custGeom>
            <a:avLst/>
            <a:gdLst/>
            <a:ahLst/>
            <a:cxnLst/>
            <a:rect l="l" t="t" r="r" b="b"/>
            <a:pathLst>
              <a:path w="1188720" h="4572">
                <a:moveTo>
                  <a:pt x="0" y="0"/>
                </a:moveTo>
                <a:cubicBezTo>
                  <a:pt x="594360" y="0"/>
                  <a:pt x="594360" y="4572"/>
                  <a:pt x="1188720" y="4572"/>
                </a:cubicBezTo>
              </a:path>
            </a:pathLst>
          </a:custGeom>
          <a:ln w="25400">
            <a:solidFill>
              <a:schemeClr val="accent1"/>
            </a:solidFill>
            <a:prstDash val="solid"/>
            <a:tailEnd type="triangle"/>
          </a:ln>
        </p:spPr>
      </p:sp>
      <p:sp>
        <p:nvSpPr>
          <p:cNvPr id="24" name="shape37"/>
          <p:cNvSpPr txBox="1"/>
          <p:nvPr/>
        </p:nvSpPr>
        <p:spPr>
          <a:xfrm>
            <a:off x="10058400" y="2688336"/>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brain region</a:t>
            </a:r>
            <a:endParaRPr lang="en-US" sz="1500" dirty="0"/>
          </a:p>
        </p:txBody>
      </p:sp>
      <p:sp>
        <p:nvSpPr>
          <p:cNvPr id="25" name="text38"/>
          <p:cNvSpPr txBox="1"/>
          <p:nvPr/>
        </p:nvSpPr>
        <p:spPr>
          <a:xfrm>
            <a:off x="9235440" y="2999232"/>
            <a:ext cx="822960" cy="256032"/>
          </a:xfrm>
          <a:prstGeom prst="rect">
            <a:avLst/>
          </a:prstGeom>
          <a:noFill/>
          <a:ln/>
        </p:spPr>
        <p:txBody>
          <a:bodyPr wrap="square" lIns="0" tIns="0" rIns="0" bIns="0" rtlCol="0" anchor="ctr"/>
          <a:lstStyle/>
          <a:p>
            <a:pPr algn="r" indent="0" marL="0">
              <a:buNone/>
            </a:pPr>
            <a:r>
              <a:rPr lang="en-US" sz="1400" i="1" dirty="0">
                <a:solidFill>
                  <a:schemeClr val="accent1"/>
                </a:solidFill>
              </a:rPr>
              <a:t>subclass of</a:t>
            </a:r>
            <a:endParaRPr lang="en-US" sz="1400" dirty="0"/>
          </a:p>
        </p:txBody>
      </p:sp>
      <p:sp>
        <p:nvSpPr>
          <p:cNvPr id="26" name="curve39"/>
          <p:cNvSpPr/>
          <p:nvPr/>
        </p:nvSpPr>
        <p:spPr>
          <a:xfrm>
            <a:off x="8869680" y="2967228"/>
            <a:ext cx="1188720" cy="882396"/>
          </a:xfrm>
          <a:custGeom>
            <a:avLst/>
            <a:gdLst/>
            <a:ahLst/>
            <a:cxnLst/>
            <a:rect l="l" t="t" r="r" b="b"/>
            <a:pathLst>
              <a:path w="1188720" h="882396">
                <a:moveTo>
                  <a:pt x="0" y="0"/>
                </a:moveTo>
                <a:cubicBezTo>
                  <a:pt x="594360" y="0"/>
                  <a:pt x="594360" y="882396"/>
                  <a:pt x="1188720" y="882396"/>
                </a:cubicBezTo>
              </a:path>
            </a:pathLst>
          </a:custGeom>
          <a:ln w="25400">
            <a:solidFill>
              <a:schemeClr val="accent1"/>
            </a:solidFill>
            <a:prstDash val="solid"/>
            <a:tailEnd type="triangle"/>
          </a:ln>
        </p:spPr>
      </p:sp>
      <p:sp>
        <p:nvSpPr>
          <p:cNvPr id="27" name="shape40"/>
          <p:cNvSpPr txBox="1"/>
          <p:nvPr/>
        </p:nvSpPr>
        <p:spPr>
          <a:xfrm>
            <a:off x="10058400" y="3566160"/>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brain region type</a:t>
            </a:r>
            <a:endParaRPr lang="en-US" sz="1500" dirty="0"/>
          </a:p>
        </p:txBody>
      </p:sp>
      <p:sp>
        <p:nvSpPr>
          <p:cNvPr id="28" name="text41"/>
          <p:cNvSpPr txBox="1"/>
          <p:nvPr/>
        </p:nvSpPr>
        <p:spPr>
          <a:xfrm>
            <a:off x="8887968" y="3840480"/>
            <a:ext cx="1188720" cy="274320"/>
          </a:xfrm>
          <a:prstGeom prst="rect">
            <a:avLst/>
          </a:prstGeom>
          <a:noFill/>
          <a:ln/>
        </p:spPr>
        <p:txBody>
          <a:bodyPr wrap="square" lIns="0" tIns="0" rIns="0" bIns="0" rtlCol="0" anchor="ctr"/>
          <a:lstStyle/>
          <a:p>
            <a:pPr algn="ctr" indent="0" marL="0">
              <a:buNone/>
            </a:pPr>
            <a:r>
              <a:rPr lang="en-US" sz="1400" i="1" dirty="0">
                <a:solidFill>
                  <a:schemeClr val="accent1"/>
                </a:solidFill>
              </a:rPr>
              <a:t>instance of</a:t>
            </a:r>
            <a:endParaRPr lang="en-US" sz="1400" dirty="0"/>
          </a:p>
        </p:txBody>
      </p:sp>
      <p:sp>
        <p:nvSpPr>
          <p:cNvPr id="29" name="curve42"/>
          <p:cNvSpPr/>
          <p:nvPr/>
        </p:nvSpPr>
        <p:spPr>
          <a:xfrm>
            <a:off x="7772400" y="3447288"/>
            <a:ext cx="1005840" cy="667512"/>
          </a:xfrm>
          <a:custGeom>
            <a:avLst/>
            <a:gdLst/>
            <a:ahLst/>
            <a:cxnLst/>
            <a:rect l="l" t="t" r="r" b="b"/>
            <a:pathLst>
              <a:path w="1005840" h="667512">
                <a:moveTo>
                  <a:pt x="0" y="0"/>
                </a:moveTo>
                <a:cubicBezTo>
                  <a:pt x="502920" y="0"/>
                  <a:pt x="502920" y="667512"/>
                  <a:pt x="1005840" y="667512"/>
                </a:cubicBezTo>
              </a:path>
            </a:pathLst>
          </a:custGeom>
          <a:ln w="19050">
            <a:solidFill>
              <a:schemeClr val="accent3"/>
            </a:solidFill>
            <a:prstDash val="dash"/>
          </a:ln>
        </p:spPr>
      </p:sp>
      <p:sp>
        <p:nvSpPr>
          <p:cNvPr id="30" name="text43"/>
          <p:cNvSpPr txBox="1"/>
          <p:nvPr/>
        </p:nvSpPr>
        <p:spPr>
          <a:xfrm>
            <a:off x="4069080" y="3749040"/>
            <a:ext cx="3794760" cy="320040"/>
          </a:xfrm>
          <a:prstGeom prst="rect">
            <a:avLst/>
          </a:prstGeom>
          <a:noFill/>
          <a:ln/>
        </p:spPr>
        <p:txBody>
          <a:bodyPr wrap="square" lIns="0" tIns="0" rIns="0" bIns="0" rtlCol="0" anchor="ctr"/>
          <a:lstStyle/>
          <a:p>
            <a:pPr algn="r" indent="0" marL="0">
              <a:buNone/>
            </a:pPr>
            <a:r>
              <a:rPr lang="en-US" sz="1400" i="1" dirty="0">
                <a:solidFill>
                  <a:schemeClr val="accent3"/>
                </a:solidFill>
              </a:rPr>
              <a:t>48 external identifiers: keys for joining graphs</a:t>
            </a:r>
            <a:endParaRPr lang="en-US" sz="1400" dirty="0"/>
          </a:p>
        </p:txBody>
      </p:sp>
      <p:sp>
        <p:nvSpPr>
          <p:cNvPr id="31" name="shape44"/>
          <p:cNvSpPr txBox="1"/>
          <p:nvPr/>
        </p:nvSpPr>
        <p:spPr>
          <a:xfrm>
            <a:off x="5760720"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InterLex birnlex_721</a:t>
            </a:r>
            <a:endParaRPr lang="en-US" sz="1400" dirty="0"/>
          </a:p>
        </p:txBody>
      </p:sp>
      <p:sp>
        <p:nvSpPr>
          <p:cNvPr id="32" name="shape45"/>
          <p:cNvSpPr txBox="1"/>
          <p:nvPr/>
        </p:nvSpPr>
        <p:spPr>
          <a:xfrm>
            <a:off x="7790688"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NeuroNames 3157</a:t>
            </a:r>
            <a:endParaRPr lang="en-US" sz="1400" dirty="0"/>
          </a:p>
        </p:txBody>
      </p:sp>
      <p:sp>
        <p:nvSpPr>
          <p:cNvPr id="33" name="shape46"/>
          <p:cNvSpPr txBox="1"/>
          <p:nvPr/>
        </p:nvSpPr>
        <p:spPr>
          <a:xfrm>
            <a:off x="9820656"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FMA 275020</a:t>
            </a:r>
            <a:endParaRPr lang="en-US" sz="1400" dirty="0"/>
          </a:p>
        </p:txBody>
      </p:sp>
      <p:sp>
        <p:nvSpPr>
          <p:cNvPr id="34" name="shape47"/>
          <p:cNvSpPr txBox="1"/>
          <p:nvPr/>
        </p:nvSpPr>
        <p:spPr>
          <a:xfrm>
            <a:off x="5760720" y="4608576"/>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MeSH D006624</a:t>
            </a:r>
            <a:endParaRPr lang="en-US" sz="1400" dirty="0"/>
          </a:p>
        </p:txBody>
      </p:sp>
      <p:sp>
        <p:nvSpPr>
          <p:cNvPr id="35" name="shape48"/>
          <p:cNvSpPr txBox="1"/>
          <p:nvPr/>
        </p:nvSpPr>
        <p:spPr>
          <a:xfrm>
            <a:off x="7790688" y="4608576"/>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OpenAlex C2781161787</a:t>
            </a:r>
            <a:endParaRPr lang="en-US" sz="1400" dirty="0"/>
          </a:p>
        </p:txBody>
      </p:sp>
      <p:sp>
        <p:nvSpPr>
          <p:cNvPr id="36" name="shape49"/>
          <p:cNvSpPr txBox="1"/>
          <p:nvPr/>
        </p:nvSpPr>
        <p:spPr>
          <a:xfrm>
            <a:off x="9820656" y="4608576"/>
            <a:ext cx="1938528" cy="384048"/>
          </a:xfrm>
          <a:prstGeom prst="roundRect">
            <a:avLst>
              <a:gd name="adj" fmla="val 119048"/>
            </a:avLst>
          </a:prstGeom>
          <a:solidFill>
            <a:schemeClr val="bg1"/>
          </a:solidFill>
          <a:ln w="19050">
            <a:solidFill>
              <a:schemeClr val="accent3"/>
            </a:solidFill>
            <a:prstDash val="dash"/>
          </a:ln>
        </p:spPr>
        <p:txBody>
          <a:bodyPr wrap="square" lIns="25400" tIns="25400" rIns="25400" bIns="25400" rtlCol="0" anchor="ctr"/>
          <a:lstStyle/>
          <a:p>
            <a:pPr algn="ctr" indent="0" marL="0">
              <a:buNone/>
            </a:pPr>
            <a:r>
              <a:rPr lang="en-US" sz="1400" dirty="0">
                <a:solidFill>
                  <a:schemeClr val="accent3"/>
                </a:solidFill>
              </a:rPr>
              <a:t>+ 43 more identifiers</a:t>
            </a:r>
            <a:endParaRPr lang="en-US" sz="1400" dirty="0"/>
          </a:p>
        </p:txBody>
      </p:sp>
      <p:sp>
        <p:nvSpPr>
          <p:cNvPr id="37" name="shape50"/>
          <p:cNvSpPr/>
          <p:nvPr/>
        </p:nvSpPr>
        <p:spPr>
          <a:xfrm>
            <a:off x="411480" y="5193792"/>
            <a:ext cx="11384280" cy="1161288"/>
          </a:xfrm>
          <a:prstGeom prst="roundRect">
            <a:avLst>
              <a:gd name="adj" fmla="val 6299"/>
            </a:avLst>
          </a:prstGeom>
          <a:solidFill>
            <a:schemeClr val="tx2"/>
          </a:solidFill>
          <a:ln/>
        </p:spPr>
      </p:sp>
      <p:sp>
        <p:nvSpPr>
          <p:cNvPr id="38" name="wikiQuery"/>
          <p:cNvSpPr txBox="1"/>
          <p:nvPr/>
        </p:nvSpPr>
        <p:spPr>
          <a:xfrm>
            <a:off x="594360" y="5266944"/>
            <a:ext cx="731520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Query: </a:t>
            </a:r>
            <a:pPr indent="0" marL="0">
              <a:buNone/>
            </a:pPr>
            <a:r>
              <a:rPr lang="en-US" sz="1600" dirty="0">
                <a:solidFill>
                  <a:srgbClr val="9FD3D4"/>
                </a:solidFill>
                <a:latin typeface="Courier New" pitchFamily="34" charset="0"/>
                <a:ea typeface="Courier New" pitchFamily="34" charset="-122"/>
                <a:cs typeface="Courier New" pitchFamily="34" charset="-120"/>
              </a:rPr>
              <a:t>?region —part of→ temporal lobe</a:t>
            </a:r>
            <a:endParaRPr lang="en-US" sz="1600" dirty="0"/>
          </a:p>
        </p:txBody>
      </p:sp>
      <p:sp>
        <p:nvSpPr>
          <p:cNvPr id="39" name="text51"/>
          <p:cNvSpPr txBox="1"/>
          <p:nvPr/>
        </p:nvSpPr>
        <p:spPr>
          <a:xfrm>
            <a:off x="594360" y="5614416"/>
            <a:ext cx="10972800" cy="347472"/>
          </a:xfrm>
          <a:prstGeom prst="rect">
            <a:avLst/>
          </a:prstGeom>
          <a:noFill/>
          <a:ln/>
        </p:spPr>
        <p:txBody>
          <a:bodyPr wrap="square" lIns="0" tIns="0" rIns="0" bIns="0" rtlCol="0" anchor="ctr"/>
          <a:lstStyle/>
          <a:p>
            <a:pPr indent="0" marL="0">
              <a:buNone/>
            </a:pPr>
            <a:r>
              <a:rPr lang="en-US" sz="1600" dirty="0">
                <a:solidFill>
                  <a:srgbClr val="E8F1F2"/>
                </a:solidFill>
              </a:rPr>
              <a:t>→ 5 recorded: archicortex, auditory cortex, entorhinal cortex, hippocampus, and one unlabelled item</a:t>
            </a:r>
            <a:endParaRPr lang="en-US" sz="1600" dirty="0"/>
          </a:p>
        </p:txBody>
      </p:sp>
      <p:sp>
        <p:nvSpPr>
          <p:cNvPr id="40" name="text52"/>
          <p:cNvSpPr txBox="1"/>
          <p:nvPr/>
        </p:nvSpPr>
        <p:spPr>
          <a:xfrm>
            <a:off x="594360" y="5961888"/>
            <a:ext cx="11064240" cy="301752"/>
          </a:xfrm>
          <a:prstGeom prst="rect">
            <a:avLst/>
          </a:prstGeom>
          <a:noFill/>
          <a:ln/>
        </p:spPr>
        <p:txBody>
          <a:bodyPr wrap="square" lIns="0" tIns="0" rIns="0" bIns="0" rtlCol="0" anchor="ctr"/>
          <a:lstStyle/>
          <a:p>
            <a:pPr indent="0" marL="0">
              <a:buNone/>
            </a:pPr>
            <a:r>
              <a:rPr lang="en-US" sz="1400" i="1" dirty="0">
                <a:solidFill>
                  <a:srgbClr val="C9D3D7"/>
                </a:solidFill>
              </a:rPr>
              <a:t>returns only what someone recorded · Wikidata has no UBERON ID for the hippocampus, so a UBERON join would miss it</a:t>
            </a:r>
            <a:endParaRPr lang="en-US" sz="1400" dirty="0"/>
          </a:p>
        </p:txBody>
      </p:sp>
      <p:pic>
        <p:nvPicPr>
          <p:cNvPr id="42" name="stripIcon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43" name="strip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Not our graph: Wikidata's public graph (query.wikidata.org SPARQL); same pattern as the graphs in this talk</a:t>
            </a:r>
            <a:endParaRPr lang="en-US" sz="1200" dirty="0"/>
          </a:p>
        </p:txBody>
      </p:sp>
      <p:sp>
        <p:nvSpPr>
          <p:cNvPr id="44" name="badge1_R"/>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5" name="badge1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46" name="data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Wikidata Q48360 (rev. 2516828778) and English Wikipedia ‘Hippocampus’ (rev. 1374836959), retrieved 2026-10-16</a:t>
            </a:r>
            <a:endParaRPr lang="en-US" sz="1100" dirty="0"/>
          </a:p>
        </p:txBody>
      </p:sp>
      <p:sp>
        <p:nvSpPr>
          <p:cNvPr id="47" name="badge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53"/>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54"/>
          <p:cNvSpPr/>
          <p:nvPr/>
        </p:nvSpPr>
        <p:spPr>
          <a:xfrm>
            <a:off x="685800" y="1828800"/>
            <a:ext cx="2103120" cy="2103120"/>
          </a:xfrm>
          <a:prstGeom prst="donut">
            <a:avLst/>
          </a:prstGeom>
          <a:solidFill>
            <a:schemeClr val="accent1"/>
          </a:solidFill>
          <a:ln/>
        </p:spPr>
      </p:sp>
      <p:sp>
        <p:nvSpPr>
          <p:cNvPr id="5" name="text55"/>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56"/>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57"/>
          <p:cNvSpPr/>
          <p:nvPr/>
        </p:nvSpPr>
        <p:spPr>
          <a:xfrm>
            <a:off x="1463040" y="4160520"/>
            <a:ext cx="2103120" cy="2103120"/>
          </a:xfrm>
          <a:prstGeom prst="donut">
            <a:avLst/>
          </a:prstGeom>
          <a:solidFill>
            <a:schemeClr val="tx2"/>
          </a:solidFill>
          <a:ln/>
        </p:spPr>
      </p:sp>
      <p:sp>
        <p:nvSpPr>
          <p:cNvPr id="8" name="text58"/>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59"/>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60"/>
          <p:cNvSpPr/>
          <p:nvPr/>
        </p:nvSpPr>
        <p:spPr>
          <a:xfrm>
            <a:off x="457200" y="1280160"/>
            <a:ext cx="5532120" cy="5074920"/>
          </a:xfrm>
          <a:prstGeom prst="roundRect">
            <a:avLst>
              <a:gd name="adj" fmla="val 5405"/>
            </a:avLst>
          </a:prstGeom>
          <a:solidFill>
            <a:schemeClr val="accent4"/>
          </a:solidFill>
          <a:ln/>
        </p:spPr>
      </p:sp>
      <p:sp>
        <p:nvSpPr>
          <p:cNvPr id="4" name="text61"/>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62"/>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63"/>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64"/>
          <p:cNvSpPr/>
          <p:nvPr/>
        </p:nvSpPr>
        <p:spPr>
          <a:xfrm>
            <a:off x="6217920" y="1280160"/>
            <a:ext cx="5532120" cy="5074920"/>
          </a:xfrm>
          <a:prstGeom prst="roundRect">
            <a:avLst>
              <a:gd name="adj" fmla="val 5405"/>
            </a:avLst>
          </a:prstGeom>
          <a:solidFill>
            <a:schemeClr val="accent5"/>
          </a:solidFill>
          <a:ln/>
        </p:spPr>
      </p:sp>
      <p:sp>
        <p:nvSpPr>
          <p:cNvPr id="10" name="text65"/>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 (20 site codes in the data)</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66"/>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67"/>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Claude Code examples</a:t>
            </a:r>
            <a:endParaRPr lang="en-US" sz="1500" dirty="0"/>
          </a:p>
        </p:txBody>
      </p:sp>
      <p:pic>
        <p:nvPicPr>
          <p:cNvPr id="16"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3"/>
          <p:cNvSpPr/>
          <p:nvPr/>
        </p:nvSpPr>
        <p:spPr>
          <a:xfrm>
            <a:off x="9326880" y="82296"/>
            <a:ext cx="128016" cy="128016"/>
          </a:xfrm>
          <a:prstGeom prst="ellipse">
            <a:avLst/>
          </a:prstGeom>
          <a:solidFill>
            <a:schemeClr val="accent3"/>
          </a:solidFill>
          <a:ln/>
        </p:spPr>
      </p:sp>
      <p:sp>
        <p:nvSpPr>
          <p:cNvPr id="19"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3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3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3"/>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3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68"/>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69"/>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70"/>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71"/>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72"/>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73"/>
          <p:cNvSpPr/>
          <p:nvPr/>
        </p:nvSpPr>
        <p:spPr>
          <a:xfrm flipH="1">
            <a:off x="2103120" y="2350008"/>
            <a:ext cx="1965960" cy="914"/>
          </a:xfrm>
          <a:prstGeom prst="line">
            <a:avLst/>
          </a:prstGeom>
          <a:noFill/>
          <a:ln w="31750">
            <a:solidFill>
              <a:schemeClr val="accent1"/>
            </a:solidFill>
            <a:prstDash val="solid"/>
            <a:tailEnd type="triangle"/>
          </a:ln>
        </p:spPr>
      </p:sp>
      <p:sp>
        <p:nvSpPr>
          <p:cNvPr id="9" name="text74"/>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75"/>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76"/>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77"/>
          <p:cNvSpPr/>
          <p:nvPr/>
        </p:nvSpPr>
        <p:spPr>
          <a:xfrm>
            <a:off x="10058400" y="2331720"/>
            <a:ext cx="914" cy="685800"/>
          </a:xfrm>
          <a:prstGeom prst="line">
            <a:avLst/>
          </a:prstGeom>
          <a:noFill/>
          <a:ln w="31750">
            <a:solidFill>
              <a:schemeClr val="accent1"/>
            </a:solidFill>
            <a:prstDash val="solid"/>
            <a:tailEnd type="triangle"/>
          </a:ln>
        </p:spPr>
      </p:sp>
      <p:sp>
        <p:nvSpPr>
          <p:cNvPr id="13" name="text78"/>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79"/>
          <p:cNvSpPr/>
          <p:nvPr/>
        </p:nvSpPr>
        <p:spPr>
          <a:xfrm>
            <a:off x="5486400" y="2880360"/>
            <a:ext cx="914" cy="457200"/>
          </a:xfrm>
          <a:prstGeom prst="line">
            <a:avLst/>
          </a:prstGeom>
          <a:noFill/>
          <a:ln w="19050">
            <a:solidFill>
              <a:schemeClr val="accent3"/>
            </a:solidFill>
            <a:prstDash val="solid"/>
            <a:tailEnd type="triangle"/>
          </a:ln>
        </p:spPr>
      </p:sp>
      <p:sp>
        <p:nvSpPr>
          <p:cNvPr id="15" name="text80"/>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81"/>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82"/>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83"/>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84"/>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85"/>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86"/>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87"/>
          <p:cNvSpPr/>
          <p:nvPr/>
        </p:nvSpPr>
        <p:spPr>
          <a:xfrm flipH="1">
            <a:off x="2423160" y="4572000"/>
            <a:ext cx="868680" cy="914"/>
          </a:xfrm>
          <a:prstGeom prst="line">
            <a:avLst/>
          </a:prstGeom>
          <a:noFill/>
          <a:ln w="25400">
            <a:solidFill>
              <a:schemeClr val="accent1"/>
            </a:solidFill>
            <a:prstDash val="solid"/>
            <a:tailEnd type="triangle"/>
          </a:ln>
        </p:spPr>
      </p:sp>
      <p:sp>
        <p:nvSpPr>
          <p:cNvPr id="23" name="arrow88"/>
          <p:cNvSpPr/>
          <p:nvPr/>
        </p:nvSpPr>
        <p:spPr>
          <a:xfrm>
            <a:off x="4709160" y="4572000"/>
            <a:ext cx="1188720" cy="914"/>
          </a:xfrm>
          <a:prstGeom prst="line">
            <a:avLst/>
          </a:prstGeom>
          <a:noFill/>
          <a:ln w="25400">
            <a:solidFill>
              <a:schemeClr val="accent1"/>
            </a:solidFill>
            <a:prstDash val="solid"/>
            <a:tailEnd type="triangle"/>
          </a:ln>
        </p:spPr>
      </p:sp>
      <p:sp>
        <p:nvSpPr>
          <p:cNvPr id="24" name="arrow89"/>
          <p:cNvSpPr/>
          <p:nvPr/>
        </p:nvSpPr>
        <p:spPr>
          <a:xfrm>
            <a:off x="7315200" y="4572000"/>
            <a:ext cx="1188720" cy="914"/>
          </a:xfrm>
          <a:prstGeom prst="line">
            <a:avLst/>
          </a:prstGeom>
          <a:noFill/>
          <a:ln w="25400">
            <a:solidFill>
              <a:schemeClr val="accent1"/>
            </a:solidFill>
            <a:prstDash val="solid"/>
            <a:tailEnd type="triangle"/>
          </a:ln>
        </p:spPr>
      </p:sp>
      <p:sp>
        <p:nvSpPr>
          <p:cNvPr id="25" name="text90"/>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91"/>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92"/>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93"/>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94"/>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95"/>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96"/>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97"/>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4"/>
          <p:cNvSpPr/>
          <p:nvPr/>
        </p:nvSpPr>
        <p:spPr>
          <a:xfrm>
            <a:off x="9326880" y="82296"/>
            <a:ext cx="128016" cy="128016"/>
          </a:xfrm>
          <a:prstGeom prst="ellipse">
            <a:avLst/>
          </a:prstGeom>
          <a:solidFill>
            <a:schemeClr val="accent1"/>
          </a:solidFill>
          <a:ln/>
        </p:spPr>
      </p:sp>
      <p:sp>
        <p:nvSpPr>
          <p:cNvPr id="3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4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4"/>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4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98"/>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99"/>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100"/>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101"/>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102"/>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103"/>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104"/>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105"/>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106"/>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107"/>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108"/>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109"/>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110"/>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111"/>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112"/>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17 of 74 ABIDE studies (our review)</a:t>
            </a:r>
            <a:endParaRPr lang="en-US" sz="1800" dirty="0"/>
          </a:p>
        </p:txBody>
      </p:sp>
      <p:sp>
        <p:nvSpPr>
          <p:cNvPr id="18" name="shape113"/>
          <p:cNvSpPr/>
          <p:nvPr/>
        </p:nvSpPr>
        <p:spPr>
          <a:xfrm>
            <a:off x="5193792" y="2240280"/>
            <a:ext cx="1783080" cy="3566160"/>
          </a:xfrm>
          <a:prstGeom prst="ellipse">
            <a:avLst/>
          </a:prstGeom>
          <a:solidFill>
            <a:schemeClr val="tx2"/>
          </a:solidFill>
          <a:ln/>
        </p:spPr>
      </p:sp>
      <p:sp>
        <p:nvSpPr>
          <p:cNvPr id="19" name="text114"/>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115"/>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116"/>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117"/>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5"/>
          <p:cNvSpPr/>
          <p:nvPr/>
        </p:nvSpPr>
        <p:spPr>
          <a:xfrm>
            <a:off x="9326880" y="82296"/>
            <a:ext cx="128016" cy="128016"/>
          </a:xfrm>
          <a:prstGeom prst="ellipse">
            <a:avLst/>
          </a:prstGeom>
          <a:solidFill>
            <a:schemeClr val="accent1"/>
          </a:solidFill>
          <a:ln/>
        </p:spPr>
      </p:sp>
      <p:sp>
        <p:nvSpPr>
          <p:cNvPr id="27"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5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5"/>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5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Building knowledge graphs from datasets and papers</a:t>
            </a:r>
            <a:endParaRPr lang="en-US" sz="3200" dirty="0"/>
          </a:p>
        </p:txBody>
      </p:sp>
      <p:sp>
        <p:nvSpPr>
          <p:cNvPr id="3" name="shape118"/>
          <p:cNvSpPr/>
          <p:nvPr/>
        </p:nvSpPr>
        <p:spPr>
          <a:xfrm>
            <a:off x="9418320" y="1371600"/>
            <a:ext cx="2423160" cy="4160520"/>
          </a:xfrm>
          <a:custGeom>
            <a:avLst/>
            <a:gdLst/>
            <a:ahLst/>
            <a:cxnLst/>
            <a:rect l="l" t="t" r="r" b="b"/>
            <a:pathLst>
              <a:path w="2423160" h="4160520">
                <a:moveTo>
                  <a:pt x="2348661" y="2080260"/>
                </a:moveTo>
                <a:cubicBezTo>
                  <a:pt x="2342264" y="2480002"/>
                  <a:pt x="2182931" y="2946536"/>
                  <a:pt x="2024771" y="3251839"/>
                </a:cubicBezTo>
                <a:cubicBezTo>
                  <a:pt x="1866611" y="3557143"/>
                  <a:pt x="1628327" y="3830489"/>
                  <a:pt x="1399700" y="3912080"/>
                </a:cubicBezTo>
                <a:cubicBezTo>
                  <a:pt x="1171074" y="3993671"/>
                  <a:pt x="861004" y="3936302"/>
                  <a:pt x="653012" y="3741385"/>
                </a:cubicBezTo>
                <a:cubicBezTo>
                  <a:pt x="445019" y="3546469"/>
                  <a:pt x="223925" y="3122721"/>
                  <a:pt x="151746" y="2742582"/>
                </a:cubicBezTo>
                <a:cubicBezTo>
                  <a:pt x="79567" y="2362443"/>
                  <a:pt x="142551" y="1866108"/>
                  <a:pt x="219938" y="1460553"/>
                </a:cubicBezTo>
                <a:cubicBezTo>
                  <a:pt x="297324" y="1054998"/>
                  <a:pt x="417740" y="527785"/>
                  <a:pt x="616063" y="309253"/>
                </a:cubicBezTo>
                <a:cubicBezTo>
                  <a:pt x="814386" y="90721"/>
                  <a:pt x="1168694" y="58673"/>
                  <a:pt x="1409875" y="149363"/>
                </a:cubicBezTo>
                <a:cubicBezTo>
                  <a:pt x="1651056" y="240052"/>
                  <a:pt x="1906684" y="531574"/>
                  <a:pt x="2063148" y="853390"/>
                </a:cubicBezTo>
                <a:cubicBezTo>
                  <a:pt x="2219612" y="1175206"/>
                  <a:pt x="2355057" y="1680518"/>
                  <a:pt x="2348661" y="2080260"/>
                </a:cubicBezTo>
                <a:close/>
              </a:path>
            </a:pathLst>
          </a:custGeom>
          <a:solidFill>
            <a:srgbClr val="BFE0E0"/>
          </a:solidFill>
          <a:ln/>
        </p:spPr>
      </p:sp>
      <p:sp>
        <p:nvSpPr>
          <p:cNvPr id="4" name="shape119"/>
          <p:cNvSpPr txBox="1"/>
          <p:nvPr/>
        </p:nvSpPr>
        <p:spPr>
          <a:xfrm>
            <a:off x="457200" y="1371600"/>
            <a:ext cx="1874520" cy="1005840"/>
          </a:xfrm>
          <a:prstGeom prst="roundRect">
            <a:avLst>
              <a:gd name="adj" fmla="val 45455"/>
            </a:avLst>
          </a:prstGeom>
          <a:solidFill>
            <a:schemeClr val="accent4"/>
          </a:solidFill>
          <a:ln/>
        </p:spPr>
        <p:txBody>
          <a:bodyPr wrap="square" lIns="101600" tIns="101600" rIns="101600" bIns="101600" rtlCol="0" anchor="ctr"/>
          <a:lstStyle/>
          <a:p>
            <a:pPr algn="l" indent="0" marL="0">
              <a:buNone/>
            </a:pPr>
            <a:r>
              <a:rPr lang="en-US" sz="1700" b="1" dirty="0">
                <a:solidFill>
                  <a:schemeClr val="accent1"/>
                </a:solidFill>
              </a:rPr>
              <a:t>A dataset</a:t>
            </a:r>
            <a:endParaRPr lang="en-US" sz="1800" dirty="0"/>
          </a:p>
          <a:p>
            <a:pPr algn="l" indent="0" marL="0">
              <a:buNone/>
            </a:pPr>
            <a:r>
              <a:rPr lang="en-US" sz="1400" dirty="0">
                <a:solidFill>
                  <a:schemeClr val="tx1"/>
                </a:solidFill>
              </a:rPr>
              <a:t>BIDS + phenotype tables</a:t>
            </a:r>
            <a:endParaRPr lang="en-US" sz="1800" dirty="0"/>
          </a:p>
        </p:txBody>
      </p:sp>
      <p:sp>
        <p:nvSpPr>
          <p:cNvPr id="5" name="shape120"/>
          <p:cNvSpPr/>
          <p:nvPr/>
        </p:nvSpPr>
        <p:spPr>
          <a:xfrm>
            <a:off x="18288" y="1673352"/>
            <a:ext cx="384048" cy="384048"/>
          </a:xfrm>
          <a:prstGeom prst="ellipse">
            <a:avLst/>
          </a:prstGeom>
          <a:solidFill>
            <a:schemeClr val="accent1"/>
          </a:solidFill>
          <a:ln/>
        </p:spPr>
      </p:sp>
      <p:pic>
        <p:nvPicPr>
          <p:cNvPr id="6" name="buildIcon121" descr="preencoded.png">    </p:cNvPr>
          <p:cNvPicPr>
            <a:picLocks noChangeAspect="1"/>
          </p:cNvPicPr>
          <p:nvPr/>
        </p:nvPicPr>
        <p:blipFill>
          <a:blip r:embed="rId1"/>
          <a:stretch>
            <a:fillRect/>
          </a:stretch>
        </p:blipFill>
        <p:spPr>
          <a:xfrm>
            <a:off x="109728" y="1764792"/>
            <a:ext cx="201168" cy="201168"/>
          </a:xfrm>
          <a:prstGeom prst="rect">
            <a:avLst/>
          </a:prstGeom>
        </p:spPr>
      </p:pic>
      <p:sp>
        <p:nvSpPr>
          <p:cNvPr id="7" name="curve122"/>
          <p:cNvSpPr/>
          <p:nvPr/>
        </p:nvSpPr>
        <p:spPr>
          <a:xfrm>
            <a:off x="2331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8" name="shape123"/>
          <p:cNvSpPr txBox="1"/>
          <p:nvPr/>
        </p:nvSpPr>
        <p:spPr>
          <a:xfrm>
            <a:off x="2560320" y="137160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neuroimaging-kg skill (agent_skills PR #49)</a:t>
            </a:r>
            <a:endParaRPr lang="en-US" sz="1800" dirty="0"/>
          </a:p>
          <a:p>
            <a:pPr algn="l" indent="0" marL="0">
              <a:buNone/>
            </a:pPr>
            <a:r>
              <a:rPr lang="en-US" sz="1400" dirty="0">
                <a:solidFill>
                  <a:schemeClr val="tx1"/>
                </a:solidFill>
              </a:rPr>
              <a:t>PyNIDM bidsmri2nidm / csv2nidm; ReproNim NIDM BIDS apps (FreeSurfer, ANTs, MRIQC → NIDM)</a:t>
            </a:r>
            <a:endParaRPr lang="en-US" sz="1800" dirty="0"/>
          </a:p>
        </p:txBody>
      </p:sp>
      <p:sp>
        <p:nvSpPr>
          <p:cNvPr id="9" name="curve124"/>
          <p:cNvSpPr/>
          <p:nvPr/>
        </p:nvSpPr>
        <p:spPr>
          <a:xfrm>
            <a:off x="6903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10" name="shape125"/>
          <p:cNvSpPr txBox="1"/>
          <p:nvPr/>
        </p:nvSpPr>
        <p:spPr>
          <a:xfrm>
            <a:off x="7132320" y="1371600"/>
            <a:ext cx="2011680" cy="1005840"/>
          </a:xfrm>
          <a:prstGeom prst="roundRect">
            <a:avLst>
              <a:gd name="adj" fmla="val 45455"/>
            </a:avLst>
          </a:prstGeom>
          <a:solidFill>
            <a:schemeClr val="accent1"/>
          </a:solidFill>
          <a:ln/>
        </p:spPr>
        <p:txBody>
          <a:bodyPr wrap="square" lIns="76200" tIns="76200" rIns="76200" bIns="76200" rtlCol="0" anchor="ctr"/>
          <a:lstStyle/>
          <a:p>
            <a:pPr algn="ctr" indent="0" marL="0">
              <a:buNone/>
            </a:pPr>
            <a:r>
              <a:rPr lang="en-US" sz="1500" b="1" dirty="0">
                <a:solidFill>
                  <a:schemeClr val="bg1"/>
                </a:solidFill>
              </a:rPr>
              <a:t>NIDM / PROV dataset graph</a:t>
            </a:r>
            <a:endParaRPr lang="en-US" sz="1500" dirty="0"/>
          </a:p>
        </p:txBody>
      </p:sp>
      <p:sp>
        <p:nvSpPr>
          <p:cNvPr id="11" name="curve126"/>
          <p:cNvSpPr/>
          <p:nvPr/>
        </p:nvSpPr>
        <p:spPr>
          <a:xfrm>
            <a:off x="9144000" y="1874520"/>
            <a:ext cx="457200" cy="1577340"/>
          </a:xfrm>
          <a:custGeom>
            <a:avLst/>
            <a:gdLst/>
            <a:ahLst/>
            <a:cxnLst/>
            <a:rect l="l" t="t" r="r" b="b"/>
            <a:pathLst>
              <a:path w="457200" h="1577340">
                <a:moveTo>
                  <a:pt x="0" y="0"/>
                </a:moveTo>
                <a:cubicBezTo>
                  <a:pt x="228600" y="0"/>
                  <a:pt x="228600" y="1577340"/>
                  <a:pt x="457200" y="1577340"/>
                </a:cubicBezTo>
              </a:path>
            </a:pathLst>
          </a:custGeom>
          <a:ln w="25400">
            <a:solidFill>
              <a:schemeClr val="accent1"/>
            </a:solidFill>
            <a:prstDash val="solid"/>
            <a:tailEnd type="triangle"/>
          </a:ln>
        </p:spPr>
      </p:sp>
      <p:sp>
        <p:nvSpPr>
          <p:cNvPr id="12" name="text127"/>
          <p:cNvSpPr txBox="1"/>
          <p:nvPr/>
        </p:nvSpPr>
        <p:spPr>
          <a:xfrm>
            <a:off x="457200" y="2404872"/>
            <a:ext cx="8823960" cy="329184"/>
          </a:xfrm>
          <a:prstGeom prst="rect">
            <a:avLst/>
          </a:prstGeom>
          <a:noFill/>
          <a:ln/>
        </p:spPr>
        <p:txBody>
          <a:bodyPr wrap="square" lIns="0" tIns="0" rIns="0" bIns="0" rtlCol="0" anchor="ctr"/>
          <a:lstStyle/>
          <a:p>
            <a:pPr indent="0" marL="0">
              <a:buNone/>
            </a:pPr>
            <a:r>
              <a:rPr lang="en-US" sz="1400" b="1" i="1" dirty="0">
                <a:solidFill>
                  <a:schemeClr val="accent1"/>
                </a:solidFill>
              </a:rPr>
              <a:t>Used here: </a:t>
            </a:r>
            <a:pPr indent="0" marL="0">
              <a:buNone/>
            </a:pPr>
            <a:r>
              <a:rPr lang="en-US" sz="1400" i="1" dirty="0">
                <a:solidFill>
                  <a:schemeClr val="accent1"/>
                </a:solidFill>
              </a:rPr>
              <a:t>ABIDE graph by general sub-agents, no skill; this skill was written from that work afterwards → Claude Code examples</a:t>
            </a:r>
            <a:endParaRPr lang="en-US" sz="1400" dirty="0"/>
          </a:p>
        </p:txBody>
      </p:sp>
      <p:sp>
        <p:nvSpPr>
          <p:cNvPr id="13" name="shape128"/>
          <p:cNvSpPr txBox="1"/>
          <p:nvPr/>
        </p:nvSpPr>
        <p:spPr>
          <a:xfrm>
            <a:off x="457200" y="2788920"/>
            <a:ext cx="1874520" cy="1005840"/>
          </a:xfrm>
          <a:prstGeom prst="roundRect">
            <a:avLst>
              <a:gd name="adj" fmla="val 45455"/>
            </a:avLst>
          </a:prstGeom>
          <a:solidFill>
            <a:schemeClr val="accent6"/>
          </a:solidFill>
          <a:ln/>
        </p:spPr>
        <p:txBody>
          <a:bodyPr wrap="square" lIns="101600" tIns="101600" rIns="101600" bIns="101600" rtlCol="0" anchor="ctr"/>
          <a:lstStyle/>
          <a:p>
            <a:pPr algn="l" indent="0" marL="0">
              <a:buNone/>
            </a:pPr>
            <a:r>
              <a:rPr lang="en-US" sz="1700" b="1" dirty="0">
                <a:solidFill>
                  <a:schemeClr val="tx2"/>
                </a:solidFill>
              </a:rPr>
              <a:t>One publication</a:t>
            </a:r>
            <a:endParaRPr lang="en-US" sz="1800" dirty="0"/>
          </a:p>
          <a:p>
            <a:pPr algn="l" indent="0" marL="0">
              <a:buNone/>
            </a:pPr>
            <a:r>
              <a:rPr lang="en-US" sz="1400" dirty="0">
                <a:solidFill>
                  <a:schemeClr val="tx1"/>
                </a:solidFill>
              </a:rPr>
              <a:t>PDF or DOI</a:t>
            </a:r>
            <a:endParaRPr lang="en-US" sz="1800" dirty="0"/>
          </a:p>
        </p:txBody>
      </p:sp>
      <p:sp>
        <p:nvSpPr>
          <p:cNvPr id="14" name="shape129"/>
          <p:cNvSpPr/>
          <p:nvPr/>
        </p:nvSpPr>
        <p:spPr>
          <a:xfrm>
            <a:off x="18288" y="3090672"/>
            <a:ext cx="384048" cy="384048"/>
          </a:xfrm>
          <a:prstGeom prst="ellipse">
            <a:avLst/>
          </a:prstGeom>
          <a:solidFill>
            <a:schemeClr val="tx2"/>
          </a:solidFill>
          <a:ln/>
        </p:spPr>
      </p:sp>
      <p:pic>
        <p:nvPicPr>
          <p:cNvPr id="15" name="buildIcon130" descr="preencoded.png">    </p:cNvPr>
          <p:cNvPicPr>
            <a:picLocks noChangeAspect="1"/>
          </p:cNvPicPr>
          <p:nvPr/>
        </p:nvPicPr>
        <p:blipFill>
          <a:blip r:embed="rId2"/>
          <a:stretch>
            <a:fillRect/>
          </a:stretch>
        </p:blipFill>
        <p:spPr>
          <a:xfrm>
            <a:off x="109728" y="3182112"/>
            <a:ext cx="201168" cy="201168"/>
          </a:xfrm>
          <a:prstGeom prst="rect">
            <a:avLst/>
          </a:prstGeom>
        </p:spPr>
      </p:pic>
      <p:sp>
        <p:nvSpPr>
          <p:cNvPr id="16" name="curve131"/>
          <p:cNvSpPr/>
          <p:nvPr/>
        </p:nvSpPr>
        <p:spPr>
          <a:xfrm>
            <a:off x="2331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7" name="shape132"/>
          <p:cNvSpPr txBox="1"/>
          <p:nvPr/>
        </p:nvSpPr>
        <p:spPr>
          <a:xfrm>
            <a:off x="2560320" y="278892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StructSense skill</a:t>
            </a:r>
            <a:endParaRPr lang="en-US" sz="1800" dirty="0"/>
          </a:p>
          <a:p>
            <a:pPr algn="l" indent="0" marL="0">
              <a:buNone/>
            </a:pPr>
            <a:r>
              <a:rPr lang="en-US" sz="1400" dirty="0">
                <a:solidFill>
                  <a:schemeClr val="tx1"/>
                </a:solidFill>
              </a:rPr>
              <a:t>sandbox: Neuroscientific Named Entity Extraction; Structured Resource Extraction (BrainKB Resource Ontology)</a:t>
            </a:r>
            <a:endParaRPr lang="en-US" sz="1800" dirty="0"/>
          </a:p>
        </p:txBody>
      </p:sp>
      <p:sp>
        <p:nvSpPr>
          <p:cNvPr id="18" name="curve133"/>
          <p:cNvSpPr/>
          <p:nvPr/>
        </p:nvSpPr>
        <p:spPr>
          <a:xfrm>
            <a:off x="6903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9" name="shape134"/>
          <p:cNvSpPr txBox="1"/>
          <p:nvPr/>
        </p:nvSpPr>
        <p:spPr>
          <a:xfrm>
            <a:off x="7132320" y="2788920"/>
            <a:ext cx="2011680" cy="1005840"/>
          </a:xfrm>
          <a:prstGeom prst="roundRect">
            <a:avLst>
              <a:gd name="adj" fmla="val 45455"/>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claims, entities, datasets and tools, with evidence spans</a:t>
            </a:r>
            <a:endParaRPr lang="en-US" sz="1500" dirty="0"/>
          </a:p>
        </p:txBody>
      </p:sp>
      <p:sp>
        <p:nvSpPr>
          <p:cNvPr id="20" name="curve135"/>
          <p:cNvSpPr/>
          <p:nvPr/>
        </p:nvSpPr>
        <p:spPr>
          <a:xfrm>
            <a:off x="9144000" y="3291840"/>
            <a:ext cx="457200" cy="160020"/>
          </a:xfrm>
          <a:custGeom>
            <a:avLst/>
            <a:gdLst/>
            <a:ahLst/>
            <a:cxnLst/>
            <a:rect l="l" t="t" r="r" b="b"/>
            <a:pathLst>
              <a:path w="457200" h="160020">
                <a:moveTo>
                  <a:pt x="0" y="0"/>
                </a:moveTo>
                <a:cubicBezTo>
                  <a:pt x="228600" y="0"/>
                  <a:pt x="228600" y="160020"/>
                  <a:pt x="457200" y="160020"/>
                </a:cubicBezTo>
              </a:path>
            </a:pathLst>
          </a:custGeom>
          <a:ln w="25400">
            <a:solidFill>
              <a:schemeClr val="tx2"/>
            </a:solidFill>
            <a:prstDash val="solid"/>
            <a:tailEnd type="triangle"/>
          </a:ln>
        </p:spPr>
      </p:sp>
      <p:sp>
        <p:nvSpPr>
          <p:cNvPr id="21" name="text136"/>
          <p:cNvSpPr txBox="1"/>
          <p:nvPr/>
        </p:nvSpPr>
        <p:spPr>
          <a:xfrm>
            <a:off x="457200" y="3822192"/>
            <a:ext cx="8823960" cy="329184"/>
          </a:xfrm>
          <a:prstGeom prst="rect">
            <a:avLst/>
          </a:prstGeom>
          <a:noFill/>
          <a:ln/>
        </p:spPr>
        <p:txBody>
          <a:bodyPr wrap="square" lIns="0" tIns="0" rIns="0" bIns="0" rtlCol="0" anchor="ctr"/>
          <a:lstStyle/>
          <a:p>
            <a:pPr indent="0" marL="0">
              <a:buNone/>
            </a:pPr>
            <a:r>
              <a:rPr lang="en-US" sz="1400" b="1" i="1" dirty="0">
                <a:solidFill>
                  <a:schemeClr val="accent1"/>
                </a:solidFill>
              </a:rPr>
              <a:t>Used here: </a:t>
            </a:r>
            <a:pPr indent="0" marL="0">
              <a:buNone/>
            </a:pPr>
            <a:r>
              <a:rPr lang="en-US" sz="1400" i="1" dirty="0">
                <a:solidFill>
                  <a:schemeClr val="accent1"/>
                </a:solidFill>
              </a:rPr>
              <a:t>Kim 2023 claims from a StructSense skill pilot, run by Codex</a:t>
            </a:r>
            <a:endParaRPr lang="en-US" sz="1400" dirty="0"/>
          </a:p>
        </p:txBody>
      </p:sp>
      <p:sp>
        <p:nvSpPr>
          <p:cNvPr id="22" name="shape137"/>
          <p:cNvSpPr txBox="1"/>
          <p:nvPr/>
        </p:nvSpPr>
        <p:spPr>
          <a:xfrm>
            <a:off x="457200" y="4206240"/>
            <a:ext cx="1874520" cy="1005840"/>
          </a:xfrm>
          <a:prstGeom prst="roundRect">
            <a:avLst>
              <a:gd name="adj" fmla="val 45455"/>
            </a:avLst>
          </a:prstGeom>
          <a:solidFill>
            <a:schemeClr val="accent5"/>
          </a:solidFill>
          <a:ln/>
        </p:spPr>
        <p:txBody>
          <a:bodyPr wrap="square" lIns="101600" tIns="101600" rIns="101600" bIns="101600" rtlCol="0" anchor="ctr"/>
          <a:lstStyle/>
          <a:p>
            <a:pPr algn="l" indent="0" marL="0">
              <a:buNone/>
            </a:pPr>
            <a:r>
              <a:rPr lang="en-US" sz="1700" b="1" dirty="0">
                <a:solidFill>
                  <a:schemeClr val="accent2"/>
                </a:solidFill>
              </a:rPr>
              <a:t>A body of publications</a:t>
            </a:r>
            <a:endParaRPr lang="en-US" sz="1800" dirty="0"/>
          </a:p>
          <a:p>
            <a:pPr algn="l" indent="0" marL="0">
              <a:buNone/>
            </a:pPr>
            <a:r>
              <a:rPr lang="en-US" sz="1400" dirty="0">
                <a:solidFill>
                  <a:schemeClr val="tx1"/>
                </a:solidFill>
              </a:rPr>
              <a:t>a topic or question</a:t>
            </a:r>
            <a:endParaRPr lang="en-US" sz="1800" dirty="0"/>
          </a:p>
        </p:txBody>
      </p:sp>
      <p:sp>
        <p:nvSpPr>
          <p:cNvPr id="23" name="shape138"/>
          <p:cNvSpPr/>
          <p:nvPr/>
        </p:nvSpPr>
        <p:spPr>
          <a:xfrm>
            <a:off x="18288" y="4507992"/>
            <a:ext cx="384048" cy="384048"/>
          </a:xfrm>
          <a:prstGeom prst="ellipse">
            <a:avLst/>
          </a:prstGeom>
          <a:solidFill>
            <a:schemeClr val="accent2"/>
          </a:solidFill>
          <a:ln/>
        </p:spPr>
      </p:sp>
      <p:pic>
        <p:nvPicPr>
          <p:cNvPr id="24" name="buildIcon139" descr="preencoded.png">    </p:cNvPr>
          <p:cNvPicPr>
            <a:picLocks noChangeAspect="1"/>
          </p:cNvPicPr>
          <p:nvPr/>
        </p:nvPicPr>
        <p:blipFill>
          <a:blip r:embed="rId3"/>
          <a:stretch>
            <a:fillRect/>
          </a:stretch>
        </p:blipFill>
        <p:spPr>
          <a:xfrm>
            <a:off x="109728" y="4599432"/>
            <a:ext cx="201168" cy="201168"/>
          </a:xfrm>
          <a:prstGeom prst="rect">
            <a:avLst/>
          </a:prstGeom>
        </p:spPr>
      </p:pic>
      <p:sp>
        <p:nvSpPr>
          <p:cNvPr id="25" name="curve140"/>
          <p:cNvSpPr/>
          <p:nvPr/>
        </p:nvSpPr>
        <p:spPr>
          <a:xfrm>
            <a:off x="2331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6" name="shape141"/>
          <p:cNvSpPr txBox="1"/>
          <p:nvPr/>
        </p:nvSpPr>
        <p:spPr>
          <a:xfrm>
            <a:off x="2560320" y="420624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SynthScholar skill</a:t>
            </a:r>
            <a:endParaRPr lang="en-US" sz="1800" dirty="0"/>
          </a:p>
          <a:p>
            <a:pPr algn="l" indent="0" marL="0">
              <a:buNone/>
            </a:pPr>
            <a:r>
              <a:rPr lang="en-US" sz="1400" dirty="0">
                <a:solidFill>
                  <a:schemeClr val="tx1"/>
                </a:solidFill>
              </a:rPr>
              <a:t>sandbox: SynthScholar — protocol → search strategy → screening and charting</a:t>
            </a:r>
            <a:endParaRPr lang="en-US" sz="1800" dirty="0"/>
          </a:p>
        </p:txBody>
      </p:sp>
      <p:sp>
        <p:nvSpPr>
          <p:cNvPr id="27" name="curve142"/>
          <p:cNvSpPr/>
          <p:nvPr/>
        </p:nvSpPr>
        <p:spPr>
          <a:xfrm>
            <a:off x="6903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8" name="shape143"/>
          <p:cNvSpPr txBox="1"/>
          <p:nvPr/>
        </p:nvSpPr>
        <p:spPr>
          <a:xfrm>
            <a:off x="7132320" y="4206240"/>
            <a:ext cx="2011680" cy="1005840"/>
          </a:xfrm>
          <a:prstGeom prst="roundRect">
            <a:avLst>
              <a:gd name="adj" fmla="val 45455"/>
            </a:avLst>
          </a:prstGeom>
          <a:solidFill>
            <a:schemeClr val="accent2"/>
          </a:solidFill>
          <a:ln/>
        </p:spPr>
        <p:txBody>
          <a:bodyPr wrap="square" lIns="76200" tIns="76200" rIns="76200" bIns="76200" rtlCol="0" anchor="ctr"/>
          <a:lstStyle/>
          <a:p>
            <a:pPr algn="ctr" indent="0" marL="0">
              <a:buNone/>
            </a:pPr>
            <a:r>
              <a:rPr lang="en-US" sz="1500" b="1" dirty="0">
                <a:solidFill>
                  <a:schemeClr val="bg1"/>
                </a:solidFill>
              </a:rPr>
              <a:t>review graph (SLR ontology)</a:t>
            </a:r>
            <a:endParaRPr lang="en-US" sz="1500" dirty="0"/>
          </a:p>
        </p:txBody>
      </p:sp>
      <p:sp>
        <p:nvSpPr>
          <p:cNvPr id="29" name="curve144"/>
          <p:cNvSpPr/>
          <p:nvPr/>
        </p:nvSpPr>
        <p:spPr>
          <a:xfrm>
            <a:off x="9144000" y="3451860"/>
            <a:ext cx="457200" cy="1257300"/>
          </a:xfrm>
          <a:custGeom>
            <a:avLst/>
            <a:gdLst/>
            <a:ahLst/>
            <a:cxnLst/>
            <a:rect l="l" t="t" r="r" b="b"/>
            <a:pathLst>
              <a:path w="457200" h="1257300">
                <a:moveTo>
                  <a:pt x="0" y="1257300"/>
                </a:moveTo>
                <a:cubicBezTo>
                  <a:pt x="228600" y="1257300"/>
                  <a:pt x="228600" y="0"/>
                  <a:pt x="457200" y="0"/>
                </a:cubicBezTo>
              </a:path>
            </a:pathLst>
          </a:custGeom>
          <a:ln w="25400">
            <a:solidFill>
              <a:schemeClr val="accent2"/>
            </a:solidFill>
            <a:prstDash val="solid"/>
            <a:tailEnd type="triangle"/>
          </a:ln>
        </p:spPr>
      </p:sp>
      <p:sp>
        <p:nvSpPr>
          <p:cNvPr id="30" name="text145"/>
          <p:cNvSpPr txBox="1"/>
          <p:nvPr/>
        </p:nvSpPr>
        <p:spPr>
          <a:xfrm>
            <a:off x="457200" y="5239512"/>
            <a:ext cx="8823960" cy="329184"/>
          </a:xfrm>
          <a:prstGeom prst="rect">
            <a:avLst/>
          </a:prstGeom>
          <a:noFill/>
          <a:ln/>
        </p:spPr>
        <p:txBody>
          <a:bodyPr wrap="square" lIns="0" tIns="0" rIns="0" bIns="0" rtlCol="0" anchor="ctr"/>
          <a:lstStyle/>
          <a:p>
            <a:pPr indent="0" marL="0">
              <a:buNone/>
            </a:pPr>
            <a:r>
              <a:rPr lang="en-US" sz="1400" b="1" i="1" dirty="0">
                <a:solidFill>
                  <a:schemeClr val="accent1"/>
                </a:solidFill>
              </a:rPr>
              <a:t>Used here: </a:t>
            </a:r>
            <a:pPr indent="0" marL="0">
              <a:buNone/>
            </a:pPr>
            <a:r>
              <a:rPr lang="en-US" sz="1400" i="1" dirty="0">
                <a:solidFill>
                  <a:schemeClr val="accent1"/>
                </a:solidFill>
              </a:rPr>
              <a:t>74 ABIDE studies: SynthScholar skill for protocol, retrieval, export; screening and charting by sub-agents</a:t>
            </a:r>
            <a:endParaRPr lang="en-US" sz="1400" dirty="0"/>
          </a:p>
        </p:txBody>
      </p:sp>
      <p:sp>
        <p:nvSpPr>
          <p:cNvPr id="31" name="text146"/>
          <p:cNvSpPr txBox="1"/>
          <p:nvPr/>
        </p:nvSpPr>
        <p:spPr>
          <a:xfrm>
            <a:off x="9646920" y="2331720"/>
            <a:ext cx="1965960" cy="2286000"/>
          </a:xfrm>
          <a:prstGeom prst="rect">
            <a:avLst/>
          </a:prstGeom>
          <a:noFill/>
          <a:ln/>
        </p:spPr>
        <p:txBody>
          <a:bodyPr wrap="square" lIns="0" tIns="0" rIns="0" bIns="0" rtlCol="0" anchor="ctr"/>
          <a:lstStyle/>
          <a:p>
            <a:pPr algn="ctr" indent="0" marL="0">
              <a:buNone/>
            </a:pPr>
            <a:r>
              <a:rPr lang="en-US" sz="2000" b="1" dirty="0">
                <a:solidFill>
                  <a:schemeClr val="tx2"/>
                </a:solidFill>
              </a:rPr>
              <a:t>Ingest into BrainKB</a:t>
            </a:r>
            <a:endParaRPr lang="en-US" sz="1800" dirty="0"/>
          </a:p>
          <a:p>
            <a:pPr algn="ctr" indent="0" marL="0">
              <a:buNone/>
            </a:pPr>
            <a:r>
              <a:rPr lang="en-US" sz="1400" dirty="0">
                <a:solidFill>
                  <a:schemeClr val="tx1"/>
                </a:solidFill>
              </a:rPr>
              <a:t>sandbox: Ingest Knowledge Graph, then job status</a:t>
            </a:r>
            <a:endParaRPr lang="en-US" sz="1800" dirty="0"/>
          </a:p>
          <a:p>
            <a:pPr algn="ctr" indent="0" marL="0">
              <a:buNone/>
            </a:pPr>
            <a:r>
              <a:rPr lang="en-US" sz="800" dirty="0">
                <a:solidFill>
                  <a:schemeClr val="tx1"/>
                </a:solidFill>
              </a:rPr>
              <a:t> </a:t>
            </a:r>
            <a:endParaRPr lang="en-US" sz="1800" dirty="0"/>
          </a:p>
          <a:p>
            <a:pPr algn="ctr" indent="0" marL="0">
              <a:buNone/>
            </a:pPr>
            <a:r>
              <a:rPr lang="en-US" sz="1600" b="1" dirty="0">
                <a:solidFill>
                  <a:schemeClr val="tx2"/>
                </a:solidFill>
              </a:rPr>
              <a:t>Query it</a:t>
            </a:r>
            <a:endParaRPr lang="en-US" sz="1800" dirty="0"/>
          </a:p>
          <a:p>
            <a:pPr algn="ctr" indent="0" marL="0">
              <a:buNone/>
            </a:pPr>
            <a:r>
              <a:rPr lang="en-US" sz="1400" dirty="0">
                <a:solidFill>
                  <a:schemeClr val="tx1"/>
                </a:solidFill>
              </a:rPr>
              <a:t>brainkb skill · BrainKB MCP</a:t>
            </a:r>
            <a:endParaRPr lang="en-US" sz="1800" dirty="0"/>
          </a:p>
        </p:txBody>
      </p:sp>
      <p:sp>
        <p:nvSpPr>
          <p:cNvPr id="32" name="shape147"/>
          <p:cNvSpPr txBox="1"/>
          <p:nvPr/>
        </p:nvSpPr>
        <p:spPr>
          <a:xfrm>
            <a:off x="365760" y="5760720"/>
            <a:ext cx="6537960" cy="530352"/>
          </a:xfrm>
          <a:prstGeom prst="roundRect">
            <a:avLst>
              <a:gd name="adj" fmla="val 86207"/>
            </a:avLst>
          </a:prstGeom>
          <a:solidFill>
            <a:schemeClr val="bg1"/>
          </a:solidFill>
          <a:ln w="19050">
            <a:solidFill>
              <a:schemeClr val="accent3"/>
            </a:solidFill>
            <a:prstDash val="dash"/>
          </a:ln>
        </p:spPr>
        <p:txBody>
          <a:bodyPr wrap="square" lIns="76200" tIns="76200" rIns="76200" bIns="76200" rtlCol="0" anchor="ctr"/>
          <a:lstStyle/>
          <a:p>
            <a:pPr algn="ctr" indent="0" marL="0">
              <a:buNone/>
            </a:pPr>
            <a:r>
              <a:rPr lang="en-US" sz="1500" b="1" dirty="0">
                <a:solidFill>
                  <a:schemeClr val="tx2"/>
                </a:solidFill>
              </a:rPr>
              <a:t>Questionnaires: </a:t>
            </a:r>
            <a:pPr algn="ctr" indent="0" marL="0">
              <a:buNone/>
            </a:pPr>
            <a:r>
              <a:rPr lang="en-US" sz="1500" dirty="0">
                <a:solidFill>
                  <a:schemeClr val="tx2"/>
                </a:solidFill>
              </a:rPr>
              <a:t>sandbox ReproSchema Extraction (PDF → ReproSchema assessments)</a:t>
            </a:r>
            <a:endParaRPr lang="en-US" sz="1500" dirty="0"/>
          </a:p>
        </p:txBody>
      </p:sp>
      <p:sp>
        <p:nvSpPr>
          <p:cNvPr id="33" name="text148"/>
          <p:cNvSpPr txBox="1"/>
          <p:nvPr/>
        </p:nvSpPr>
        <p:spPr>
          <a:xfrm>
            <a:off x="9418320" y="5806440"/>
            <a:ext cx="2423160" cy="411480"/>
          </a:xfrm>
          <a:prstGeom prst="rect">
            <a:avLst/>
          </a:prstGeom>
          <a:noFill/>
          <a:ln/>
        </p:spPr>
        <p:txBody>
          <a:bodyPr wrap="square" lIns="0" tIns="0" rIns="0" bIns="0" rtlCol="0" anchor="ctr"/>
          <a:lstStyle/>
          <a:p>
            <a:pPr algn="ctr" indent="0" marL="0">
              <a:buNone/>
            </a:pPr>
            <a:r>
              <a:rPr lang="en-US" sz="1600" b="1" dirty="0">
                <a:solidFill>
                  <a:schemeClr val="accent1"/>
                </a:solidFill>
              </a:rPr>
              <a:t>sandbox.brainkb.org</a:t>
            </a:r>
            <a:endParaRPr lang="en-US" sz="1600" dirty="0"/>
          </a:p>
        </p:txBody>
      </p:sp>
      <p:pic>
        <p:nvPicPr>
          <p:cNvPr id="35" name="stripIcon6"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36"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Sandbox page names read from the brainkb-ui source (commit a4815a3), not exercised in this session; skills in sensein/agent_skills</a:t>
            </a:r>
            <a:endParaRPr lang="en-US" sz="1200" dirty="0"/>
          </a:p>
        </p:txBody>
      </p:sp>
      <p:sp>
        <p:nvSpPr>
          <p:cNvPr id="37" name="tagDot6"/>
          <p:cNvSpPr/>
          <p:nvPr/>
        </p:nvSpPr>
        <p:spPr>
          <a:xfrm>
            <a:off x="9326880" y="82296"/>
            <a:ext cx="128016" cy="128016"/>
          </a:xfrm>
          <a:prstGeom prst="ellipse">
            <a:avLst/>
          </a:prstGeom>
          <a:solidFill>
            <a:schemeClr val="accent1"/>
          </a:solidFill>
          <a:ln/>
        </p:spPr>
      </p:sp>
      <p:sp>
        <p:nvSpPr>
          <p:cNvPr id="38"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9" name="badge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data6"/>
          <p:cNvSpPr txBox="1"/>
          <p:nvPr/>
        </p:nvSpPr>
        <p:spPr>
          <a:xfrm>
            <a:off x="2194560" y="6473952"/>
            <a:ext cx="8961120" cy="301752"/>
          </a:xfrm>
          <a:prstGeom prst="rect">
            <a:avLst/>
          </a:prstGeom>
          <a:noFill/>
          <a:ln/>
        </p:spPr>
        <p:txBody>
          <a:bodyPr wrap="square" lIns="0" tIns="0" rIns="0" bIns="0" rtlCol="0" anchor="ctr"/>
          <a:lstStyle/>
          <a:p>
            <a:pPr indent="0" marL="0">
              <a:buNone/>
            </a:pPr>
            <a:r>
              <a:rPr lang="en-US" sz="1100" dirty="0">
                <a:solidFill>
                  <a:srgbClr val="5E7A88"/>
                </a:solidFill>
              </a:rPr>
              <a:t>Data: ABIDE I; Kim et al. 2023; 74 ABIDE studies</a:t>
            </a:r>
            <a:endParaRPr lang="en-US" sz="1100" dirty="0"/>
          </a:p>
        </p:txBody>
      </p:sp>
      <p:sp>
        <p:nvSpPr>
          <p:cNvPr id="43" name="badge6_check"/>
          <p:cNvSpPr txBox="1"/>
          <p:nvPr/>
        </p:nvSpPr>
        <p:spPr>
          <a:xfrm>
            <a:off x="1234440"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149"/>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150"/>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151"/>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152"/>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153"/>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154"/>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155"/>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156"/>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157"/>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158"/>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159"/>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160"/>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161"/>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162"/>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163"/>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164"/>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165"/>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166"/>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167"/>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168"/>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169"/>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70"/>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71"/>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72"/>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73"/>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74"/>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75"/>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76"/>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77"/>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78"/>
          <p:cNvSpPr/>
          <p:nvPr/>
        </p:nvSpPr>
        <p:spPr>
          <a:xfrm>
            <a:off x="4617720" y="5833872"/>
            <a:ext cx="274320" cy="274320"/>
          </a:xfrm>
          <a:prstGeom prst="ellipse">
            <a:avLst/>
          </a:prstGeom>
          <a:solidFill>
            <a:schemeClr val="accent1"/>
          </a:solidFill>
          <a:ln/>
        </p:spPr>
      </p:sp>
      <p:sp>
        <p:nvSpPr>
          <p:cNvPr id="33" name="text179"/>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80"/>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7"/>
          <p:cNvSpPr/>
          <p:nvPr/>
        </p:nvSpPr>
        <p:spPr>
          <a:xfrm>
            <a:off x="9326880" y="82296"/>
            <a:ext cx="128016" cy="128016"/>
          </a:xfrm>
          <a:prstGeom prst="ellipse">
            <a:avLst/>
          </a:prstGeom>
          <a:solidFill>
            <a:schemeClr val="accent1"/>
          </a:solidFill>
          <a:ln/>
        </p:spPr>
      </p:sp>
      <p:sp>
        <p:nvSpPr>
          <p:cNvPr id="39"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7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7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81"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82"/>
          <p:cNvSpPr txBox="1"/>
          <p:nvPr/>
        </p:nvSpPr>
        <p:spPr>
          <a:xfrm>
            <a:off x="8686800" y="1261872"/>
            <a:ext cx="3154680" cy="777240"/>
          </a:xfrm>
          <a:prstGeom prst="rect">
            <a:avLst/>
          </a:prstGeom>
          <a:noFill/>
          <a:ln/>
        </p:spPr>
        <p:txBody>
          <a:bodyPr wrap="square" lIns="0" tIns="0" rIns="0" bIns="0" rtlCol="0" anchor="t"/>
          <a:lstStyle/>
          <a:p>
            <a:pPr indent="0" marL="0">
              <a:buNone/>
            </a:pPr>
            <a:r>
              <a:rPr lang="en-US" sz="1500" b="1" dirty="0">
                <a:solidFill>
                  <a:schemeClr val="tx2"/>
                </a:solidFill>
              </a:rPr>
              <a:t>One ABIDE participant, MaxMun_c_0051332</a:t>
            </a:r>
            <a:endParaRPr lang="en-US" sz="1500" dirty="0"/>
          </a:p>
          <a:p>
            <a:pPr indent="0" marL="0">
              <a:buNone/>
            </a:pPr>
            <a:r>
              <a:rPr lang="en-US" sz="1500" dirty="0">
                <a:solidFill>
                  <a:schemeClr val="tx2"/>
                </a:solidFill>
              </a:rPr>
              <a:t>everything within two steps: 239 statements, one query (0.03 s)</a:t>
            </a:r>
            <a:endParaRPr lang="en-US" sz="1500" dirty="0"/>
          </a:p>
        </p:txBody>
      </p:sp>
      <p:sp>
        <p:nvSpPr>
          <p:cNvPr id="5" name="shape183"/>
          <p:cNvSpPr/>
          <p:nvPr/>
        </p:nvSpPr>
        <p:spPr>
          <a:xfrm>
            <a:off x="8686800" y="2194560"/>
            <a:ext cx="310896" cy="310896"/>
          </a:xfrm>
          <a:prstGeom prst="ellipse">
            <a:avLst/>
          </a:prstGeom>
          <a:solidFill>
            <a:schemeClr val="accent1"/>
          </a:solidFill>
          <a:ln/>
        </p:spPr>
      </p:sp>
      <p:sp>
        <p:nvSpPr>
          <p:cNvPr id="6" name="text184"/>
          <p:cNvSpPr txBox="1"/>
          <p:nvPr/>
        </p:nvSpPr>
        <p:spPr>
          <a:xfrm>
            <a:off x="9098280" y="2103120"/>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Phenotype</a:t>
            </a:r>
            <a:pPr indent="0" marL="0">
              <a:buNone/>
            </a:pPr>
            <a:r>
              <a:rPr lang="en-US" sz="1500" dirty="0">
                <a:solidFill>
                  <a:schemeClr val="accent3"/>
                </a:solidFill>
              </a:rPr>
              <a:t>  38 values</a:t>
            </a:r>
            <a:endParaRPr lang="en-US" sz="1500" dirty="0"/>
          </a:p>
        </p:txBody>
      </p:sp>
      <p:sp>
        <p:nvSpPr>
          <p:cNvPr id="7" name="shape185"/>
          <p:cNvSpPr/>
          <p:nvPr/>
        </p:nvSpPr>
        <p:spPr>
          <a:xfrm>
            <a:off x="8686800" y="2729484"/>
            <a:ext cx="310896" cy="310896"/>
          </a:xfrm>
          <a:prstGeom prst="ellipse">
            <a:avLst/>
          </a:prstGeom>
          <a:solidFill>
            <a:schemeClr val="tx2"/>
          </a:solidFill>
          <a:ln/>
        </p:spPr>
      </p:sp>
      <p:sp>
        <p:nvSpPr>
          <p:cNvPr id="8" name="text186"/>
          <p:cNvSpPr txBox="1"/>
          <p:nvPr/>
        </p:nvSpPr>
        <p:spPr>
          <a:xfrm>
            <a:off x="9098280" y="2638044"/>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Scans and QC</a:t>
            </a:r>
            <a:pPr indent="0" marL="0">
              <a:buNone/>
            </a:pPr>
            <a:r>
              <a:rPr lang="en-US" sz="1500" dirty="0">
                <a:solidFill>
                  <a:schemeClr val="accent3"/>
                </a:solidFill>
              </a:rPr>
              <a:t>  2 scans; head motion 0.064 mm</a:t>
            </a:r>
            <a:endParaRPr lang="en-US" sz="1500" dirty="0"/>
          </a:p>
        </p:txBody>
      </p:sp>
      <p:sp>
        <p:nvSpPr>
          <p:cNvPr id="9" name="shape187"/>
          <p:cNvSpPr/>
          <p:nvPr/>
        </p:nvSpPr>
        <p:spPr>
          <a:xfrm>
            <a:off x="8686800" y="3264408"/>
            <a:ext cx="310896" cy="310896"/>
          </a:xfrm>
          <a:prstGeom prst="ellipse">
            <a:avLst/>
          </a:prstGeom>
          <a:solidFill>
            <a:schemeClr val="accent3"/>
          </a:solidFill>
          <a:ln/>
        </p:spPr>
      </p:sp>
      <p:sp>
        <p:nvSpPr>
          <p:cNvPr id="10" name="text188"/>
          <p:cNvSpPr txBox="1"/>
          <p:nvPr/>
        </p:nvSpPr>
        <p:spPr>
          <a:xfrm>
            <a:off x="9098280" y="3172968"/>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Derived data</a:t>
            </a:r>
            <a:pPr indent="0" marL="0">
              <a:buNone/>
            </a:pPr>
            <a:r>
              <a:rPr lang="en-US" sz="1500" dirty="0">
                <a:solidFill>
                  <a:schemeClr val="accent3"/>
                </a:solidFill>
              </a:rPr>
              <a:t>  regional time series, connectivity</a:t>
            </a:r>
            <a:endParaRPr lang="en-US" sz="1500" dirty="0"/>
          </a:p>
        </p:txBody>
      </p:sp>
      <p:sp>
        <p:nvSpPr>
          <p:cNvPr id="11" name="shape189"/>
          <p:cNvSpPr/>
          <p:nvPr/>
        </p:nvSpPr>
        <p:spPr>
          <a:xfrm>
            <a:off x="8686800" y="3799332"/>
            <a:ext cx="310896" cy="310896"/>
          </a:xfrm>
          <a:prstGeom prst="ellipse">
            <a:avLst/>
          </a:prstGeom>
          <a:solidFill>
            <a:schemeClr val="accent2"/>
          </a:solidFill>
          <a:ln/>
        </p:spPr>
      </p:sp>
      <p:sp>
        <p:nvSpPr>
          <p:cNvPr id="12" name="text190"/>
          <p:cNvSpPr txBox="1"/>
          <p:nvPr/>
        </p:nvSpPr>
        <p:spPr>
          <a:xfrm>
            <a:off x="9098280" y="3707892"/>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Brain volumes by tool</a:t>
            </a:r>
            <a:pPr indent="0" marL="0">
              <a:buNone/>
            </a:pPr>
            <a:r>
              <a:rPr lang="en-US" sz="1500" dirty="0">
                <a:solidFill>
                  <a:schemeClr val="accent3"/>
                </a:solidFill>
              </a:rPr>
              <a:t>  ANTs 101 · FSL 18 · FreeSurfer 62 values</a:t>
            </a:r>
            <a:endParaRPr lang="en-US" sz="1500" dirty="0"/>
          </a:p>
        </p:txBody>
      </p:sp>
      <p:sp>
        <p:nvSpPr>
          <p:cNvPr id="13" name="shape191"/>
          <p:cNvSpPr/>
          <p:nvPr/>
        </p:nvSpPr>
        <p:spPr>
          <a:xfrm>
            <a:off x="8686800" y="4334256"/>
            <a:ext cx="310896" cy="310896"/>
          </a:xfrm>
          <a:prstGeom prst="ellipse">
            <a:avLst/>
          </a:prstGeom>
          <a:solidFill>
            <a:srgbClr val="8EA4AE"/>
          </a:solidFill>
          <a:ln/>
        </p:spPr>
      </p:sp>
      <p:sp>
        <p:nvSpPr>
          <p:cNvPr id="14" name="text192"/>
          <p:cNvSpPr txBox="1"/>
          <p:nvPr/>
        </p:nvSpPr>
        <p:spPr>
          <a:xfrm>
            <a:off x="9098280" y="4242816"/>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Cohorts and folds</a:t>
            </a:r>
            <a:pPr indent="0" marL="0">
              <a:buNone/>
            </a:pPr>
            <a:r>
              <a:rPr lang="en-US" sz="1500" dirty="0">
                <a:solidFill>
                  <a:schemeClr val="accent3"/>
                </a:solidFill>
              </a:rPr>
              <a:t>  in 4 cohorts; out of A's stricter one (site too small)</a:t>
            </a:r>
            <a:endParaRPr lang="en-US" sz="1500" dirty="0"/>
          </a:p>
        </p:txBody>
      </p:sp>
      <p:sp>
        <p:nvSpPr>
          <p:cNvPr id="15" name="shape193"/>
          <p:cNvSpPr/>
          <p:nvPr/>
        </p:nvSpPr>
        <p:spPr>
          <a:xfrm>
            <a:off x="8686800" y="4869180"/>
            <a:ext cx="310896" cy="310896"/>
          </a:xfrm>
          <a:prstGeom prst="ellipse">
            <a:avLst/>
          </a:prstGeom>
          <a:solidFill>
            <a:srgbClr val="5FA8A9"/>
          </a:solidFill>
          <a:ln/>
        </p:spPr>
      </p:sp>
      <p:sp>
        <p:nvSpPr>
          <p:cNvPr id="16" name="text194"/>
          <p:cNvSpPr txBox="1"/>
          <p:nvPr/>
        </p:nvSpPr>
        <p:spPr>
          <a:xfrm>
            <a:off x="9098280" y="4777740"/>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Results</a:t>
            </a:r>
            <a:pPr indent="0" marL="0">
              <a:buNone/>
            </a:pPr>
            <a:r>
              <a:rPr lang="en-US" sz="1500" dirty="0">
                <a:solidFill>
                  <a:schemeClr val="accent3"/>
                </a:solidFill>
              </a:rPr>
              <a:t>  input to 10 results</a:t>
            </a:r>
            <a:endParaRPr lang="en-US" sz="1500" dirty="0"/>
          </a:p>
        </p:txBody>
      </p:sp>
      <p:sp>
        <p:nvSpPr>
          <p:cNvPr id="17" name="shape195"/>
          <p:cNvSpPr/>
          <p:nvPr/>
        </p:nvSpPr>
        <p:spPr>
          <a:xfrm>
            <a:off x="8686800" y="5404104"/>
            <a:ext cx="310896" cy="310896"/>
          </a:xfrm>
          <a:prstGeom prst="ellipse">
            <a:avLst/>
          </a:prstGeom>
          <a:solidFill>
            <a:srgbClr val="D98C6A"/>
          </a:solidFill>
          <a:ln/>
        </p:spPr>
      </p:sp>
      <p:sp>
        <p:nvSpPr>
          <p:cNvPr id="18" name="text196"/>
          <p:cNvSpPr txBox="1"/>
          <p:nvPr/>
        </p:nvSpPr>
        <p:spPr>
          <a:xfrm>
            <a:off x="9098280" y="5312664"/>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Publication</a:t>
            </a:r>
            <a:pPr indent="0" marL="0">
              <a:buNone/>
            </a:pPr>
            <a:r>
              <a:rPr lang="en-US" sz="1500" dirty="0">
                <a:solidFill>
                  <a:schemeClr val="accent3"/>
                </a:solidFill>
              </a:rPr>
              <a:t>  Abraham 2017 cohort</a:t>
            </a:r>
            <a:endParaRPr lang="en-US" sz="1500" dirty="0"/>
          </a:p>
        </p:txBody>
      </p:sp>
      <p:sp>
        <p:nvSpPr>
          <p:cNvPr id="19" name="shape197"/>
          <p:cNvSpPr/>
          <p:nvPr/>
        </p:nvSpPr>
        <p:spPr>
          <a:xfrm>
            <a:off x="8686800" y="5939028"/>
            <a:ext cx="310896" cy="310896"/>
          </a:xfrm>
          <a:prstGeom prst="ellipse">
            <a:avLst/>
          </a:prstGeom>
          <a:solidFill>
            <a:srgbClr val="2F5D6E"/>
          </a:solidFill>
          <a:ln/>
        </p:spPr>
      </p:sp>
      <p:sp>
        <p:nvSpPr>
          <p:cNvPr id="20" name="text198"/>
          <p:cNvSpPr txBox="1"/>
          <p:nvPr/>
        </p:nvSpPr>
        <p:spPr>
          <a:xfrm>
            <a:off x="9098280" y="5847588"/>
            <a:ext cx="2788920" cy="512064"/>
          </a:xfrm>
          <a:prstGeom prst="rect">
            <a:avLst/>
          </a:prstGeom>
          <a:noFill/>
          <a:ln/>
        </p:spPr>
        <p:txBody>
          <a:bodyPr wrap="square" lIns="0" tIns="0" rIns="0" bIns="0" rtlCol="0" anchor="ctr"/>
          <a:lstStyle/>
          <a:p>
            <a:pPr indent="0" marL="0">
              <a:buNone/>
            </a:pPr>
            <a:r>
              <a:rPr lang="en-US" sz="1500" b="1" dirty="0">
                <a:solidFill>
                  <a:schemeClr val="tx2"/>
                </a:solidFill>
              </a:rPr>
              <a:t>Consent scope</a:t>
            </a:r>
            <a:pPr indent="0" marL="0">
              <a:buNone/>
            </a:pPr>
            <a:r>
              <a:rPr lang="en-US" sz="1500" dirty="0">
                <a:solidFill>
                  <a:schemeClr val="accent3"/>
                </a:solidFill>
              </a:rPr>
              <a:t>  broad sharing permitted</a:t>
            </a:r>
            <a:endParaRPr lang="en-US" sz="1500" dirty="0"/>
          </a:p>
        </p:txBody>
      </p:sp>
      <p:pic>
        <p:nvPicPr>
          <p:cNvPr id="22" name="stripIcon8"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8"/>
          <p:cNvSpPr/>
          <p:nvPr/>
        </p:nvSpPr>
        <p:spPr>
          <a:xfrm>
            <a:off x="9326880" y="82296"/>
            <a:ext cx="128016" cy="128016"/>
          </a:xfrm>
          <a:prstGeom prst="ellipse">
            <a:avLst/>
          </a:prstGeom>
          <a:solidFill>
            <a:schemeClr val="accent1"/>
          </a:solidFill>
          <a:ln/>
        </p:spPr>
      </p:sp>
      <p:sp>
        <p:nvSpPr>
          <p:cNvPr id="25"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8"/>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8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99"/>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200"/>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201"/>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202"/>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203"/>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204"/>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205"/>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206"/>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207"/>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shape208"/>
          <p:cNvSpPr txBox="1"/>
          <p:nvPr/>
        </p:nvSpPr>
        <p:spPr>
          <a:xfrm>
            <a:off x="320040" y="3703320"/>
            <a:ext cx="2743200" cy="2651760"/>
          </a:xfrm>
          <a:prstGeom prst="roundRect">
            <a:avLst>
              <a:gd name="adj" fmla="val 3448"/>
            </a:avLst>
          </a:prstGeom>
          <a:solidFill>
            <a:schemeClr val="bg2"/>
          </a:solidFill>
          <a:ln w="19050">
            <a:solidFill>
              <a:srgbClr val="C9D3D7"/>
            </a:solidFill>
            <a:prstDash val="solid"/>
          </a:ln>
        </p:spPr>
        <p:txBody>
          <a:bodyPr wrap="square" lIns="101600" tIns="101600" rIns="101600" bIns="101600" rtlCol="0" anchor="t"/>
          <a:lstStyle/>
          <a:p>
            <a:pPr algn="l" indent="0" marL="0">
              <a:buNone/>
            </a:pPr>
            <a:r>
              <a:rPr lang="en-US" sz="1400" b="1" dirty="0">
                <a:solidFill>
                  <a:schemeClr val="tx2"/>
                </a:solidFill>
              </a:rPr>
              <a:t>Leave-one-out</a:t>
            </a:r>
            <a:endParaRPr lang="en-US" sz="1400" dirty="0"/>
          </a:p>
          <a:p>
            <a:pPr algn="l" indent="0" marL="0">
              <a:buNone/>
            </a:pPr>
            <a:r>
              <a:rPr lang="en-US" sz="1400" dirty="0">
                <a:solidFill>
                  <a:schemeClr val="tx1"/>
                </a:solidFill>
              </a:rPr>
              <a:t>train on 93, predict the 94th, repeat for all; chance = 50%</a:t>
            </a:r>
            <a:endParaRPr lang="en-US" sz="1400" dirty="0"/>
          </a:p>
          <a:p>
            <a:pPr algn="l" indent="0" marL="0">
              <a:buNone/>
            </a:pPr>
            <a:r>
              <a:rPr lang="en-US" sz="1400" b="1" dirty="0">
                <a:solidFill>
                  <a:schemeClr val="tx2"/>
                </a:solidFill>
              </a:rPr>
              <a:t>Re-run here</a:t>
            </a:r>
            <a:endParaRPr lang="en-US" sz="1400" dirty="0"/>
          </a:p>
          <a:p>
            <a:pPr algn="l" indent="0" marL="0">
              <a:buNone/>
            </a:pPr>
            <a:r>
              <a:rPr lang="en-US" sz="1400" dirty="0">
                <a:solidFill>
                  <a:schemeClr val="tx1"/>
                </a:solidFill>
              </a:rPr>
              <a:t>authors' OSF data and code give 70.2% again; also 52.1% decreased alone, 61.7% increased alone (not in the paper)</a:t>
            </a:r>
            <a:endParaRPr lang="en-US" sz="1400" dirty="0"/>
          </a:p>
        </p:txBody>
      </p:sp>
      <p:sp>
        <p:nvSpPr>
          <p:cNvPr id="13" name="curve209"/>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4" name="curve210"/>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5" name="shape211"/>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6" name="text212"/>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8"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claims_and_questions.ttl (StructSense skill pilot, run by Codex): question → claim → evaluation → cohort; evidence re-run by kim2023_rerun/rerun_ucla_cpm.py</a:t>
            </a:r>
            <a:endParaRPr lang="en-US" sz="1200" dirty="0"/>
          </a:p>
        </p:txBody>
      </p:sp>
      <p:sp>
        <p:nvSpPr>
          <p:cNvPr id="20" name="tagDot9"/>
          <p:cNvSpPr/>
          <p:nvPr/>
        </p:nvSpPr>
        <p:spPr>
          <a:xfrm>
            <a:off x="9326880" y="82296"/>
            <a:ext cx="128016" cy="128016"/>
          </a:xfrm>
          <a:prstGeom prst="ellipse">
            <a:avLst/>
          </a:prstGeom>
          <a:solidFill>
            <a:schemeClr val="accent1"/>
          </a:solidFill>
          <a:ln/>
        </p:spPr>
      </p:sp>
      <p:sp>
        <p:nvSpPr>
          <p:cNvPr id="21"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2"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3" name="badge9_S"/>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24" name="badge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5" name="badge9_A"/>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data9"/>
          <p:cNvSpPr txBox="1"/>
          <p:nvPr/>
        </p:nvSpPr>
        <p:spPr>
          <a:xfrm>
            <a:off x="3081528" y="6473952"/>
            <a:ext cx="807415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7" name="badge9_check"/>
          <p:cNvSpPr txBox="1"/>
          <p:nvPr/>
        </p:nvSpPr>
        <p:spPr>
          <a:xfrm>
            <a:off x="1536192"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213"/>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214"/>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215"/>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216"/>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217"/>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218"/>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219"/>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10"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StructSense skill pilot); B and C were written for this exercise, not in the graph</a:t>
            </a:r>
            <a:endParaRPr lang="en-US" sz="1200" dirty="0"/>
          </a:p>
        </p:txBody>
      </p:sp>
      <p:sp>
        <p:nvSpPr>
          <p:cNvPr id="13" name="tagDot10"/>
          <p:cNvSpPr/>
          <p:nvPr/>
        </p:nvSpPr>
        <p:spPr>
          <a:xfrm>
            <a:off x="9326880" y="82296"/>
            <a:ext cx="128016" cy="128016"/>
          </a:xfrm>
          <a:prstGeom prst="ellipse">
            <a:avLst/>
          </a:prstGeom>
          <a:solidFill>
            <a:schemeClr val="accent1"/>
          </a:solidFill>
          <a:ln/>
        </p:spPr>
      </p:sp>
      <p:sp>
        <p:nvSpPr>
          <p:cNvPr id="14"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1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10_S"/>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17" name="badge1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badge10_L"/>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9" name="data10"/>
          <p:cNvSpPr txBox="1"/>
          <p:nvPr/>
        </p:nvSpPr>
        <p:spPr>
          <a:xfrm>
            <a:off x="2423160" y="6473952"/>
            <a:ext cx="8732520"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10_check"/>
          <p:cNvSpPr txBox="1"/>
          <p:nvPr/>
        </p:nvSpPr>
        <p:spPr>
          <a:xfrm>
            <a:off x="1536192"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220"/>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221"/>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222"/>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223"/>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224"/>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225"/>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226"/>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227"/>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228"/>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sp>
        <p:nvSpPr>
          <p:cNvPr id="12" name="text229"/>
          <p:cNvSpPr txBox="1"/>
          <p:nvPr/>
        </p:nvSpPr>
        <p:spPr>
          <a:xfrm>
            <a:off x="548640" y="5870448"/>
            <a:ext cx="11155680" cy="566928"/>
          </a:xfrm>
          <a:prstGeom prst="rect">
            <a:avLst/>
          </a:prstGeom>
          <a:noFill/>
          <a:ln/>
        </p:spPr>
        <p:txBody>
          <a:bodyPr wrap="square" lIns="0" tIns="0" rIns="0" bIns="0" rtlCol="0" anchor="ctr"/>
          <a:lstStyle/>
          <a:p>
            <a:pPr indent="0" marL="0">
              <a:buNone/>
            </a:pPr>
            <a:r>
              <a:rPr lang="en-US" sz="1600" dirty="0">
                <a:solidFill>
                  <a:schemeClr val="tx2"/>
                </a:solidFill>
              </a:rPr>
              <a:t>All three quote the same span, and an exact-quote check passes all three: it confirms the words are in the source, not that the statement follows from them. C passed the StructSense skill’s span validator; a human reading rejected it.</a:t>
            </a:r>
            <a:endParaRPr lang="en-US" sz="1600" dirty="0"/>
          </a:p>
        </p:txBody>
      </p:sp>
      <p:pic>
        <p:nvPicPr>
          <p:cNvPr id="14" name="stripIcon1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5"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StructSense skill's span and schema checks on the extracted records (results/skill/pilot_report.json); entailment is a human judgement, not in the graph</a:t>
            </a:r>
            <a:endParaRPr lang="en-US" sz="1200" dirty="0"/>
          </a:p>
        </p:txBody>
      </p:sp>
      <p:sp>
        <p:nvSpPr>
          <p:cNvPr id="16" name="tagDot11"/>
          <p:cNvSpPr/>
          <p:nvPr/>
        </p:nvSpPr>
        <p:spPr>
          <a:xfrm>
            <a:off x="9326880" y="82296"/>
            <a:ext cx="128016" cy="128016"/>
          </a:xfrm>
          <a:prstGeom prst="ellipse">
            <a:avLst/>
          </a:prstGeom>
          <a:solidFill>
            <a:schemeClr val="accent1"/>
          </a:solidFill>
          <a:ln/>
        </p:spPr>
      </p:sp>
      <p:sp>
        <p:nvSpPr>
          <p:cNvPr id="17"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8" name="badge1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9" name="badge11_S"/>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20" name="badge1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11"/>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2" name="badge11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230"/>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231"/>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232"/>
          <p:cNvSpPr/>
          <p:nvPr/>
        </p:nvSpPr>
        <p:spPr>
          <a:xfrm>
            <a:off x="4114800" y="1325880"/>
            <a:ext cx="822960" cy="822960"/>
          </a:xfrm>
          <a:prstGeom prst="ellipse">
            <a:avLst/>
          </a:prstGeom>
          <a:solidFill>
            <a:schemeClr val="tx2"/>
          </a:solidFill>
          <a:ln/>
        </p:spPr>
      </p:sp>
      <p:pic>
        <p:nvPicPr>
          <p:cNvPr id="6" name="join233"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234"/>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235"/>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236"/>
          <p:cNvSpPr/>
          <p:nvPr/>
        </p:nvSpPr>
        <p:spPr>
          <a:xfrm>
            <a:off x="4114800" y="2359152"/>
            <a:ext cx="822960" cy="822960"/>
          </a:xfrm>
          <a:prstGeom prst="ellipse">
            <a:avLst/>
          </a:prstGeom>
          <a:solidFill>
            <a:schemeClr val="tx2"/>
          </a:solidFill>
          <a:ln/>
        </p:spPr>
      </p:sp>
      <p:pic>
        <p:nvPicPr>
          <p:cNvPr id="10" name="join237"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238"/>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239"/>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240"/>
          <p:cNvSpPr/>
          <p:nvPr/>
        </p:nvSpPr>
        <p:spPr>
          <a:xfrm>
            <a:off x="4114800" y="3392424"/>
            <a:ext cx="822960" cy="822960"/>
          </a:xfrm>
          <a:prstGeom prst="ellipse">
            <a:avLst/>
          </a:prstGeom>
          <a:solidFill>
            <a:schemeClr val="tx2"/>
          </a:solidFill>
          <a:ln/>
        </p:spPr>
      </p:sp>
      <p:pic>
        <p:nvPicPr>
          <p:cNvPr id="14" name="join241"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242"/>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243"/>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244"/>
          <p:cNvSpPr/>
          <p:nvPr/>
        </p:nvSpPr>
        <p:spPr>
          <a:xfrm>
            <a:off x="4114800" y="4425696"/>
            <a:ext cx="822960" cy="822960"/>
          </a:xfrm>
          <a:prstGeom prst="ellipse">
            <a:avLst/>
          </a:prstGeom>
          <a:solidFill>
            <a:schemeClr val="accent2"/>
          </a:solidFill>
          <a:ln/>
        </p:spPr>
      </p:sp>
      <p:pic>
        <p:nvPicPr>
          <p:cNvPr id="18" name="join245"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246"/>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247"/>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248"/>
          <p:cNvSpPr/>
          <p:nvPr/>
        </p:nvSpPr>
        <p:spPr>
          <a:xfrm>
            <a:off x="4114800" y="5458968"/>
            <a:ext cx="822960" cy="822960"/>
          </a:xfrm>
          <a:prstGeom prst="ellipse">
            <a:avLst/>
          </a:prstGeom>
          <a:solidFill>
            <a:schemeClr val="tx2"/>
          </a:solidFill>
          <a:ln/>
        </p:spPr>
      </p:sp>
      <p:pic>
        <p:nvPicPr>
          <p:cNvPr id="22" name="join249"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250"/>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 skill + sub-agents)</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251"/>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252"/>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2"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2"/>
          <p:cNvSpPr/>
          <p:nvPr/>
        </p:nvSpPr>
        <p:spPr>
          <a:xfrm>
            <a:off x="9326880" y="82296"/>
            <a:ext cx="128016" cy="128016"/>
          </a:xfrm>
          <a:prstGeom prst="ellipse">
            <a:avLst/>
          </a:prstGeom>
          <a:solidFill>
            <a:schemeClr val="tx2"/>
          </a:solidFill>
          <a:ln/>
        </p:spPr>
      </p:sp>
      <p:sp>
        <p:nvSpPr>
          <p:cNvPr id="30"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badge12_S"/>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34" name="data1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5" name="badge1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253"/>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254"/>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255"/>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256"/>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257"/>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258"/>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259"/>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260"/>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261"/>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262"/>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263"/>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264"/>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265"/>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266"/>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267"/>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268"/>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269"/>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270"/>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271"/>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72"/>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73"/>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74"/>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One named graph per source + PROV (code/store.py); SHACL code/shapes.ttl; LinkML check · Caltech numbers: neuroimaging-kg skill, compare_graphs.py</a:t>
            </a:r>
            <a:endParaRPr lang="en-US" sz="1200" dirty="0"/>
          </a:p>
        </p:txBody>
      </p:sp>
      <p:sp>
        <p:nvSpPr>
          <p:cNvPr id="28" name="tagDot13"/>
          <p:cNvSpPr/>
          <p:nvPr/>
        </p:nvSpPr>
        <p:spPr>
          <a:xfrm>
            <a:off x="9326880" y="82296"/>
            <a:ext cx="128016" cy="128016"/>
          </a:xfrm>
          <a:prstGeom prst="ellipse">
            <a:avLst/>
          </a:prstGeom>
          <a:solidFill>
            <a:schemeClr val="tx2"/>
          </a:solidFill>
          <a:ln/>
        </p:spPr>
      </p:sp>
      <p:sp>
        <p:nvSpPr>
          <p:cNvPr id="29"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3_S"/>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33" name="badge13_A"/>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4" name="badge13_R"/>
          <p:cNvSpPr txBox="1"/>
          <p:nvPr/>
        </p:nvSpPr>
        <p:spPr>
          <a:xfrm>
            <a:off x="1481328"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5" name="data13"/>
          <p:cNvSpPr txBox="1"/>
          <p:nvPr/>
        </p:nvSpPr>
        <p:spPr>
          <a:xfrm>
            <a:off x="3310128" y="6473952"/>
            <a:ext cx="7845552"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6" name="badge13_check"/>
          <p:cNvSpPr txBox="1"/>
          <p:nvPr/>
        </p:nvSpPr>
        <p:spPr>
          <a:xfrm>
            <a:off x="1837944"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Analyses supported by the joined data</a:t>
            </a:r>
            <a:endParaRPr lang="en-US" sz="3200" dirty="0"/>
          </a:p>
        </p:txBody>
      </p:sp>
      <p:sp>
        <p:nvSpPr>
          <p:cNvPr id="3" name="text275"/>
          <p:cNvSpPr txBox="1"/>
          <p:nvPr/>
        </p:nvSpPr>
        <p:spPr>
          <a:xfrm>
            <a:off x="548640" y="1243584"/>
            <a:ext cx="11247120" cy="329184"/>
          </a:xfrm>
          <a:prstGeom prst="rect">
            <a:avLst/>
          </a:prstGeom>
          <a:noFill/>
          <a:ln/>
        </p:spPr>
        <p:txBody>
          <a:bodyPr wrap="square" lIns="0" tIns="0" rIns="0" bIns="0" rtlCol="0" anchor="ctr"/>
          <a:lstStyle/>
          <a:p>
            <a:pPr indent="0" marL="0">
              <a:buNone/>
            </a:pPr>
            <a:r>
              <a:rPr lang="en-US" sz="1600" dirty="0">
                <a:solidFill>
                  <a:schemeClr val="tx2"/>
                </a:solidFill>
              </a:rPr>
              <a:t>Left: participants left as each analysis adds a required element, and what limits it. Right: sites holding each element.</a:t>
            </a:r>
            <a:endParaRPr lang="en-US" sz="1600" dirty="0"/>
          </a:p>
        </p:txBody>
      </p:sp>
      <p:pic>
        <p:nvPicPr>
          <p:cNvPr id="4" name="fig276" descr="element_coverage_slide.png">    </p:cNvPr>
          <p:cNvPicPr>
            <a:picLocks noChangeAspect="1"/>
          </p:cNvPicPr>
          <p:nvPr/>
        </p:nvPicPr>
        <p:blipFill>
          <a:blip r:embed="rId1"/>
          <a:stretch>
            <a:fillRect/>
          </a:stretch>
        </p:blipFill>
        <p:spPr>
          <a:xfrm>
            <a:off x="771044" y="1682496"/>
            <a:ext cx="10665151" cy="4754880"/>
          </a:xfrm>
          <a:prstGeom prst="rect">
            <a:avLst/>
          </a:prstGeom>
        </p:spPr>
      </p:pic>
      <p:pic>
        <p:nvPicPr>
          <p:cNvPr id="6" name="stripIcon14"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7"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(code/element_coverage.py → results/element_coverage.json) → figure: figs_slide/make_slide_figs.py</a:t>
            </a:r>
            <a:endParaRPr lang="en-US" sz="1200" dirty="0"/>
          </a:p>
        </p:txBody>
      </p:sp>
      <p:sp>
        <p:nvSpPr>
          <p:cNvPr id="8" name="tagDot14"/>
          <p:cNvSpPr/>
          <p:nvPr/>
        </p:nvSpPr>
        <p:spPr>
          <a:xfrm>
            <a:off x="9326880" y="82296"/>
            <a:ext cx="128016" cy="128016"/>
          </a:xfrm>
          <a:prstGeom prst="ellipse">
            <a:avLst/>
          </a:prstGeom>
          <a:solidFill>
            <a:schemeClr val="tx2"/>
          </a:solidFill>
          <a:ln/>
        </p:spPr>
      </p:sp>
      <p:sp>
        <p:nvSpPr>
          <p:cNvPr id="9"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0"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1" name="data14"/>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2" name="badge14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77"/>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78"/>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79"/>
          <p:cNvSpPr/>
          <p:nvPr/>
        </p:nvSpPr>
        <p:spPr>
          <a:xfrm>
            <a:off x="4160520" y="2377440"/>
            <a:ext cx="3840480" cy="3154680"/>
          </a:xfrm>
          <a:prstGeom prst="ellipse">
            <a:avLst/>
          </a:prstGeom>
          <a:solidFill>
            <a:schemeClr val="accent2">
              <a:alpha val="65000"/>
            </a:schemeClr>
          </a:solidFill>
          <a:ln/>
        </p:spPr>
      </p:sp>
      <p:sp>
        <p:nvSpPr>
          <p:cNvPr id="6" name="shape280"/>
          <p:cNvSpPr/>
          <p:nvPr/>
        </p:nvSpPr>
        <p:spPr>
          <a:xfrm>
            <a:off x="4434840" y="2788920"/>
            <a:ext cx="2331720" cy="2331720"/>
          </a:xfrm>
          <a:prstGeom prst="ellipse">
            <a:avLst/>
          </a:prstGeom>
          <a:solidFill>
            <a:schemeClr val="accent1">
              <a:alpha val="75000"/>
            </a:schemeClr>
          </a:solidFill>
          <a:ln/>
        </p:spPr>
      </p:sp>
      <p:sp>
        <p:nvSpPr>
          <p:cNvPr id="7" name="text281"/>
          <p:cNvSpPr txBox="1"/>
          <p:nvPr/>
        </p:nvSpPr>
        <p:spPr>
          <a:xfrm>
            <a:off x="4480560" y="3383280"/>
            <a:ext cx="2240280" cy="118872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(9 sites), all also in B</a:t>
            </a:r>
            <a:endParaRPr lang="en-US" sz="1800" dirty="0"/>
          </a:p>
        </p:txBody>
      </p:sp>
      <p:sp>
        <p:nvSpPr>
          <p:cNvPr id="8" name="text282"/>
          <p:cNvSpPr txBox="1"/>
          <p:nvPr/>
        </p:nvSpPr>
        <p:spPr>
          <a:xfrm>
            <a:off x="6675120" y="3246120"/>
            <a:ext cx="1280160" cy="146304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a:p>
            <a:pPr algn="ctr" indent="0" marL="0">
              <a:buNone/>
            </a:pPr>
            <a:r>
              <a:rPr lang="en-US" sz="1400" dirty="0">
                <a:solidFill>
                  <a:schemeClr val="tx2"/>
                </a:solidFill>
              </a:rPr>
              <a:t>B = 767, 20 sites</a:t>
            </a:r>
            <a:endParaRPr lang="en-US" sz="1800" dirty="0"/>
          </a:p>
        </p:txBody>
      </p:sp>
      <p:sp>
        <p:nvSpPr>
          <p:cNvPr id="9" name="text283"/>
          <p:cNvSpPr txBox="1"/>
          <p:nvPr/>
        </p:nvSpPr>
        <p:spPr>
          <a:xfrm>
            <a:off x="3840480" y="557784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Same dataset, different participants and questions: each claim keeps its own scope</a:t>
            </a:r>
            <a:endParaRPr lang="en-US" sz="1600" dirty="0"/>
          </a:p>
        </p:txBody>
      </p:sp>
      <p:sp>
        <p:nvSpPr>
          <p:cNvPr id="10" name="text284"/>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(simulated agent)</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85"/>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(simulated agent)</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5"/>
          <p:cNvSpPr/>
          <p:nvPr/>
        </p:nvSpPr>
        <p:spPr>
          <a:xfrm>
            <a:off x="9326880" y="82296"/>
            <a:ext cx="128016" cy="128016"/>
          </a:xfrm>
          <a:prstGeom prst="ellipse">
            <a:avLst/>
          </a:prstGeom>
          <a:solidFill>
            <a:schemeClr val="tx2"/>
          </a:solidFill>
          <a:ln/>
        </p:spPr>
      </p:sp>
      <p:sp>
        <p:nvSpPr>
          <p:cNvPr id="16"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86"/>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(difference in SD units) · n = 441, 9 sites</a:t>
            </a:r>
            <a:endParaRPr lang="en-US" sz="1800" dirty="0"/>
          </a:p>
          <a:p>
            <a:pPr algn="l" indent="0" marL="0">
              <a:buNone/>
            </a:pPr>
            <a:r>
              <a:rPr lang="en-US" sz="1800" dirty="0">
                <a:solidFill>
                  <a:schemeClr val="tx1"/>
                </a:solidFill>
              </a:rPr>
              <a:t>Caveat: the pattern tracks whole-brain mean connectivity (r = 0.98), so it may be a global difference</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87"/>
          <p:cNvSpPr txBox="1"/>
          <p:nvPr/>
        </p:nvSpPr>
        <p:spPr>
          <a:xfrm>
            <a:off x="822960" y="5623560"/>
            <a:ext cx="4846320" cy="411480"/>
          </a:xfrm>
          <a:prstGeom prst="rect">
            <a:avLst/>
          </a:prstGeom>
          <a:noFill/>
          <a:ln/>
        </p:spPr>
        <p:txBody>
          <a:bodyPr wrap="square" lIns="0" tIns="0" rIns="0" bIns="0" rtlCol="0" anchor="t"/>
          <a:lstStyle/>
          <a:p>
            <a:pPr indent="0" marL="0">
              <a:buNone/>
            </a:pPr>
            <a:r>
              <a:rPr lang="en-US" sz="1600" b="1" i="1" dirty="0">
                <a:solidFill>
                  <a:schemeClr val="accent3"/>
                </a:solidFill>
              </a:rPr>
              <a:t>Association in this cohort</a:t>
            </a:r>
            <a:endParaRPr lang="en-US" sz="1600" dirty="0"/>
          </a:p>
        </p:txBody>
      </p:sp>
      <p:sp>
        <p:nvSpPr>
          <p:cNvPr id="5" name="card288"/>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 Abraham 2017 reported 66.8% on its own 871-participant cohort</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89"/>
          <p:cNvSpPr txBox="1"/>
          <p:nvPr/>
        </p:nvSpPr>
        <p:spPr>
          <a:xfrm>
            <a:off x="6492240" y="5623560"/>
            <a:ext cx="4846320" cy="411480"/>
          </a:xfrm>
          <a:prstGeom prst="rect">
            <a:avLst/>
          </a:prstGeom>
          <a:noFill/>
          <a:ln/>
        </p:spPr>
        <p:txBody>
          <a:bodyPr wrap="square" lIns="0" tIns="0" rIns="0" bIns="0" rtlCol="0" anchor="t"/>
          <a:lstStyle/>
          <a:p>
            <a:pPr indent="0" marL="0">
              <a:buNone/>
            </a:pPr>
            <a:r>
              <a:rPr lang="en-US" sz="1600" b="1" i="1" dirty="0">
                <a:solidFill>
                  <a:schemeClr val="accent3"/>
                </a:solidFill>
              </a:rPr>
              <a:t>Prediction at held-out sites</a:t>
            </a:r>
            <a:endParaRPr lang="en-US" sz="1600" dirty="0"/>
          </a:p>
        </p:txBody>
      </p:sp>
      <p:pic>
        <p:nvPicPr>
          <p:cNvPr id="8"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6"/>
          <p:cNvSpPr/>
          <p:nvPr/>
        </p:nvSpPr>
        <p:spPr>
          <a:xfrm>
            <a:off x="9326880" y="82296"/>
            <a:ext cx="128016" cy="128016"/>
          </a:xfrm>
          <a:prstGeom prst="ellipse">
            <a:avLst/>
          </a:prstGeom>
          <a:solidFill>
            <a:schemeClr val="tx2"/>
          </a:solidFill>
          <a:ln/>
        </p:spPr>
      </p:sp>
      <p:sp>
        <p:nvSpPr>
          <p:cNvPr id="11"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90"/>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text291"/>
          <p:cNvSpPr txBox="1"/>
          <p:nvPr/>
        </p:nvSpPr>
        <p:spPr>
          <a:xfrm>
            <a:off x="640080" y="2651760"/>
            <a:ext cx="10972800" cy="411480"/>
          </a:xfrm>
          <a:prstGeom prst="rect">
            <a:avLst/>
          </a:prstGeom>
          <a:noFill/>
          <a:ln/>
        </p:spPr>
        <p:txBody>
          <a:bodyPr wrap="square" lIns="0" tIns="0" rIns="0" bIns="0" rtlCol="0" anchor="ctr"/>
          <a:lstStyle/>
          <a:p>
            <a:pPr indent="0" marL="0">
              <a:buNone/>
            </a:pPr>
            <a:r>
              <a:rPr lang="en-US" sz="1800" dirty="0">
                <a:solidFill>
                  <a:schemeClr val="tx2"/>
                </a:solidFill>
              </a:rPr>
              <a:t>Before the change: B's cohort is 767 participants, tested in 20 leave-site-out folds; A's 441 participants all lie inside it.</a:t>
            </a:r>
            <a:endParaRPr lang="en-US" sz="1800" dirty="0"/>
          </a:p>
        </p:txBody>
      </p:sp>
      <p:sp>
        <p:nvSpPr>
          <p:cNvPr id="5" name="card292"/>
          <p:cNvSpPr txBox="1"/>
          <p:nvPr/>
        </p:nvSpPr>
        <p:spPr>
          <a:xfrm>
            <a:off x="640080" y="3200400"/>
            <a:ext cx="777240" cy="777240"/>
          </a:xfrm>
          <a:prstGeom prst="roundRect">
            <a:avLst>
              <a:gd name="adj" fmla="val 9412"/>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6" name="text293"/>
          <p:cNvSpPr txBox="1"/>
          <p:nvPr/>
        </p:nvSpPr>
        <p:spPr>
          <a:xfrm>
            <a:off x="1691640" y="3200400"/>
            <a:ext cx="9875520" cy="77724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7" name="card294"/>
          <p:cNvSpPr txBox="1"/>
          <p:nvPr/>
        </p:nvSpPr>
        <p:spPr>
          <a:xfrm>
            <a:off x="640080" y="4114800"/>
            <a:ext cx="777240" cy="777240"/>
          </a:xfrm>
          <a:prstGeom prst="roundRect">
            <a:avLst>
              <a:gd name="adj" fmla="val 9412"/>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8" name="text295"/>
          <p:cNvSpPr txBox="1"/>
          <p:nvPr/>
        </p:nvSpPr>
        <p:spPr>
          <a:xfrm>
            <a:off x="1691640" y="4114800"/>
            <a:ext cx="9875520" cy="77724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9" name="card296"/>
          <p:cNvSpPr txBox="1"/>
          <p:nvPr/>
        </p:nvSpPr>
        <p:spPr>
          <a:xfrm>
            <a:off x="640080" y="5029200"/>
            <a:ext cx="777240" cy="777240"/>
          </a:xfrm>
          <a:prstGeom prst="roundRect">
            <a:avLst>
              <a:gd name="adj" fmla="val 9412"/>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10" name="text297"/>
          <p:cNvSpPr txBox="1"/>
          <p:nvPr/>
        </p:nvSpPr>
        <p:spPr>
          <a:xfrm>
            <a:off x="1691640" y="5029200"/>
            <a:ext cx="9875520" cy="77724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1" name="text298"/>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3"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5" name="tagDot17"/>
          <p:cNvSpPr/>
          <p:nvPr/>
        </p:nvSpPr>
        <p:spPr>
          <a:xfrm>
            <a:off x="9326880" y="82296"/>
            <a:ext cx="128016" cy="128016"/>
          </a:xfrm>
          <a:prstGeom prst="ellipse">
            <a:avLst/>
          </a:prstGeom>
          <a:solidFill>
            <a:schemeClr val="tx2"/>
          </a:solidFill>
          <a:ln/>
        </p:spPr>
      </p:sp>
      <p:sp>
        <p:nvSpPr>
          <p:cNvPr id="16"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9" name="badge1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99"/>
          <p:cNvSpPr/>
          <p:nvPr/>
        </p:nvSpPr>
        <p:spPr>
          <a:xfrm>
            <a:off x="-6720840" y="1463040"/>
            <a:ext cx="14447520" cy="4389120"/>
          </a:xfrm>
          <a:prstGeom prst="blockArc">
            <a:avLst>
              <a:gd name="adj1" fmla="val 16200000"/>
              <a:gd name="adj2" fmla="val 5400000"/>
              <a:gd name="adj3" fmla="val 49750"/>
            </a:avLst>
          </a:prstGeom>
          <a:solidFill>
            <a:schemeClr val="accent4"/>
          </a:solidFill>
          <a:ln/>
        </p:spPr>
      </p:sp>
      <p:sp>
        <p:nvSpPr>
          <p:cNvPr id="4" name="shape300"/>
          <p:cNvSpPr/>
          <p:nvPr/>
        </p:nvSpPr>
        <p:spPr>
          <a:xfrm>
            <a:off x="-4892040" y="1828800"/>
            <a:ext cx="10789920" cy="3657600"/>
          </a:xfrm>
          <a:prstGeom prst="blockArc">
            <a:avLst>
              <a:gd name="adj1" fmla="val 16200000"/>
              <a:gd name="adj2" fmla="val 5400000"/>
              <a:gd name="adj3" fmla="val 49750"/>
            </a:avLst>
          </a:prstGeom>
          <a:solidFill>
            <a:schemeClr val="accent6"/>
          </a:solidFill>
          <a:ln/>
        </p:spPr>
      </p:sp>
      <p:sp>
        <p:nvSpPr>
          <p:cNvPr id="5" name="shape301"/>
          <p:cNvSpPr/>
          <p:nvPr/>
        </p:nvSpPr>
        <p:spPr>
          <a:xfrm>
            <a:off x="-3063240" y="2240280"/>
            <a:ext cx="7132320" cy="2834640"/>
          </a:xfrm>
          <a:prstGeom prst="blockArc">
            <a:avLst>
              <a:gd name="adj1" fmla="val 16200000"/>
              <a:gd name="adj2" fmla="val 5400000"/>
              <a:gd name="adj3" fmla="val 49750"/>
            </a:avLst>
          </a:prstGeom>
          <a:solidFill>
            <a:schemeClr val="bg2"/>
          </a:solidFill>
          <a:ln/>
        </p:spPr>
      </p:sp>
      <p:sp>
        <p:nvSpPr>
          <p:cNvPr id="6" name="shape302"/>
          <p:cNvSpPr/>
          <p:nvPr/>
        </p:nvSpPr>
        <p:spPr>
          <a:xfrm>
            <a:off x="-3063240" y="2240280"/>
            <a:ext cx="7132320" cy="2834640"/>
          </a:xfrm>
          <a:prstGeom prst="blockArc">
            <a:avLst>
              <a:gd name="adj1" fmla="val 16200000"/>
              <a:gd name="adj2" fmla="val 5400000"/>
              <a:gd name="adj3" fmla="val 600"/>
            </a:avLst>
          </a:prstGeom>
          <a:solidFill>
            <a:schemeClr val="accent3"/>
          </a:solidFill>
          <a:ln/>
        </p:spPr>
      </p:sp>
      <p:sp>
        <p:nvSpPr>
          <p:cNvPr id="7" name="shape303"/>
          <p:cNvSpPr/>
          <p:nvPr/>
        </p:nvSpPr>
        <p:spPr>
          <a:xfrm>
            <a:off x="-4892040" y="1828800"/>
            <a:ext cx="10789920" cy="3657600"/>
          </a:xfrm>
          <a:prstGeom prst="blockArc">
            <a:avLst>
              <a:gd name="adj1" fmla="val 16200000"/>
              <a:gd name="adj2" fmla="val 5400000"/>
              <a:gd name="adj3" fmla="val 600"/>
            </a:avLst>
          </a:prstGeom>
          <a:solidFill>
            <a:schemeClr val="accent3"/>
          </a:solidFill>
          <a:ln/>
        </p:spPr>
      </p:sp>
      <p:sp>
        <p:nvSpPr>
          <p:cNvPr id="8" name="shape304"/>
          <p:cNvSpPr/>
          <p:nvPr/>
        </p:nvSpPr>
        <p:spPr>
          <a:xfrm>
            <a:off x="-6720840" y="1463040"/>
            <a:ext cx="14447520" cy="4389120"/>
          </a:xfrm>
          <a:prstGeom prst="blockArc">
            <a:avLst>
              <a:gd name="adj1" fmla="val 16200000"/>
              <a:gd name="adj2" fmla="val 5400000"/>
              <a:gd name="adj3" fmla="val 600"/>
            </a:avLst>
          </a:prstGeom>
          <a:solidFill>
            <a:schemeClr val="accent3"/>
          </a:solidFill>
          <a:ln/>
        </p:spPr>
      </p:sp>
      <p:sp>
        <p:nvSpPr>
          <p:cNvPr id="9" name="shape305"/>
          <p:cNvSpPr/>
          <p:nvPr/>
        </p:nvSpPr>
        <p:spPr>
          <a:xfrm>
            <a:off x="-1234440" y="2514600"/>
            <a:ext cx="3474720" cy="2286000"/>
          </a:xfrm>
          <a:prstGeom prst="pie">
            <a:avLst>
              <a:gd name="adj1" fmla="val 16200000"/>
              <a:gd name="adj2" fmla="val 5400000"/>
            </a:avLst>
          </a:prstGeom>
          <a:solidFill>
            <a:schemeClr val="tx2"/>
          </a:solidFill>
          <a:ln/>
        </p:spPr>
      </p:sp>
      <p:sp>
        <p:nvSpPr>
          <p:cNvPr id="10" name="text306"/>
          <p:cNvSpPr txBox="1"/>
          <p:nvPr/>
        </p:nvSpPr>
        <p:spPr>
          <a:xfrm>
            <a:off x="594360" y="320040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307"/>
          <p:cNvSpPr txBox="1"/>
          <p:nvPr/>
        </p:nvSpPr>
        <p:spPr>
          <a:xfrm>
            <a:off x="2286000" y="2743200"/>
            <a:ext cx="1691640" cy="182880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308"/>
          <p:cNvSpPr txBox="1"/>
          <p:nvPr/>
        </p:nvSpPr>
        <p:spPr>
          <a:xfrm>
            <a:off x="4114800" y="2743200"/>
            <a:ext cx="1691640" cy="182880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309"/>
          <p:cNvSpPr txBox="1"/>
          <p:nvPr/>
        </p:nvSpPr>
        <p:spPr>
          <a:xfrm>
            <a:off x="5943600" y="2743200"/>
            <a:ext cx="1691640" cy="182880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310"/>
          <p:cNvSpPr txBox="1"/>
          <p:nvPr/>
        </p:nvSpPr>
        <p:spPr>
          <a:xfrm>
            <a:off x="9006840" y="1280160"/>
            <a:ext cx="2514600" cy="251460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400" b="1" dirty="0">
                <a:solidFill>
                  <a:schemeClr val="accent2"/>
                </a:solidFill>
              </a:rPr>
              <a:t>0 / 9</a:t>
            </a:r>
            <a:endParaRPr lang="en-US" sz="1800" dirty="0"/>
          </a:p>
          <a:p>
            <a:pPr algn="ctr" indent="0" marL="0">
              <a:buNone/>
            </a:pPr>
            <a:r>
              <a:rPr lang="en-US" sz="1600" dirty="0">
                <a:solidFill>
                  <a:schemeClr val="tx1"/>
                </a:solidFill>
              </a:rPr>
              <a:t>result families changed materially</a:t>
            </a:r>
            <a:endParaRPr lang="en-US" sz="1800" dirty="0"/>
          </a:p>
        </p:txBody>
      </p:sp>
      <p:sp>
        <p:nvSpPr>
          <p:cNvPr id="15" name="curve311"/>
          <p:cNvSpPr/>
          <p:nvPr/>
        </p:nvSpPr>
        <p:spPr>
          <a:xfrm>
            <a:off x="7772400" y="2651760"/>
            <a:ext cx="1234440" cy="640080"/>
          </a:xfrm>
          <a:custGeom>
            <a:avLst/>
            <a:gdLst/>
            <a:ahLst/>
            <a:cxnLst/>
            <a:rect l="l" t="t" r="r" b="b"/>
            <a:pathLst>
              <a:path w="1234440" h="640080">
                <a:moveTo>
                  <a:pt x="0" y="640080"/>
                </a:moveTo>
                <a:cubicBezTo>
                  <a:pt x="617220" y="640080"/>
                  <a:pt x="617220" y="0"/>
                  <a:pt x="1234440" y="0"/>
                </a:cubicBezTo>
              </a:path>
            </a:pathLst>
          </a:custGeom>
          <a:ln w="31750">
            <a:solidFill>
              <a:schemeClr val="accent2"/>
            </a:solidFill>
            <a:prstDash val="solid"/>
            <a:tailEnd type="triangle"/>
          </a:ln>
        </p:spPr>
      </p:sp>
      <p:sp>
        <p:nvSpPr>
          <p:cNvPr id="16" name="text312"/>
          <p:cNvSpPr txBox="1"/>
          <p:nvPr/>
        </p:nvSpPr>
        <p:spPr>
          <a:xfrm>
            <a:off x="8001000" y="3886200"/>
            <a:ext cx="3840480" cy="1920240"/>
          </a:xfrm>
          <a:prstGeom prst="rect">
            <a:avLst/>
          </a:prstGeom>
          <a:noFill/>
          <a:ln/>
        </p:spPr>
        <p:txBody>
          <a:bodyPr wrap="square" lIns="0" tIns="0" rIns="0" bIns="0" rtlCol="0" anchor="t"/>
          <a:lstStyle/>
          <a:p>
            <a:pPr indent="0" marL="0">
              <a:buNone/>
            </a:pPr>
            <a:r>
              <a:rPr lang="en-US" sz="1400" b="1" dirty="0">
                <a:solidFill>
                  <a:schemeClr val="accent2"/>
                </a:solidFill>
              </a:rPr>
              <a:t>After rerunning only the flagged results: </a:t>
            </a:r>
            <a:pPr indent="0" marL="0">
              <a:buNone/>
            </a:pPr>
            <a:r>
              <a:rPr lang="en-US" sz="1400" dirty="0">
                <a:solidFill>
                  <a:schemeClr val="tx1"/>
                </a:solidFill>
              </a:rPr>
              <a:t>values shifted (A: 441 → 372 people, 5,428 → 5,119 significant connections; B: tangent AUC 0.739 → 0.734), but every new estimate stayed inside its earlier 95% interval and no review verdict changed. </a:t>
            </a:r>
            <a:pPr indent="0" marL="0">
              <a:buNone/>
            </a:pPr>
            <a:r>
              <a:rPr lang="en-US" sz="1400" i="1" dirty="0">
                <a:solidFill>
                  <a:schemeClr val="accent3"/>
                </a:solidFill>
              </a:rPr>
              <a:t>2 of the 9 are claims regenerated from the new results.</a:t>
            </a:r>
            <a:endParaRPr lang="en-US" sz="1400" dirty="0"/>
          </a:p>
        </p:txBody>
      </p:sp>
      <p:sp>
        <p:nvSpPr>
          <p:cNvPr id="17" name="text313"/>
          <p:cNvSpPr txBox="1"/>
          <p:nvPr/>
        </p:nvSpPr>
        <p:spPr>
          <a:xfrm>
            <a:off x="457200" y="5870448"/>
            <a:ext cx="11338560" cy="566928"/>
          </a:xfrm>
          <a:prstGeom prst="rect">
            <a:avLst/>
          </a:prstGeom>
          <a:noFill/>
          <a:ln/>
        </p:spPr>
        <p:txBody>
          <a:bodyPr wrap="square" lIns="0" tIns="0" rIns="0" bIns="0" rtlCol="0" anchor="ctr"/>
          <a:lstStyle/>
          <a:p>
            <a:pPr indent="0" marL="0">
              <a:buNone/>
            </a:pPr>
            <a:r>
              <a:rPr lang="en-US" sz="1500" b="1" dirty="0">
                <a:solidFill>
                  <a:schemeClr val="tx2"/>
                </a:solidFill>
              </a:rPr>
              <a:t>Flagged </a:t>
            </a:r>
            <a:pPr indent="0" marL="0">
              <a:buNone/>
            </a:pPr>
            <a:r>
              <a:rPr lang="en-US" sz="1500" dirty="0">
                <a:solidFill>
                  <a:schemeClr val="tx1"/>
                </a:solidFill>
              </a:rPr>
              <a:t>= depends on an excluded participant (traversal 0.05 s). </a:t>
            </a:r>
            <a:pPr indent="0" marL="0">
              <a:buNone/>
            </a:pPr>
            <a:r>
              <a:rPr lang="en-US" sz="1500" b="1" dirty="0">
                <a:solidFill>
                  <a:schemeClr val="tx2"/>
                </a:solidFill>
              </a:rPr>
              <a:t>Changed materially </a:t>
            </a:r>
            <a:pPr indent="0" marL="0">
              <a:buNone/>
            </a:pPr>
            <a:r>
              <a:rPr lang="en-US" sz="1500" dirty="0">
                <a:solidFill>
                  <a:schemeClr val="tx1"/>
                </a:solidFill>
              </a:rPr>
              <a:t>= new estimate outside the old 95% interval, or a review verdict changes. </a:t>
            </a:r>
            <a:pPr indent="0" marL="0">
              <a:buNone/>
            </a:pPr>
            <a:r>
              <a:rPr lang="en-US" sz="1500" b="1" dirty="0">
                <a:solidFill>
                  <a:schemeClr val="accent2"/>
                </a:solidFill>
              </a:rPr>
              <a:t>Caveat: </a:t>
            </a:r>
            <a:pPr indent="0" marL="0">
              <a:buNone/>
            </a:pPr>
            <a:r>
              <a:rPr lang="en-US" sz="1500" dirty="0">
                <a:solidFill>
                  <a:schemeClr val="tx1"/>
                </a:solidFill>
              </a:rPr>
              <a:t>the rule removes 23% of autistic but 14% of non-autistic participants, up to 88% at one site.</a:t>
            </a:r>
            <a:endParaRPr lang="en-US" sz="1500" dirty="0"/>
          </a:p>
        </p:txBody>
      </p:sp>
      <p:pic>
        <p:nvPicPr>
          <p:cNvPr id="19" name="stripIcon1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0"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1" name="tagDot18"/>
          <p:cNvSpPr/>
          <p:nvPr/>
        </p:nvSpPr>
        <p:spPr>
          <a:xfrm>
            <a:off x="9326880" y="82296"/>
            <a:ext cx="128016" cy="128016"/>
          </a:xfrm>
          <a:prstGeom prst="ellipse">
            <a:avLst/>
          </a:prstGeom>
          <a:solidFill>
            <a:schemeClr val="tx2"/>
          </a:solidFill>
          <a:ln/>
        </p:spPr>
      </p:sp>
      <p:sp>
        <p:nvSpPr>
          <p:cNvPr id="22"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3"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18"/>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5" name="badge18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314"/>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315"/>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500" dirty="0">
                <a:solidFill>
                  <a:schemeClr val="tx2"/>
                </a:solidFill>
              </a:rPr>
              <a:t>papers cite + name ABIDE</a:t>
            </a:r>
            <a:endParaRPr lang="en-US" sz="1800" dirty="0"/>
          </a:p>
          <a:p>
            <a:pPr algn="ctr" indent="0" marL="0">
              <a:buNone/>
            </a:pPr>
            <a:r>
              <a:rPr lang="en-US" sz="1400" dirty="0">
                <a:solidFill>
                  <a:schemeClr val="accent3"/>
                </a:solidFill>
              </a:rPr>
              <a:t>OpenAlex</a:t>
            </a:r>
            <a:endParaRPr lang="en-US" sz="1800" dirty="0"/>
          </a:p>
        </p:txBody>
      </p:sp>
      <p:sp>
        <p:nvSpPr>
          <p:cNvPr id="5" name="shape316"/>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tx2"/>
                </a:solidFill>
              </a:rPr>
              <a:t>17 state data use</a:t>
            </a:r>
            <a:endParaRPr lang="en-US" sz="1800" dirty="0"/>
          </a:p>
          <a:p>
            <a:pPr algn="ctr" indent="0" marL="0">
              <a:buNone/>
            </a:pPr>
            <a:r>
              <a:rPr lang="en-US" sz="1400" dirty="0">
                <a:solidFill>
                  <a:schemeClr val="accent3"/>
                </a:solidFill>
              </a:rPr>
              <a:t>AbstractAtlas</a:t>
            </a:r>
            <a:endParaRPr lang="en-US" sz="1800" dirty="0"/>
          </a:p>
        </p:txBody>
      </p:sp>
      <p:sp>
        <p:nvSpPr>
          <p:cNvPr id="6" name="shape317"/>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included</a:t>
            </a:r>
            <a:endParaRPr lang="en-US" sz="1800" dirty="0"/>
          </a:p>
          <a:p>
            <a:pPr algn="ctr" indent="0" marL="0">
              <a:buNone/>
            </a:pPr>
            <a:r>
              <a:rPr lang="en-US" sz="1400" dirty="0">
                <a:solidFill>
                  <a:schemeClr val="accent3"/>
                </a:solidFill>
              </a:rPr>
              <a:t>of 994 records, systematic review</a:t>
            </a:r>
            <a:endParaRPr lang="en-US" sz="1800" dirty="0"/>
          </a:p>
        </p:txBody>
      </p:sp>
      <p:sp>
        <p:nvSpPr>
          <p:cNvPr id="7" name="shape318"/>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claims extracted</a:t>
            </a:r>
            <a:endParaRPr lang="en-US" sz="1800" dirty="0"/>
          </a:p>
          <a:p>
            <a:pPr algn="ctr" indent="0" marL="0">
              <a:buNone/>
            </a:pPr>
            <a:r>
              <a:rPr lang="en-US" sz="1400" dirty="0">
                <a:solidFill>
                  <a:schemeClr val="accent3"/>
                </a:solidFill>
              </a:rPr>
              <a:t>from the 35, with evidence types</a:t>
            </a:r>
            <a:endParaRPr lang="en-US" sz="1800" dirty="0"/>
          </a:p>
        </p:txBody>
      </p:sp>
      <p:sp>
        <p:nvSpPr>
          <p:cNvPr id="8" name="shape319"/>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 rebuilt</a:t>
            </a:r>
            <a:endParaRPr lang="en-US" sz="1800" dirty="0"/>
          </a:p>
          <a:p>
            <a:pPr algn="ctr" indent="0" marL="0">
              <a:buNone/>
            </a:pPr>
            <a:r>
              <a:rPr lang="en-US" sz="1400" dirty="0">
                <a:solidFill>
                  <a:schemeClr val="bg1"/>
                </a:solidFill>
              </a:rPr>
              <a:t>participant by participant</a:t>
            </a:r>
            <a:endParaRPr lang="en-US" sz="1800" dirty="0"/>
          </a:p>
        </p:txBody>
      </p:sp>
      <p:sp>
        <p:nvSpPr>
          <p:cNvPr id="9" name="curve320"/>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321"/>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322"/>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323"/>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324"/>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325"/>
          <p:cNvSpPr txBox="1"/>
          <p:nvPr/>
        </p:nvSpPr>
        <p:spPr>
          <a:xfrm>
            <a:off x="9372600" y="4983480"/>
            <a:ext cx="2697480" cy="73152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 lists published for 4</a:t>
            </a:r>
            <a:endParaRPr lang="en-US" sz="1600" dirty="0"/>
          </a:p>
        </p:txBody>
      </p:sp>
      <p:sp>
        <p:nvSpPr>
          <p:cNvPr id="15" name="text326"/>
          <p:cNvSpPr txBox="1"/>
          <p:nvPr/>
        </p:nvSpPr>
        <p:spPr>
          <a:xfrm>
            <a:off x="6355080" y="6089904"/>
            <a:ext cx="5486400" cy="384048"/>
          </a:xfrm>
          <a:prstGeom prst="rect">
            <a:avLst/>
          </a:prstGeom>
          <a:noFill/>
          <a:ln/>
        </p:spPr>
        <p:txBody>
          <a:bodyPr wrap="square" lIns="0" tIns="0" rIns="0" bIns="0" rtlCol="0" anchor="ctr"/>
          <a:lstStyle/>
          <a:p>
            <a:pPr indent="0" marL="0">
              <a:buNone/>
            </a:pPr>
            <a:r>
              <a:rPr lang="en-US" sz="1400" i="1" dirty="0">
                <a:solidFill>
                  <a:schemeClr val="accent3"/>
                </a:solidFill>
              </a:rPr>
              <a:t>Review: SynthScholar skill + sub-agent screening and charting</a:t>
            </a:r>
            <a:endParaRPr lang="en-US" sz="1400" dirty="0"/>
          </a:p>
        </p:txBody>
      </p:sp>
      <p:sp>
        <p:nvSpPr>
          <p:cNvPr id="16" name="text327"/>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7" name="shape328"/>
          <p:cNvSpPr txBox="1"/>
          <p:nvPr/>
        </p:nvSpPr>
        <p:spPr>
          <a:xfrm>
            <a:off x="2286000" y="6108192"/>
            <a:ext cx="12344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8" name="shape329"/>
          <p:cNvSpPr txBox="1"/>
          <p:nvPr/>
        </p:nvSpPr>
        <p:spPr>
          <a:xfrm>
            <a:off x="3611880" y="6108192"/>
            <a:ext cx="12344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9" name="shape330"/>
          <p:cNvSpPr txBox="1"/>
          <p:nvPr/>
        </p:nvSpPr>
        <p:spPr>
          <a:xfrm>
            <a:off x="4937760" y="6108192"/>
            <a:ext cx="12344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20" name="shape331"/>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2" name="stripIcon1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3"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(Q15.rq, Q15b.rq; code/publications.py); review counts: literature_kg.ttl (SynthScholar skill + sub-agents)</a:t>
            </a:r>
            <a:endParaRPr lang="en-US" sz="1200" dirty="0"/>
          </a:p>
        </p:txBody>
      </p:sp>
      <p:sp>
        <p:nvSpPr>
          <p:cNvPr id="24" name="tagDot19"/>
          <p:cNvSpPr/>
          <p:nvPr/>
        </p:nvSpPr>
        <p:spPr>
          <a:xfrm>
            <a:off x="9326880" y="82296"/>
            <a:ext cx="128016" cy="128016"/>
          </a:xfrm>
          <a:prstGeom prst="ellipse">
            <a:avLst/>
          </a:prstGeom>
          <a:solidFill>
            <a:schemeClr val="tx2"/>
          </a:solidFill>
          <a:ln/>
        </p:spPr>
      </p:sp>
      <p:sp>
        <p:nvSpPr>
          <p:cNvPr id="25"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badge1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8" name="badge19_S"/>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29" name="data19"/>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(systematic review, 2026-10-15)</a:t>
            </a:r>
            <a:endParaRPr lang="en-US" sz="1100" dirty="0"/>
          </a:p>
        </p:txBody>
      </p:sp>
      <p:sp>
        <p:nvSpPr>
          <p:cNvPr id="30" name="badge19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332"/>
          <p:cNvSpPr/>
          <p:nvPr/>
        </p:nvSpPr>
        <p:spPr>
          <a:xfrm>
            <a:off x="411480" y="1344168"/>
            <a:ext cx="420624" cy="420624"/>
          </a:xfrm>
          <a:prstGeom prst="ellipse">
            <a:avLst/>
          </a:prstGeom>
          <a:solidFill>
            <a:schemeClr val="accent1"/>
          </a:solidFill>
          <a:ln/>
        </p:spPr>
      </p:sp>
      <p:pic>
        <p:nvPicPr>
          <p:cNvPr id="4" name="litHeadIcon333"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334"/>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335"/>
          <p:cNvSpPr/>
          <p:nvPr/>
        </p:nvSpPr>
        <p:spPr>
          <a:xfrm>
            <a:off x="3337560" y="1344168"/>
            <a:ext cx="420624" cy="420624"/>
          </a:xfrm>
          <a:prstGeom prst="ellipse">
            <a:avLst/>
          </a:prstGeom>
          <a:solidFill>
            <a:schemeClr val="tx2"/>
          </a:solidFill>
          <a:ln/>
        </p:spPr>
      </p:sp>
      <p:pic>
        <p:nvPicPr>
          <p:cNvPr id="7" name="litHeadIcon336"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337"/>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338"/>
          <p:cNvSpPr/>
          <p:nvPr/>
        </p:nvSpPr>
        <p:spPr>
          <a:xfrm>
            <a:off x="7955280" y="1344168"/>
            <a:ext cx="420624" cy="420624"/>
          </a:xfrm>
          <a:prstGeom prst="ellipse">
            <a:avLst/>
          </a:prstGeom>
          <a:solidFill>
            <a:schemeClr val="tx2"/>
          </a:solidFill>
          <a:ln/>
        </p:spPr>
      </p:sp>
      <p:pic>
        <p:nvPicPr>
          <p:cNvPr id="10" name="litHeadIcon339"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340"/>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341"/>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342"/>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343"/>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344"/>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345"/>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346"/>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347"/>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20"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ex:reportsPerformance, ex:evaluationScheme, ex:EvidenceQuote; query written and run by Claude Code, no skill</a:t>
            </a:r>
            <a:endParaRPr lang="en-US" sz="1200" dirty="0"/>
          </a:p>
        </p:txBody>
      </p:sp>
      <p:sp>
        <p:nvSpPr>
          <p:cNvPr id="24" name="tagDot20"/>
          <p:cNvSpPr/>
          <p:nvPr/>
        </p:nvSpPr>
        <p:spPr>
          <a:xfrm>
            <a:off x="9326880" y="82296"/>
            <a:ext cx="128016" cy="128016"/>
          </a:xfrm>
          <a:prstGeom prst="ellipse">
            <a:avLst/>
          </a:prstGeom>
          <a:solidFill>
            <a:schemeClr val="tx2"/>
          </a:solidFill>
          <a:ln/>
        </p:spPr>
      </p:sp>
      <p:sp>
        <p:nvSpPr>
          <p:cNvPr id="25"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20"/>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(systematic review, 2026-10-15)</a:t>
            </a:r>
            <a:endParaRPr lang="en-US" sz="1100" dirty="0"/>
          </a:p>
        </p:txBody>
      </p:sp>
      <p:sp>
        <p:nvSpPr>
          <p:cNvPr id="28" name="badge20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348" descr="accuracy_by_evaluation.png">    </p:cNvPr>
          <p:cNvPicPr>
            <a:picLocks noChangeAspect="1"/>
          </p:cNvPicPr>
          <p:nvPr/>
        </p:nvPicPr>
        <p:blipFill>
          <a:blip r:embed="rId1"/>
          <a:stretch>
            <a:fillRect/>
          </a:stretch>
        </p:blipFill>
        <p:spPr>
          <a:xfrm>
            <a:off x="320040" y="1291846"/>
            <a:ext cx="8001000" cy="4502908"/>
          </a:xfrm>
          <a:prstGeom prst="rect">
            <a:avLst/>
          </a:prstGeom>
        </p:spPr>
      </p:pic>
      <p:sp>
        <p:nvSpPr>
          <p:cNvPr id="4" name="text349"/>
          <p:cNvSpPr txBox="1"/>
          <p:nvPr/>
        </p:nvSpPr>
        <p:spPr>
          <a:xfrm>
            <a:off x="411480" y="5852160"/>
            <a:ext cx="7863840" cy="548640"/>
          </a:xfrm>
          <a:prstGeom prst="rect">
            <a:avLst/>
          </a:prstGeom>
          <a:noFill/>
          <a:ln/>
        </p:spPr>
        <p:txBody>
          <a:bodyPr wrap="square" lIns="0" tIns="0" rIns="0" bIns="0" rtlCol="0" anchor="ctr"/>
          <a:lstStyle/>
          <a:p>
            <a:pPr indent="0" marL="0">
              <a:buNone/>
            </a:pPr>
            <a:r>
              <a:rPr lang="en-US" sz="1500" dirty="0">
                <a:solidFill>
                  <a:schemeClr val="tx2"/>
                </a:solidFill>
              </a:rPr>
              <a:t>Review: 994 records → 99 assessed → 74 included · of 53 with a predictive claim, 26 mix sites across folds and 6 hold whole sites out</a:t>
            </a:r>
            <a:endParaRPr lang="en-US" sz="1500" dirty="0"/>
          </a:p>
        </p:txBody>
      </p:sp>
      <p:sp>
        <p:nvSpPr>
          <p:cNvPr id="5" name="evalSide"/>
          <p:cNvSpPr txBox="1"/>
          <p:nvPr/>
        </p:nvSpPr>
        <p:spPr>
          <a:xfrm>
            <a:off x="8503920" y="1325880"/>
            <a:ext cx="3337560" cy="507492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Pooled k-fold</a:t>
            </a:r>
            <a:endParaRPr lang="en-US" sz="1500" dirty="0"/>
          </a:p>
          <a:p>
            <a:pPr indent="0" marL="0">
              <a:spcAft>
                <a:spcPts val="600"/>
              </a:spcAft>
              <a:buNone/>
            </a:pPr>
            <a:r>
              <a:rPr lang="en-US" sz="1500" dirty="0">
                <a:solidFill>
                  <a:schemeClr val="tx1"/>
                </a:solidFill>
              </a:rPr>
              <a:t>sites mixed across training and test folds</a:t>
            </a:r>
            <a:endParaRPr lang="en-US" sz="1500" dirty="0"/>
          </a:p>
          <a:p>
            <a:pPr indent="0" marL="0">
              <a:spcAft>
                <a:spcPts val="600"/>
              </a:spcAft>
              <a:buNone/>
            </a:pPr>
            <a:r>
              <a:rPr lang="en-US" sz="1500" b="1" dirty="0">
                <a:solidFill>
                  <a:schemeClr val="tx2"/>
                </a:solidFill>
              </a:rPr>
              <a:t>Leave-site-out</a:t>
            </a:r>
            <a:endParaRPr lang="en-US" sz="1500" dirty="0"/>
          </a:p>
          <a:p>
            <a:pPr indent="0" marL="0">
              <a:spcAft>
                <a:spcPts val="600"/>
              </a:spcAft>
              <a:buNone/>
            </a:pPr>
            <a:r>
              <a:rPr lang="en-US" sz="1500" dirty="0">
                <a:solidFill>
                  <a:schemeClr val="tx1"/>
                </a:solidFill>
              </a:rPr>
              <a:t>whole sites held out for testing</a:t>
            </a:r>
            <a:endParaRPr lang="en-US" sz="1500" dirty="0"/>
          </a:p>
          <a:p>
            <a:pPr indent="0" marL="0">
              <a:spcAft>
                <a:spcPts val="600"/>
              </a:spcAft>
              <a:buNone/>
            </a:pPr>
            <a:r>
              <a:rPr lang="en-US" sz="1500" b="1" dirty="0">
                <a:solidFill>
                  <a:schemeClr val="accent2"/>
                </a:solidFill>
              </a:rPr>
              <a:t>Descriptive, not controlled</a:t>
            </a:r>
            <a:endParaRPr lang="en-US" sz="1500" dirty="0"/>
          </a:p>
          <a:p>
            <a:pPr indent="0" marL="0">
              <a:spcAft>
                <a:spcPts val="600"/>
              </a:spcAft>
              <a:buNone/>
            </a:pPr>
            <a:r>
              <a:rPr lang="en-US" sz="1500" dirty="0">
                <a:solidFill>
                  <a:schemeClr val="tx1"/>
                </a:solidFill>
              </a:rPr>
              <a:t>different studies, models and subsets; best reported result per paper. Same model, both schemes: S-030 64% → 56% (balanced accuracy); S-072 ~60% → ~62%</a:t>
            </a:r>
            <a:endParaRPr lang="en-US" sz="1500" dirty="0"/>
          </a:p>
          <a:p>
            <a:pPr indent="0" marL="0">
              <a:spcAft>
                <a:spcPts val="600"/>
              </a:spcAft>
              <a:buNone/>
            </a:pPr>
            <a:r>
              <a:rPr lang="en-US" sz="1500" b="1" dirty="0">
                <a:solidFill>
                  <a:schemeClr val="tx2"/>
                </a:solidFill>
              </a:rPr>
              <a:t>How it was made</a:t>
            </a:r>
            <a:endParaRPr lang="en-US" sz="1500" dirty="0"/>
          </a:p>
          <a:p>
            <a:pPr indent="0" marL="0">
              <a:spcAft>
                <a:spcPts val="600"/>
              </a:spcAft>
              <a:buNone/>
            </a:pPr>
            <a:r>
              <a:rPr lang="en-US" sz="1500" dirty="0">
                <a:solidFill>
                  <a:schemeClr val="tx1"/>
                </a:solidFill>
              </a:rPr>
              <a:t>Skill: SynthScholar (protocol, retrieval, export); screening and charting by 8 sub-agents; each quoted value checked against full text, not by a person</a:t>
            </a:r>
            <a:endParaRPr lang="en-US" sz="1500" dirty="0"/>
          </a:p>
        </p:txBody>
      </p:sp>
      <p:pic>
        <p:nvPicPr>
          <p:cNvPr id="7" name="stripIcon21"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8"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9" name="tagDot21"/>
          <p:cNvSpPr/>
          <p:nvPr/>
        </p:nvSpPr>
        <p:spPr>
          <a:xfrm>
            <a:off x="9326880" y="82296"/>
            <a:ext cx="128016" cy="128016"/>
          </a:xfrm>
          <a:prstGeom prst="ellipse">
            <a:avLst/>
          </a:prstGeom>
          <a:solidFill>
            <a:schemeClr val="tx2"/>
          </a:solidFill>
          <a:ln/>
        </p:spPr>
      </p:sp>
      <p:sp>
        <p:nvSpPr>
          <p:cNvPr id="10"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1" name="badge21_S"/>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12" name="badge21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21"/>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(systematic review, 2026-10-15)</a:t>
            </a:r>
            <a:endParaRPr lang="en-US" sz="1100" dirty="0"/>
          </a:p>
        </p:txBody>
      </p:sp>
      <p:sp>
        <p:nvSpPr>
          <p:cNvPr id="15" name="badge21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350"/>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351"/>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ReproPond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352"/>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353"/>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ReproPond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354"/>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356"/>
          <p:cNvSpPr/>
          <p:nvPr/>
        </p:nvSpPr>
        <p:spPr>
          <a:xfrm>
            <a:off x="777240" y="4206240"/>
            <a:ext cx="502920" cy="502920"/>
          </a:xfrm>
          <a:prstGeom prst="ellipse">
            <a:avLst/>
          </a:prstGeom>
          <a:solidFill>
            <a:schemeClr val="accent2"/>
          </a:solidFill>
          <a:ln/>
        </p:spPr>
      </p:sp>
      <p:pic>
        <p:nvPicPr>
          <p:cNvPr id="9" name="lock356"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357"/>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358"/>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359"/>
          <p:cNvSpPr txBox="1"/>
          <p:nvPr/>
        </p:nvSpPr>
        <p:spPr>
          <a:xfrm>
            <a:off x="8138160" y="2377440"/>
            <a:ext cx="3291840" cy="777240"/>
          </a:xfrm>
          <a:prstGeom prst="rect">
            <a:avLst/>
          </a:prstGeom>
          <a:noFill/>
          <a:ln/>
        </p:spPr>
        <p:txBody>
          <a:bodyPr wrap="square" lIns="0" tIns="0" rIns="0" bIns="0" rtlCol="0" anchor="ctr"/>
          <a:lstStyle/>
          <a:p>
            <a:pPr algn="ctr" indent="0" marL="0">
              <a:buNone/>
            </a:pPr>
            <a:r>
              <a:rPr lang="en-US" sz="2000" b="1" dirty="0">
                <a:solidFill>
                  <a:schemeClr val="tx2"/>
                </a:solidFill>
              </a:rPr>
              <a:t>ReproLake</a:t>
            </a:r>
            <a:endParaRPr lang="en-US" sz="1800" dirty="0"/>
          </a:p>
          <a:p>
            <a:pPr algn="ctr" indent="0" marL="0">
              <a:buNone/>
            </a:pPr>
            <a:r>
              <a:rPr lang="en-US" sz="1400" dirty="0">
                <a:solidFill>
                  <a:schemeClr val="tx2"/>
                </a:solidFill>
              </a:rPr>
              <a:t>ReproNim's shared store of public dataset metadata</a:t>
            </a:r>
            <a:endParaRPr lang="en-US" sz="1800" dirty="0"/>
          </a:p>
        </p:txBody>
      </p:sp>
      <p:sp>
        <p:nvSpPr>
          <p:cNvPr id="14" name="lakeList"/>
          <p:cNvSpPr txBox="1"/>
          <p:nvPr/>
        </p:nvSpPr>
        <p:spPr>
          <a:xfrm>
            <a:off x="8183880" y="3154680"/>
            <a:ext cx="3200400" cy="169164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360"/>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361"/>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362"/>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363"/>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364"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365"/>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366"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367"/>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368"/>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69"/>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70"/>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71"/>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72"/>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73"/>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74"/>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75"/>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77"/>
          <p:cNvSpPr/>
          <p:nvPr/>
        </p:nvSpPr>
        <p:spPr>
          <a:xfrm>
            <a:off x="4160520" y="1234440"/>
            <a:ext cx="502920" cy="502920"/>
          </a:xfrm>
          <a:prstGeom prst="ellipse">
            <a:avLst/>
          </a:prstGeom>
          <a:solidFill>
            <a:schemeClr val="tx2"/>
          </a:solidFill>
          <a:ln/>
        </p:spPr>
      </p:sp>
      <p:pic>
        <p:nvPicPr>
          <p:cNvPr id="32" name="query377"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78"/>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79"/>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80"/>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each ReproPond (a lab's local metadata store); only permitted results return.</a:t>
            </a:r>
            <a:endParaRPr lang="en-US" sz="1600" dirty="0"/>
          </a:p>
        </p:txBody>
      </p:sp>
      <p:pic>
        <p:nvPicPr>
          <p:cNvPr id="37" name="stripIcon22"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2"/>
          <p:cNvSpPr/>
          <p:nvPr/>
        </p:nvSpPr>
        <p:spPr>
          <a:xfrm>
            <a:off x="9326880" y="82296"/>
            <a:ext cx="128016" cy="128016"/>
          </a:xfrm>
          <a:prstGeom prst="ellipse">
            <a:avLst/>
          </a:prstGeom>
          <a:solidFill>
            <a:schemeClr val="tx2"/>
          </a:solidFill>
          <a:ln/>
        </p:spPr>
      </p:sp>
      <p:sp>
        <p:nvSpPr>
          <p:cNvPr id="40"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2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Example: building a graph in Claude Code</a:t>
            </a:r>
            <a:endParaRPr lang="en-US" sz="3200" dirty="0"/>
          </a:p>
        </p:txBody>
      </p:sp>
      <p:sp>
        <p:nvSpPr>
          <p:cNvPr id="3" name="shape381"/>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82"/>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Output of a test run, 2026-10-15</a:t>
            </a:r>
            <a:endParaRPr lang="en-US" sz="1800" dirty="0"/>
          </a:p>
        </p:txBody>
      </p:sp>
      <p:sp>
        <p:nvSpPr>
          <p:cNvPr id="6" name="shape383"/>
          <p:cNvSpPr/>
          <p:nvPr/>
        </p:nvSpPr>
        <p:spPr>
          <a:xfrm>
            <a:off x="8229600" y="1645920"/>
            <a:ext cx="3566160" cy="36576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4747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84"/>
          <p:cNvSpPr txBox="1"/>
          <p:nvPr/>
        </p:nvSpPr>
        <p:spPr>
          <a:xfrm>
            <a:off x="8229600" y="5440680"/>
            <a:ext cx="3566160" cy="914400"/>
          </a:xfrm>
          <a:prstGeom prst="roundRect">
            <a:avLst>
              <a:gd name="adj" fmla="val 20000"/>
            </a:avLst>
          </a:prstGeom>
          <a:solidFill>
            <a:schemeClr val="accent5"/>
          </a:solidFill>
          <a:ln w="19050">
            <a:solidFill>
              <a:schemeClr val="accent2"/>
            </a:solidFill>
            <a:prstDash val="solid"/>
          </a:ln>
        </p:spPr>
        <p:txBody>
          <a:bodyPr wrap="square" lIns="76200" tIns="76200" rIns="76200" bIns="76200" rtlCol="0" anchor="ctr"/>
          <a:lstStyle/>
          <a:p>
            <a:pPr algn="ctr" indent="0" marL="0">
              <a:buNone/>
            </a:pPr>
            <a:r>
              <a:rPr lang="en-US" sz="1600" b="1" dirty="0">
                <a:solidFill>
                  <a:schemeClr val="accent2"/>
                </a:solidFill>
              </a:rPr>
              <a:t>Error in response 1: it said three tools produced the volumes; Caltech's file has two (FreeSurfer, FSL)</a:t>
            </a:r>
            <a:endParaRPr lang="en-US" sz="1600" dirty="0"/>
          </a:p>
        </p:txBody>
      </p:sp>
      <p:pic>
        <p:nvPicPr>
          <p:cNvPr id="10"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Skill: neuroimaging-kg (agent_skills PR #49), followed by Claude Code · example graph abide-caltech/graph/*.ttl, validated, loaded into Oxigraph</a:t>
            </a:r>
            <a:endParaRPr lang="en-US" sz="1200" dirty="0"/>
          </a:p>
        </p:txBody>
      </p:sp>
      <p:sp>
        <p:nvSpPr>
          <p:cNvPr id="12" name="tagDot23"/>
          <p:cNvSpPr/>
          <p:nvPr/>
        </p:nvSpPr>
        <p:spPr>
          <a:xfrm>
            <a:off x="9326880" y="82296"/>
            <a:ext cx="128016" cy="128016"/>
          </a:xfrm>
          <a:prstGeom prst="ellipse">
            <a:avLst/>
          </a:prstGeom>
          <a:solidFill>
            <a:schemeClr val="accent2"/>
          </a:solidFill>
          <a:ln/>
        </p:spPr>
      </p:sp>
      <p:sp>
        <p:nvSpPr>
          <p:cNvPr id="13"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3_S"/>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15"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Example: querying and using the graph</a:t>
            </a:r>
            <a:endParaRPr lang="en-US" sz="3200" dirty="0"/>
          </a:p>
        </p:txBody>
      </p:sp>
      <p:sp>
        <p:nvSpPr>
          <p:cNvPr id="3" name="shape385"/>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86"/>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Output of a test run, 2026-10-15</a:t>
            </a:r>
            <a:endParaRPr lang="en-US" sz="1800" dirty="0"/>
          </a:p>
        </p:txBody>
      </p:sp>
      <p:sp>
        <p:nvSpPr>
          <p:cNvPr id="6" name="shape387"/>
          <p:cNvSpPr/>
          <p:nvPr/>
        </p:nvSpPr>
        <p:spPr>
          <a:xfrm>
            <a:off x="8229600" y="1645920"/>
            <a:ext cx="3566160" cy="365760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34747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sp>
        <p:nvSpPr>
          <p:cNvPr id="8" name="shape388"/>
          <p:cNvSpPr txBox="1"/>
          <p:nvPr/>
        </p:nvSpPr>
        <p:spPr>
          <a:xfrm>
            <a:off x="8229600" y="5440680"/>
            <a:ext cx="3566160" cy="914400"/>
          </a:xfrm>
          <a:prstGeom prst="roundRect">
            <a:avLst>
              <a:gd name="adj" fmla="val 20000"/>
            </a:avLst>
          </a:prstGeom>
          <a:solidFill>
            <a:schemeClr val="accent5"/>
          </a:solidFill>
          <a:ln w="19050">
            <a:solidFill>
              <a:schemeClr val="accent2"/>
            </a:solidFill>
            <a:prstDash val="solid"/>
          </a:ln>
        </p:spPr>
        <p:txBody>
          <a:bodyPr wrap="square" lIns="76200" tIns="76200" rIns="76200" bIns="76200" rtlCol="0" anchor="ctr"/>
          <a:lstStyle/>
          <a:p>
            <a:pPr algn="ctr" indent="0" marL="0">
              <a:buNone/>
            </a:pPr>
            <a:r>
              <a:rPr lang="en-US" sz="1600" b="1" dirty="0">
                <a:solidFill>
                  <a:schemeClr val="accent2"/>
                </a:solidFill>
              </a:rPr>
              <a:t>Gap in response 3: which scan FreeSurfer ran on is not recorded in the graph</a:t>
            </a:r>
            <a:endParaRPr lang="en-US" sz="1600" dirty="0"/>
          </a:p>
        </p:txBody>
      </p:sp>
      <p:pic>
        <p:nvPicPr>
          <p:cNvPr id="10" name="stripIcon2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Skill: neuroimaging-kg · SPARQL over the example store's named graphs (urn:g:phenotype, urn:g:repronim, urn:g:cohort), as in the tested transcript</a:t>
            </a:r>
            <a:endParaRPr lang="en-US" sz="1200" dirty="0"/>
          </a:p>
        </p:txBody>
      </p:sp>
      <p:sp>
        <p:nvSpPr>
          <p:cNvPr id="12" name="tagDot24"/>
          <p:cNvSpPr/>
          <p:nvPr/>
        </p:nvSpPr>
        <p:spPr>
          <a:xfrm>
            <a:off x="9326880" y="82296"/>
            <a:ext cx="128016" cy="128016"/>
          </a:xfrm>
          <a:prstGeom prst="ellipse">
            <a:avLst/>
          </a:prstGeom>
          <a:solidFill>
            <a:schemeClr val="accent2"/>
          </a:solidFill>
          <a:ln/>
        </p:spPr>
      </p:sp>
      <p:sp>
        <p:nvSpPr>
          <p:cNvPr id="13"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4_S"/>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15"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4"/>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89"/>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90"/>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general agent ran code</a:t>
            </a:r>
            <a:endParaRPr lang="en-US" sz="1800" dirty="0"/>
          </a:p>
        </p:txBody>
      </p:sp>
      <p:sp>
        <p:nvSpPr>
          <p:cNvPr id="5" name="shape391"/>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92"/>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93"/>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94"/>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95"/>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96"/>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97"/>
          <p:cNvSpPr/>
          <p:nvPr/>
        </p:nvSpPr>
        <p:spPr>
          <a:xfrm>
            <a:off x="5669280" y="1837944"/>
            <a:ext cx="411480" cy="914"/>
          </a:xfrm>
          <a:prstGeom prst="line">
            <a:avLst/>
          </a:prstGeom>
          <a:noFill/>
          <a:ln w="25400">
            <a:solidFill>
              <a:schemeClr val="accent1"/>
            </a:solidFill>
            <a:prstDash val="solid"/>
            <a:tailEnd type="triangle"/>
          </a:ln>
        </p:spPr>
      </p:sp>
      <p:sp>
        <p:nvSpPr>
          <p:cNvPr id="12" name="text398"/>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99"/>
          <p:cNvSpPr/>
          <p:nvPr/>
        </p:nvSpPr>
        <p:spPr>
          <a:xfrm>
            <a:off x="2560320" y="2724912"/>
            <a:ext cx="731520" cy="914"/>
          </a:xfrm>
          <a:prstGeom prst="line">
            <a:avLst/>
          </a:prstGeom>
          <a:noFill/>
          <a:ln w="25400">
            <a:solidFill>
              <a:schemeClr val="accent1"/>
            </a:solidFill>
            <a:prstDash val="solid"/>
            <a:tailEnd type="triangle"/>
          </a:ln>
        </p:spPr>
      </p:sp>
      <p:sp>
        <p:nvSpPr>
          <p:cNvPr id="14" name="text400"/>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401"/>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402"/>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403"/>
          <p:cNvSpPr/>
          <p:nvPr/>
        </p:nvSpPr>
        <p:spPr>
          <a:xfrm>
            <a:off x="5669280" y="3730752"/>
            <a:ext cx="320040" cy="914"/>
          </a:xfrm>
          <a:prstGeom prst="line">
            <a:avLst/>
          </a:prstGeom>
          <a:noFill/>
          <a:ln w="25400">
            <a:solidFill>
              <a:schemeClr val="accent1"/>
            </a:solidFill>
            <a:prstDash val="solid"/>
            <a:tailEnd type="triangle"/>
          </a:ln>
        </p:spPr>
      </p:sp>
      <p:sp>
        <p:nvSpPr>
          <p:cNvPr id="18" name="text404"/>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405"/>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406"/>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6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shape407"/>
          <p:cNvSpPr txBox="1"/>
          <p:nvPr/>
        </p:nvSpPr>
        <p:spPr>
          <a:xfrm>
            <a:off x="411480" y="4315968"/>
            <a:ext cx="11384280" cy="868680"/>
          </a:xfrm>
          <a:prstGeom prst="roundRect">
            <a:avLst>
              <a:gd name="adj" fmla="val 15789"/>
            </a:avLst>
          </a:prstGeom>
          <a:solidFill>
            <a:schemeClr val="accent6"/>
          </a:solidFill>
          <a:ln/>
        </p:spPr>
        <p:txBody>
          <a:bodyPr wrap="square" lIns="101600" tIns="101600" rIns="101600" bIns="101600" rtlCol="0" anchor="ctr"/>
          <a:lstStyle/>
          <a:p>
            <a:pPr algn="l" indent="0" marL="0">
              <a:buNone/>
            </a:pPr>
            <a:r>
              <a:rPr lang="en-US" sz="1400" b="1" dirty="0">
                <a:solidFill>
                  <a:schemeClr val="tx2"/>
                </a:solidFill>
              </a:rPr>
              <a:t>Who produced it: </a:t>
            </a:r>
            <a:pPr algn="l" indent="0" marL="0">
              <a:buNone/>
            </a:pPr>
            <a:r>
              <a:rPr lang="en-US" sz="1400" dirty="0">
                <a:solidFill>
                  <a:schemeClr val="tx1"/>
                </a:solidFill>
              </a:rPr>
              <a:t>speaker instructions → orchestrating Claude Code session → </a:t>
            </a:r>
            <a:pPr algn="l" indent="0" marL="0">
              <a:buNone/>
            </a:pPr>
            <a:r>
              <a:rPr lang="en-US" sz="1400" b="1" dirty="0">
                <a:solidFill>
                  <a:schemeClr val="tx2"/>
                </a:solidFill>
              </a:rPr>
              <a:t>general sub-agents (A) </a:t>
            </a:r>
            <a:pPr algn="l" indent="0" marL="0">
              <a:buNone/>
            </a:pPr>
            <a:r>
              <a:rPr lang="en-US" sz="1400" dirty="0">
                <a:solidFill>
                  <a:schemeClr val="tx1"/>
                </a:solidFill>
              </a:rPr>
              <a:t>built the experiments, deck and figures; </a:t>
            </a:r>
            <a:pPr algn="l" indent="0" marL="0">
              <a:buNone/>
            </a:pPr>
            <a:r>
              <a:rPr lang="en-US" sz="1400" b="1" dirty="0">
                <a:solidFill>
                  <a:schemeClr val="tx2"/>
                </a:solidFill>
              </a:rPr>
              <a:t>named skills (S) </a:t>
            </a:r>
            <a:pPr algn="l" indent="0" marL="0">
              <a:buNone/>
            </a:pPr>
            <a:r>
              <a:rPr lang="en-US" sz="1400" dirty="0">
                <a:solidFill>
                  <a:schemeClr val="tx1"/>
                </a:solidFill>
              </a:rPr>
              <a:t>only where stated: pptx (deck), SynthScholar (review retrieval), StructSense (claim pilot, Codex), neuroimaging-kg (examples, harmonisation); Brain Researcher via MCP (M) → checks → speaker review</a:t>
            </a:r>
            <a:endParaRPr lang="en-US" sz="1400" dirty="0"/>
          </a:p>
        </p:txBody>
      </p:sp>
      <p:sp>
        <p:nvSpPr>
          <p:cNvPr id="24" name="text408"/>
          <p:cNvSpPr txBox="1"/>
          <p:nvPr/>
        </p:nvSpPr>
        <p:spPr>
          <a:xfrm>
            <a:off x="502920" y="5285232"/>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Errors found by the speaker</a:t>
            </a:r>
            <a:endParaRPr lang="en-US" sz="1600" dirty="0"/>
          </a:p>
        </p:txBody>
      </p:sp>
      <p:sp>
        <p:nvSpPr>
          <p:cNvPr id="25" name="text409"/>
          <p:cNvSpPr txBox="1"/>
          <p:nvPr/>
        </p:nvSpPr>
        <p:spPr>
          <a:xfrm>
            <a:off x="6263640" y="5285232"/>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Errors found by automated checks</a:t>
            </a:r>
            <a:endParaRPr lang="en-US" sz="1600" dirty="0"/>
          </a:p>
        </p:txBody>
      </p:sp>
      <p:sp>
        <p:nvSpPr>
          <p:cNvPr id="26" name="caughtSpeaker"/>
          <p:cNvSpPr txBox="1"/>
          <p:nvPr/>
        </p:nvSpPr>
        <p:spPr>
          <a:xfrm>
            <a:off x="502920" y="5596128"/>
            <a:ext cx="5486400" cy="841248"/>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p:txBody>
      </p:sp>
      <p:sp>
        <p:nvSpPr>
          <p:cNvPr id="27" name="caughtChecks"/>
          <p:cNvSpPr txBox="1"/>
          <p:nvPr/>
        </p:nvSpPr>
        <p:spPr>
          <a:xfrm>
            <a:off x="6263640" y="5596128"/>
            <a:ext cx="5486400" cy="841248"/>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p:txBody>
      </p:sp>
      <p:pic>
        <p:nvPicPr>
          <p:cNvPr id="29" name="stripIcon2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0" name="strip2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(pptx skill, deck-builder sub-agents); query run with pyoxigraph (prov_query.py)</a:t>
            </a:r>
            <a:endParaRPr lang="en-US" sz="1200" dirty="0"/>
          </a:p>
        </p:txBody>
      </p:sp>
      <p:sp>
        <p:nvSpPr>
          <p:cNvPr id="31" name="tagDot25"/>
          <p:cNvSpPr/>
          <p:nvPr/>
        </p:nvSpPr>
        <p:spPr>
          <a:xfrm>
            <a:off x="9326880" y="82296"/>
            <a:ext cx="128016" cy="128016"/>
          </a:xfrm>
          <a:prstGeom prst="ellipse">
            <a:avLst/>
          </a:prstGeom>
          <a:solidFill>
            <a:schemeClr val="accent2"/>
          </a:solidFill>
          <a:ln/>
        </p:spPr>
      </p:sp>
      <p:sp>
        <p:nvSpPr>
          <p:cNvPr id="32" name="tag2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3" name="badge2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5_S"/>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36" name="badge25_A"/>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7" name="badge25_check"/>
          <p:cNvSpPr txBox="1"/>
          <p:nvPr/>
        </p:nvSpPr>
        <p:spPr>
          <a:xfrm>
            <a:off x="1536192"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410"/>
          <p:cNvSpPr/>
          <p:nvPr/>
        </p:nvSpPr>
        <p:spPr>
          <a:xfrm>
            <a:off x="548640" y="1298448"/>
            <a:ext cx="237744" cy="237744"/>
          </a:xfrm>
          <a:prstGeom prst="ellipse">
            <a:avLst/>
          </a:prstGeom>
          <a:solidFill>
            <a:schemeClr val="accent1"/>
          </a:solidFill>
          <a:ln/>
        </p:spPr>
      </p:sp>
      <p:sp>
        <p:nvSpPr>
          <p:cNvPr id="4" name="text411"/>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412"/>
          <p:cNvSpPr/>
          <p:nvPr/>
        </p:nvSpPr>
        <p:spPr>
          <a:xfrm>
            <a:off x="5760720" y="1298448"/>
            <a:ext cx="237744" cy="237744"/>
          </a:xfrm>
          <a:prstGeom prst="ellipse">
            <a:avLst/>
          </a:prstGeom>
          <a:solidFill>
            <a:schemeClr val="tx2"/>
          </a:solidFill>
          <a:ln/>
        </p:spPr>
      </p:sp>
      <p:sp>
        <p:nvSpPr>
          <p:cNvPr id="6" name="text413"/>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414"/>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415"/>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416"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417"/>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418"/>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419"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420"/>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421"/>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422"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423"/>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424"/>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425"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426"/>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427"/>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428"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429"/>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6"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6"/>
          <p:cNvSpPr/>
          <p:nvPr/>
        </p:nvSpPr>
        <p:spPr>
          <a:xfrm>
            <a:off x="9326880" y="82296"/>
            <a:ext cx="128016" cy="128016"/>
          </a:xfrm>
          <a:prstGeom prst="ellipse">
            <a:avLst/>
          </a:prstGeom>
          <a:solidFill>
            <a:schemeClr val="accent3"/>
          </a:solidFill>
          <a:ln/>
        </p:spPr>
      </p:sp>
      <p:sp>
        <p:nvSpPr>
          <p:cNvPr id="27" name="tag2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7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7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430"/>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431"/>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432"/>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433"/>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434"/>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435"/>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436"/>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437"/>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438"/>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439"/>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440"/>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441"/>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442"/>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443"/>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444"/>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445"/>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446"/>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447"/>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448"/>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449"/>
          <p:cNvSpPr/>
          <p:nvPr/>
        </p:nvSpPr>
        <p:spPr>
          <a:xfrm>
            <a:off x="822960" y="6035040"/>
            <a:ext cx="10058400" cy="914"/>
          </a:xfrm>
          <a:prstGeom prst="line">
            <a:avLst/>
          </a:prstGeom>
          <a:noFill/>
          <a:ln w="25400">
            <a:solidFill>
              <a:schemeClr val="accent3"/>
            </a:solidFill>
            <a:prstDash val="solid"/>
            <a:tailEnd type="triangle"/>
          </a:ln>
        </p:spPr>
      </p:sp>
      <p:sp>
        <p:nvSpPr>
          <p:cNvPr id="16" name="text450"/>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451"/>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9"/>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9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452"/>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453"/>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454"/>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455"/>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456"/>
          <p:cNvSpPr/>
          <p:nvPr/>
        </p:nvSpPr>
        <p:spPr>
          <a:xfrm>
            <a:off x="502920" y="1188720"/>
            <a:ext cx="502920" cy="502920"/>
          </a:xfrm>
          <a:prstGeom prst="ellipse">
            <a:avLst/>
          </a:prstGeom>
          <a:solidFill>
            <a:schemeClr val="accent1"/>
          </a:solidFill>
          <a:ln/>
        </p:spPr>
      </p:sp>
      <p:pic>
        <p:nvPicPr>
          <p:cNvPr id="8" name="setIcon457"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458"/>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459"/>
          <p:cNvSpPr/>
          <p:nvPr/>
        </p:nvSpPr>
        <p:spPr>
          <a:xfrm>
            <a:off x="4480560" y="1581912"/>
            <a:ext cx="502920" cy="502920"/>
          </a:xfrm>
          <a:prstGeom prst="ellipse">
            <a:avLst/>
          </a:prstGeom>
          <a:solidFill>
            <a:schemeClr val="tx2"/>
          </a:solidFill>
          <a:ln/>
        </p:spPr>
      </p:sp>
      <p:pic>
        <p:nvPicPr>
          <p:cNvPr id="11" name="setIcon460"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461"/>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462"/>
          <p:cNvSpPr/>
          <p:nvPr/>
        </p:nvSpPr>
        <p:spPr>
          <a:xfrm>
            <a:off x="7772400" y="1856232"/>
            <a:ext cx="502920" cy="502920"/>
          </a:xfrm>
          <a:prstGeom prst="ellipse">
            <a:avLst/>
          </a:prstGeom>
          <a:solidFill>
            <a:schemeClr val="accent3"/>
          </a:solidFill>
          <a:ln/>
        </p:spPr>
      </p:sp>
      <p:pic>
        <p:nvPicPr>
          <p:cNvPr id="14" name="setIcon463"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464"/>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465"/>
          <p:cNvSpPr/>
          <p:nvPr/>
        </p:nvSpPr>
        <p:spPr>
          <a:xfrm>
            <a:off x="9921240" y="2084832"/>
            <a:ext cx="502920" cy="502920"/>
          </a:xfrm>
          <a:prstGeom prst="ellipse">
            <a:avLst/>
          </a:prstGeom>
          <a:solidFill>
            <a:schemeClr val="accent2"/>
          </a:solidFill>
          <a:ln/>
        </p:spPr>
      </p:sp>
      <p:pic>
        <p:nvPicPr>
          <p:cNvPr id="17" name="setIcon466"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467"/>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468"/>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469"/>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470"/>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71"/>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72"/>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73"/>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74"/>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75"/>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76"/>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77"/>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78"/>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79"/>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80"/>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3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3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3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3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81"/>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82"/>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83"/>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84"/>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85"/>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87"/>
          <p:cNvSpPr/>
          <p:nvPr/>
        </p:nvSpPr>
        <p:spPr>
          <a:xfrm>
            <a:off x="548640" y="4160520"/>
            <a:ext cx="685800" cy="685800"/>
          </a:xfrm>
          <a:prstGeom prst="ellipse">
            <a:avLst/>
          </a:prstGeom>
          <a:solidFill>
            <a:schemeClr val="accent1"/>
          </a:solidFill>
          <a:ln/>
        </p:spPr>
      </p:sp>
      <p:pic>
        <p:nvPicPr>
          <p:cNvPr id="9" name="check487"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88"/>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89"/>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90"/>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91"/>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92"/>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3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31"/>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31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93"/>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94"/>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95"/>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96"/>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97"/>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98"/>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99"/>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2_S"/>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13" name="badge3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3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5" name="badge3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3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3"/>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3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4"/>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4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5"/>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5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6"/>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6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7"/>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S"/>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S</a:t>
            </a:r>
            <a:endParaRPr lang="en-US" sz="1100" dirty="0"/>
          </a:p>
        </p:txBody>
      </p:sp>
      <p:sp>
        <p:nvSpPr>
          <p:cNvPr id="7" name="data38"/>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8" name="badge38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9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6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500"/>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50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5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5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5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5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1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502"/>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503"/>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504"/>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505"/>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506"/>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507"/>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508"/>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509"/>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510"/>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511"/>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512"/>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513"/>
          <p:cNvSpPr/>
          <p:nvPr/>
        </p:nvSpPr>
        <p:spPr>
          <a:xfrm>
            <a:off x="7269480" y="3566160"/>
            <a:ext cx="914" cy="1691640"/>
          </a:xfrm>
          <a:prstGeom prst="line">
            <a:avLst/>
          </a:prstGeom>
          <a:noFill/>
          <a:ln w="25400">
            <a:solidFill>
              <a:schemeClr val="accent3"/>
            </a:solidFill>
            <a:prstDash val="solid"/>
            <a:tailEnd type="triangle"/>
          </a:ln>
        </p:spPr>
      </p:sp>
      <p:sp>
        <p:nvSpPr>
          <p:cNvPr id="15" name="text514"/>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2"/>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515"/>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516"/>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517"/>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518"/>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519"/>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520"/>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521"/>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522"/>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523"/>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524"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525"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5"/>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5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6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526"/>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527"/>
          <p:cNvSpPr txBox="1"/>
          <p:nvPr/>
        </p:nvSpPr>
        <p:spPr>
          <a:xfrm>
            <a:off x="548640" y="1719072"/>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528"/>
          <p:cNvSpPr txBox="1"/>
          <p:nvPr/>
        </p:nvSpPr>
        <p:spPr>
          <a:xfrm>
            <a:off x="1188720" y="1645920"/>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529"/>
          <p:cNvSpPr txBox="1"/>
          <p:nvPr/>
        </p:nvSpPr>
        <p:spPr>
          <a:xfrm>
            <a:off x="548640" y="2340864"/>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530"/>
          <p:cNvSpPr txBox="1"/>
          <p:nvPr/>
        </p:nvSpPr>
        <p:spPr>
          <a:xfrm>
            <a:off x="1188720" y="2267712"/>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531"/>
          <p:cNvSpPr txBox="1"/>
          <p:nvPr/>
        </p:nvSpPr>
        <p:spPr>
          <a:xfrm>
            <a:off x="548640" y="2962656"/>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S</a:t>
            </a:r>
            <a:endParaRPr lang="en-US" sz="1800" dirty="0"/>
          </a:p>
        </p:txBody>
      </p:sp>
      <p:sp>
        <p:nvSpPr>
          <p:cNvPr id="9" name="text532"/>
          <p:cNvSpPr txBox="1"/>
          <p:nvPr/>
        </p:nvSpPr>
        <p:spPr>
          <a:xfrm>
            <a:off x="1188720" y="2889504"/>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Named skill: </a:t>
            </a:r>
            <a:pPr indent="0" marL="0">
              <a:buNone/>
            </a:pPr>
            <a:r>
              <a:rPr lang="en-US" sz="1600" dirty="0">
                <a:solidFill>
                  <a:schemeClr val="tx1"/>
                </a:solidFill>
              </a:rPr>
              <a:t>an agent followed a named skill (named on the slide: SynthScholar, StructSense, neuroimaging-kg, pptx)</a:t>
            </a:r>
            <a:endParaRPr lang="en-US" sz="1600" dirty="0"/>
          </a:p>
        </p:txBody>
      </p:sp>
      <p:sp>
        <p:nvSpPr>
          <p:cNvPr id="10" name="shape533"/>
          <p:cNvSpPr txBox="1"/>
          <p:nvPr/>
        </p:nvSpPr>
        <p:spPr>
          <a:xfrm>
            <a:off x="548640" y="3584448"/>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11" name="text534"/>
          <p:cNvSpPr txBox="1"/>
          <p:nvPr/>
        </p:nvSpPr>
        <p:spPr>
          <a:xfrm>
            <a:off x="1188720" y="3511296"/>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General agent work: </a:t>
            </a:r>
            <a:pPr indent="0" marL="0">
              <a:buNone/>
            </a:pPr>
            <a:r>
              <a:rPr lang="en-US" sz="1600" dirty="0">
                <a:solidFill>
                  <a:schemeClr val="tx1"/>
                </a:solidFill>
              </a:rPr>
              <a:t>Claude Code or its sub-agents writing and running their own code (Python, SPARQL, Slurm on ORCD), no skill</a:t>
            </a:r>
            <a:endParaRPr lang="en-US" sz="1600" dirty="0"/>
          </a:p>
        </p:txBody>
      </p:sp>
      <p:sp>
        <p:nvSpPr>
          <p:cNvPr id="12" name="shape535"/>
          <p:cNvSpPr txBox="1"/>
          <p:nvPr/>
        </p:nvSpPr>
        <p:spPr>
          <a:xfrm>
            <a:off x="548640" y="4206240"/>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3" name="text536"/>
          <p:cNvSpPr txBox="1"/>
          <p:nvPr/>
        </p:nvSpPr>
        <p:spPr>
          <a:xfrm>
            <a:off x="1188720" y="4133088"/>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4" name="shape537"/>
          <p:cNvSpPr txBox="1"/>
          <p:nvPr/>
        </p:nvSpPr>
        <p:spPr>
          <a:xfrm>
            <a:off x="548640" y="4828032"/>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5" name="text538"/>
          <p:cNvSpPr txBox="1"/>
          <p:nvPr/>
        </p:nvSpPr>
        <p:spPr>
          <a:xfrm>
            <a:off x="1188720" y="4754880"/>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6" name="shape539"/>
          <p:cNvSpPr txBox="1"/>
          <p:nvPr/>
        </p:nvSpPr>
        <p:spPr>
          <a:xfrm>
            <a:off x="548640" y="5449824"/>
            <a:ext cx="457200" cy="45720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7" name="text540"/>
          <p:cNvSpPr txBox="1"/>
          <p:nvPr/>
        </p:nvSpPr>
        <p:spPr>
          <a:xfrm>
            <a:off x="1188720" y="5376672"/>
            <a:ext cx="6309360" cy="603504"/>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8" name="text541"/>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9" name="text542"/>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20" name="text543"/>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21" name="text544"/>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2" name="text545"/>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3" name="text546"/>
          <p:cNvSpPr txBox="1"/>
          <p:nvPr/>
        </p:nvSpPr>
        <p:spPr>
          <a:xfrm>
            <a:off x="548640" y="6053328"/>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5" name="badge5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6" name="badge5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7" name="badge5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8"/>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8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Site coverage of each data element (ABIDE I)</a:t>
            </a:r>
            <a:endParaRPr lang="en-US" sz="2600" dirty="0"/>
          </a:p>
        </p:txBody>
      </p:sp>
      <p:pic>
        <p:nvPicPr>
          <p:cNvPr id="3" name="fig547" descr="element_coverage_matrix_backup.png">    </p:cNvPr>
          <p:cNvPicPr>
            <a:picLocks noChangeAspect="1"/>
          </p:cNvPicPr>
          <p:nvPr/>
        </p:nvPicPr>
        <p:blipFill>
          <a:blip r:embed="rId1"/>
          <a:stretch>
            <a:fillRect/>
          </a:stretch>
        </p:blipFill>
        <p:spPr>
          <a:xfrm>
            <a:off x="4674965" y="1325880"/>
            <a:ext cx="2811590" cy="5074920"/>
          </a:xfrm>
          <a:prstGeom prst="rect">
            <a:avLst/>
          </a:prstGeom>
        </p:spPr>
      </p:pic>
      <p:pic>
        <p:nvPicPr>
          <p:cNvPr id="5" name="stripIcon59" descr="preencoded.png">    </p:cNvPr>
          <p:cNvPicPr>
            <a:picLocks noChangeAspect="1"/>
          </p:cNvPicPr>
          <p:nvPr/>
        </p:nvPicPr>
        <p:blipFill>
          <a:blip r:embed="rId2"/>
          <a:stretch>
            <a:fillRect/>
          </a:stretch>
        </p:blipFill>
        <p:spPr>
          <a:xfrm>
            <a:off x="548640" y="1060704"/>
            <a:ext cx="182880" cy="182880"/>
          </a:xfrm>
          <a:prstGeom prst="rect">
            <a:avLst/>
          </a:prstGeom>
        </p:spPr>
      </p:pic>
      <p:sp>
        <p:nvSpPr>
          <p:cNvPr id="6" name="strip59"/>
          <p:cNvSpPr txBox="1"/>
          <p:nvPr/>
        </p:nvSpPr>
        <p:spPr>
          <a:xfrm>
            <a:off x="804672" y="100584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(code/element_coverage.py → results/element_coverage.json) → figure: figs_slide/make_slide_figs.py</a:t>
            </a:r>
            <a:endParaRPr lang="en-US" sz="1200" dirty="0"/>
          </a:p>
        </p:txBody>
      </p:sp>
      <p:sp>
        <p:nvSpPr>
          <p:cNvPr id="7" name="badge5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8" name="data59"/>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ABIDE I</a:t>
            </a:r>
            <a:endParaRPr lang="en-US" sz="1100" dirty="0"/>
          </a:p>
        </p:txBody>
      </p:sp>
      <p:sp>
        <p:nvSpPr>
          <p:cNvPr id="9" name="badge59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2026-10-16T15:23:08Z</dcterms:created>
  <dcterms:modified xsi:type="dcterms:W3CDTF">2026-10-16T15:23:08Z</dcterms:modified>
</cp:coreProperties>
</file>
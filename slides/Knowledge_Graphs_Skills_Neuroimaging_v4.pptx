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168ce0f2-e4d2-64f3-10e4-c5a7e8284b86}">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Backup" id="{98fab579-aa12-a15a-2b4d-b9267b8ef9d6}">
          <p14:sldIdLst>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live demo uses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CPM is connectome-based predictive modelling, here with a linear support vector machine (a standard linear classifier); leave-one-out cross-validation trains on all participants but one and tests on the one left out, repeated for each person. The question is the paper's own aim, verbatim from the abstract: 'we aimed to determine the direction of the connectivity alteration associated with schizophrenia using a multivariate, data-driven approach' (Kim et al. 2023, 'Bidirectional connectivity alterations in schizophrenia: a multivariate, machine-learning approach', https://www.frontiersin.org/articles/10.3389/fpsyt.2023.1232015/full). The results add a second claim: 'combining information from both increased and decreased rsFC substantially improved prediction accuracy', and 'When tested across datasets, the prediction model using decreased rsFC performed best.' Note for the speaker: earlier drafts of this slide paraphrased the question as 'do decreased and increased connectivity predict diagnosis?', which turns a question about the direction of an association into a prediction question; it was corrected after checking the source, and is itself an example of the scope error this talk warns about. Say: the paper tells us which dataset, but not which 94 people from it, so we cannot rebuild the cohort. Kim et al. 2023 (Front Psychiatry, doi 10.3389/fpsyt.2023.1232015). The claim is scoped: 70.2% is the within-UCLA leave-one-out accuracy for both connectivity directions; transfer to COBRE was 61.5% for decreased connectivity and the reverse direction was not above chance. The paper names ds000030, but not the 94 participants or per-file processing, and reports GRETNA/SPM12, so reuse of the 2017 fMRIPrep derivatives is not asserted. Lesson: save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layers let graphs built by different people be used together. First, shared identifiers: a dataset and its version, participant IDs, DOIs for papers, ORCIDs for people, RRIDs for tools; ReproNim's simple2 graphs join ours on the participant ID for all 1,112 ABIDE I participants. Second, shared vocabularies: tags that say what a variable is about (InterLex and nidm-terms concepts), UBERON for anatomy, Cognitive Atlas for tasks. Third, a shared schema with validation: the PyNIDM LinkML schema compiled to SHACL rules, so every contributor's graph passes the same checks. Fourth, where vocabularies differ, mapping links (exactMatch or closeMatch) that a named reviewer asserted, never a silent declaration that two things are identical. Fifth, one named graph per contributor with PROV, so disagreements stay visible instead of being overwritten: under the same UBERON term for CSF, FSL reports total CSF while ANTs and FreeSurfer report ventricles, about 200-fold apart; and two agents reconstructed the ABIDE cohorts differently (871-based versus 767). Sixth, federation instead of copying: Neurobagel sends the query to each pond and returns only permitted results. The Caltech numbers on the slide are a real comparison of two contributors' graphs for one site, our graph against ReproNim's simple2 NIDM, run by compare_graphs.py (sensein/agent_skills PR #49, skills/neuroimaging-kg/scripts/compare_graphs.py; output in examples/abide_one_site/demo_output.txt and graph/compare.md): all 38 participants match with none left over; 12 concepts are shared; 28 variables, over half of them ADOS, ADI-R and SRS subscores, carry the same source variable in both graphs but no shared concept, so they are written to a review file as proposed skos:exactMatch links and none is asserted automatically; and 0 of 282 participant-by-concept values conflict, which is expected because both graphs come from the same ABIDE phenotype table. The conflict that does appear is across tools, not contributors: the CSF definitions in layer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exchange was run, not mocked up: Claude Code ran headless in a fresh folder that held only literature_kg.ttl, the review's graph, and answered in 88 s. A participant can do the same: open Claude Code in a folder containing the graph file and ask in plain language. It wrote the SPARQL itself (the middle panel is an excerpt of its two queries), ran it with pyoxigraph, and returned a table with a verbatim quote for each study; the prompt on the left is an excerpt, and the full answer is in slides/demo/literature_query_answer.md. Its numbers match the review's synthesis (literature_review/synthesis.md): 6 studies hold whole sites out and 5 of them report an accuracy, median 66.8%, range 56–73.4% (Abraham 2017 66.8%, S-030 56% balanced accuracy, S-062 71%, S-071 73.4%, S-072 about 62%). Equally important is what it did not do: S-022 says it ran the leave-site-out test, the graph stores no accuracy for it, and the assistant said so instead of borrowing that paper's 70.22% from pooled cross-validation. It also reported that quotes are linked to papers rather than to individual accuracy values, so it chose each quote from the graph's summary of what the quote supports, and that most values are the best of several models and S-030's is balanced accuracy, so they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lecture has its own provenance graph, talk_provenance.ttl, written by the deck build from a table of how each slide was made. Each slide is a node; it was generated by one or more production activities, each associated with an agent (the speaker, an LLM drafting from the speaker's instructions, an agent running code, an agent retrieving from sources, an external agent through MCP, or an earlier agentic session); it was derived from the result files it shows; and an assessment records how it was checked, derived from the evidence for that check (a rebuild comparison, a claim verification). The query on the right counts slides by checking status; it was run with pyoxigraph over the file (1643 triples) and the answer is shown as returned. The badge in the corner of every slide is the same record. Corrections came from both directions: the speaker caught the consent wording, a paraphrase of Kim et al. 2023's research question that turned an association question into a prediction question, AbstractAtlas links that had been dropped, and LLM-style footers and titles; automated checks caught an ORCD job with invalid p-values, a clean rebuild that failed on a blocked download (HTTP 403), two agents that reconstructed the same ABIDE cohorts differently, and UMAP values that drift between machines while everything else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0:40 objectives, 0:45 the two datasets, 1:15 four-statement primer; objective 1: 1:15 dataset and publication components, 0:45 entities, 1:00 participant graph, 1:30 claim chain, 0:45 claim exercise, 0:30 quotation checks; objective 2: 1:30 joining graphs, 1:00 harmonising graphs, 0:45 coverage, 0:45 ABIDE design, 1:00 ABIDE results, 0:30 QC exercise, 0:45 dependency tracing, 0:30 publications and abstracts, 1:00 asking Claude about the literature graph, 0:30 evaluation schemes, 1:00 ReproPond and ReproLake; with an assistant: 1:45 demo 1, 1:45 demo 2, 0:45 the lecture's provenance graph; close: 1:00 practices, 0:45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000" dirty="0">
                <a:solidFill>
                  <a:schemeClr val="bg2"/>
                </a:solidFill>
              </a:rPr>
              <a:t>Worked examples on ds000030 and ABIDE I</a:t>
            </a:r>
            <a:endParaRPr lang="en-US" sz="2000" dirty="0"/>
          </a:p>
          <a:p>
            <a:pPr algn="l" indent="0" marL="0">
              <a:buNone/>
            </a:pPr>
            <a:r>
              <a:rPr lang="en-US" sz="1200" dirty="0">
                <a:solidFill>
                  <a:schemeClr val="bg2"/>
                </a:solidFill>
              </a:rPr>
              <a:t> </a:t>
            </a:r>
            <a:endParaRPr lang="en-US" sz="2000" dirty="0"/>
          </a:p>
          <a:p>
            <a:pPr algn="l" indent="0" marL="0">
              <a:buNone/>
            </a:pPr>
            <a:r>
              <a:rPr lang="en-US" sz="1800" b="1" dirty="0">
                <a:solidFill>
                  <a:schemeClr val="bg2"/>
                </a:solidFill>
              </a:rPr>
              <a:t>Satrajit Ghosh</a:t>
            </a:r>
            <a:endParaRPr lang="en-US" sz="2000" dirty="0"/>
          </a:p>
          <a:p>
            <a:pPr algn="l" indent="0" marL="0">
              <a:buNone/>
            </a:pPr>
            <a:r>
              <a:rPr lang="en-US" sz="1800" dirty="0">
                <a:solidFill>
                  <a:schemeClr val="bg2"/>
                </a:solidFill>
              </a:rPr>
              <a:t>ReproNim / LLM symposium · 25 minutes + discussion</a:t>
            </a:r>
            <a:endParaRPr lang="en-US" sz="2000" dirty="0"/>
          </a:p>
        </p:txBody>
      </p:sp>
      <p:sp>
        <p:nvSpPr>
          <p:cNvPr id="4" name="text1"/>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5" name="text2"/>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6"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7" name="text3"/>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8"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9" name="text4"/>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0"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1" name="text5"/>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2"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3" name="text6"/>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4"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5" name="text7"/>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6"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7" name="text8"/>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18" name="text9"/>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19" name="text10"/>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0" name="text11"/>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1" name="text12"/>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2" name="text13"/>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4"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5"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6"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4"/>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5"/>
          <p:cNvSpPr/>
          <p:nvPr/>
        </p:nvSpPr>
        <p:spPr>
          <a:xfrm>
            <a:off x="685800" y="1828800"/>
            <a:ext cx="2103120" cy="2103120"/>
          </a:xfrm>
          <a:prstGeom prst="donut">
            <a:avLst/>
          </a:prstGeom>
          <a:solidFill>
            <a:schemeClr val="accent1"/>
          </a:solidFill>
          <a:ln/>
        </p:spPr>
      </p:sp>
      <p:sp>
        <p:nvSpPr>
          <p:cNvPr id="5" name="text16"/>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7"/>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8"/>
          <p:cNvSpPr/>
          <p:nvPr/>
        </p:nvSpPr>
        <p:spPr>
          <a:xfrm>
            <a:off x="1463040" y="4160520"/>
            <a:ext cx="2103120" cy="2103120"/>
          </a:xfrm>
          <a:prstGeom prst="donut">
            <a:avLst/>
          </a:prstGeom>
          <a:solidFill>
            <a:schemeClr val="tx2"/>
          </a:solidFill>
          <a:ln/>
        </p:spPr>
      </p:sp>
      <p:sp>
        <p:nvSpPr>
          <p:cNvPr id="8" name="text19"/>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0"/>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21"/>
          <p:cNvSpPr/>
          <p:nvPr/>
        </p:nvSpPr>
        <p:spPr>
          <a:xfrm>
            <a:off x="457200" y="1280160"/>
            <a:ext cx="5532120" cy="5074920"/>
          </a:xfrm>
          <a:prstGeom prst="roundRect">
            <a:avLst>
              <a:gd name="adj" fmla="val 5405"/>
            </a:avLst>
          </a:prstGeom>
          <a:solidFill>
            <a:schemeClr val="accent4"/>
          </a:solidFill>
          <a:ln/>
        </p:spPr>
      </p:sp>
      <p:sp>
        <p:nvSpPr>
          <p:cNvPr id="4" name="text22"/>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23"/>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24"/>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25"/>
          <p:cNvSpPr/>
          <p:nvPr/>
        </p:nvSpPr>
        <p:spPr>
          <a:xfrm>
            <a:off x="6217920" y="1280160"/>
            <a:ext cx="5532120" cy="5074920"/>
          </a:xfrm>
          <a:prstGeom prst="roundRect">
            <a:avLst>
              <a:gd name="adj" fmla="val 5405"/>
            </a:avLst>
          </a:prstGeom>
          <a:solidFill>
            <a:schemeClr val="accent5"/>
          </a:solidFill>
          <a:ln/>
        </p:spPr>
      </p:sp>
      <p:sp>
        <p:nvSpPr>
          <p:cNvPr id="10" name="text26"/>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27"/>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28"/>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live demo (one site)</a:t>
            </a:r>
            <a:endParaRPr lang="en-US" sz="1500" dirty="0"/>
          </a:p>
        </p:txBody>
      </p:sp>
      <p:pic>
        <p:nvPicPr>
          <p:cNvPr id="16" name="stripIcon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Counts read by SPARQL: ds000030 graph (combined_graph.ttl, 1,113,959 triples); ABIDE graph/core (queries/Q14.rq)</a:t>
            </a:r>
            <a:endParaRPr lang="en-US" sz="1200" dirty="0"/>
          </a:p>
        </p:txBody>
      </p:sp>
      <p:sp>
        <p:nvSpPr>
          <p:cNvPr id="18" name="tagDot2"/>
          <p:cNvSpPr/>
          <p:nvPr/>
        </p:nvSpPr>
        <p:spPr>
          <a:xfrm>
            <a:off x="9326880" y="82296"/>
            <a:ext cx="128016" cy="128016"/>
          </a:xfrm>
          <a:prstGeom prst="ellipse">
            <a:avLst/>
          </a:prstGeom>
          <a:solidFill>
            <a:schemeClr val="accent3"/>
          </a:solidFill>
          <a:ln/>
        </p:spPr>
      </p:sp>
      <p:sp>
        <p:nvSpPr>
          <p:cNvPr id="19" name="tag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0" name="badge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2" name="badge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data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4" name="badge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29"/>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30"/>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31"/>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32"/>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33"/>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34"/>
          <p:cNvSpPr/>
          <p:nvPr/>
        </p:nvSpPr>
        <p:spPr>
          <a:xfrm flipH="1">
            <a:off x="2103120" y="2350008"/>
            <a:ext cx="1965960" cy="914"/>
          </a:xfrm>
          <a:prstGeom prst="line">
            <a:avLst/>
          </a:prstGeom>
          <a:noFill/>
          <a:ln w="31750">
            <a:solidFill>
              <a:schemeClr val="accent1"/>
            </a:solidFill>
            <a:prstDash val="solid"/>
            <a:tailEnd type="triangle"/>
          </a:ln>
        </p:spPr>
      </p:sp>
      <p:sp>
        <p:nvSpPr>
          <p:cNvPr id="9" name="text35"/>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36"/>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37"/>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38"/>
          <p:cNvSpPr/>
          <p:nvPr/>
        </p:nvSpPr>
        <p:spPr>
          <a:xfrm>
            <a:off x="10058400" y="2331720"/>
            <a:ext cx="914" cy="685800"/>
          </a:xfrm>
          <a:prstGeom prst="line">
            <a:avLst/>
          </a:prstGeom>
          <a:noFill/>
          <a:ln w="31750">
            <a:solidFill>
              <a:schemeClr val="accent1"/>
            </a:solidFill>
            <a:prstDash val="solid"/>
            <a:tailEnd type="triangle"/>
          </a:ln>
        </p:spPr>
      </p:sp>
      <p:sp>
        <p:nvSpPr>
          <p:cNvPr id="13" name="text39"/>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40"/>
          <p:cNvSpPr/>
          <p:nvPr/>
        </p:nvSpPr>
        <p:spPr>
          <a:xfrm>
            <a:off x="5486400" y="2880360"/>
            <a:ext cx="914" cy="457200"/>
          </a:xfrm>
          <a:prstGeom prst="line">
            <a:avLst/>
          </a:prstGeom>
          <a:noFill/>
          <a:ln w="19050">
            <a:solidFill>
              <a:schemeClr val="accent3"/>
            </a:solidFill>
            <a:prstDash val="solid"/>
            <a:tailEnd type="triangle"/>
          </a:ln>
        </p:spPr>
      </p:sp>
      <p:sp>
        <p:nvSpPr>
          <p:cNvPr id="15" name="text41"/>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42"/>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43"/>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44"/>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45"/>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46"/>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47"/>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48"/>
          <p:cNvSpPr/>
          <p:nvPr/>
        </p:nvSpPr>
        <p:spPr>
          <a:xfrm flipH="1">
            <a:off x="2423160" y="4572000"/>
            <a:ext cx="868680" cy="914"/>
          </a:xfrm>
          <a:prstGeom prst="line">
            <a:avLst/>
          </a:prstGeom>
          <a:noFill/>
          <a:ln w="25400">
            <a:solidFill>
              <a:schemeClr val="accent1"/>
            </a:solidFill>
            <a:prstDash val="solid"/>
            <a:tailEnd type="triangle"/>
          </a:ln>
        </p:spPr>
      </p:sp>
      <p:sp>
        <p:nvSpPr>
          <p:cNvPr id="23" name="arrow49"/>
          <p:cNvSpPr/>
          <p:nvPr/>
        </p:nvSpPr>
        <p:spPr>
          <a:xfrm>
            <a:off x="4709160" y="4572000"/>
            <a:ext cx="1188720" cy="914"/>
          </a:xfrm>
          <a:prstGeom prst="line">
            <a:avLst/>
          </a:prstGeom>
          <a:noFill/>
          <a:ln w="25400">
            <a:solidFill>
              <a:schemeClr val="accent1"/>
            </a:solidFill>
            <a:prstDash val="solid"/>
            <a:tailEnd type="triangle"/>
          </a:ln>
        </p:spPr>
      </p:sp>
      <p:sp>
        <p:nvSpPr>
          <p:cNvPr id="24" name="arrow50"/>
          <p:cNvSpPr/>
          <p:nvPr/>
        </p:nvSpPr>
        <p:spPr>
          <a:xfrm>
            <a:off x="7315200" y="4572000"/>
            <a:ext cx="1188720" cy="914"/>
          </a:xfrm>
          <a:prstGeom prst="line">
            <a:avLst/>
          </a:prstGeom>
          <a:noFill/>
          <a:ln w="25400">
            <a:solidFill>
              <a:schemeClr val="accent1"/>
            </a:solidFill>
            <a:prstDash val="solid"/>
            <a:tailEnd type="triangle"/>
          </a:ln>
        </p:spPr>
      </p:sp>
      <p:sp>
        <p:nvSpPr>
          <p:cNvPr id="25" name="text51"/>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52"/>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53"/>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54"/>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55"/>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56"/>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57"/>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58"/>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pic>
        <p:nvPicPr>
          <p:cNvPr id="34" name="stripIcon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5" name="strip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Path query over ds000030 nidm_phenotypes.ttl: record → bis_parcel1; wasGeneratedBy → session → qualifiedAssociation/agent → participant: 272 rows</a:t>
            </a:r>
            <a:endParaRPr lang="en-US" sz="1200" dirty="0"/>
          </a:p>
        </p:txBody>
      </p:sp>
      <p:sp>
        <p:nvSpPr>
          <p:cNvPr id="36" name="tagDot3"/>
          <p:cNvSpPr/>
          <p:nvPr/>
        </p:nvSpPr>
        <p:spPr>
          <a:xfrm>
            <a:off x="9326880" y="82296"/>
            <a:ext cx="128016" cy="128016"/>
          </a:xfrm>
          <a:prstGeom prst="ellipse">
            <a:avLst/>
          </a:prstGeom>
          <a:solidFill>
            <a:schemeClr val="accent1"/>
          </a:solidFill>
          <a:ln/>
        </p:spPr>
      </p:sp>
      <p:sp>
        <p:nvSpPr>
          <p:cNvPr id="37" name="tag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8" name="badge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3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41" name="data3"/>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2" name="badge3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59"/>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60"/>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61"/>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62"/>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63"/>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64"/>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65"/>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66"/>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67"/>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68"/>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69"/>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70"/>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71"/>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72"/>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70.2% accuracy, UCLA cohort, leave-one-participant-out</a:t>
            </a:r>
            <a:endParaRPr lang="en-US" sz="1800" dirty="0"/>
          </a:p>
        </p:txBody>
      </p:sp>
      <p:sp>
        <p:nvSpPr>
          <p:cNvPr id="17" name="shape73"/>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74"/>
          <p:cNvSpPr/>
          <p:nvPr/>
        </p:nvSpPr>
        <p:spPr>
          <a:xfrm>
            <a:off x="5193792" y="2240280"/>
            <a:ext cx="1783080" cy="3566160"/>
          </a:xfrm>
          <a:prstGeom prst="ellipse">
            <a:avLst/>
          </a:prstGeom>
          <a:solidFill>
            <a:schemeClr val="tx2"/>
          </a:solidFill>
          <a:ln/>
        </p:spPr>
      </p:sp>
      <p:sp>
        <p:nvSpPr>
          <p:cNvPr id="19" name="text75"/>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76"/>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77"/>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78"/>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pic>
        <p:nvPicPr>
          <p:cNvPr id="24" name="stripIcon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5" name="strip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Dataset side: ds000030 graph and ABIDE graph/core · publication side: claims_and_questions.ttl, literature_kg.ttl (17 / 74 reconstructible)</a:t>
            </a:r>
            <a:endParaRPr lang="en-US" sz="1200" dirty="0"/>
          </a:p>
        </p:txBody>
      </p:sp>
      <p:sp>
        <p:nvSpPr>
          <p:cNvPr id="26" name="tagDot4"/>
          <p:cNvSpPr/>
          <p:nvPr/>
        </p:nvSpPr>
        <p:spPr>
          <a:xfrm>
            <a:off x="9326880" y="82296"/>
            <a:ext cx="128016" cy="128016"/>
          </a:xfrm>
          <a:prstGeom prst="ellipse">
            <a:avLst/>
          </a:prstGeom>
          <a:solidFill>
            <a:schemeClr val="accent1"/>
          </a:solidFill>
          <a:ln/>
        </p:spPr>
      </p:sp>
      <p:sp>
        <p:nvSpPr>
          <p:cNvPr id="27" name="tag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8" name="badge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9" name="badge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0" name="badge4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1" name="data4"/>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2" name="badge4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79"/>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80"/>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81"/>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82"/>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83"/>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84"/>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85"/>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86"/>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87"/>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88"/>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89"/>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90"/>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91"/>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92"/>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93"/>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94"/>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95"/>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96"/>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97"/>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98"/>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99"/>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00"/>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01"/>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02"/>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03"/>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04"/>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05"/>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06"/>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07"/>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08"/>
          <p:cNvSpPr/>
          <p:nvPr/>
        </p:nvSpPr>
        <p:spPr>
          <a:xfrm>
            <a:off x="4617720" y="5833872"/>
            <a:ext cx="274320" cy="274320"/>
          </a:xfrm>
          <a:prstGeom prst="ellipse">
            <a:avLst/>
          </a:prstGeom>
          <a:solidFill>
            <a:schemeClr val="accent1"/>
          </a:solidFill>
          <a:ln/>
        </p:spPr>
      </p:sp>
      <p:sp>
        <p:nvSpPr>
          <p:cNvPr id="33" name="text109"/>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10"/>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pic>
        <p:nvPicPr>
          <p:cNvPr id="36" name="stripIcon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7" name="strip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Node and edge types; teal = types used in our ds000030 and ABIDE graphs (assigned in the plan, not computed by a query)</a:t>
            </a:r>
            <a:endParaRPr lang="en-US" sz="1200" dirty="0"/>
          </a:p>
        </p:txBody>
      </p:sp>
      <p:sp>
        <p:nvSpPr>
          <p:cNvPr id="38" name="tagDot5"/>
          <p:cNvSpPr/>
          <p:nvPr/>
        </p:nvSpPr>
        <p:spPr>
          <a:xfrm>
            <a:off x="9326880" y="82296"/>
            <a:ext cx="128016" cy="128016"/>
          </a:xfrm>
          <a:prstGeom prst="ellipse">
            <a:avLst/>
          </a:prstGeom>
          <a:solidFill>
            <a:schemeClr val="accent1"/>
          </a:solidFill>
          <a:ln/>
        </p:spPr>
      </p:sp>
      <p:sp>
        <p:nvSpPr>
          <p:cNvPr id="39" name="tag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40" name="badge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1" name="badge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2" name="badge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3" name="badge5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11"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12"/>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113"/>
          <p:cNvSpPr/>
          <p:nvPr/>
        </p:nvSpPr>
        <p:spPr>
          <a:xfrm>
            <a:off x="8686800" y="1920240"/>
            <a:ext cx="310896" cy="310896"/>
          </a:xfrm>
          <a:prstGeom prst="ellipse">
            <a:avLst/>
          </a:prstGeom>
          <a:solidFill>
            <a:schemeClr val="accent1"/>
          </a:solidFill>
          <a:ln/>
        </p:spPr>
      </p:sp>
      <p:sp>
        <p:nvSpPr>
          <p:cNvPr id="6" name="text114"/>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15"/>
          <p:cNvSpPr/>
          <p:nvPr/>
        </p:nvSpPr>
        <p:spPr>
          <a:xfrm>
            <a:off x="8686800" y="2487168"/>
            <a:ext cx="310896" cy="310896"/>
          </a:xfrm>
          <a:prstGeom prst="ellipse">
            <a:avLst/>
          </a:prstGeom>
          <a:solidFill>
            <a:schemeClr val="tx2"/>
          </a:solidFill>
          <a:ln/>
        </p:spPr>
      </p:sp>
      <p:sp>
        <p:nvSpPr>
          <p:cNvPr id="8" name="text116"/>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17"/>
          <p:cNvSpPr/>
          <p:nvPr/>
        </p:nvSpPr>
        <p:spPr>
          <a:xfrm>
            <a:off x="8686800" y="3054096"/>
            <a:ext cx="310896" cy="310896"/>
          </a:xfrm>
          <a:prstGeom prst="ellipse">
            <a:avLst/>
          </a:prstGeom>
          <a:solidFill>
            <a:schemeClr val="accent3"/>
          </a:solidFill>
          <a:ln/>
        </p:spPr>
      </p:sp>
      <p:sp>
        <p:nvSpPr>
          <p:cNvPr id="10" name="text118"/>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19"/>
          <p:cNvSpPr/>
          <p:nvPr/>
        </p:nvSpPr>
        <p:spPr>
          <a:xfrm>
            <a:off x="8686800" y="3621024"/>
            <a:ext cx="310896" cy="310896"/>
          </a:xfrm>
          <a:prstGeom prst="ellipse">
            <a:avLst/>
          </a:prstGeom>
          <a:solidFill>
            <a:schemeClr val="accent2"/>
          </a:solidFill>
          <a:ln/>
        </p:spPr>
      </p:sp>
      <p:sp>
        <p:nvSpPr>
          <p:cNvPr id="12" name="text120"/>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21"/>
          <p:cNvSpPr/>
          <p:nvPr/>
        </p:nvSpPr>
        <p:spPr>
          <a:xfrm>
            <a:off x="8686800" y="4187952"/>
            <a:ext cx="310896" cy="310896"/>
          </a:xfrm>
          <a:prstGeom prst="ellipse">
            <a:avLst/>
          </a:prstGeom>
          <a:solidFill>
            <a:srgbClr val="8EA4AE"/>
          </a:solidFill>
          <a:ln/>
        </p:spPr>
      </p:sp>
      <p:sp>
        <p:nvSpPr>
          <p:cNvPr id="14" name="text122"/>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23"/>
          <p:cNvSpPr/>
          <p:nvPr/>
        </p:nvSpPr>
        <p:spPr>
          <a:xfrm>
            <a:off x="8686800" y="4754880"/>
            <a:ext cx="310896" cy="310896"/>
          </a:xfrm>
          <a:prstGeom prst="ellipse">
            <a:avLst/>
          </a:prstGeom>
          <a:solidFill>
            <a:srgbClr val="5FA8A9"/>
          </a:solidFill>
          <a:ln/>
        </p:spPr>
      </p:sp>
      <p:sp>
        <p:nvSpPr>
          <p:cNvPr id="16" name="text124"/>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25"/>
          <p:cNvSpPr/>
          <p:nvPr/>
        </p:nvSpPr>
        <p:spPr>
          <a:xfrm>
            <a:off x="8686800" y="5321808"/>
            <a:ext cx="310896" cy="310896"/>
          </a:xfrm>
          <a:prstGeom prst="ellipse">
            <a:avLst/>
          </a:prstGeom>
          <a:solidFill>
            <a:srgbClr val="D98C6A"/>
          </a:solidFill>
          <a:ln/>
        </p:spPr>
      </p:sp>
      <p:sp>
        <p:nvSpPr>
          <p:cNvPr id="18" name="text126"/>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27"/>
          <p:cNvSpPr/>
          <p:nvPr/>
        </p:nvSpPr>
        <p:spPr>
          <a:xfrm>
            <a:off x="8686800" y="5888736"/>
            <a:ext cx="310896" cy="310896"/>
          </a:xfrm>
          <a:prstGeom prst="ellipse">
            <a:avLst/>
          </a:prstGeom>
          <a:solidFill>
            <a:srgbClr val="2F5D6E"/>
          </a:solidFill>
          <a:ln/>
        </p:spPr>
      </p:sp>
      <p:sp>
        <p:nvSpPr>
          <p:cNvPr id="20" name="text128"/>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pic>
        <p:nvPicPr>
          <p:cNvPr id="22" name="stripIcon6"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23" name="strip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13 SPARQL queries (queries/Q13_*.rq) over graph/core, scope, view/volumes → 239 triples → figure: code/participant_ego.py</a:t>
            </a:r>
            <a:endParaRPr lang="en-US" sz="1200" dirty="0"/>
          </a:p>
        </p:txBody>
      </p:sp>
      <p:sp>
        <p:nvSpPr>
          <p:cNvPr id="24" name="tagDot6"/>
          <p:cNvSpPr/>
          <p:nvPr/>
        </p:nvSpPr>
        <p:spPr>
          <a:xfrm>
            <a:off x="9326880" y="82296"/>
            <a:ext cx="128016" cy="128016"/>
          </a:xfrm>
          <a:prstGeom prst="ellipse">
            <a:avLst/>
          </a:prstGeom>
          <a:solidFill>
            <a:schemeClr val="accent1"/>
          </a:solidFill>
          <a:ln/>
        </p:spPr>
      </p:sp>
      <p:sp>
        <p:nvSpPr>
          <p:cNvPr id="25" name="tag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6" name="badge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8" name="badge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29"/>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(Kim et al. 2023)</a:t>
            </a:r>
            <a:endParaRPr lang="en-US" sz="1800" dirty="0"/>
          </a:p>
          <a:p>
            <a:pPr algn="ctr" indent="0" marL="0">
              <a:buNone/>
            </a:pPr>
            <a:r>
              <a:rPr lang="en-US" sz="1800" dirty="0">
                <a:solidFill>
                  <a:schemeClr val="tx1"/>
                </a:solidFill>
              </a:rPr>
              <a:t>Which direction of connectivity change is associated with schizophrenia?</a:t>
            </a:r>
            <a:endParaRPr lang="en-US" sz="1800" dirty="0"/>
          </a:p>
        </p:txBody>
      </p:sp>
      <p:sp>
        <p:nvSpPr>
          <p:cNvPr id="4" name="shape130"/>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70.2% accuracy (UCLA, leave one participant out)</a:t>
            </a:r>
            <a:endParaRPr lang="en-US" sz="1800" dirty="0"/>
          </a:p>
        </p:txBody>
      </p:sp>
      <p:sp>
        <p:nvSpPr>
          <p:cNvPr id="5" name="shape131"/>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Evaluation</a:t>
            </a:r>
            <a:endParaRPr lang="en-US" sz="1800" dirty="0"/>
          </a:p>
          <a:p>
            <a:pPr algn="ctr" indent="0" marL="0">
              <a:buNone/>
            </a:pPr>
            <a:r>
              <a:rPr lang="en-US" sz="1800" dirty="0">
                <a:solidFill>
                  <a:schemeClr val="tx1"/>
                </a:solidFill>
              </a:rPr>
              <a:t>UCLA cohort, leave one participant out, linear classifier</a:t>
            </a:r>
            <a:endParaRPr lang="en-US" sz="1800" dirty="0"/>
          </a:p>
        </p:txBody>
      </p:sp>
      <p:sp>
        <p:nvSpPr>
          <p:cNvPr id="6" name="shape132"/>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people, as reported</a:t>
            </a:r>
            <a:endParaRPr lang="en-US" sz="1800" dirty="0"/>
          </a:p>
        </p:txBody>
      </p:sp>
      <p:sp>
        <p:nvSpPr>
          <p:cNvPr id="7" name="curve133"/>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8" name="curve134"/>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9" name="curve135"/>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0" name="shape136"/>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1" name="curve137"/>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2" name="curve138"/>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3" name="shape139"/>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4" name="text140"/>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Missing link: </a:t>
            </a:r>
            <a:pPr indent="0" marL="0">
              <a:buNone/>
            </a:pPr>
            <a:r>
              <a:rPr lang="en-US" sz="1800" dirty="0">
                <a:solidFill>
                  <a:schemeClr val="tx1"/>
                </a:solidFill>
              </a:rPr>
              <a:t>which 94 participants, and how each file was processed</a:t>
            </a:r>
            <a:endParaRPr lang="en-US" sz="1800" dirty="0"/>
          </a:p>
        </p:txBody>
      </p:sp>
      <p:pic>
        <p:nvPicPr>
          <p:cNvPr id="16" name="stripIcon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ds000030 claims_and_questions.ttl: question → claim → evaluation → cohort; the cohort's membershipStatus is recorded as “not reconstructed”</a:t>
            </a:r>
            <a:endParaRPr lang="en-US" sz="1200" dirty="0"/>
          </a:p>
        </p:txBody>
      </p:sp>
      <p:sp>
        <p:nvSpPr>
          <p:cNvPr id="18" name="tagDot7"/>
          <p:cNvSpPr/>
          <p:nvPr/>
        </p:nvSpPr>
        <p:spPr>
          <a:xfrm>
            <a:off x="9326880" y="82296"/>
            <a:ext cx="128016" cy="128016"/>
          </a:xfrm>
          <a:prstGeom prst="ellipse">
            <a:avLst/>
          </a:prstGeom>
          <a:solidFill>
            <a:schemeClr val="accent1"/>
          </a:solidFill>
          <a:ln/>
        </p:spPr>
      </p:sp>
      <p:sp>
        <p:nvSpPr>
          <p:cNvPr id="19" name="tag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0" name="badge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2" name="data7"/>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3" name="badge7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41"/>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42"/>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43"/>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44"/>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45"/>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46"/>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47"/>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pic>
        <p:nvPicPr>
          <p:cNvPr id="11" name="stripIcon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2" name="strip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Statement A is a claim record with its evidence span (claims_and_questions.ttl); B and C were written for this exercise and are not in the graph</a:t>
            </a:r>
            <a:endParaRPr lang="en-US" sz="1200" dirty="0"/>
          </a:p>
        </p:txBody>
      </p:sp>
      <p:sp>
        <p:nvSpPr>
          <p:cNvPr id="13" name="tagDot8"/>
          <p:cNvSpPr/>
          <p:nvPr/>
        </p:nvSpPr>
        <p:spPr>
          <a:xfrm>
            <a:off x="9326880" y="82296"/>
            <a:ext cx="128016" cy="128016"/>
          </a:xfrm>
          <a:prstGeom prst="ellipse">
            <a:avLst/>
          </a:prstGeom>
          <a:solidFill>
            <a:schemeClr val="accent1"/>
          </a:solidFill>
          <a:ln/>
        </p:spPr>
      </p:sp>
      <p:sp>
        <p:nvSpPr>
          <p:cNvPr id="14" name="tag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5"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8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8" name="data8"/>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9" name="badge8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48"/>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49"/>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50"/>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51"/>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52"/>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53"/>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54"/>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55"/>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56"/>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pic>
        <p:nvPicPr>
          <p:cNvPr id="13" name="stripIcon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Span and schema checks ran on the extracted records (results/skill/pilot_report.json); entailment is a human judgement, not in the graph</a:t>
            </a:r>
            <a:endParaRPr lang="en-US" sz="1200" dirty="0"/>
          </a:p>
        </p:txBody>
      </p:sp>
      <p:sp>
        <p:nvSpPr>
          <p:cNvPr id="15" name="tagDot9"/>
          <p:cNvSpPr/>
          <p:nvPr/>
        </p:nvSpPr>
        <p:spPr>
          <a:xfrm>
            <a:off x="9326880" y="82296"/>
            <a:ext cx="128016" cy="128016"/>
          </a:xfrm>
          <a:prstGeom prst="ellipse">
            <a:avLst/>
          </a:prstGeom>
          <a:solidFill>
            <a:schemeClr val="accent1"/>
          </a:solidFill>
          <a:ln/>
        </p:spPr>
      </p:sp>
      <p:sp>
        <p:nvSpPr>
          <p:cNvPr id="16" name="tag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7"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9"/>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0" name="badge9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57"/>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58"/>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59"/>
          <p:cNvSpPr/>
          <p:nvPr/>
        </p:nvSpPr>
        <p:spPr>
          <a:xfrm>
            <a:off x="4114800" y="1325880"/>
            <a:ext cx="822960" cy="822960"/>
          </a:xfrm>
          <a:prstGeom prst="ellipse">
            <a:avLst/>
          </a:prstGeom>
          <a:solidFill>
            <a:schemeClr val="tx2"/>
          </a:solidFill>
          <a:ln/>
        </p:spPr>
      </p:sp>
      <p:pic>
        <p:nvPicPr>
          <p:cNvPr id="6" name="join160"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61"/>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62"/>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63"/>
          <p:cNvSpPr/>
          <p:nvPr/>
        </p:nvSpPr>
        <p:spPr>
          <a:xfrm>
            <a:off x="4114800" y="2359152"/>
            <a:ext cx="822960" cy="822960"/>
          </a:xfrm>
          <a:prstGeom prst="ellipse">
            <a:avLst/>
          </a:prstGeom>
          <a:solidFill>
            <a:schemeClr val="tx2"/>
          </a:solidFill>
          <a:ln/>
        </p:spPr>
      </p:sp>
      <p:pic>
        <p:nvPicPr>
          <p:cNvPr id="10" name="join164"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65"/>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66"/>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167"/>
          <p:cNvSpPr/>
          <p:nvPr/>
        </p:nvSpPr>
        <p:spPr>
          <a:xfrm>
            <a:off x="4114800" y="3392424"/>
            <a:ext cx="822960" cy="822960"/>
          </a:xfrm>
          <a:prstGeom prst="ellipse">
            <a:avLst/>
          </a:prstGeom>
          <a:solidFill>
            <a:schemeClr val="tx2"/>
          </a:solidFill>
          <a:ln/>
        </p:spPr>
      </p:sp>
      <p:pic>
        <p:nvPicPr>
          <p:cNvPr id="14" name="join168"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169"/>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170"/>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171"/>
          <p:cNvSpPr/>
          <p:nvPr/>
        </p:nvSpPr>
        <p:spPr>
          <a:xfrm>
            <a:off x="4114800" y="4425696"/>
            <a:ext cx="822960" cy="822960"/>
          </a:xfrm>
          <a:prstGeom prst="ellipse">
            <a:avLst/>
          </a:prstGeom>
          <a:solidFill>
            <a:schemeClr val="accent2"/>
          </a:solidFill>
          <a:ln/>
        </p:spPr>
      </p:sp>
      <p:pic>
        <p:nvPicPr>
          <p:cNvPr id="18" name="join172"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173"/>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174"/>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175"/>
          <p:cNvSpPr/>
          <p:nvPr/>
        </p:nvSpPr>
        <p:spPr>
          <a:xfrm>
            <a:off x="4114800" y="5458968"/>
            <a:ext cx="822960" cy="822960"/>
          </a:xfrm>
          <a:prstGeom prst="ellipse">
            <a:avLst/>
          </a:prstGeom>
          <a:solidFill>
            <a:schemeClr val="tx2"/>
          </a:solidFill>
          <a:ln/>
        </p:spPr>
      </p:sp>
      <p:pic>
        <p:nvPicPr>
          <p:cNvPr id="22" name="join176"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177"/>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178"/>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179"/>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pic>
        <p:nvPicPr>
          <p:cNvPr id="27" name="stripIcon10"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8" name="strip1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queries/simple2_identity.rq over graph/link + 27 simple2 site graphs; graph/publications.ttl (Q15.rq); literature_kg.ttl; Brain Researcher via MCP, not in our store</a:t>
            </a:r>
            <a:endParaRPr lang="en-US" sz="1200" dirty="0"/>
          </a:p>
        </p:txBody>
      </p:sp>
      <p:sp>
        <p:nvSpPr>
          <p:cNvPr id="29" name="tagDot10"/>
          <p:cNvSpPr/>
          <p:nvPr/>
        </p:nvSpPr>
        <p:spPr>
          <a:xfrm>
            <a:off x="9326880" y="82296"/>
            <a:ext cx="128016" cy="128016"/>
          </a:xfrm>
          <a:prstGeom prst="ellipse">
            <a:avLst/>
          </a:prstGeom>
          <a:solidFill>
            <a:schemeClr val="tx2"/>
          </a:solidFill>
          <a:ln/>
        </p:spPr>
      </p:sp>
      <p:sp>
        <p:nvSpPr>
          <p:cNvPr id="30" name="tag1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1" name="badge1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2"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3" name="data10"/>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4" name="badge10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Harmonising graphs built by different people</a:t>
            </a:r>
            <a:endParaRPr lang="en-US" sz="3200" dirty="0"/>
          </a:p>
        </p:txBody>
      </p:sp>
      <p:sp>
        <p:nvSpPr>
          <p:cNvPr id="3" name="shape180"/>
          <p:cNvSpPr/>
          <p:nvPr/>
        </p:nvSpPr>
        <p:spPr>
          <a:xfrm>
            <a:off x="320040" y="1554480"/>
            <a:ext cx="2011680" cy="4480560"/>
          </a:xfrm>
          <a:custGeom>
            <a:avLst/>
            <a:gdLst/>
            <a:ahLst/>
            <a:cxnLst/>
            <a:rect l="l" t="t" r="r" b="b"/>
            <a:pathLst>
              <a:path w="2011680" h="4480560">
                <a:moveTo>
                  <a:pt x="1878334" y="2240280"/>
                </a:moveTo>
                <a:cubicBezTo>
                  <a:pt x="1883082" y="2693196"/>
                  <a:pt x="1865053" y="3278588"/>
                  <a:pt x="1747113" y="3625647"/>
                </a:cubicBezTo>
                <a:cubicBezTo>
                  <a:pt x="1629173" y="3972707"/>
                  <a:pt x="1373418" y="4248080"/>
                  <a:pt x="1170694" y="4322636"/>
                </a:cubicBezTo>
                <a:cubicBezTo>
                  <a:pt x="967970" y="4397193"/>
                  <a:pt x="700702" y="4304559"/>
                  <a:pt x="530769" y="4072984"/>
                </a:cubicBezTo>
                <a:cubicBezTo>
                  <a:pt x="360836" y="3841409"/>
                  <a:pt x="218230" y="3357247"/>
                  <a:pt x="151097" y="2933187"/>
                </a:cubicBezTo>
                <a:cubicBezTo>
                  <a:pt x="83963" y="2509127"/>
                  <a:pt x="61026" y="1935432"/>
                  <a:pt x="127966" y="1528622"/>
                </a:cubicBezTo>
                <a:cubicBezTo>
                  <a:pt x="194907" y="1121812"/>
                  <a:pt x="380659" y="699197"/>
                  <a:pt x="552739" y="492328"/>
                </a:cubicBezTo>
                <a:cubicBezTo>
                  <a:pt x="724818" y="285459"/>
                  <a:pt x="966129" y="218106"/>
                  <a:pt x="1160443" y="287409"/>
                </a:cubicBezTo>
                <a:cubicBezTo>
                  <a:pt x="1354758" y="356713"/>
                  <a:pt x="1598979" y="582671"/>
                  <a:pt x="1718627" y="908149"/>
                </a:cubicBezTo>
                <a:cubicBezTo>
                  <a:pt x="1838276" y="1233628"/>
                  <a:pt x="1873587" y="1787364"/>
                  <a:pt x="1878334" y="2240280"/>
                </a:cubicBezTo>
                <a:close/>
              </a:path>
            </a:pathLst>
          </a:custGeom>
          <a:solidFill>
            <a:srgbClr val="BFE0E0"/>
          </a:solidFill>
          <a:ln/>
        </p:spPr>
      </p:sp>
      <p:sp>
        <p:nvSpPr>
          <p:cNvPr id="4" name="text181"/>
          <p:cNvSpPr txBox="1"/>
          <p:nvPr/>
        </p:nvSpPr>
        <p:spPr>
          <a:xfrm>
            <a:off x="41148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Our ABIDE graph</a:t>
            </a:r>
            <a:endParaRPr lang="en-US" sz="1800" dirty="0"/>
          </a:p>
          <a:p>
            <a:pPr algn="ctr" indent="0" marL="0">
              <a:buNone/>
            </a:pPr>
            <a:r>
              <a:rPr lang="en-US" sz="1400" dirty="0">
                <a:solidFill>
                  <a:schemeClr val="accent3"/>
                </a:solidFill>
              </a:rPr>
              <a:t>contributor A</a:t>
            </a:r>
            <a:endParaRPr lang="en-US" sz="1800" dirty="0"/>
          </a:p>
        </p:txBody>
      </p:sp>
      <p:sp>
        <p:nvSpPr>
          <p:cNvPr id="5" name="shape182"/>
          <p:cNvSpPr/>
          <p:nvPr/>
        </p:nvSpPr>
        <p:spPr>
          <a:xfrm>
            <a:off x="9875520" y="1554480"/>
            <a:ext cx="2011680" cy="4480560"/>
          </a:xfrm>
          <a:custGeom>
            <a:avLst/>
            <a:gdLst/>
            <a:ahLst/>
            <a:cxnLst/>
            <a:rect l="l" t="t" r="r" b="b"/>
            <a:pathLst>
              <a:path w="2011680" h="4480560">
                <a:moveTo>
                  <a:pt x="1903618" y="2240280"/>
                </a:moveTo>
                <a:cubicBezTo>
                  <a:pt x="1909582" y="2689421"/>
                  <a:pt x="1866549" y="3270214"/>
                  <a:pt x="1744701" y="3621140"/>
                </a:cubicBezTo>
                <a:cubicBezTo>
                  <a:pt x="1622853" y="3972067"/>
                  <a:pt x="1371700" y="4282700"/>
                  <a:pt x="1172531" y="4345840"/>
                </a:cubicBezTo>
                <a:cubicBezTo>
                  <a:pt x="973363" y="4408981"/>
                  <a:pt x="726909" y="4229771"/>
                  <a:pt x="549692" y="3999985"/>
                </a:cubicBezTo>
                <a:cubicBezTo>
                  <a:pt x="372475" y="3770199"/>
                  <a:pt x="171697" y="3372678"/>
                  <a:pt x="109232" y="2967125"/>
                </a:cubicBezTo>
                <a:cubicBezTo>
                  <a:pt x="46766" y="2561572"/>
                  <a:pt x="104625" y="1993199"/>
                  <a:pt x="174897" y="1566667"/>
                </a:cubicBezTo>
                <a:cubicBezTo>
                  <a:pt x="245168" y="1140134"/>
                  <a:pt x="366537" y="621975"/>
                  <a:pt x="530861" y="407930"/>
                </a:cubicBezTo>
                <a:cubicBezTo>
                  <a:pt x="695185" y="193885"/>
                  <a:pt x="964497" y="196004"/>
                  <a:pt x="1160840" y="282397"/>
                </a:cubicBezTo>
                <a:cubicBezTo>
                  <a:pt x="1357183" y="368791"/>
                  <a:pt x="1585123" y="599980"/>
                  <a:pt x="1708919" y="926293"/>
                </a:cubicBezTo>
                <a:cubicBezTo>
                  <a:pt x="1832715" y="1252607"/>
                  <a:pt x="1897654" y="1791139"/>
                  <a:pt x="1903618" y="2240280"/>
                </a:cubicBezTo>
                <a:close/>
              </a:path>
            </a:pathLst>
          </a:custGeom>
          <a:solidFill>
            <a:srgbClr val="F2D4C5"/>
          </a:solidFill>
          <a:ln/>
        </p:spPr>
      </p:sp>
      <p:sp>
        <p:nvSpPr>
          <p:cNvPr id="6" name="text183"/>
          <p:cNvSpPr txBox="1"/>
          <p:nvPr/>
        </p:nvSpPr>
        <p:spPr>
          <a:xfrm>
            <a:off x="996696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ReproNim simple2</a:t>
            </a:r>
            <a:endParaRPr lang="en-US" sz="1800" dirty="0"/>
          </a:p>
          <a:p>
            <a:pPr algn="ctr" indent="0" marL="0">
              <a:buNone/>
            </a:pPr>
            <a:r>
              <a:rPr lang="en-US" sz="1400" dirty="0">
                <a:solidFill>
                  <a:schemeClr val="accent3"/>
                </a:solidFill>
              </a:rPr>
              <a:t>contributor B</a:t>
            </a:r>
            <a:endParaRPr lang="en-US" sz="1800" dirty="0"/>
          </a:p>
        </p:txBody>
      </p:sp>
      <p:sp>
        <p:nvSpPr>
          <p:cNvPr id="7" name="curve184"/>
          <p:cNvSpPr/>
          <p:nvPr/>
        </p:nvSpPr>
        <p:spPr>
          <a:xfrm>
            <a:off x="2286000" y="1691640"/>
            <a:ext cx="320040" cy="2103120"/>
          </a:xfrm>
          <a:custGeom>
            <a:avLst/>
            <a:gdLst/>
            <a:ahLst/>
            <a:cxnLst/>
            <a:rect l="l" t="t" r="r" b="b"/>
            <a:pathLst>
              <a:path w="320040" h="2103120">
                <a:moveTo>
                  <a:pt x="0" y="2103120"/>
                </a:moveTo>
                <a:cubicBezTo>
                  <a:pt x="160020" y="2103120"/>
                  <a:pt x="160020" y="0"/>
                  <a:pt x="320040" y="0"/>
                </a:cubicBezTo>
              </a:path>
            </a:pathLst>
          </a:custGeom>
          <a:ln w="19050">
            <a:solidFill>
              <a:schemeClr val="accent1"/>
            </a:solidFill>
            <a:prstDash val="solid"/>
          </a:ln>
        </p:spPr>
      </p:sp>
      <p:sp>
        <p:nvSpPr>
          <p:cNvPr id="8" name="curve185"/>
          <p:cNvSpPr/>
          <p:nvPr/>
        </p:nvSpPr>
        <p:spPr>
          <a:xfrm>
            <a:off x="9555480" y="1691640"/>
            <a:ext cx="365760" cy="2103120"/>
          </a:xfrm>
          <a:custGeom>
            <a:avLst/>
            <a:gdLst/>
            <a:ahLst/>
            <a:cxnLst/>
            <a:rect l="l" t="t" r="r" b="b"/>
            <a:pathLst>
              <a:path w="365760" h="2103120">
                <a:moveTo>
                  <a:pt x="0" y="0"/>
                </a:moveTo>
                <a:cubicBezTo>
                  <a:pt x="182880" y="0"/>
                  <a:pt x="182880" y="2103120"/>
                  <a:pt x="365760" y="2103120"/>
                </a:cubicBezTo>
              </a:path>
            </a:pathLst>
          </a:custGeom>
          <a:ln w="19050">
            <a:solidFill>
              <a:schemeClr val="accent2"/>
            </a:solidFill>
            <a:prstDash val="solid"/>
          </a:ln>
        </p:spPr>
      </p:sp>
      <p:sp>
        <p:nvSpPr>
          <p:cNvPr id="9" name="shape186"/>
          <p:cNvSpPr txBox="1"/>
          <p:nvPr/>
        </p:nvSpPr>
        <p:spPr>
          <a:xfrm>
            <a:off x="2606040" y="1298448"/>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1  Shared identifiers</a:t>
            </a:r>
            <a:endParaRPr lang="en-US" sz="1800" dirty="0"/>
          </a:p>
          <a:p>
            <a:pPr algn="l" indent="0" marL="0">
              <a:buNone/>
            </a:pPr>
            <a:r>
              <a:rPr lang="en-US" sz="1400" dirty="0">
                <a:solidFill>
                  <a:schemeClr val="tx1"/>
                </a:solidFill>
              </a:rPr>
              <a:t>dataset + version, participant ID, DOI, ORCID, RRID · Caltech, ours vs ReproNim simple2: 38 / 38 participants matched</a:t>
            </a:r>
            <a:endParaRPr lang="en-US" sz="1800" dirty="0"/>
          </a:p>
        </p:txBody>
      </p:sp>
      <p:sp>
        <p:nvSpPr>
          <p:cNvPr id="10" name="curve187"/>
          <p:cNvSpPr/>
          <p:nvPr/>
        </p:nvSpPr>
        <p:spPr>
          <a:xfrm>
            <a:off x="2286000" y="2528316"/>
            <a:ext cx="320040" cy="1266444"/>
          </a:xfrm>
          <a:custGeom>
            <a:avLst/>
            <a:gdLst/>
            <a:ahLst/>
            <a:cxnLst/>
            <a:rect l="l" t="t" r="r" b="b"/>
            <a:pathLst>
              <a:path w="320040" h="1266444">
                <a:moveTo>
                  <a:pt x="0" y="1266444"/>
                </a:moveTo>
                <a:cubicBezTo>
                  <a:pt x="160020" y="1266444"/>
                  <a:pt x="160020" y="0"/>
                  <a:pt x="320040" y="0"/>
                </a:cubicBezTo>
              </a:path>
            </a:pathLst>
          </a:custGeom>
          <a:ln w="19050">
            <a:solidFill>
              <a:schemeClr val="accent1"/>
            </a:solidFill>
            <a:prstDash val="solid"/>
          </a:ln>
        </p:spPr>
      </p:sp>
      <p:sp>
        <p:nvSpPr>
          <p:cNvPr id="11" name="curve188"/>
          <p:cNvSpPr/>
          <p:nvPr/>
        </p:nvSpPr>
        <p:spPr>
          <a:xfrm>
            <a:off x="9555480" y="2528316"/>
            <a:ext cx="365760" cy="1266444"/>
          </a:xfrm>
          <a:custGeom>
            <a:avLst/>
            <a:gdLst/>
            <a:ahLst/>
            <a:cxnLst/>
            <a:rect l="l" t="t" r="r" b="b"/>
            <a:pathLst>
              <a:path w="365760" h="1266444">
                <a:moveTo>
                  <a:pt x="0" y="0"/>
                </a:moveTo>
                <a:cubicBezTo>
                  <a:pt x="182880" y="0"/>
                  <a:pt x="182880" y="1266444"/>
                  <a:pt x="365760" y="1266444"/>
                </a:cubicBezTo>
              </a:path>
            </a:pathLst>
          </a:custGeom>
          <a:ln w="19050">
            <a:solidFill>
              <a:schemeClr val="accent2"/>
            </a:solidFill>
            <a:prstDash val="solid"/>
          </a:ln>
        </p:spPr>
      </p:sp>
      <p:sp>
        <p:nvSpPr>
          <p:cNvPr id="12" name="shape189"/>
          <p:cNvSpPr txBox="1"/>
          <p:nvPr/>
        </p:nvSpPr>
        <p:spPr>
          <a:xfrm>
            <a:off x="2606040" y="2135124"/>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2  Shared vocabularies</a:t>
            </a:r>
            <a:endParaRPr lang="en-US" sz="1800" dirty="0"/>
          </a:p>
          <a:p>
            <a:pPr algn="l" indent="0" marL="0">
              <a:buNone/>
            </a:pPr>
            <a:r>
              <a:rPr lang="en-US" sz="1400" dirty="0">
                <a:solidFill>
                  <a:schemeClr val="tx1"/>
                </a:solidFill>
              </a:rPr>
              <a:t>concept tags (InterLex, nidm-terms), UBERON regions, Cognitive Atlas tasks · Caltech: 12 concepts shared</a:t>
            </a:r>
            <a:endParaRPr lang="en-US" sz="1800" dirty="0"/>
          </a:p>
        </p:txBody>
      </p:sp>
      <p:sp>
        <p:nvSpPr>
          <p:cNvPr id="13" name="curve190"/>
          <p:cNvSpPr/>
          <p:nvPr/>
        </p:nvSpPr>
        <p:spPr>
          <a:xfrm>
            <a:off x="2286000" y="3364992"/>
            <a:ext cx="320040" cy="429768"/>
          </a:xfrm>
          <a:custGeom>
            <a:avLst/>
            <a:gdLst/>
            <a:ahLst/>
            <a:cxnLst/>
            <a:rect l="l" t="t" r="r" b="b"/>
            <a:pathLst>
              <a:path w="320040" h="429768">
                <a:moveTo>
                  <a:pt x="0" y="429768"/>
                </a:moveTo>
                <a:cubicBezTo>
                  <a:pt x="160020" y="429768"/>
                  <a:pt x="160020" y="0"/>
                  <a:pt x="320040" y="0"/>
                </a:cubicBezTo>
              </a:path>
            </a:pathLst>
          </a:custGeom>
          <a:ln w="19050">
            <a:solidFill>
              <a:schemeClr val="accent1"/>
            </a:solidFill>
            <a:prstDash val="solid"/>
          </a:ln>
        </p:spPr>
      </p:sp>
      <p:sp>
        <p:nvSpPr>
          <p:cNvPr id="14" name="curve191"/>
          <p:cNvSpPr/>
          <p:nvPr/>
        </p:nvSpPr>
        <p:spPr>
          <a:xfrm>
            <a:off x="9555480" y="3364992"/>
            <a:ext cx="365760" cy="429768"/>
          </a:xfrm>
          <a:custGeom>
            <a:avLst/>
            <a:gdLst/>
            <a:ahLst/>
            <a:cxnLst/>
            <a:rect l="l" t="t" r="r" b="b"/>
            <a:pathLst>
              <a:path w="365760" h="429768">
                <a:moveTo>
                  <a:pt x="0" y="0"/>
                </a:moveTo>
                <a:cubicBezTo>
                  <a:pt x="182880" y="0"/>
                  <a:pt x="182880" y="429768"/>
                  <a:pt x="365760" y="429768"/>
                </a:cubicBezTo>
              </a:path>
            </a:pathLst>
          </a:custGeom>
          <a:ln w="19050">
            <a:solidFill>
              <a:schemeClr val="accent2"/>
            </a:solidFill>
            <a:prstDash val="solid"/>
          </a:ln>
        </p:spPr>
      </p:sp>
      <p:sp>
        <p:nvSpPr>
          <p:cNvPr id="15" name="shape192"/>
          <p:cNvSpPr txBox="1"/>
          <p:nvPr/>
        </p:nvSpPr>
        <p:spPr>
          <a:xfrm>
            <a:off x="2606040" y="2971800"/>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3  Shared schema and validation</a:t>
            </a:r>
            <a:endParaRPr lang="en-US" sz="1800" dirty="0"/>
          </a:p>
          <a:p>
            <a:pPr algn="l" indent="0" marL="0">
              <a:buNone/>
            </a:pPr>
            <a:r>
              <a:rPr lang="en-US" sz="1400" dirty="0">
                <a:solidFill>
                  <a:schemeClr val="tx1"/>
                </a:solidFill>
              </a:rPr>
              <a:t>PyNIDM LinkML schema → SHACL rules; the same checks for every contributor</a:t>
            </a:r>
            <a:endParaRPr lang="en-US" sz="1800" dirty="0"/>
          </a:p>
        </p:txBody>
      </p:sp>
      <p:sp>
        <p:nvSpPr>
          <p:cNvPr id="16" name="curve193"/>
          <p:cNvSpPr/>
          <p:nvPr/>
        </p:nvSpPr>
        <p:spPr>
          <a:xfrm>
            <a:off x="2286000" y="3794760"/>
            <a:ext cx="320040" cy="406908"/>
          </a:xfrm>
          <a:custGeom>
            <a:avLst/>
            <a:gdLst/>
            <a:ahLst/>
            <a:cxnLst/>
            <a:rect l="l" t="t" r="r" b="b"/>
            <a:pathLst>
              <a:path w="320040" h="406908">
                <a:moveTo>
                  <a:pt x="0" y="0"/>
                </a:moveTo>
                <a:cubicBezTo>
                  <a:pt x="160020" y="0"/>
                  <a:pt x="160020" y="406908"/>
                  <a:pt x="320040" y="406908"/>
                </a:cubicBezTo>
              </a:path>
            </a:pathLst>
          </a:custGeom>
          <a:ln w="19050">
            <a:solidFill>
              <a:schemeClr val="accent1"/>
            </a:solidFill>
            <a:prstDash val="solid"/>
          </a:ln>
        </p:spPr>
      </p:sp>
      <p:sp>
        <p:nvSpPr>
          <p:cNvPr id="17" name="curve194"/>
          <p:cNvSpPr/>
          <p:nvPr/>
        </p:nvSpPr>
        <p:spPr>
          <a:xfrm>
            <a:off x="9555480" y="3794760"/>
            <a:ext cx="365760" cy="406908"/>
          </a:xfrm>
          <a:custGeom>
            <a:avLst/>
            <a:gdLst/>
            <a:ahLst/>
            <a:cxnLst/>
            <a:rect l="l" t="t" r="r" b="b"/>
            <a:pathLst>
              <a:path w="365760" h="406908">
                <a:moveTo>
                  <a:pt x="0" y="406908"/>
                </a:moveTo>
                <a:cubicBezTo>
                  <a:pt x="182880" y="406908"/>
                  <a:pt x="182880" y="0"/>
                  <a:pt x="365760" y="0"/>
                </a:cubicBezTo>
              </a:path>
            </a:pathLst>
          </a:custGeom>
          <a:ln w="19050">
            <a:solidFill>
              <a:schemeClr val="accent2"/>
            </a:solidFill>
            <a:prstDash val="solid"/>
          </a:ln>
        </p:spPr>
      </p:sp>
      <p:sp>
        <p:nvSpPr>
          <p:cNvPr id="18" name="shape195"/>
          <p:cNvSpPr txBox="1"/>
          <p:nvPr/>
        </p:nvSpPr>
        <p:spPr>
          <a:xfrm>
            <a:off x="2606040" y="3808476"/>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4  Reviewed mapping links</a:t>
            </a:r>
            <a:endParaRPr lang="en-US" sz="1800" dirty="0"/>
          </a:p>
          <a:p>
            <a:pPr algn="l" indent="0" marL="0">
              <a:buNone/>
            </a:pPr>
            <a:r>
              <a:rPr lang="en-US" sz="1400" dirty="0">
                <a:solidFill>
                  <a:schemeClr val="tx1"/>
                </a:solidFill>
              </a:rPr>
              <a:t>Caltech: 28 variables (over half ADOS, ADI-R or SRS subscores) share a source variable but not a concept → listed for review as skos:exactMatch candidates, never auto-asserted</a:t>
            </a:r>
            <a:endParaRPr lang="en-US" sz="1800" dirty="0"/>
          </a:p>
        </p:txBody>
      </p:sp>
      <p:sp>
        <p:nvSpPr>
          <p:cNvPr id="19" name="curve196"/>
          <p:cNvSpPr/>
          <p:nvPr/>
        </p:nvSpPr>
        <p:spPr>
          <a:xfrm>
            <a:off x="2286000" y="3794760"/>
            <a:ext cx="320040" cy="1243584"/>
          </a:xfrm>
          <a:custGeom>
            <a:avLst/>
            <a:gdLst/>
            <a:ahLst/>
            <a:cxnLst/>
            <a:rect l="l" t="t" r="r" b="b"/>
            <a:pathLst>
              <a:path w="320040" h="1243584">
                <a:moveTo>
                  <a:pt x="0" y="0"/>
                </a:moveTo>
                <a:cubicBezTo>
                  <a:pt x="160020" y="0"/>
                  <a:pt x="160020" y="1243584"/>
                  <a:pt x="320040" y="1243584"/>
                </a:cubicBezTo>
              </a:path>
            </a:pathLst>
          </a:custGeom>
          <a:ln w="19050">
            <a:solidFill>
              <a:schemeClr val="accent1"/>
            </a:solidFill>
            <a:prstDash val="solid"/>
          </a:ln>
        </p:spPr>
      </p:sp>
      <p:sp>
        <p:nvSpPr>
          <p:cNvPr id="20" name="curve197"/>
          <p:cNvSpPr/>
          <p:nvPr/>
        </p:nvSpPr>
        <p:spPr>
          <a:xfrm>
            <a:off x="9555480" y="3794760"/>
            <a:ext cx="365760" cy="1243584"/>
          </a:xfrm>
          <a:custGeom>
            <a:avLst/>
            <a:gdLst/>
            <a:ahLst/>
            <a:cxnLst/>
            <a:rect l="l" t="t" r="r" b="b"/>
            <a:pathLst>
              <a:path w="365760" h="1243584">
                <a:moveTo>
                  <a:pt x="0" y="1243584"/>
                </a:moveTo>
                <a:cubicBezTo>
                  <a:pt x="182880" y="1243584"/>
                  <a:pt x="182880" y="0"/>
                  <a:pt x="365760" y="0"/>
                </a:cubicBezTo>
              </a:path>
            </a:pathLst>
          </a:custGeom>
          <a:ln w="19050">
            <a:solidFill>
              <a:schemeClr val="accent2"/>
            </a:solidFill>
            <a:prstDash val="solid"/>
          </a:ln>
        </p:spPr>
      </p:sp>
      <p:sp>
        <p:nvSpPr>
          <p:cNvPr id="21" name="shape198"/>
          <p:cNvSpPr txBox="1"/>
          <p:nvPr/>
        </p:nvSpPr>
        <p:spPr>
          <a:xfrm>
            <a:off x="2606040" y="4645152"/>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5  One named graph per contributor, with PROV</a:t>
            </a:r>
            <a:endParaRPr lang="en-US" sz="1800" dirty="0"/>
          </a:p>
          <a:p>
            <a:pPr algn="l" indent="0" marL="0">
              <a:buNone/>
            </a:pPr>
            <a:r>
              <a:rPr lang="en-US" sz="1400" dirty="0">
                <a:solidFill>
                  <a:schemeClr val="tx1"/>
                </a:solidFill>
              </a:rPr>
              <a:t>Caltech: 0 of 282 participant × concept values conflict (both from the same ABIDE table) · across tools, ‘CSF’ is total CSF in FSL, ventricles in ANTs/FreeSurfer (~200×)</a:t>
            </a:r>
            <a:endParaRPr lang="en-US" sz="1800" dirty="0"/>
          </a:p>
        </p:txBody>
      </p:sp>
      <p:sp>
        <p:nvSpPr>
          <p:cNvPr id="22" name="curve199"/>
          <p:cNvSpPr/>
          <p:nvPr/>
        </p:nvSpPr>
        <p:spPr>
          <a:xfrm>
            <a:off x="2286000" y="3794760"/>
            <a:ext cx="320040" cy="2080260"/>
          </a:xfrm>
          <a:custGeom>
            <a:avLst/>
            <a:gdLst/>
            <a:ahLst/>
            <a:cxnLst/>
            <a:rect l="l" t="t" r="r" b="b"/>
            <a:pathLst>
              <a:path w="320040" h="2080260">
                <a:moveTo>
                  <a:pt x="0" y="0"/>
                </a:moveTo>
                <a:cubicBezTo>
                  <a:pt x="160020" y="0"/>
                  <a:pt x="160020" y="2080260"/>
                  <a:pt x="320040" y="2080260"/>
                </a:cubicBezTo>
              </a:path>
            </a:pathLst>
          </a:custGeom>
          <a:ln w="19050">
            <a:solidFill>
              <a:schemeClr val="accent1"/>
            </a:solidFill>
            <a:prstDash val="solid"/>
          </a:ln>
        </p:spPr>
      </p:sp>
      <p:sp>
        <p:nvSpPr>
          <p:cNvPr id="23" name="curve200"/>
          <p:cNvSpPr/>
          <p:nvPr/>
        </p:nvSpPr>
        <p:spPr>
          <a:xfrm>
            <a:off x="9555480" y="3794760"/>
            <a:ext cx="365760" cy="2080260"/>
          </a:xfrm>
          <a:custGeom>
            <a:avLst/>
            <a:gdLst/>
            <a:ahLst/>
            <a:cxnLst/>
            <a:rect l="l" t="t" r="r" b="b"/>
            <a:pathLst>
              <a:path w="365760" h="2080260">
                <a:moveTo>
                  <a:pt x="0" y="2080260"/>
                </a:moveTo>
                <a:cubicBezTo>
                  <a:pt x="182880" y="2080260"/>
                  <a:pt x="182880" y="0"/>
                  <a:pt x="365760" y="0"/>
                </a:cubicBezTo>
              </a:path>
            </a:pathLst>
          </a:custGeom>
          <a:ln w="19050">
            <a:solidFill>
              <a:schemeClr val="accent2"/>
            </a:solidFill>
            <a:prstDash val="solid"/>
          </a:ln>
        </p:spPr>
      </p:sp>
      <p:sp>
        <p:nvSpPr>
          <p:cNvPr id="24" name="shape201"/>
          <p:cNvSpPr txBox="1"/>
          <p:nvPr/>
        </p:nvSpPr>
        <p:spPr>
          <a:xfrm>
            <a:off x="2606040" y="5481828"/>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6  Federation instead of copying</a:t>
            </a:r>
            <a:endParaRPr lang="en-US" sz="1800" dirty="0"/>
          </a:p>
          <a:p>
            <a:pPr algn="l" indent="0" marL="0">
              <a:buNone/>
            </a:pPr>
            <a:r>
              <a:rPr lang="en-US" sz="1400" dirty="0">
                <a:solidFill>
                  <a:schemeClr val="tx1"/>
                </a:solidFill>
              </a:rPr>
              <a:t>Neurobagel sends the query to each pond; only permitted results return</a:t>
            </a:r>
            <a:endParaRPr lang="en-US" sz="1800" dirty="0"/>
          </a:p>
        </p:txBody>
      </p:sp>
      <p:pic>
        <p:nvPicPr>
          <p:cNvPr id="26" name="stripIcon1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7" name="strip1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Store with one named graph per source plus derived views with PROV (code/store.py); SHACL shapes code/shapes.ttl; LinkML check results/linkml_validation.json</a:t>
            </a:r>
            <a:endParaRPr lang="en-US" sz="1200" dirty="0"/>
          </a:p>
        </p:txBody>
      </p:sp>
      <p:sp>
        <p:nvSpPr>
          <p:cNvPr id="28" name="tagDot11"/>
          <p:cNvSpPr/>
          <p:nvPr/>
        </p:nvSpPr>
        <p:spPr>
          <a:xfrm>
            <a:off x="9326880" y="82296"/>
            <a:ext cx="128016" cy="128016"/>
          </a:xfrm>
          <a:prstGeom prst="ellipse">
            <a:avLst/>
          </a:prstGeom>
          <a:solidFill>
            <a:schemeClr val="tx2"/>
          </a:solidFill>
          <a:ln/>
        </p:spPr>
      </p:sp>
      <p:sp>
        <p:nvSpPr>
          <p:cNvPr id="29" name="tag1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0" name="badge1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1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11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3" name="badge11_R"/>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4" name="data11"/>
          <p:cNvSpPr txBox="1"/>
          <p:nvPr/>
        </p:nvSpPr>
        <p:spPr>
          <a:xfrm>
            <a:off x="3008376" y="6473952"/>
            <a:ext cx="814730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35" name="badge11_check"/>
          <p:cNvSpPr txBox="1"/>
          <p:nvPr/>
        </p:nvSpPr>
        <p:spPr>
          <a:xfrm>
            <a:off x="1536192"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202"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203"/>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204"/>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205"/>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206"/>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207"/>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208"/>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209"/>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210"/>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pic>
        <p:nvPicPr>
          <p:cNvPr id="13" name="stripIcon12"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14" name="strip1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 figure: code/element_coverage.py</a:t>
            </a:r>
            <a:endParaRPr lang="en-US" sz="1200" dirty="0"/>
          </a:p>
        </p:txBody>
      </p:sp>
      <p:sp>
        <p:nvSpPr>
          <p:cNvPr id="15" name="tagDot12"/>
          <p:cNvSpPr/>
          <p:nvPr/>
        </p:nvSpPr>
        <p:spPr>
          <a:xfrm>
            <a:off x="9326880" y="82296"/>
            <a:ext cx="128016" cy="128016"/>
          </a:xfrm>
          <a:prstGeom prst="ellipse">
            <a:avLst/>
          </a:prstGeom>
          <a:solidFill>
            <a:schemeClr val="tx2"/>
          </a:solidFill>
          <a:ln/>
        </p:spPr>
      </p:sp>
      <p:sp>
        <p:nvSpPr>
          <p:cNvPr id="16" name="tag1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data12"/>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9" name="badge12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211"/>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212"/>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213"/>
          <p:cNvSpPr/>
          <p:nvPr/>
        </p:nvSpPr>
        <p:spPr>
          <a:xfrm>
            <a:off x="4160520" y="2377440"/>
            <a:ext cx="3840480" cy="3154680"/>
          </a:xfrm>
          <a:prstGeom prst="ellipse">
            <a:avLst/>
          </a:prstGeom>
          <a:solidFill>
            <a:schemeClr val="accent2">
              <a:alpha val="65000"/>
            </a:schemeClr>
          </a:solidFill>
          <a:ln/>
        </p:spPr>
      </p:sp>
      <p:sp>
        <p:nvSpPr>
          <p:cNvPr id="6" name="shape214"/>
          <p:cNvSpPr/>
          <p:nvPr/>
        </p:nvSpPr>
        <p:spPr>
          <a:xfrm>
            <a:off x="4434840" y="2788920"/>
            <a:ext cx="2331720" cy="2331720"/>
          </a:xfrm>
          <a:prstGeom prst="ellipse">
            <a:avLst/>
          </a:prstGeom>
          <a:solidFill>
            <a:schemeClr val="accent1">
              <a:alpha val="75000"/>
            </a:schemeClr>
          </a:solidFill>
          <a:ln/>
        </p:spPr>
      </p:sp>
      <p:sp>
        <p:nvSpPr>
          <p:cNvPr id="7" name="text215"/>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16"/>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17"/>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18"/>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19"/>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pic>
        <p:nvPicPr>
          <p:cNvPr id="13" name="stripIcon1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Cohorts are prov:hadMember sets in graph/core (built by code/cohorts.py); overlap by queries/Q2.rq</a:t>
            </a:r>
            <a:endParaRPr lang="en-US" sz="1200" dirty="0"/>
          </a:p>
        </p:txBody>
      </p:sp>
      <p:sp>
        <p:nvSpPr>
          <p:cNvPr id="15" name="tagDot13"/>
          <p:cNvSpPr/>
          <p:nvPr/>
        </p:nvSpPr>
        <p:spPr>
          <a:xfrm>
            <a:off x="9326880" y="82296"/>
            <a:ext cx="128016" cy="128016"/>
          </a:xfrm>
          <a:prstGeom prst="ellipse">
            <a:avLst/>
          </a:prstGeom>
          <a:solidFill>
            <a:schemeClr val="tx2"/>
          </a:solidFill>
          <a:ln/>
        </p:spPr>
      </p:sp>
      <p:sp>
        <p:nvSpPr>
          <p:cNvPr id="16" name="tag1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badge1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3"/>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0" name="badge13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20"/>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21"/>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22"/>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23"/>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pic>
        <p:nvPicPr>
          <p:cNvPr id="8" name="stripIcon1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9" name="strip1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Result, claim and review nodes in graph/core (code/analyst_a.py, analyst_b.py, reviews.py); reviews read by queries/Q6.rq, Q7.rq</a:t>
            </a:r>
            <a:endParaRPr lang="en-US" sz="1200" dirty="0"/>
          </a:p>
        </p:txBody>
      </p:sp>
      <p:sp>
        <p:nvSpPr>
          <p:cNvPr id="10" name="tagDot14"/>
          <p:cNvSpPr/>
          <p:nvPr/>
        </p:nvSpPr>
        <p:spPr>
          <a:xfrm>
            <a:off x="9326880" y="82296"/>
            <a:ext cx="128016" cy="128016"/>
          </a:xfrm>
          <a:prstGeom prst="ellipse">
            <a:avLst/>
          </a:prstGeom>
          <a:solidFill>
            <a:schemeClr val="tx2"/>
          </a:solidFill>
          <a:ln/>
        </p:spPr>
      </p:sp>
      <p:sp>
        <p:nvSpPr>
          <p:cNvPr id="11" name="tag1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2"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1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14"/>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5" name="badge14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24"/>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25"/>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26"/>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27"/>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28"/>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29"/>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30"/>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31"/>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pic>
        <p:nvPicPr>
          <p:cNvPr id="12" name="stripIcon1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3" name="strip1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The motion rule is stored on each cohort definition in graph/core (ex:threshold 0.2 for v1, 0.15 for v2)</a:t>
            </a:r>
            <a:endParaRPr lang="en-US" sz="1200" dirty="0"/>
          </a:p>
        </p:txBody>
      </p:sp>
      <p:sp>
        <p:nvSpPr>
          <p:cNvPr id="14" name="tagDot15"/>
          <p:cNvSpPr/>
          <p:nvPr/>
        </p:nvSpPr>
        <p:spPr>
          <a:xfrm>
            <a:off x="9326880" y="82296"/>
            <a:ext cx="128016" cy="128016"/>
          </a:xfrm>
          <a:prstGeom prst="ellipse">
            <a:avLst/>
          </a:prstGeom>
          <a:solidFill>
            <a:schemeClr val="tx2"/>
          </a:solidFill>
          <a:ln/>
        </p:spPr>
      </p:sp>
      <p:sp>
        <p:nvSpPr>
          <p:cNvPr id="15" name="tag1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6"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7" name="data15"/>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8" name="badge15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32"/>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33"/>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34"/>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35"/>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36"/>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37"/>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38"/>
          <p:cNvSpPr/>
          <p:nvPr/>
        </p:nvSpPr>
        <p:spPr>
          <a:xfrm>
            <a:off x="-1234440" y="2697480"/>
            <a:ext cx="3474720" cy="2286000"/>
          </a:xfrm>
          <a:prstGeom prst="pie">
            <a:avLst>
              <a:gd name="adj1" fmla="val 16200000"/>
              <a:gd name="adj2" fmla="val 5400000"/>
            </a:avLst>
          </a:prstGeom>
          <a:solidFill>
            <a:schemeClr val="tx2"/>
          </a:solidFill>
          <a:ln/>
        </p:spPr>
      </p:sp>
      <p:sp>
        <p:nvSpPr>
          <p:cNvPr id="10" name="text239"/>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40"/>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41"/>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42"/>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43"/>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44"/>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45"/>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pic>
        <p:nvPicPr>
          <p:cNvPr id="18" name="stripIcon1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9" name="strip1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4 SPARQL queries (queries/revision_*.rq) over graph/core_v1 before recomputation (code/revision.py); after rerun: results/revision_impact.json</a:t>
            </a:r>
            <a:endParaRPr lang="en-US" sz="1200" dirty="0"/>
          </a:p>
        </p:txBody>
      </p:sp>
      <p:sp>
        <p:nvSpPr>
          <p:cNvPr id="20" name="tagDot16"/>
          <p:cNvSpPr/>
          <p:nvPr/>
        </p:nvSpPr>
        <p:spPr>
          <a:xfrm>
            <a:off x="9326880" y="82296"/>
            <a:ext cx="128016" cy="128016"/>
          </a:xfrm>
          <a:prstGeom prst="ellipse">
            <a:avLst/>
          </a:prstGeom>
          <a:solidFill>
            <a:schemeClr val="tx2"/>
          </a:solidFill>
          <a:ln/>
        </p:spPr>
      </p:sp>
      <p:sp>
        <p:nvSpPr>
          <p:cNvPr id="21" name="tag1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2"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3" name="data1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4" name="badge1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46"/>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47"/>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48"/>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49"/>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50"/>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51"/>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52"/>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53"/>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54"/>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55"/>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56"/>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57"/>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58"/>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59"/>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60"/>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61"/>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62"/>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pic>
        <p:nvPicPr>
          <p:cNvPr id="21" name="stripIcon1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2" name="strip1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graph/publications.ttl + publication_links_activity.ttl (queries/Q15.rq, Q15b.rq; code/publications.py); review counts from literature_kg.ttl</a:t>
            </a:r>
            <a:endParaRPr lang="en-US" sz="1200" dirty="0"/>
          </a:p>
        </p:txBody>
      </p:sp>
      <p:sp>
        <p:nvSpPr>
          <p:cNvPr id="23" name="tagDot17"/>
          <p:cNvSpPr/>
          <p:nvPr/>
        </p:nvSpPr>
        <p:spPr>
          <a:xfrm>
            <a:off x="9326880" y="82296"/>
            <a:ext cx="128016" cy="128016"/>
          </a:xfrm>
          <a:prstGeom prst="ellipse">
            <a:avLst/>
          </a:prstGeom>
          <a:solidFill>
            <a:schemeClr val="tx2"/>
          </a:solidFill>
          <a:ln/>
        </p:spPr>
      </p:sp>
      <p:sp>
        <p:nvSpPr>
          <p:cNvPr id="24" name="tag1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5"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6" name="badge1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7" name="data17"/>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(SynthScholar review, 2026-10-15)</a:t>
            </a:r>
            <a:endParaRPr lang="en-US" sz="1100" dirty="0"/>
          </a:p>
        </p:txBody>
      </p:sp>
      <p:sp>
        <p:nvSpPr>
          <p:cNvPr id="28" name="badge17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Asking Claude about the literature graph</a:t>
            </a:r>
            <a:endParaRPr lang="en-US" sz="3200" dirty="0"/>
          </a:p>
        </p:txBody>
      </p:sp>
      <p:sp>
        <p:nvSpPr>
          <p:cNvPr id="3" name="shape263"/>
          <p:cNvSpPr/>
          <p:nvPr/>
        </p:nvSpPr>
        <p:spPr>
          <a:xfrm>
            <a:off x="411480" y="1344168"/>
            <a:ext cx="420624" cy="420624"/>
          </a:xfrm>
          <a:prstGeom prst="ellipse">
            <a:avLst/>
          </a:prstGeom>
          <a:solidFill>
            <a:schemeClr val="accent1"/>
          </a:solidFill>
          <a:ln/>
        </p:spPr>
      </p:sp>
      <p:pic>
        <p:nvPicPr>
          <p:cNvPr id="4" name="litHeadIcon264" descr="preencoded.png">    </p:cNvPr>
          <p:cNvPicPr>
            <a:picLocks noChangeAspect="1"/>
          </p:cNvPicPr>
          <p:nvPr/>
        </p:nvPicPr>
        <p:blipFill>
          <a:blip r:embed="rId1"/>
          <a:stretch>
            <a:fillRect/>
          </a:stretch>
        </p:blipFill>
        <p:spPr>
          <a:xfrm>
            <a:off x="512064" y="1444752"/>
            <a:ext cx="219456" cy="219456"/>
          </a:xfrm>
          <a:prstGeom prst="rect">
            <a:avLst/>
          </a:prstGeom>
        </p:spPr>
      </p:pic>
      <p:sp>
        <p:nvSpPr>
          <p:cNvPr id="5" name="text265"/>
          <p:cNvSpPr txBox="1"/>
          <p:nvPr/>
        </p:nvSpPr>
        <p:spPr>
          <a:xfrm>
            <a:off x="923544" y="1325880"/>
            <a:ext cx="2231136" cy="457200"/>
          </a:xfrm>
          <a:prstGeom prst="rect">
            <a:avLst/>
          </a:prstGeom>
          <a:noFill/>
          <a:ln/>
        </p:spPr>
        <p:txBody>
          <a:bodyPr wrap="square" lIns="0" tIns="0" rIns="0" bIns="0" rtlCol="0" anchor="ctr"/>
          <a:lstStyle/>
          <a:p>
            <a:pPr indent="0" marL="0">
              <a:buNone/>
            </a:pPr>
            <a:r>
              <a:rPr lang="en-US" sz="1800" b="1" dirty="0">
                <a:solidFill>
                  <a:schemeClr val="tx2"/>
                </a:solidFill>
              </a:rPr>
              <a:t>Participant asks</a:t>
            </a:r>
            <a:endParaRPr lang="en-US" sz="1800" dirty="0"/>
          </a:p>
        </p:txBody>
      </p:sp>
      <p:sp>
        <p:nvSpPr>
          <p:cNvPr id="6" name="shape266"/>
          <p:cNvSpPr/>
          <p:nvPr/>
        </p:nvSpPr>
        <p:spPr>
          <a:xfrm>
            <a:off x="3337560" y="1344168"/>
            <a:ext cx="420624" cy="420624"/>
          </a:xfrm>
          <a:prstGeom prst="ellipse">
            <a:avLst/>
          </a:prstGeom>
          <a:solidFill>
            <a:schemeClr val="tx2"/>
          </a:solidFill>
          <a:ln/>
        </p:spPr>
      </p:sp>
      <p:pic>
        <p:nvPicPr>
          <p:cNvPr id="7" name="litHeadIcon267" descr="preencoded.png">    </p:cNvPr>
          <p:cNvPicPr>
            <a:picLocks noChangeAspect="1"/>
          </p:cNvPicPr>
          <p:nvPr/>
        </p:nvPicPr>
        <p:blipFill>
          <a:blip r:embed="rId2"/>
          <a:stretch>
            <a:fillRect/>
          </a:stretch>
        </p:blipFill>
        <p:spPr>
          <a:xfrm>
            <a:off x="3438144" y="1444752"/>
            <a:ext cx="219456" cy="219456"/>
          </a:xfrm>
          <a:prstGeom prst="rect">
            <a:avLst/>
          </a:prstGeom>
        </p:spPr>
      </p:pic>
      <p:sp>
        <p:nvSpPr>
          <p:cNvPr id="8" name="text268"/>
          <p:cNvSpPr txBox="1"/>
          <p:nvPr/>
        </p:nvSpPr>
        <p:spPr>
          <a:xfrm>
            <a:off x="3849624" y="1325880"/>
            <a:ext cx="3922776" cy="457200"/>
          </a:xfrm>
          <a:prstGeom prst="rect">
            <a:avLst/>
          </a:prstGeom>
          <a:noFill/>
          <a:ln/>
        </p:spPr>
        <p:txBody>
          <a:bodyPr wrap="square" lIns="0" tIns="0" rIns="0" bIns="0" rtlCol="0" anchor="ctr"/>
          <a:lstStyle/>
          <a:p>
            <a:pPr indent="0" marL="0">
              <a:buNone/>
            </a:pPr>
            <a:r>
              <a:rPr lang="en-US" sz="1800" b="1" dirty="0">
                <a:solidFill>
                  <a:schemeClr val="tx2"/>
                </a:solidFill>
              </a:rPr>
              <a:t>Claude writes and runs SPARQL</a:t>
            </a:r>
            <a:endParaRPr lang="en-US" sz="1800" dirty="0"/>
          </a:p>
        </p:txBody>
      </p:sp>
      <p:sp>
        <p:nvSpPr>
          <p:cNvPr id="9" name="shape269"/>
          <p:cNvSpPr/>
          <p:nvPr/>
        </p:nvSpPr>
        <p:spPr>
          <a:xfrm>
            <a:off x="7955280" y="1344168"/>
            <a:ext cx="420624" cy="420624"/>
          </a:xfrm>
          <a:prstGeom prst="ellipse">
            <a:avLst/>
          </a:prstGeom>
          <a:solidFill>
            <a:schemeClr val="tx2"/>
          </a:solidFill>
          <a:ln/>
        </p:spPr>
      </p:sp>
      <p:pic>
        <p:nvPicPr>
          <p:cNvPr id="10" name="litHeadIcon270" descr="preencoded.png">    </p:cNvPr>
          <p:cNvPicPr>
            <a:picLocks noChangeAspect="1"/>
          </p:cNvPicPr>
          <p:nvPr/>
        </p:nvPicPr>
        <p:blipFill>
          <a:blip r:embed="rId3"/>
          <a:stretch>
            <a:fillRect/>
          </a:stretch>
        </p:blipFill>
        <p:spPr>
          <a:xfrm>
            <a:off x="8055864" y="1444752"/>
            <a:ext cx="219456" cy="219456"/>
          </a:xfrm>
          <a:prstGeom prst="rect">
            <a:avLst/>
          </a:prstGeom>
        </p:spPr>
      </p:pic>
      <p:sp>
        <p:nvSpPr>
          <p:cNvPr id="11" name="text271"/>
          <p:cNvSpPr txBox="1"/>
          <p:nvPr/>
        </p:nvSpPr>
        <p:spPr>
          <a:xfrm>
            <a:off x="8467344" y="1325880"/>
            <a:ext cx="3328416" cy="457200"/>
          </a:xfrm>
          <a:prstGeom prst="rect">
            <a:avLst/>
          </a:prstGeom>
          <a:noFill/>
          <a:ln/>
        </p:spPr>
        <p:txBody>
          <a:bodyPr wrap="square" lIns="0" tIns="0" rIns="0" bIns="0" rtlCol="0" anchor="ctr"/>
          <a:lstStyle/>
          <a:p>
            <a:pPr indent="0" marL="0">
              <a:buNone/>
            </a:pPr>
            <a:r>
              <a:rPr lang="en-US" sz="1800" b="1" dirty="0">
                <a:solidFill>
                  <a:schemeClr val="tx2"/>
                </a:solidFill>
              </a:rPr>
              <a:t>Claude answers</a:t>
            </a:r>
            <a:endParaRPr lang="en-US" sz="1800" dirty="0"/>
          </a:p>
        </p:txBody>
      </p:sp>
      <p:sp>
        <p:nvSpPr>
          <p:cNvPr id="12" name="shape272"/>
          <p:cNvSpPr txBox="1"/>
          <p:nvPr/>
        </p:nvSpPr>
        <p:spPr>
          <a:xfrm>
            <a:off x="411480" y="1920240"/>
            <a:ext cx="2743200" cy="2880360"/>
          </a:xfrm>
          <a:prstGeom prst="wedgeRoundRectCallout">
            <a:avLst/>
          </a:prstGeom>
          <a:solidFill>
            <a:schemeClr val="accent4"/>
          </a:solidFill>
          <a:ln/>
        </p:spPr>
        <p:txBody>
          <a:bodyPr wrap="square" lIns="127000" tIns="127000" rIns="127000" bIns="127000" rtlCol="0" anchor="ctr"/>
          <a:lstStyle/>
          <a:p>
            <a:pPr algn="l" indent="0" marL="0">
              <a:buNone/>
            </a:pPr>
            <a:r>
              <a:rPr lang="en-US" sz="1800" dirty="0">
                <a:solidFill>
                  <a:schemeClr val="tx2"/>
                </a:solidFill>
              </a:rPr>
              <a:t>“Using only this graph: which studies tested their classifier by holding out whole sites, what accuracy did each report, and what verbatim quote supports it?”</a:t>
            </a:r>
            <a:endParaRPr lang="en-US" sz="1800" dirty="0"/>
          </a:p>
        </p:txBody>
      </p:sp>
      <p:sp>
        <p:nvSpPr>
          <p:cNvPr id="13" name="shape273"/>
          <p:cNvSpPr txBox="1"/>
          <p:nvPr/>
        </p:nvSpPr>
        <p:spPr>
          <a:xfrm>
            <a:off x="411480" y="5029200"/>
            <a:ext cx="2743200" cy="658368"/>
          </a:xfrm>
          <a:prstGeom prst="roundRect">
            <a:avLst>
              <a:gd name="adj" fmla="val 41667"/>
            </a:avLst>
          </a:prstGeom>
          <a:solidFill>
            <a:schemeClr val="accent5"/>
          </a:solidFill>
          <a:ln w="19050">
            <a:solidFill>
              <a:schemeClr val="accent2"/>
            </a:solidFill>
            <a:prstDash val="solid"/>
          </a:ln>
        </p:spPr>
        <p:txBody>
          <a:bodyPr wrap="square" lIns="25400" tIns="25400" rIns="25400" bIns="25400" rtlCol="0" anchor="ctr"/>
          <a:lstStyle/>
          <a:p>
            <a:pPr algn="ctr" indent="0" marL="0">
              <a:buNone/>
            </a:pPr>
            <a:r>
              <a:rPr lang="en-US" sz="2000" b="1" dirty="0">
                <a:solidFill>
                  <a:schemeClr val="accent2"/>
                </a:solidFill>
              </a:rPr>
              <a:t>88 s</a:t>
            </a:r>
            <a:endParaRPr lang="en-US" sz="1600" dirty="0"/>
          </a:p>
          <a:p>
            <a:pPr algn="ctr" indent="0" marL="0">
              <a:buNone/>
            </a:pPr>
            <a:r>
              <a:rPr lang="en-US" sz="1600" b="1" dirty="0">
                <a:solidFill>
                  <a:schemeClr val="accent2"/>
                </a:solidFill>
              </a:rPr>
              <a:t>Claude Code + pyoxigraph</a:t>
            </a:r>
            <a:endParaRPr lang="en-US" sz="1600" dirty="0"/>
          </a:p>
        </p:txBody>
      </p:sp>
      <p:sp>
        <p:nvSpPr>
          <p:cNvPr id="14" name="text274"/>
          <p:cNvSpPr txBox="1"/>
          <p:nvPr/>
        </p:nvSpPr>
        <p:spPr>
          <a:xfrm>
            <a:off x="411480" y="5760720"/>
            <a:ext cx="2743200" cy="594360"/>
          </a:xfrm>
          <a:prstGeom prst="rect">
            <a:avLst/>
          </a:prstGeom>
          <a:noFill/>
          <a:ln/>
        </p:spPr>
        <p:txBody>
          <a:bodyPr wrap="square" lIns="0" tIns="0" rIns="0" bIns="0" rtlCol="0" anchor="t"/>
          <a:lstStyle/>
          <a:p>
            <a:pPr algn="ctr" indent="0" marL="0">
              <a:buNone/>
            </a:pPr>
            <a:r>
              <a:rPr lang="en-US" sz="1400" dirty="0">
                <a:solidFill>
                  <a:schemeClr val="accent3"/>
                </a:solidFill>
              </a:rPr>
              <a:t>Headless run in a fresh folder holding only literature_kg.ttl</a:t>
            </a:r>
            <a:endParaRPr lang="en-US" sz="1400" dirty="0"/>
          </a:p>
        </p:txBody>
      </p:sp>
      <p:sp>
        <p:nvSpPr>
          <p:cNvPr id="15" name="shape275"/>
          <p:cNvSpPr/>
          <p:nvPr/>
        </p:nvSpPr>
        <p:spPr>
          <a:xfrm>
            <a:off x="3337560" y="1920240"/>
            <a:ext cx="4434840" cy="4389120"/>
          </a:xfrm>
          <a:prstGeom prst="roundRect">
            <a:avLst>
              <a:gd name="adj" fmla="val 833"/>
            </a:avLst>
          </a:prstGeom>
          <a:solidFill>
            <a:schemeClr val="tx2"/>
          </a:solidFill>
          <a:ln/>
        </p:spPr>
      </p:sp>
      <p:sp>
        <p:nvSpPr>
          <p:cNvPr id="16" name="litQuery"/>
          <p:cNvSpPr txBox="1"/>
          <p:nvPr/>
        </p:nvSpPr>
        <p:spPr>
          <a:xfrm>
            <a:off x="3456432" y="2029968"/>
            <a:ext cx="4224528" cy="4206240"/>
          </a:xfrm>
          <a:prstGeom prst="rect">
            <a:avLst/>
          </a:prstGeom>
          <a:noFill/>
          <a:ln/>
        </p:spPr>
        <p:txBody>
          <a:bodyPr wrap="square" lIns="0" tIns="0" rIns="0" bIns="0" rtlCol="0" anchor="t"/>
          <a:lstStyle/>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studies + accuracy (trimmed)</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SELECT ?id ?acc ?basis ?snippet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WHERE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 ?pub ex:reportsPerformance ?perf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?perf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UNION { ?pub a ex:Publication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OPTIONAL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?pub ex:reportsPerformance ?p2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?p2 ex:accuracyPct ?acc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ex:basis ?basis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then the verbatim quotes</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?q prov:wasQuotedFrom ?pub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prov:value ?quote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ex:sourceQuoteVerified ?verified .</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840480" cy="914400"/>
        </p:xfrm>
        <a:graphic>
          <a:graphicData uri="http://schemas.openxmlformats.org/drawingml/2006/table">
            <a:tbl>
              <a:tblPr/>
              <a:tblGrid>
                <a:gridCol w="1417320"/>
                <a:gridCol w="2423160"/>
              </a:tblGrid>
              <a:tr h="384048">
                <a:tc>
                  <a:txBody>
                    <a:bodyPr/>
                    <a:lstStyle/>
                    <a:p>
                      <a:pPr indent="0" marL="0">
                        <a:buNone/>
                      </a:pPr>
                      <a:r>
                        <a:rPr lang="en-US" sz="1600" b="1" dirty="0">
                          <a:solidFill>
                            <a:schemeClr val="bg1"/>
                          </a:solidFill>
                        </a:rPr>
                        <a:t>Study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Leave-site-out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600" dirty="0">
                          <a:solidFill>
                            <a:schemeClr val="tx1"/>
                          </a:solidFill>
                        </a:rPr>
                        <a:t>Abraham 2017</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66.8%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S-030</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56% balanced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600" dirty="0">
                          <a:solidFill>
                            <a:schemeClr val="tx1"/>
                          </a:solidFill>
                        </a:rPr>
                        <a:t>S-062</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71% ± 6%</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S-071</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73.4% (CC200 atlas)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18" name="text276"/>
          <p:cNvSpPr txBox="1"/>
          <p:nvPr/>
        </p:nvSpPr>
        <p:spPr>
          <a:xfrm>
            <a:off x="7955280" y="3931920"/>
            <a:ext cx="3840480" cy="320040"/>
          </a:xfrm>
          <a:prstGeom prst="rect">
            <a:avLst/>
          </a:prstGeom>
          <a:noFill/>
          <a:ln/>
        </p:spPr>
        <p:txBody>
          <a:bodyPr wrap="square" lIns="0" tIns="0" rIns="0" bIns="0" rtlCol="0" anchor="t"/>
          <a:lstStyle/>
          <a:p>
            <a:pPr indent="0" marL="0">
              <a:buNone/>
            </a:pPr>
            <a:r>
              <a:rPr lang="en-US" sz="1400" i="1" dirty="0">
                <a:solidFill>
                  <a:schemeClr val="accent3"/>
                </a:solidFill>
              </a:rPr>
              <a:t>Also in its table: S-072 ~62%; S-022 with no value</a:t>
            </a:r>
            <a:endParaRPr lang="en-US" sz="1400" dirty="0"/>
          </a:p>
        </p:txBody>
      </p:sp>
      <p:sp>
        <p:nvSpPr>
          <p:cNvPr id="19" name="shape277"/>
          <p:cNvSpPr/>
          <p:nvPr/>
        </p:nvSpPr>
        <p:spPr>
          <a:xfrm>
            <a:off x="7955280" y="4343400"/>
            <a:ext cx="3840480" cy="1965960"/>
          </a:xfrm>
          <a:prstGeom prst="roundRect">
            <a:avLst>
              <a:gd name="adj" fmla="val 4651"/>
            </a:avLst>
          </a:prstGeom>
          <a:solidFill>
            <a:schemeClr val="accent5"/>
          </a:solidFill>
          <a:ln w="19050">
            <a:solidFill>
              <a:schemeClr val="accent2"/>
            </a:solidFill>
            <a:prstDash val="solid"/>
          </a:ln>
        </p:spPr>
      </p:sp>
      <p:sp>
        <p:nvSpPr>
          <p:cNvPr id="20" name="text278"/>
          <p:cNvSpPr txBox="1"/>
          <p:nvPr/>
        </p:nvSpPr>
        <p:spPr>
          <a:xfrm>
            <a:off x="8092440" y="4434840"/>
            <a:ext cx="3611880" cy="178308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What the graph can't tell you</a:t>
            </a:r>
            <a:endParaRPr lang="en-US" sz="1600" dirty="0"/>
          </a:p>
          <a:p>
            <a:pPr marL="342900" indent="-342900">
              <a:spcAft>
                <a:spcPts val="600"/>
              </a:spcAft>
              <a:buSzPct val="100000"/>
              <a:buChar char="•"/>
            </a:pPr>
            <a:r>
              <a:rPr lang="en-US" sz="1600" dirty="0">
                <a:solidFill>
                  <a:schemeClr val="tx1"/>
                </a:solidFill>
              </a:rPr>
              <a:t>S-022 ran the test, but the graph stores no accuracy for it</a:t>
            </a:r>
            <a:endParaRPr lang="en-US" sz="1600" dirty="0"/>
          </a:p>
          <a:p>
            <a:pPr marL="342900" indent="-342900">
              <a:spcAft>
                <a:spcPts val="600"/>
              </a:spcAft>
              <a:buSzPct val="100000"/>
              <a:buChar char="•"/>
            </a:pPr>
            <a:r>
              <a:rPr lang="en-US" sz="1600" dirty="0">
                <a:solidFill>
                  <a:schemeClr val="tx1"/>
                </a:solidFill>
              </a:rPr>
              <a:t>Quotes are tied to papers, not to a specific accuracy value</a:t>
            </a:r>
            <a:endParaRPr lang="en-US" sz="1600" dirty="0"/>
          </a:p>
        </p:txBody>
      </p:sp>
      <p:pic>
        <p:nvPicPr>
          <p:cNvPr id="22" name="stripIcon18"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23" name="strip1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literature_kg.ttl — ex:reportsPerformance, ex:evaluationScheme, ex:EvidenceQuote; query written and run by Claude Code</a:t>
            </a:r>
            <a:endParaRPr lang="en-US" sz="1200" dirty="0"/>
          </a:p>
        </p:txBody>
      </p:sp>
      <p:sp>
        <p:nvSpPr>
          <p:cNvPr id="24" name="tagDot18"/>
          <p:cNvSpPr/>
          <p:nvPr/>
        </p:nvSpPr>
        <p:spPr>
          <a:xfrm>
            <a:off x="9326880" y="82296"/>
            <a:ext cx="128016" cy="128016"/>
          </a:xfrm>
          <a:prstGeom prst="ellipse">
            <a:avLst/>
          </a:prstGeom>
          <a:solidFill>
            <a:schemeClr val="tx2"/>
          </a:solidFill>
          <a:ln/>
        </p:spPr>
      </p:sp>
      <p:sp>
        <p:nvSpPr>
          <p:cNvPr id="25" name="tag1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1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18"/>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28" name="badge18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279" descr="accuracy_by_evaluation.png">    </p:cNvPr>
          <p:cNvPicPr>
            <a:picLocks noChangeAspect="1"/>
          </p:cNvPicPr>
          <p:nvPr/>
        </p:nvPicPr>
        <p:blipFill>
          <a:blip r:embed="rId1"/>
          <a:stretch>
            <a:fillRect/>
          </a:stretch>
        </p:blipFill>
        <p:spPr>
          <a:xfrm>
            <a:off x="1531451" y="1234440"/>
            <a:ext cx="9098619" cy="5120640"/>
          </a:xfrm>
          <a:prstGeom prst="rect">
            <a:avLst/>
          </a:prstGeom>
        </p:spPr>
      </p:pic>
      <p:pic>
        <p:nvPicPr>
          <p:cNvPr id="5" name="stripIcon19"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6" name="strip1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literature_review/literature_kg.ttl (10,779 triples); phase3/s5_sparql_checks.py confirms each count → figure: phase3/s6_figures.py</a:t>
            </a:r>
            <a:endParaRPr lang="en-US" sz="1200" dirty="0"/>
          </a:p>
        </p:txBody>
      </p:sp>
      <p:sp>
        <p:nvSpPr>
          <p:cNvPr id="7" name="tagDot19"/>
          <p:cNvSpPr/>
          <p:nvPr/>
        </p:nvSpPr>
        <p:spPr>
          <a:xfrm>
            <a:off x="9326880" y="82296"/>
            <a:ext cx="128016" cy="128016"/>
          </a:xfrm>
          <a:prstGeom prst="ellipse">
            <a:avLst/>
          </a:prstGeom>
          <a:solidFill>
            <a:schemeClr val="tx2"/>
          </a:solidFill>
          <a:ln/>
        </p:spPr>
      </p:sp>
      <p:sp>
        <p:nvSpPr>
          <p:cNvPr id="8" name="tag1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9" name="badge1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0" name="badge1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1" name="data19"/>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12" name="badge19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ReproPond and ReproLake as attributes on graph records</a:t>
            </a:r>
            <a:endParaRPr lang="en-US" sz="3200" dirty="0"/>
          </a:p>
        </p:txBody>
      </p:sp>
      <p:sp>
        <p:nvSpPr>
          <p:cNvPr id="3" name="shape280"/>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281"/>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282"/>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283"/>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284"/>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286"/>
          <p:cNvSpPr/>
          <p:nvPr/>
        </p:nvSpPr>
        <p:spPr>
          <a:xfrm>
            <a:off x="777240" y="4206240"/>
            <a:ext cx="502920" cy="502920"/>
          </a:xfrm>
          <a:prstGeom prst="ellipse">
            <a:avLst/>
          </a:prstGeom>
          <a:solidFill>
            <a:schemeClr val="accent2"/>
          </a:solidFill>
          <a:ln/>
        </p:spPr>
      </p:sp>
      <p:pic>
        <p:nvPicPr>
          <p:cNvPr id="9" name="lock286"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287"/>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288"/>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289"/>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290"/>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291"/>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292"/>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293"/>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294"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295"/>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296"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297"/>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298"/>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299"/>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300"/>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301"/>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302"/>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303"/>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304"/>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305"/>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307"/>
          <p:cNvSpPr/>
          <p:nvPr/>
        </p:nvSpPr>
        <p:spPr>
          <a:xfrm>
            <a:off x="4160520" y="1234440"/>
            <a:ext cx="502920" cy="502920"/>
          </a:xfrm>
          <a:prstGeom prst="ellipse">
            <a:avLst/>
          </a:prstGeom>
          <a:solidFill>
            <a:schemeClr val="tx2"/>
          </a:solidFill>
          <a:ln/>
        </p:spPr>
      </p:sp>
      <p:pic>
        <p:nvPicPr>
          <p:cNvPr id="32" name="query307"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308"/>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309"/>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310"/>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pic>
        <p:nvPicPr>
          <p:cNvPr id="37" name="stripIcon20" descr="preencoded.png">    </p:cNvPr>
          <p:cNvPicPr>
            <a:picLocks noChangeAspect="1"/>
          </p:cNvPicPr>
          <p:nvPr/>
        </p:nvPicPr>
        <p:blipFill>
          <a:blip r:embed="rId5"/>
          <a:stretch>
            <a:fillRect/>
          </a:stretch>
        </p:blipFill>
        <p:spPr>
          <a:xfrm>
            <a:off x="548640" y="969264"/>
            <a:ext cx="182880" cy="182880"/>
          </a:xfrm>
          <a:prstGeom prst="rect">
            <a:avLst/>
          </a:prstGeom>
        </p:spPr>
      </p:pic>
      <p:sp>
        <p:nvSpPr>
          <p:cNvPr id="38" name="strip2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graph/scope.ttl: knowledgeScope and accessLevel on 83 records; consentScope, egressPermitted on 3 profiles; 48 gate assessments (Q11.rq, Q12.rq)</a:t>
            </a:r>
            <a:endParaRPr lang="en-US" sz="1200" dirty="0"/>
          </a:p>
        </p:txBody>
      </p:sp>
      <p:sp>
        <p:nvSpPr>
          <p:cNvPr id="39" name="tagDot20"/>
          <p:cNvSpPr/>
          <p:nvPr/>
        </p:nvSpPr>
        <p:spPr>
          <a:xfrm>
            <a:off x="9326880" y="82296"/>
            <a:ext cx="128016" cy="128016"/>
          </a:xfrm>
          <a:prstGeom prst="ellipse">
            <a:avLst/>
          </a:prstGeom>
          <a:solidFill>
            <a:schemeClr val="tx2"/>
          </a:solidFill>
          <a:ln/>
        </p:spPr>
      </p:sp>
      <p:sp>
        <p:nvSpPr>
          <p:cNvPr id="40" name="tag2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41" name="badge2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2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2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4" name="badge20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311"/>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312"/>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13"/>
          <p:cNvSpPr/>
          <p:nvPr/>
        </p:nvSpPr>
        <p:spPr>
          <a:xfrm>
            <a:off x="8229600" y="1645920"/>
            <a:ext cx="3566160" cy="38862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703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314"/>
          <p:cNvSpPr txBox="1"/>
          <p:nvPr/>
        </p:nvSpPr>
        <p:spPr>
          <a:xfrm>
            <a:off x="8229600" y="5669280"/>
            <a:ext cx="3566160" cy="685800"/>
          </a:xfrm>
          <a:prstGeom prst="roundRect">
            <a:avLst>
              <a:gd name="adj" fmla="val 40000"/>
            </a:avLst>
          </a:prstGeom>
          <a:solidFill>
            <a:schemeClr val="accent5"/>
          </a:solidFill>
          <a:ln w="19050">
            <a:solidFill>
              <a:schemeClr val="accent2"/>
            </a:solidFill>
            <a:prstDash val="solid"/>
          </a:ln>
        </p:spPr>
        <p:txBody>
          <a:bodyPr wrap="square" lIns="50800" tIns="50800" rIns="50800" bIns="50800" rtlCol="0" anchor="ctr"/>
          <a:lstStyle/>
          <a:p>
            <a:pPr algn="ctr" indent="0" marL="0">
              <a:buNone/>
            </a:pPr>
            <a:r>
              <a:rPr lang="en-US" sz="1600" b="1" dirty="0">
                <a:solidFill>
                  <a:schemeClr val="accent2"/>
                </a:solidFill>
              </a:rPr>
              <a:t>assistant overstated: 2 tools, not 3</a:t>
            </a:r>
            <a:endParaRPr lang="en-US" sz="1600" dirty="0"/>
          </a:p>
        </p:txBody>
      </p:sp>
      <p:pic>
        <p:nvPicPr>
          <p:cNvPr id="10" name="stripIcon2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Demo graph: abide-caltech/graph/*.ttl (phenotype, identity links, cohort, claims, provenance) loaded into Oxigraph, validated</a:t>
            </a:r>
            <a:endParaRPr lang="en-US" sz="1200" dirty="0"/>
          </a:p>
        </p:txBody>
      </p:sp>
      <p:sp>
        <p:nvSpPr>
          <p:cNvPr id="12" name="tagDot21"/>
          <p:cNvSpPr/>
          <p:nvPr/>
        </p:nvSpPr>
        <p:spPr>
          <a:xfrm>
            <a:off x="9326880" y="82296"/>
            <a:ext cx="128016" cy="128016"/>
          </a:xfrm>
          <a:prstGeom prst="ellipse">
            <a:avLst/>
          </a:prstGeom>
          <a:solidFill>
            <a:schemeClr val="accent2"/>
          </a:solidFill>
          <a:ln/>
        </p:spPr>
      </p:sp>
      <p:sp>
        <p:nvSpPr>
          <p:cNvPr id="13" name="tag2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315"/>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316"/>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17"/>
          <p:cNvSpPr/>
          <p:nvPr/>
        </p:nvSpPr>
        <p:spPr>
          <a:xfrm>
            <a:off x="8229600" y="1645920"/>
            <a:ext cx="3566160" cy="470916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45262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pic>
        <p:nvPicPr>
          <p:cNvPr id="9" name="stripIcon2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0" name="strip2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over the demo store's named graphs (urn:g:phenotype, urn:g:repronim, urn:g:cohort), as in the tested transcript</a:t>
            </a:r>
            <a:endParaRPr lang="en-US" sz="1200" dirty="0"/>
          </a:p>
        </p:txBody>
      </p:sp>
      <p:sp>
        <p:nvSpPr>
          <p:cNvPr id="11" name="tagDot22"/>
          <p:cNvSpPr/>
          <p:nvPr/>
        </p:nvSpPr>
        <p:spPr>
          <a:xfrm>
            <a:off x="9326880" y="82296"/>
            <a:ext cx="128016" cy="128016"/>
          </a:xfrm>
          <a:prstGeom prst="ellipse">
            <a:avLst/>
          </a:prstGeom>
          <a:solidFill>
            <a:schemeClr val="accent2"/>
          </a:solidFill>
          <a:ln/>
        </p:spPr>
      </p:sp>
      <p:sp>
        <p:nvSpPr>
          <p:cNvPr id="12" name="tag2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3" name="badge2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5" name="data2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6" name="badge2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lecture's own provenance graph</a:t>
            </a:r>
            <a:endParaRPr lang="en-US" sz="3200" dirty="0"/>
          </a:p>
        </p:txBody>
      </p:sp>
      <p:sp>
        <p:nvSpPr>
          <p:cNvPr id="3" name="shape318"/>
          <p:cNvSpPr txBox="1"/>
          <p:nvPr/>
        </p:nvSpPr>
        <p:spPr>
          <a:xfrm>
            <a:off x="457200" y="2057400"/>
            <a:ext cx="2103120" cy="868680"/>
          </a:xfrm>
          <a:prstGeom prst="roundRect">
            <a:avLst>
              <a:gd name="adj" fmla="val 42105"/>
            </a:avLst>
          </a:prstGeom>
          <a:solidFill>
            <a:schemeClr val="tx2"/>
          </a:solidFill>
          <a:ln/>
        </p:spPr>
        <p:txBody>
          <a:bodyPr wrap="square" lIns="50800" tIns="50800" rIns="50800" bIns="50800" rtlCol="0" anchor="ctr"/>
          <a:lstStyle/>
          <a:p>
            <a:pPr algn="ctr" indent="0" marL="0">
              <a:buNone/>
            </a:pPr>
            <a:r>
              <a:rPr lang="en-US" sz="1500" b="1" dirty="0">
                <a:solidFill>
                  <a:schemeClr val="bg1"/>
                </a:solidFill>
              </a:rPr>
              <a:t>a slide</a:t>
            </a:r>
            <a:endParaRPr lang="en-US" sz="1800" dirty="0"/>
          </a:p>
          <a:p>
            <a:pPr algn="ctr" indent="0" marL="0">
              <a:buNone/>
            </a:pPr>
            <a:r>
              <a:rPr lang="en-US" sz="1200" dirty="0">
                <a:solidFill>
                  <a:schemeClr val="accent4"/>
                </a:solidFill>
              </a:rPr>
              <a:t>“Joining graphs …”</a:t>
            </a:r>
            <a:endParaRPr lang="en-US" sz="1800" dirty="0"/>
          </a:p>
        </p:txBody>
      </p:sp>
      <p:sp>
        <p:nvSpPr>
          <p:cNvPr id="4" name="shape319"/>
          <p:cNvSpPr txBox="1"/>
          <p:nvPr/>
        </p:nvSpPr>
        <p:spPr>
          <a:xfrm>
            <a:off x="3291840" y="1481328"/>
            <a:ext cx="237744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production activity</a:t>
            </a:r>
            <a:endParaRPr lang="en-US" sz="1800" dirty="0"/>
          </a:p>
          <a:p>
            <a:pPr algn="ctr" indent="0" marL="0">
              <a:buNone/>
            </a:pPr>
            <a:r>
              <a:rPr lang="en-US" sz="1200" dirty="0">
                <a:solidFill>
                  <a:schemeClr val="accent3"/>
                </a:solidFill>
              </a:rPr>
              <a:t>A: agent ran code</a:t>
            </a:r>
            <a:endParaRPr lang="en-US" sz="1800" dirty="0"/>
          </a:p>
        </p:txBody>
      </p:sp>
      <p:sp>
        <p:nvSpPr>
          <p:cNvPr id="5" name="shape320"/>
          <p:cNvSpPr txBox="1"/>
          <p:nvPr/>
        </p:nvSpPr>
        <p:spPr>
          <a:xfrm>
            <a:off x="6080760" y="1481328"/>
            <a:ext cx="196596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agent</a:t>
            </a:r>
            <a:endParaRPr lang="en-US" sz="1800" dirty="0"/>
          </a:p>
          <a:p>
            <a:pPr algn="ctr" indent="0" marL="0">
              <a:buNone/>
            </a:pPr>
            <a:r>
              <a:rPr lang="en-US" sz="1200" dirty="0">
                <a:solidFill>
                  <a:schemeClr val="accent3"/>
                </a:solidFill>
              </a:rPr>
              <a:t>coding agent</a:t>
            </a:r>
            <a:endParaRPr lang="en-US" sz="1800" dirty="0"/>
          </a:p>
        </p:txBody>
      </p:sp>
      <p:sp>
        <p:nvSpPr>
          <p:cNvPr id="6" name="shape321"/>
          <p:cNvSpPr txBox="1"/>
          <p:nvPr/>
        </p:nvSpPr>
        <p:spPr>
          <a:xfrm>
            <a:off x="3291840" y="2331720"/>
            <a:ext cx="237744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results/simple2.json</a:t>
            </a:r>
            <a:endParaRPr lang="en-US" sz="1800" dirty="0"/>
          </a:p>
          <a:p>
            <a:pPr algn="ctr" indent="0" marL="0">
              <a:buNone/>
            </a:pPr>
            <a:r>
              <a:rPr lang="en-US" sz="1200" dirty="0">
                <a:solidFill>
                  <a:schemeClr val="accent3"/>
                </a:solidFill>
              </a:rPr>
              <a:t>a result file</a:t>
            </a:r>
            <a:endParaRPr lang="en-US" sz="1800" dirty="0"/>
          </a:p>
        </p:txBody>
      </p:sp>
      <p:sp>
        <p:nvSpPr>
          <p:cNvPr id="7" name="shape322"/>
          <p:cNvSpPr txBox="1"/>
          <p:nvPr/>
        </p:nvSpPr>
        <p:spPr>
          <a:xfrm>
            <a:off x="3291840" y="3337560"/>
            <a:ext cx="2377440" cy="777240"/>
          </a:xfrm>
          <a:prstGeom prst="roundRect">
            <a:avLst>
              <a:gd name="adj" fmla="val 47059"/>
            </a:avLst>
          </a:prstGeom>
          <a:solidFill>
            <a:schemeClr val="accent5"/>
          </a:solidFill>
          <a:ln/>
        </p:spPr>
        <p:txBody>
          <a:bodyPr wrap="square" lIns="50800" tIns="50800" rIns="50800" bIns="50800" rtlCol="0" anchor="ctr"/>
          <a:lstStyle/>
          <a:p>
            <a:pPr algn="ctr" indent="0" marL="0">
              <a:buNone/>
            </a:pPr>
            <a:r>
              <a:rPr lang="en-US" sz="1500" b="1" dirty="0">
                <a:solidFill>
                  <a:schemeClr val="tx2"/>
                </a:solidFill>
              </a:rPr>
              <a:t>assessment</a:t>
            </a:r>
            <a:endParaRPr lang="en-US" sz="1800" dirty="0"/>
          </a:p>
          <a:p>
            <a:pPr algn="ctr" indent="0" marL="0">
              <a:buNone/>
            </a:pPr>
            <a:r>
              <a:rPr lang="en-US" sz="1200" dirty="0">
                <a:solidFill>
                  <a:schemeClr val="accent3"/>
                </a:solidFill>
              </a:rPr>
              <a:t>re-run · validated</a:t>
            </a:r>
            <a:endParaRPr lang="en-US" sz="1800" dirty="0"/>
          </a:p>
        </p:txBody>
      </p:sp>
      <p:sp>
        <p:nvSpPr>
          <p:cNvPr id="8" name="shape323"/>
          <p:cNvSpPr txBox="1"/>
          <p:nvPr/>
        </p:nvSpPr>
        <p:spPr>
          <a:xfrm>
            <a:off x="5989320" y="3337560"/>
            <a:ext cx="210312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clean_room_verify</a:t>
            </a:r>
            <a:endParaRPr lang="en-US" sz="1800" dirty="0"/>
          </a:p>
          <a:p>
            <a:pPr algn="ctr" indent="0" marL="0">
              <a:buNone/>
            </a:pPr>
            <a:r>
              <a:rPr lang="en-US" sz="1200" dirty="0">
                <a:solidFill>
                  <a:schemeClr val="accent3"/>
                </a:solidFill>
              </a:rPr>
              <a:t>evidence (.json)</a:t>
            </a:r>
            <a:endParaRPr lang="en-US" sz="1800" dirty="0"/>
          </a:p>
        </p:txBody>
      </p:sp>
      <p:sp>
        <p:nvSpPr>
          <p:cNvPr id="9" name="curve324"/>
          <p:cNvSpPr/>
          <p:nvPr/>
        </p:nvSpPr>
        <p:spPr>
          <a:xfrm>
            <a:off x="2560320" y="1828800"/>
            <a:ext cx="731520" cy="457200"/>
          </a:xfrm>
          <a:custGeom>
            <a:avLst/>
            <a:gdLst/>
            <a:ahLst/>
            <a:cxnLst/>
            <a:rect l="l" t="t" r="r" b="b"/>
            <a:pathLst>
              <a:path w="731520" h="457200">
                <a:moveTo>
                  <a:pt x="0" y="457200"/>
                </a:moveTo>
                <a:cubicBezTo>
                  <a:pt x="365760" y="457200"/>
                  <a:pt x="365760" y="0"/>
                  <a:pt x="731520" y="0"/>
                </a:cubicBezTo>
              </a:path>
            </a:pathLst>
          </a:custGeom>
          <a:ln w="25400">
            <a:solidFill>
              <a:schemeClr val="accent1"/>
            </a:solidFill>
            <a:prstDash val="solid"/>
            <a:tailEnd type="triangle"/>
          </a:ln>
        </p:spPr>
      </p:sp>
      <p:sp>
        <p:nvSpPr>
          <p:cNvPr id="10" name="text325"/>
          <p:cNvSpPr txBox="1"/>
          <p:nvPr/>
        </p:nvSpPr>
        <p:spPr>
          <a:xfrm>
            <a:off x="2011680" y="1600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wasGeneratedBy</a:t>
            </a:r>
            <a:endParaRPr lang="en-US" sz="1200" dirty="0"/>
          </a:p>
        </p:txBody>
      </p:sp>
      <p:sp>
        <p:nvSpPr>
          <p:cNvPr id="11" name="arrow326"/>
          <p:cNvSpPr/>
          <p:nvPr/>
        </p:nvSpPr>
        <p:spPr>
          <a:xfrm>
            <a:off x="5669280" y="1837944"/>
            <a:ext cx="411480" cy="914"/>
          </a:xfrm>
          <a:prstGeom prst="line">
            <a:avLst/>
          </a:prstGeom>
          <a:noFill/>
          <a:ln w="25400">
            <a:solidFill>
              <a:schemeClr val="accent1"/>
            </a:solidFill>
            <a:prstDash val="solid"/>
            <a:tailEnd type="triangle"/>
          </a:ln>
        </p:spPr>
      </p:sp>
      <p:sp>
        <p:nvSpPr>
          <p:cNvPr id="12" name="text327"/>
          <p:cNvSpPr txBox="1"/>
          <p:nvPr/>
        </p:nvSpPr>
        <p:spPr>
          <a:xfrm>
            <a:off x="5120640" y="1243584"/>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associatedWith</a:t>
            </a:r>
            <a:endParaRPr lang="en-US" sz="1200" dirty="0"/>
          </a:p>
        </p:txBody>
      </p:sp>
      <p:sp>
        <p:nvSpPr>
          <p:cNvPr id="13" name="arrow328"/>
          <p:cNvSpPr/>
          <p:nvPr/>
        </p:nvSpPr>
        <p:spPr>
          <a:xfrm>
            <a:off x="2560320" y="2724912"/>
            <a:ext cx="731520" cy="914"/>
          </a:xfrm>
          <a:prstGeom prst="line">
            <a:avLst/>
          </a:prstGeom>
          <a:noFill/>
          <a:ln w="25400">
            <a:solidFill>
              <a:schemeClr val="accent1"/>
            </a:solidFill>
            <a:prstDash val="solid"/>
            <a:tailEnd type="triangle"/>
          </a:ln>
        </p:spPr>
      </p:sp>
      <p:sp>
        <p:nvSpPr>
          <p:cNvPr id="14" name="text329"/>
          <p:cNvSpPr txBox="1"/>
          <p:nvPr/>
        </p:nvSpPr>
        <p:spPr>
          <a:xfrm>
            <a:off x="2240280" y="2743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5" name="curve330"/>
          <p:cNvSpPr/>
          <p:nvPr/>
        </p:nvSpPr>
        <p:spPr>
          <a:xfrm>
            <a:off x="2560320" y="2788920"/>
            <a:ext cx="731520" cy="941832"/>
          </a:xfrm>
          <a:custGeom>
            <a:avLst/>
            <a:gdLst/>
            <a:ahLst/>
            <a:cxnLst/>
            <a:rect l="l" t="t" r="r" b="b"/>
            <a:pathLst>
              <a:path w="731520" h="941832">
                <a:moveTo>
                  <a:pt x="731520" y="941832"/>
                </a:moveTo>
                <a:cubicBezTo>
                  <a:pt x="365760" y="941832"/>
                  <a:pt x="365760" y="0"/>
                  <a:pt x="0" y="0"/>
                </a:cubicBezTo>
              </a:path>
            </a:pathLst>
          </a:custGeom>
          <a:ln w="25400">
            <a:solidFill>
              <a:schemeClr val="accent2"/>
            </a:solidFill>
            <a:prstDash val="solid"/>
            <a:tailEnd type="triangle"/>
          </a:ln>
        </p:spPr>
      </p:sp>
      <p:sp>
        <p:nvSpPr>
          <p:cNvPr id="16" name="text331"/>
          <p:cNvSpPr txBox="1"/>
          <p:nvPr/>
        </p:nvSpPr>
        <p:spPr>
          <a:xfrm>
            <a:off x="2103120" y="3520440"/>
            <a:ext cx="1188720" cy="274320"/>
          </a:xfrm>
          <a:prstGeom prst="rect">
            <a:avLst/>
          </a:prstGeom>
          <a:noFill/>
          <a:ln/>
        </p:spPr>
        <p:txBody>
          <a:bodyPr wrap="square" lIns="0" tIns="0" rIns="0" bIns="0" rtlCol="0" anchor="t"/>
          <a:lstStyle/>
          <a:p>
            <a:pPr algn="ctr" indent="0" marL="0">
              <a:buNone/>
            </a:pPr>
            <a:r>
              <a:rPr lang="en-US" sz="1200" i="1" dirty="0">
                <a:solidFill>
                  <a:schemeClr val="accent1"/>
                </a:solidFill>
              </a:rPr>
              <a:t>assesses</a:t>
            </a:r>
            <a:endParaRPr lang="en-US" sz="1200" dirty="0"/>
          </a:p>
        </p:txBody>
      </p:sp>
      <p:sp>
        <p:nvSpPr>
          <p:cNvPr id="17" name="arrow332"/>
          <p:cNvSpPr/>
          <p:nvPr/>
        </p:nvSpPr>
        <p:spPr>
          <a:xfrm>
            <a:off x="5669280" y="3730752"/>
            <a:ext cx="320040" cy="914"/>
          </a:xfrm>
          <a:prstGeom prst="line">
            <a:avLst/>
          </a:prstGeom>
          <a:noFill/>
          <a:ln w="25400">
            <a:solidFill>
              <a:schemeClr val="accent1"/>
            </a:solidFill>
            <a:prstDash val="solid"/>
            <a:tailEnd type="triangle"/>
          </a:ln>
        </p:spPr>
      </p:sp>
      <p:sp>
        <p:nvSpPr>
          <p:cNvPr id="18" name="text333"/>
          <p:cNvSpPr txBox="1"/>
          <p:nvPr/>
        </p:nvSpPr>
        <p:spPr>
          <a:xfrm>
            <a:off x="5120640" y="41148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9" name="shape334"/>
          <p:cNvSpPr/>
          <p:nvPr/>
        </p:nvSpPr>
        <p:spPr>
          <a:xfrm>
            <a:off x="8183880" y="1261872"/>
            <a:ext cx="3611880" cy="1024128"/>
          </a:xfrm>
          <a:prstGeom prst="roundRect">
            <a:avLst>
              <a:gd name="adj" fmla="val 4464"/>
            </a:avLst>
          </a:prstGeom>
          <a:solidFill>
            <a:schemeClr val="tx2"/>
          </a:solidFill>
          <a:ln/>
        </p:spPr>
      </p:sp>
      <p:sp>
        <p:nvSpPr>
          <p:cNvPr id="20" name="provQuery"/>
          <p:cNvSpPr txBox="1"/>
          <p:nvPr/>
        </p:nvSpPr>
        <p:spPr>
          <a:xfrm>
            <a:off x="8275320" y="1307592"/>
            <a:ext cx="3474720" cy="932688"/>
          </a:xfrm>
          <a:prstGeom prst="rect">
            <a:avLst/>
          </a:prstGeom>
          <a:noFill/>
          <a:ln/>
        </p:spPr>
        <p:txBody>
          <a:bodyPr wrap="square" lIns="0" tIns="0" rIns="0" bIns="0" rtlCol="0" anchor="t"/>
          <a:lstStyle/>
          <a:p>
            <a:pPr indent="0" marL="0">
              <a:buNone/>
            </a:pPr>
            <a:r>
              <a:rPr lang="en-US" sz="1200" dirty="0">
                <a:solidFill>
                  <a:srgbClr val="E8F1F2"/>
                </a:solidFill>
                <a:latin typeface="Courier New" pitchFamily="34" charset="0"/>
                <a:ea typeface="Courier New" pitchFamily="34" charset="-122"/>
                <a:cs typeface="Courier New" pitchFamily="34" charset="-120"/>
              </a:rPr>
              <a:t>SELECT ?status (COUNT(?slide) AS ?n)</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WHERE { ?a talk:assesses ?slide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           talk:checkingLabel ?status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GROUP BY ?status</a:t>
            </a:r>
            <a:endParaRPr lang="en-US" sz="1200" dirty="0"/>
          </a:p>
        </p:txBody>
      </p:sp>
      <p:sp>
        <p:nvSpPr>
          <p:cNvPr id="21" name="shape335"/>
          <p:cNvSpPr/>
          <p:nvPr/>
        </p:nvSpPr>
        <p:spPr>
          <a:xfrm>
            <a:off x="8183880" y="2359152"/>
            <a:ext cx="3611880" cy="1920240"/>
          </a:xfrm>
          <a:prstGeom prst="roundRect">
            <a:avLst>
              <a:gd name="adj" fmla="val 2381"/>
            </a:avLst>
          </a:prstGeom>
          <a:solidFill>
            <a:schemeClr val="bg2"/>
          </a:solidFill>
          <a:ln w="19050">
            <a:solidFill>
              <a:srgbClr val="C9D3D7"/>
            </a:solidFill>
            <a:prstDash val="solid"/>
          </a:ln>
        </p:spPr>
      </p:sp>
      <p:sp>
        <p:nvSpPr>
          <p:cNvPr id="22" name="provAnswer"/>
          <p:cNvSpPr txBox="1"/>
          <p:nvPr/>
        </p:nvSpPr>
        <p:spPr>
          <a:xfrm>
            <a:off x="8275320" y="2404872"/>
            <a:ext cx="3474720" cy="18288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15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re-run ·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5  unverified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3  re-run</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2  re-run ·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(UMAP-derived values differ slightly across machines)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 differed ≤ 0.011)</a:t>
            </a:r>
            <a:endParaRPr lang="en-US" sz="1200" dirty="0"/>
          </a:p>
        </p:txBody>
      </p:sp>
      <p:sp>
        <p:nvSpPr>
          <p:cNvPr id="23" name="text336"/>
          <p:cNvSpPr txBox="1"/>
          <p:nvPr/>
        </p:nvSpPr>
        <p:spPr>
          <a:xfrm>
            <a:off x="502920" y="4343400"/>
            <a:ext cx="5394960" cy="320040"/>
          </a:xfrm>
          <a:prstGeom prst="rect">
            <a:avLst/>
          </a:prstGeom>
          <a:noFill/>
          <a:ln/>
        </p:spPr>
        <p:txBody>
          <a:bodyPr wrap="square" lIns="0" tIns="0" rIns="0" bIns="0" rtlCol="0" anchor="t"/>
          <a:lstStyle/>
          <a:p>
            <a:pPr indent="0" marL="0">
              <a:buNone/>
            </a:pPr>
            <a:r>
              <a:rPr lang="en-US" sz="1600" b="1" dirty="0">
                <a:solidFill>
                  <a:schemeClr val="accent2"/>
                </a:solidFill>
              </a:rPr>
              <a:t>Caught by the speaker</a:t>
            </a:r>
            <a:endParaRPr lang="en-US" sz="1600" dirty="0"/>
          </a:p>
        </p:txBody>
      </p:sp>
      <p:sp>
        <p:nvSpPr>
          <p:cNvPr id="24" name="text337"/>
          <p:cNvSpPr txBox="1"/>
          <p:nvPr/>
        </p:nvSpPr>
        <p:spPr>
          <a:xfrm>
            <a:off x="6263640" y="434340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Caught by automated checks</a:t>
            </a:r>
            <a:endParaRPr lang="en-US" sz="1600" dirty="0"/>
          </a:p>
        </p:txBody>
      </p:sp>
      <p:sp>
        <p:nvSpPr>
          <p:cNvPr id="25" name="caughtSpeaker"/>
          <p:cNvSpPr txBox="1"/>
          <p:nvPr/>
        </p:nvSpPr>
        <p:spPr>
          <a:xfrm>
            <a:off x="50292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Consent wording: scoped consent, not “no consent”</a:t>
            </a:r>
            <a:endParaRPr lang="en-US" sz="1500" dirty="0"/>
          </a:p>
          <a:p>
            <a:pPr marL="342900" indent="-342900">
              <a:spcAft>
                <a:spcPts val="300"/>
              </a:spcAft>
              <a:buSzPct val="100000"/>
              <a:buChar char="•"/>
            </a:pPr>
            <a:r>
              <a:rPr lang="en-US" sz="1500" dirty="0">
                <a:solidFill>
                  <a:schemeClr val="tx1"/>
                </a:solidFill>
              </a:rPr>
              <a:t>Kim 2023 question paraphrased wrongly; fixed from source</a:t>
            </a:r>
            <a:endParaRPr lang="en-US" sz="1500" dirty="0"/>
          </a:p>
          <a:p>
            <a:pPr marL="342900" indent="-342900">
              <a:spcAft>
                <a:spcPts val="300"/>
              </a:spcAft>
              <a:buSzPct val="100000"/>
              <a:buChar char="•"/>
            </a:pPr>
            <a:r>
              <a:rPr lang="en-US" sz="1500" dirty="0">
                <a:solidFill>
                  <a:schemeClr val="tx1"/>
                </a:solidFill>
              </a:rPr>
              <a:t>AbstractAtlas links dropped, then restored</a:t>
            </a:r>
            <a:endParaRPr lang="en-US" sz="1500" dirty="0"/>
          </a:p>
          <a:p>
            <a:pPr marL="342900" indent="-342900">
              <a:spcAft>
                <a:spcPts val="300"/>
              </a:spcAft>
              <a:buSzPct val="100000"/>
              <a:buChar char="•"/>
            </a:pPr>
            <a:r>
              <a:rPr lang="en-US" sz="1500" dirty="0">
                <a:solidFill>
                  <a:schemeClr val="tx1"/>
                </a:solidFill>
              </a:rPr>
              <a:t>LLM-style footers and titles removed</a:t>
            </a:r>
            <a:endParaRPr lang="en-US" sz="1500" dirty="0"/>
          </a:p>
        </p:txBody>
      </p:sp>
      <p:sp>
        <p:nvSpPr>
          <p:cNvPr id="26" name="caughtChecks"/>
          <p:cNvSpPr txBox="1"/>
          <p:nvPr/>
        </p:nvSpPr>
        <p:spPr>
          <a:xfrm>
            <a:off x="626364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Failed ORCD job: invalid p-values</a:t>
            </a:r>
            <a:endParaRPr lang="en-US" sz="1500" dirty="0"/>
          </a:p>
          <a:p>
            <a:pPr marL="342900" indent="-342900">
              <a:spcAft>
                <a:spcPts val="300"/>
              </a:spcAft>
              <a:buSzPct val="100000"/>
              <a:buChar char="•"/>
            </a:pPr>
            <a:r>
              <a:rPr lang="en-US" sz="1500" dirty="0">
                <a:solidFill>
                  <a:schemeClr val="tx1"/>
                </a:solidFill>
              </a:rPr>
              <a:t>Clean rebuild caught a blocked download (HTTP 403)</a:t>
            </a:r>
            <a:endParaRPr lang="en-US" sz="1500" dirty="0"/>
          </a:p>
          <a:p>
            <a:pPr marL="342900" indent="-342900">
              <a:spcAft>
                <a:spcPts val="300"/>
              </a:spcAft>
              <a:buSzPct val="100000"/>
              <a:buChar char="•"/>
            </a:pPr>
            <a:r>
              <a:rPr lang="en-US" sz="1500" dirty="0">
                <a:solidFill>
                  <a:schemeClr val="tx1"/>
                </a:solidFill>
              </a:rPr>
              <a:t>Two agents reconstructed the same cohorts differently</a:t>
            </a:r>
            <a:endParaRPr lang="en-US" sz="1500" dirty="0"/>
          </a:p>
          <a:p>
            <a:pPr marL="342900" indent="-342900">
              <a:spcAft>
                <a:spcPts val="300"/>
              </a:spcAft>
              <a:buSzPct val="100000"/>
              <a:buChar char="•"/>
            </a:pPr>
            <a:r>
              <a:rPr lang="en-US" sz="1500" dirty="0">
                <a:solidFill>
                  <a:schemeClr val="tx1"/>
                </a:solidFill>
              </a:rPr>
              <a:t>UMAP values drift across machines; all else matched</a:t>
            </a:r>
            <a:endParaRPr lang="en-US" sz="1500" dirty="0"/>
          </a:p>
        </p:txBody>
      </p:sp>
      <p:pic>
        <p:nvPicPr>
          <p:cNvPr id="28" name="stripIcon2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9" name="strip2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talk_provenance.ttl, written by slides/build_deck.js; query run with pyoxigraph (slides/prov_query.py)</a:t>
            </a:r>
            <a:endParaRPr lang="en-US" sz="1200" dirty="0"/>
          </a:p>
        </p:txBody>
      </p:sp>
      <p:sp>
        <p:nvSpPr>
          <p:cNvPr id="30" name="tagDot23"/>
          <p:cNvSpPr/>
          <p:nvPr/>
        </p:nvSpPr>
        <p:spPr>
          <a:xfrm>
            <a:off x="9326880" y="82296"/>
            <a:ext cx="128016" cy="128016"/>
          </a:xfrm>
          <a:prstGeom prst="ellipse">
            <a:avLst/>
          </a:prstGeom>
          <a:solidFill>
            <a:schemeClr val="accent2"/>
          </a:solidFill>
          <a:ln/>
        </p:spPr>
      </p:sp>
      <p:sp>
        <p:nvSpPr>
          <p:cNvPr id="31" name="tag2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32" name="badge2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3"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4" name="badge23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38"/>
          <p:cNvSpPr/>
          <p:nvPr/>
        </p:nvSpPr>
        <p:spPr>
          <a:xfrm>
            <a:off x="548640" y="1298448"/>
            <a:ext cx="237744" cy="237744"/>
          </a:xfrm>
          <a:prstGeom prst="ellipse">
            <a:avLst/>
          </a:prstGeom>
          <a:solidFill>
            <a:schemeClr val="accent1"/>
          </a:solidFill>
          <a:ln/>
        </p:spPr>
      </p:sp>
      <p:sp>
        <p:nvSpPr>
          <p:cNvPr id="4" name="text339"/>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40"/>
          <p:cNvSpPr/>
          <p:nvPr/>
        </p:nvSpPr>
        <p:spPr>
          <a:xfrm>
            <a:off x="5760720" y="1298448"/>
            <a:ext cx="237744" cy="237744"/>
          </a:xfrm>
          <a:prstGeom prst="ellipse">
            <a:avLst/>
          </a:prstGeom>
          <a:solidFill>
            <a:schemeClr val="tx2"/>
          </a:solidFill>
          <a:ln/>
        </p:spPr>
      </p:sp>
      <p:sp>
        <p:nvSpPr>
          <p:cNvPr id="6" name="text341"/>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42"/>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43"/>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44"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45"/>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46"/>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47"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48"/>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49"/>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50"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51"/>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52"/>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53"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54"/>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55"/>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56"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57"/>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pic>
        <p:nvPicPr>
          <p:cNvPr id="24" name="stripIcon24"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5" name="strip2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Each practice adds a record: dataset version, cohort membership list, claim scope, derivation activity, shared identifiers</a:t>
            </a:r>
            <a:endParaRPr lang="en-US" sz="1200" dirty="0"/>
          </a:p>
        </p:txBody>
      </p:sp>
      <p:sp>
        <p:nvSpPr>
          <p:cNvPr id="26" name="tagDot24"/>
          <p:cNvSpPr/>
          <p:nvPr/>
        </p:nvSpPr>
        <p:spPr>
          <a:xfrm>
            <a:off x="9326880" y="82296"/>
            <a:ext cx="128016" cy="128016"/>
          </a:xfrm>
          <a:prstGeom prst="ellipse">
            <a:avLst/>
          </a:prstGeom>
          <a:solidFill>
            <a:schemeClr val="accent3"/>
          </a:solidFill>
          <a:ln/>
        </p:spPr>
      </p:sp>
      <p:sp>
        <p:nvSpPr>
          <p:cNvPr id="27" name="tag2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8" name="badge2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9" name="badge2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0" name="badge24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5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5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58"/>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59"/>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60"/>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61"/>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62"/>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63"/>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64"/>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6"/>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6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65"/>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66"/>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367"/>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368"/>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369"/>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370"/>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371"/>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372"/>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373"/>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374"/>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375"/>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376"/>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377"/>
          <p:cNvSpPr/>
          <p:nvPr/>
        </p:nvSpPr>
        <p:spPr>
          <a:xfrm>
            <a:off x="822960" y="6035040"/>
            <a:ext cx="10058400" cy="914"/>
          </a:xfrm>
          <a:prstGeom prst="line">
            <a:avLst/>
          </a:prstGeom>
          <a:noFill/>
          <a:ln w="25400">
            <a:solidFill>
              <a:schemeClr val="accent3"/>
            </a:solidFill>
            <a:prstDash val="solid"/>
            <a:tailEnd type="triangle"/>
          </a:ln>
        </p:spPr>
      </p:sp>
      <p:sp>
        <p:nvSpPr>
          <p:cNvPr id="16" name="text378"/>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379"/>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7"/>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7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380"/>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381"/>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382"/>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383"/>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384"/>
          <p:cNvSpPr/>
          <p:nvPr/>
        </p:nvSpPr>
        <p:spPr>
          <a:xfrm>
            <a:off x="502920" y="1188720"/>
            <a:ext cx="502920" cy="502920"/>
          </a:xfrm>
          <a:prstGeom prst="ellipse">
            <a:avLst/>
          </a:prstGeom>
          <a:solidFill>
            <a:schemeClr val="accent1"/>
          </a:solidFill>
          <a:ln/>
        </p:spPr>
      </p:sp>
      <p:pic>
        <p:nvPicPr>
          <p:cNvPr id="8" name="setIcon385"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386"/>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387"/>
          <p:cNvSpPr/>
          <p:nvPr/>
        </p:nvSpPr>
        <p:spPr>
          <a:xfrm>
            <a:off x="4480560" y="1581912"/>
            <a:ext cx="502920" cy="502920"/>
          </a:xfrm>
          <a:prstGeom prst="ellipse">
            <a:avLst/>
          </a:prstGeom>
          <a:solidFill>
            <a:schemeClr val="tx2"/>
          </a:solidFill>
          <a:ln/>
        </p:spPr>
      </p:sp>
      <p:pic>
        <p:nvPicPr>
          <p:cNvPr id="11" name="setIcon388"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389"/>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390"/>
          <p:cNvSpPr/>
          <p:nvPr/>
        </p:nvSpPr>
        <p:spPr>
          <a:xfrm>
            <a:off x="7772400" y="1856232"/>
            <a:ext cx="502920" cy="502920"/>
          </a:xfrm>
          <a:prstGeom prst="ellipse">
            <a:avLst/>
          </a:prstGeom>
          <a:solidFill>
            <a:schemeClr val="accent3"/>
          </a:solidFill>
          <a:ln/>
        </p:spPr>
      </p:sp>
      <p:pic>
        <p:nvPicPr>
          <p:cNvPr id="14" name="setIcon391"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392"/>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393"/>
          <p:cNvSpPr/>
          <p:nvPr/>
        </p:nvSpPr>
        <p:spPr>
          <a:xfrm>
            <a:off x="9921240" y="2084832"/>
            <a:ext cx="502920" cy="502920"/>
          </a:xfrm>
          <a:prstGeom prst="ellipse">
            <a:avLst/>
          </a:prstGeom>
          <a:solidFill>
            <a:schemeClr val="accent2"/>
          </a:solidFill>
          <a:ln/>
        </p:spPr>
      </p:sp>
      <p:pic>
        <p:nvPicPr>
          <p:cNvPr id="17" name="setIcon394"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395"/>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396"/>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397"/>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398"/>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399"/>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400"/>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401"/>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402"/>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403"/>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404"/>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405"/>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406"/>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07"/>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08"/>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8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09"/>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10"/>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11"/>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12"/>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13"/>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15"/>
          <p:cNvSpPr/>
          <p:nvPr/>
        </p:nvSpPr>
        <p:spPr>
          <a:xfrm>
            <a:off x="548640" y="4160520"/>
            <a:ext cx="685800" cy="685800"/>
          </a:xfrm>
          <a:prstGeom prst="ellipse">
            <a:avLst/>
          </a:prstGeom>
          <a:solidFill>
            <a:schemeClr val="accent1"/>
          </a:solidFill>
          <a:ln/>
        </p:spPr>
      </p:sp>
      <p:pic>
        <p:nvPicPr>
          <p:cNvPr id="9" name="check415"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16"/>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17"/>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18"/>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19"/>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20"/>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2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2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29"/>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29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21"/>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22"/>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23"/>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24"/>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25"/>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26"/>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27"/>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3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3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30"/>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30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1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1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1"/>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2"/>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2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3"/>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3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4"/>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4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5"/>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5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6"/>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7" name="badge36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7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4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5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28"/>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29"/>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8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4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9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49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30"/>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431"/>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432"/>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433"/>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434"/>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35"/>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436"/>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37"/>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438"/>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39"/>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440"/>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41"/>
          <p:cNvSpPr/>
          <p:nvPr/>
        </p:nvSpPr>
        <p:spPr>
          <a:xfrm>
            <a:off x="7269480" y="3566160"/>
            <a:ext cx="914" cy="1691640"/>
          </a:xfrm>
          <a:prstGeom prst="line">
            <a:avLst/>
          </a:prstGeom>
          <a:noFill/>
          <a:ln w="25400">
            <a:solidFill>
              <a:schemeClr val="accent3"/>
            </a:solidFill>
            <a:prstDash val="solid"/>
            <a:tailEnd type="triangle"/>
          </a:ln>
        </p:spPr>
      </p:sp>
      <p:sp>
        <p:nvSpPr>
          <p:cNvPr id="15" name="text442"/>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5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5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50"/>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50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43"/>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44"/>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45"/>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46"/>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47"/>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48"/>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49"/>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50"/>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51"/>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52"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2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53"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3"/>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3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4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4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54"/>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55"/>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56"/>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57"/>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58"/>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59"/>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60"/>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61"/>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62"/>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63"/>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64"/>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65"/>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66"/>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467"/>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468"/>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469"/>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470"/>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471"/>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472"/>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6"/>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6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2026-10-16T02:22:16Z</dcterms:created>
  <dcterms:modified xsi:type="dcterms:W3CDTF">2026-10-16T02:22:16Z</dcterms:modified>
</cp:coreProperties>
</file>
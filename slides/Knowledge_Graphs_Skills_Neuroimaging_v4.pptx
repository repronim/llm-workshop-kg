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21aaba15-d605-4d37-67fb-6d17a50125e8}">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Backup" id="{b4338dc1-8a71-4f94-6b62-357bc71fa3c1}">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CPM is connectome-based predictive modelling, here with a linear support vector machine (a standard linear classifier); leave-one-out cross-validation trains on all participants but one and tests on the one left out, repeated for each person. The question is the paper's own aim, verbatim from the abstract: 'we aimed to determine the direction of the connectivity alteration associated with schizophrenia using a multivariate, data-driven approach' (Kim et al. 2023, 'Bidirectional connectivity alterations in schizophrenia: a multivariate, machine-learning approach', https://www.frontiersin.org/articles/10.3389/fpsyt.2023.1232015/full). The results add a second claim: 'combining information from both increased and decreased rsFC substantially improved prediction accuracy', and 'When tested across datasets, the prediction model using decreased rsFC performed best.' Note for the speaker: earlier drafts of this slide paraphrased the question as 'do decreased and increased connectivity predict diagnosis?', which turns a question about the direction of an association into a prediction question; it was corrected after checking the source, and is itself an example of the scope error this talk warns about. Say: the paper tells us which dataset, but not which 94 people from it, so we cannot rebuild the cohort. Kim et al. 2023 (Front Psychiatry, doi 10.3389/fpsyt.2023.1232015). The claim is scoped: 70.2% is the within-UCLA leave-one-out accuracy for both connectivity directions; transfer to COBRE was 61.5% for decreased connectivity and the reverse direction was not above chance. The paper names ds000030, but not the 94 participants or per-file processing, and reports GRETNA/SPM12, so reuse of the 2017 fMRIPrep derivatives is not asserted. Lesson: save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Set expectations without hype. NIDM's schema is now written so an assistant can generate correct queries (PyNIDM v4.5.5 LinkML schema). A language model produces text conditioned on what is in its context; it has no access to your participant table unless a tool gives it one, and it does not know which scope you meant by 'subjects'. Working definitions used in the rest of the talk: a knowledge graph is persistent, source-qualified memory that you control; a skill is a written, versioned procedure; a harness is the code that runs tools, validates outputs and decides what is accepted. Instruction text alone cannot enforce state or acceptance gates.
[v3 slide 3] Working definitions. Instruction text alone cannot enforce state, permissions or acceptance gates. The executed skill subset uses StructSense 0.12.0, pinned at dde54251a5a70f55d0b9bbbaab0dd21013b1bbfc.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How the lecture itself was produced, with checks deciding what was used. The speaker gave instructions; an orchestrating agent delegated to sub-agents that built the deck and the ABIDE experiment, and a second session queried Brain Researcher through MCP. The agents used Python, the Oxigraph triplestore, pySHACL, PowerPoint rendering and Slurm jobs on ORCD. Automated checks ran on every output, and the speaker reviewed every slide. The badge in the bottom-left corner of each slide records how it was produced (H speaker, L LLM draft, A agent computed, R agent retrieved, M external agent via MCP, P earlier agentic session) and how it was checked (re-run, validated, reviewed, unverified); the key is in backup, and the same records are exported as PROV in talk_provenance.ttl. Corrections came from both directions. The speaker caught the consent wording, a paraphrase of Kim et al. 2023's research question that changed an association question into a prediction question (corrected from the paper's stated aim), AbstractAtlas links that had been dropped, and LLM-style footers and titles. Automated checks caught an ORCD job that produced invalid p-values, a clean rebuild from a fresh download that failed because one host blocked the default download client (HTTP 403), now fixed, two agents that reconstructed the same ABIDE cohorts differently, and UMAP embedding values that drift slightly when re-run on another machine while every other number matched (ds000030: trustworthiness within 0.011; ABIDE: 196 of 218 key numbers within 1%, the differences being run times, dates and UMAP-derived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0:40 objectives, 0:45 the two datasets, 1:15 three-statement primer; objective 1: 1:15 dataset and publication components, 0:45 entities, 1:00 participant graph, 1:30 claim chain, 1:00 claim exercise, 0:45 quotation checks; objective 2: 1:30 joining graphs, 0:45 coverage, 0:45 ABIDE design, 1:00 ABIDE results, 0:30 QC exercise, 0:45 dependency tracing, 0:45 publications and abstracts, 0:45 evaluation schemes, 1:00 ReproPond and ReproLake; with an assistant: 0:30 capabilities, 2:00 demo 1, 2:00 demo 2, 0:45 how this lecture was produced;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000" dirty="0">
                <a:solidFill>
                  <a:schemeClr val="bg2"/>
                </a:solidFill>
              </a:rPr>
              <a:t>Worked examples on ds000030 and ABIDE I</a:t>
            </a:r>
            <a:endParaRPr lang="en-US" sz="2000" dirty="0"/>
          </a:p>
          <a:p>
            <a:pPr algn="l" indent="0" marL="0">
              <a:buNone/>
            </a:pPr>
            <a:r>
              <a:rPr lang="en-US" sz="1200" dirty="0">
                <a:solidFill>
                  <a:schemeClr val="bg2"/>
                </a:solidFill>
              </a:rPr>
              <a:t> </a:t>
            </a:r>
            <a:endParaRPr lang="en-US" sz="2000" dirty="0"/>
          </a:p>
          <a:p>
            <a:pPr algn="l" indent="0" marL="0">
              <a:buNone/>
            </a:pPr>
            <a:r>
              <a:rPr lang="en-US" sz="1800" b="1" dirty="0">
                <a:solidFill>
                  <a:schemeClr val="bg2"/>
                </a:solidFill>
              </a:rPr>
              <a:t>Satrajit Ghosh</a:t>
            </a:r>
            <a:endParaRPr lang="en-US" sz="2000" dirty="0"/>
          </a:p>
          <a:p>
            <a:pPr algn="l" indent="0" marL="0">
              <a:buNone/>
            </a:pPr>
            <a:r>
              <a:rPr lang="en-US" sz="1800" dirty="0">
                <a:solidFill>
                  <a:schemeClr val="bg2"/>
                </a:solidFill>
              </a:rPr>
              <a:t>ReproNim / LLM symposium · 25 minutes + discussion</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21"/>
          <p:cNvSpPr/>
          <p:nvPr/>
        </p:nvSpPr>
        <p:spPr>
          <a:xfrm>
            <a:off x="457200" y="1280160"/>
            <a:ext cx="5532120" cy="5074920"/>
          </a:xfrm>
          <a:prstGeom prst="roundRect">
            <a:avLst>
              <a:gd name="adj" fmla="val 5405"/>
            </a:avLst>
          </a:prstGeom>
          <a:solidFill>
            <a:schemeClr val="accent4"/>
          </a:solidFill>
          <a:ln/>
        </p:spPr>
      </p:sp>
      <p:sp>
        <p:nvSpPr>
          <p:cNvPr id="4" name="text22"/>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23"/>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24"/>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25"/>
          <p:cNvSpPr/>
          <p:nvPr/>
        </p:nvSpPr>
        <p:spPr>
          <a:xfrm>
            <a:off x="6217920" y="1280160"/>
            <a:ext cx="5532120" cy="5074920"/>
          </a:xfrm>
          <a:prstGeom prst="roundRect">
            <a:avLst>
              <a:gd name="adj" fmla="val 5405"/>
            </a:avLst>
          </a:prstGeom>
          <a:solidFill>
            <a:schemeClr val="accent5"/>
          </a:solidFill>
          <a:ln/>
        </p:spPr>
      </p:sp>
      <p:sp>
        <p:nvSpPr>
          <p:cNvPr id="10" name="text26"/>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27"/>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28"/>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sp>
        <p:nvSpPr>
          <p:cNvPr id="16" name="tagDot2"/>
          <p:cNvSpPr/>
          <p:nvPr/>
        </p:nvSpPr>
        <p:spPr>
          <a:xfrm>
            <a:off x="9326880" y="155448"/>
            <a:ext cx="146304" cy="146304"/>
          </a:xfrm>
          <a:prstGeom prst="ellipse">
            <a:avLst/>
          </a:prstGeom>
          <a:solidFill>
            <a:schemeClr val="accent3"/>
          </a:solidFill>
          <a:ln/>
        </p:spPr>
      </p:sp>
      <p:sp>
        <p:nvSpPr>
          <p:cNvPr id="17" name="tag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Objectives 1 and 2</a:t>
            </a:r>
            <a:endParaRPr lang="en-US" sz="1300" dirty="0"/>
          </a:p>
        </p:txBody>
      </p:sp>
      <p:sp>
        <p:nvSpPr>
          <p:cNvPr id="18" name="badge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9" name="badge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0" name="badge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2" name="badge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29"/>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30"/>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31"/>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32"/>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33"/>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34"/>
          <p:cNvSpPr/>
          <p:nvPr/>
        </p:nvSpPr>
        <p:spPr>
          <a:xfrm flipH="1">
            <a:off x="2103120" y="2350008"/>
            <a:ext cx="1965960" cy="914"/>
          </a:xfrm>
          <a:prstGeom prst="line">
            <a:avLst/>
          </a:prstGeom>
          <a:noFill/>
          <a:ln w="31750">
            <a:solidFill>
              <a:schemeClr val="accent1"/>
            </a:solidFill>
            <a:prstDash val="solid"/>
            <a:tailEnd type="triangle"/>
          </a:ln>
        </p:spPr>
      </p:sp>
      <p:sp>
        <p:nvSpPr>
          <p:cNvPr id="9" name="text35"/>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36"/>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37"/>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38"/>
          <p:cNvSpPr/>
          <p:nvPr/>
        </p:nvSpPr>
        <p:spPr>
          <a:xfrm>
            <a:off x="10058400" y="2331720"/>
            <a:ext cx="914" cy="685800"/>
          </a:xfrm>
          <a:prstGeom prst="line">
            <a:avLst/>
          </a:prstGeom>
          <a:noFill/>
          <a:ln w="31750">
            <a:solidFill>
              <a:schemeClr val="accent1"/>
            </a:solidFill>
            <a:prstDash val="solid"/>
            <a:tailEnd type="triangle"/>
          </a:ln>
        </p:spPr>
      </p:sp>
      <p:sp>
        <p:nvSpPr>
          <p:cNvPr id="13" name="text39"/>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40"/>
          <p:cNvSpPr/>
          <p:nvPr/>
        </p:nvSpPr>
        <p:spPr>
          <a:xfrm>
            <a:off x="5486400" y="2880360"/>
            <a:ext cx="914" cy="457200"/>
          </a:xfrm>
          <a:prstGeom prst="line">
            <a:avLst/>
          </a:prstGeom>
          <a:noFill/>
          <a:ln w="19050">
            <a:solidFill>
              <a:schemeClr val="accent3"/>
            </a:solidFill>
            <a:prstDash val="solid"/>
            <a:tailEnd type="triangle"/>
          </a:ln>
        </p:spPr>
      </p:sp>
      <p:sp>
        <p:nvSpPr>
          <p:cNvPr id="15" name="text41"/>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42"/>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43"/>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44"/>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45"/>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46"/>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47"/>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48"/>
          <p:cNvSpPr/>
          <p:nvPr/>
        </p:nvSpPr>
        <p:spPr>
          <a:xfrm flipH="1">
            <a:off x="2423160" y="4572000"/>
            <a:ext cx="868680" cy="914"/>
          </a:xfrm>
          <a:prstGeom prst="line">
            <a:avLst/>
          </a:prstGeom>
          <a:noFill/>
          <a:ln w="25400">
            <a:solidFill>
              <a:schemeClr val="accent1"/>
            </a:solidFill>
            <a:prstDash val="solid"/>
            <a:tailEnd type="triangle"/>
          </a:ln>
        </p:spPr>
      </p:sp>
      <p:sp>
        <p:nvSpPr>
          <p:cNvPr id="23" name="arrow49"/>
          <p:cNvSpPr/>
          <p:nvPr/>
        </p:nvSpPr>
        <p:spPr>
          <a:xfrm>
            <a:off x="4709160" y="4572000"/>
            <a:ext cx="1188720" cy="914"/>
          </a:xfrm>
          <a:prstGeom prst="line">
            <a:avLst/>
          </a:prstGeom>
          <a:noFill/>
          <a:ln w="25400">
            <a:solidFill>
              <a:schemeClr val="accent1"/>
            </a:solidFill>
            <a:prstDash val="solid"/>
            <a:tailEnd type="triangle"/>
          </a:ln>
        </p:spPr>
      </p:sp>
      <p:sp>
        <p:nvSpPr>
          <p:cNvPr id="24" name="arrow50"/>
          <p:cNvSpPr/>
          <p:nvPr/>
        </p:nvSpPr>
        <p:spPr>
          <a:xfrm>
            <a:off x="7315200" y="4572000"/>
            <a:ext cx="1188720" cy="914"/>
          </a:xfrm>
          <a:prstGeom prst="line">
            <a:avLst/>
          </a:prstGeom>
          <a:noFill/>
          <a:ln w="25400">
            <a:solidFill>
              <a:schemeClr val="accent1"/>
            </a:solidFill>
            <a:prstDash val="solid"/>
            <a:tailEnd type="triangle"/>
          </a:ln>
        </p:spPr>
      </p:sp>
      <p:sp>
        <p:nvSpPr>
          <p:cNvPr id="25" name="text51"/>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52"/>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53"/>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54"/>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55"/>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56"/>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57"/>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58"/>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sp>
        <p:nvSpPr>
          <p:cNvPr id="34" name="tagDot3"/>
          <p:cNvSpPr/>
          <p:nvPr/>
        </p:nvSpPr>
        <p:spPr>
          <a:xfrm>
            <a:off x="9326880" y="155448"/>
            <a:ext cx="146304" cy="146304"/>
          </a:xfrm>
          <a:prstGeom prst="ellipse">
            <a:avLst/>
          </a:prstGeom>
          <a:solidFill>
            <a:schemeClr val="accent1"/>
          </a:solidFill>
          <a:ln/>
        </p:spPr>
      </p:sp>
      <p:sp>
        <p:nvSpPr>
          <p:cNvPr id="35" name="tag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36" name="badge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7" name="badge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8" name="badge3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39" name="data3"/>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0" name="badge3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59"/>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60"/>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61"/>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62"/>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63"/>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64"/>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65"/>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66"/>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67"/>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68"/>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69"/>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70"/>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71"/>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72"/>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70.2% accuracy, UCLA cohort, leave-one-participant-out</a:t>
            </a:r>
            <a:endParaRPr lang="en-US" sz="1800" dirty="0"/>
          </a:p>
        </p:txBody>
      </p:sp>
      <p:sp>
        <p:nvSpPr>
          <p:cNvPr id="17" name="shape73"/>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74"/>
          <p:cNvSpPr/>
          <p:nvPr/>
        </p:nvSpPr>
        <p:spPr>
          <a:xfrm>
            <a:off x="5193792" y="2240280"/>
            <a:ext cx="1783080" cy="3566160"/>
          </a:xfrm>
          <a:prstGeom prst="ellipse">
            <a:avLst/>
          </a:prstGeom>
          <a:solidFill>
            <a:schemeClr val="tx2"/>
          </a:solidFill>
          <a:ln/>
        </p:spPr>
      </p:sp>
      <p:sp>
        <p:nvSpPr>
          <p:cNvPr id="19" name="text75"/>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76"/>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77"/>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78"/>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sp>
        <p:nvSpPr>
          <p:cNvPr id="24" name="tagDot4"/>
          <p:cNvSpPr/>
          <p:nvPr/>
        </p:nvSpPr>
        <p:spPr>
          <a:xfrm>
            <a:off x="9326880" y="155448"/>
            <a:ext cx="146304" cy="146304"/>
          </a:xfrm>
          <a:prstGeom prst="ellipse">
            <a:avLst/>
          </a:prstGeom>
          <a:solidFill>
            <a:schemeClr val="accent1"/>
          </a:solidFill>
          <a:ln/>
        </p:spPr>
      </p:sp>
      <p:sp>
        <p:nvSpPr>
          <p:cNvPr id="25" name="tag4"/>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26" name="badge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7" name="badge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8" name="badge4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9" name="data4"/>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0" name="badge4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79"/>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80"/>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81"/>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82"/>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83"/>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84"/>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85"/>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86"/>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87"/>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88"/>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89"/>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90"/>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91"/>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92"/>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93"/>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94"/>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95"/>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96"/>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97"/>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98"/>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99"/>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00"/>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01"/>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02"/>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03"/>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04"/>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05"/>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06"/>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07"/>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08"/>
          <p:cNvSpPr/>
          <p:nvPr/>
        </p:nvSpPr>
        <p:spPr>
          <a:xfrm>
            <a:off x="4617720" y="5833872"/>
            <a:ext cx="274320" cy="274320"/>
          </a:xfrm>
          <a:prstGeom prst="ellipse">
            <a:avLst/>
          </a:prstGeom>
          <a:solidFill>
            <a:schemeClr val="accent1"/>
          </a:solidFill>
          <a:ln/>
        </p:spPr>
      </p:sp>
      <p:sp>
        <p:nvSpPr>
          <p:cNvPr id="33" name="text109"/>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10"/>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sp>
        <p:nvSpPr>
          <p:cNvPr id="36" name="tagDot5"/>
          <p:cNvSpPr/>
          <p:nvPr/>
        </p:nvSpPr>
        <p:spPr>
          <a:xfrm>
            <a:off x="9326880" y="155448"/>
            <a:ext cx="146304" cy="146304"/>
          </a:xfrm>
          <a:prstGeom prst="ellipse">
            <a:avLst/>
          </a:prstGeom>
          <a:solidFill>
            <a:schemeClr val="accent1"/>
          </a:solidFill>
          <a:ln/>
        </p:spPr>
      </p:sp>
      <p:sp>
        <p:nvSpPr>
          <p:cNvPr id="37" name="tag5"/>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38" name="badge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1" name="badge5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11"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12"/>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13"/>
          <p:cNvSpPr/>
          <p:nvPr/>
        </p:nvSpPr>
        <p:spPr>
          <a:xfrm>
            <a:off x="8686800" y="1920240"/>
            <a:ext cx="310896" cy="310896"/>
          </a:xfrm>
          <a:prstGeom prst="ellipse">
            <a:avLst/>
          </a:prstGeom>
          <a:solidFill>
            <a:schemeClr val="accent1"/>
          </a:solidFill>
          <a:ln/>
        </p:spPr>
      </p:sp>
      <p:sp>
        <p:nvSpPr>
          <p:cNvPr id="6" name="text114"/>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15"/>
          <p:cNvSpPr/>
          <p:nvPr/>
        </p:nvSpPr>
        <p:spPr>
          <a:xfrm>
            <a:off x="8686800" y="2487168"/>
            <a:ext cx="310896" cy="310896"/>
          </a:xfrm>
          <a:prstGeom prst="ellipse">
            <a:avLst/>
          </a:prstGeom>
          <a:solidFill>
            <a:schemeClr val="tx2"/>
          </a:solidFill>
          <a:ln/>
        </p:spPr>
      </p:sp>
      <p:sp>
        <p:nvSpPr>
          <p:cNvPr id="8" name="text116"/>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17"/>
          <p:cNvSpPr/>
          <p:nvPr/>
        </p:nvSpPr>
        <p:spPr>
          <a:xfrm>
            <a:off x="8686800" y="3054096"/>
            <a:ext cx="310896" cy="310896"/>
          </a:xfrm>
          <a:prstGeom prst="ellipse">
            <a:avLst/>
          </a:prstGeom>
          <a:solidFill>
            <a:schemeClr val="accent3"/>
          </a:solidFill>
          <a:ln/>
        </p:spPr>
      </p:sp>
      <p:sp>
        <p:nvSpPr>
          <p:cNvPr id="10" name="text118"/>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19"/>
          <p:cNvSpPr/>
          <p:nvPr/>
        </p:nvSpPr>
        <p:spPr>
          <a:xfrm>
            <a:off x="8686800" y="3621024"/>
            <a:ext cx="310896" cy="310896"/>
          </a:xfrm>
          <a:prstGeom prst="ellipse">
            <a:avLst/>
          </a:prstGeom>
          <a:solidFill>
            <a:schemeClr val="accent2"/>
          </a:solidFill>
          <a:ln/>
        </p:spPr>
      </p:sp>
      <p:sp>
        <p:nvSpPr>
          <p:cNvPr id="12" name="text120"/>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21"/>
          <p:cNvSpPr/>
          <p:nvPr/>
        </p:nvSpPr>
        <p:spPr>
          <a:xfrm>
            <a:off x="8686800" y="4187952"/>
            <a:ext cx="310896" cy="310896"/>
          </a:xfrm>
          <a:prstGeom prst="ellipse">
            <a:avLst/>
          </a:prstGeom>
          <a:solidFill>
            <a:srgbClr val="8EA4AE"/>
          </a:solidFill>
          <a:ln/>
        </p:spPr>
      </p:sp>
      <p:sp>
        <p:nvSpPr>
          <p:cNvPr id="14" name="text122"/>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23"/>
          <p:cNvSpPr/>
          <p:nvPr/>
        </p:nvSpPr>
        <p:spPr>
          <a:xfrm>
            <a:off x="8686800" y="4754880"/>
            <a:ext cx="310896" cy="310896"/>
          </a:xfrm>
          <a:prstGeom prst="ellipse">
            <a:avLst/>
          </a:prstGeom>
          <a:solidFill>
            <a:srgbClr val="5FA8A9"/>
          </a:solidFill>
          <a:ln/>
        </p:spPr>
      </p:sp>
      <p:sp>
        <p:nvSpPr>
          <p:cNvPr id="16" name="text124"/>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25"/>
          <p:cNvSpPr/>
          <p:nvPr/>
        </p:nvSpPr>
        <p:spPr>
          <a:xfrm>
            <a:off x="8686800" y="5321808"/>
            <a:ext cx="310896" cy="310896"/>
          </a:xfrm>
          <a:prstGeom prst="ellipse">
            <a:avLst/>
          </a:prstGeom>
          <a:solidFill>
            <a:srgbClr val="D98C6A"/>
          </a:solidFill>
          <a:ln/>
        </p:spPr>
      </p:sp>
      <p:sp>
        <p:nvSpPr>
          <p:cNvPr id="18" name="text126"/>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27"/>
          <p:cNvSpPr/>
          <p:nvPr/>
        </p:nvSpPr>
        <p:spPr>
          <a:xfrm>
            <a:off x="8686800" y="5888736"/>
            <a:ext cx="310896" cy="310896"/>
          </a:xfrm>
          <a:prstGeom prst="ellipse">
            <a:avLst/>
          </a:prstGeom>
          <a:solidFill>
            <a:srgbClr val="2F5D6E"/>
          </a:solidFill>
          <a:ln/>
        </p:spPr>
      </p:sp>
      <p:sp>
        <p:nvSpPr>
          <p:cNvPr id="20" name="text128"/>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sp>
        <p:nvSpPr>
          <p:cNvPr id="22" name="tagDot6"/>
          <p:cNvSpPr/>
          <p:nvPr/>
        </p:nvSpPr>
        <p:spPr>
          <a:xfrm>
            <a:off x="9326880" y="155448"/>
            <a:ext cx="146304" cy="146304"/>
          </a:xfrm>
          <a:prstGeom prst="ellipse">
            <a:avLst/>
          </a:prstGeom>
          <a:solidFill>
            <a:schemeClr val="accent1"/>
          </a:solidFill>
          <a:ln/>
        </p:spPr>
      </p:sp>
      <p:sp>
        <p:nvSpPr>
          <p:cNvPr id="23" name="tag6"/>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24" name="badge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5" name="data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6" name="badge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29"/>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(Kim et al. 2023)</a:t>
            </a:r>
            <a:endParaRPr lang="en-US" sz="1800" dirty="0"/>
          </a:p>
          <a:p>
            <a:pPr algn="ctr" indent="0" marL="0">
              <a:buNone/>
            </a:pPr>
            <a:r>
              <a:rPr lang="en-US" sz="1800" dirty="0">
                <a:solidFill>
                  <a:schemeClr val="tx1"/>
                </a:solidFill>
              </a:rPr>
              <a:t>Which direction of connectivity change is associated with schizophrenia?</a:t>
            </a:r>
            <a:endParaRPr lang="en-US" sz="1800" dirty="0"/>
          </a:p>
        </p:txBody>
      </p:sp>
      <p:sp>
        <p:nvSpPr>
          <p:cNvPr id="4" name="shape130"/>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70.2% accuracy (UCLA, leave one participant out)</a:t>
            </a:r>
            <a:endParaRPr lang="en-US" sz="1800" dirty="0"/>
          </a:p>
        </p:txBody>
      </p:sp>
      <p:sp>
        <p:nvSpPr>
          <p:cNvPr id="5" name="shape131"/>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Evaluation</a:t>
            </a:r>
            <a:endParaRPr lang="en-US" sz="1800" dirty="0"/>
          </a:p>
          <a:p>
            <a:pPr algn="ctr" indent="0" marL="0">
              <a:buNone/>
            </a:pPr>
            <a:r>
              <a:rPr lang="en-US" sz="1800" dirty="0">
                <a:solidFill>
                  <a:schemeClr val="tx1"/>
                </a:solidFill>
              </a:rPr>
              <a:t>UCLA cohort, leave one participant out, linear classifier</a:t>
            </a:r>
            <a:endParaRPr lang="en-US" sz="1800" dirty="0"/>
          </a:p>
        </p:txBody>
      </p:sp>
      <p:sp>
        <p:nvSpPr>
          <p:cNvPr id="6" name="shape132"/>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people, as reported</a:t>
            </a:r>
            <a:endParaRPr lang="en-US" sz="1800" dirty="0"/>
          </a:p>
        </p:txBody>
      </p:sp>
      <p:sp>
        <p:nvSpPr>
          <p:cNvPr id="7" name="curve133"/>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8" name="curve134"/>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9" name="curve135"/>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0" name="shape136"/>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1" name="curve137"/>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2" name="curve138"/>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3" name="shape139"/>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4" name="text140"/>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Missing link: </a:t>
            </a:r>
            <a:pPr indent="0" marL="0">
              <a:buNone/>
            </a:pPr>
            <a:r>
              <a:rPr lang="en-US" sz="1800" dirty="0">
                <a:solidFill>
                  <a:schemeClr val="tx1"/>
                </a:solidFill>
              </a:rPr>
              <a:t>which 94 participants, and how each file was processed</a:t>
            </a:r>
            <a:endParaRPr lang="en-US" sz="1800" dirty="0"/>
          </a:p>
        </p:txBody>
      </p:sp>
      <p:sp>
        <p:nvSpPr>
          <p:cNvPr id="16" name="tagDot7"/>
          <p:cNvSpPr/>
          <p:nvPr/>
        </p:nvSpPr>
        <p:spPr>
          <a:xfrm>
            <a:off x="9326880" y="155448"/>
            <a:ext cx="146304" cy="146304"/>
          </a:xfrm>
          <a:prstGeom prst="ellipse">
            <a:avLst/>
          </a:prstGeom>
          <a:solidFill>
            <a:schemeClr val="accent1"/>
          </a:solidFill>
          <a:ln/>
        </p:spPr>
      </p:sp>
      <p:sp>
        <p:nvSpPr>
          <p:cNvPr id="17" name="tag7"/>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8" name="badge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9" name="badge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0" name="data7"/>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1" name="badge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41"/>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2"/>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43"/>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44"/>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45"/>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46"/>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47"/>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sp>
        <p:nvSpPr>
          <p:cNvPr id="11" name="tagDot8"/>
          <p:cNvSpPr/>
          <p:nvPr/>
        </p:nvSpPr>
        <p:spPr>
          <a:xfrm>
            <a:off x="9326880" y="155448"/>
            <a:ext cx="146304" cy="146304"/>
          </a:xfrm>
          <a:prstGeom prst="ellipse">
            <a:avLst/>
          </a:prstGeom>
          <a:solidFill>
            <a:schemeClr val="accent1"/>
          </a:solidFill>
          <a:ln/>
        </p:spPr>
      </p:sp>
      <p:sp>
        <p:nvSpPr>
          <p:cNvPr id="12" name="tag8"/>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3"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4"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8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8"/>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7" name="badge8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48"/>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9"/>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50"/>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51"/>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52"/>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53"/>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54"/>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55"/>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56"/>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sp>
        <p:nvSpPr>
          <p:cNvPr id="13" name="tagDot9"/>
          <p:cNvSpPr/>
          <p:nvPr/>
        </p:nvSpPr>
        <p:spPr>
          <a:xfrm>
            <a:off x="9326880" y="155448"/>
            <a:ext cx="146304" cy="146304"/>
          </a:xfrm>
          <a:prstGeom prst="ellipse">
            <a:avLst/>
          </a:prstGeom>
          <a:solidFill>
            <a:schemeClr val="accent1"/>
          </a:solidFill>
          <a:ln/>
        </p:spPr>
      </p:sp>
      <p:sp>
        <p:nvSpPr>
          <p:cNvPr id="14" name="tag9"/>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5"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data9"/>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8" name="badge9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57"/>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58"/>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59"/>
          <p:cNvSpPr/>
          <p:nvPr/>
        </p:nvSpPr>
        <p:spPr>
          <a:xfrm>
            <a:off x="4114800" y="1325880"/>
            <a:ext cx="822960" cy="822960"/>
          </a:xfrm>
          <a:prstGeom prst="ellipse">
            <a:avLst/>
          </a:prstGeom>
          <a:solidFill>
            <a:schemeClr val="tx2"/>
          </a:solidFill>
          <a:ln/>
        </p:spPr>
      </p:sp>
      <p:pic>
        <p:nvPicPr>
          <p:cNvPr id="6" name="join160"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61"/>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62"/>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63"/>
          <p:cNvSpPr/>
          <p:nvPr/>
        </p:nvSpPr>
        <p:spPr>
          <a:xfrm>
            <a:off x="4114800" y="2359152"/>
            <a:ext cx="822960" cy="822960"/>
          </a:xfrm>
          <a:prstGeom prst="ellipse">
            <a:avLst/>
          </a:prstGeom>
          <a:solidFill>
            <a:schemeClr val="tx2"/>
          </a:solidFill>
          <a:ln/>
        </p:spPr>
      </p:sp>
      <p:pic>
        <p:nvPicPr>
          <p:cNvPr id="10" name="join164"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65"/>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66"/>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67"/>
          <p:cNvSpPr/>
          <p:nvPr/>
        </p:nvSpPr>
        <p:spPr>
          <a:xfrm>
            <a:off x="4114800" y="3392424"/>
            <a:ext cx="822960" cy="822960"/>
          </a:xfrm>
          <a:prstGeom prst="ellipse">
            <a:avLst/>
          </a:prstGeom>
          <a:solidFill>
            <a:schemeClr val="tx2"/>
          </a:solidFill>
          <a:ln/>
        </p:spPr>
      </p:sp>
      <p:pic>
        <p:nvPicPr>
          <p:cNvPr id="14" name="join168"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169"/>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170"/>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171"/>
          <p:cNvSpPr/>
          <p:nvPr/>
        </p:nvSpPr>
        <p:spPr>
          <a:xfrm>
            <a:off x="4114800" y="4425696"/>
            <a:ext cx="822960" cy="822960"/>
          </a:xfrm>
          <a:prstGeom prst="ellipse">
            <a:avLst/>
          </a:prstGeom>
          <a:solidFill>
            <a:schemeClr val="accent2"/>
          </a:solidFill>
          <a:ln/>
        </p:spPr>
      </p:sp>
      <p:pic>
        <p:nvPicPr>
          <p:cNvPr id="18" name="join172"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173"/>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174"/>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175"/>
          <p:cNvSpPr/>
          <p:nvPr/>
        </p:nvSpPr>
        <p:spPr>
          <a:xfrm>
            <a:off x="4114800" y="5458968"/>
            <a:ext cx="822960" cy="822960"/>
          </a:xfrm>
          <a:prstGeom prst="ellipse">
            <a:avLst/>
          </a:prstGeom>
          <a:solidFill>
            <a:schemeClr val="tx2"/>
          </a:solidFill>
          <a:ln/>
        </p:spPr>
      </p:sp>
      <p:pic>
        <p:nvPicPr>
          <p:cNvPr id="22" name="join176"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177"/>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178"/>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179"/>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sp>
        <p:nvSpPr>
          <p:cNvPr id="27" name="tagDot10"/>
          <p:cNvSpPr/>
          <p:nvPr/>
        </p:nvSpPr>
        <p:spPr>
          <a:xfrm>
            <a:off x="9326880" y="155448"/>
            <a:ext cx="146304" cy="146304"/>
          </a:xfrm>
          <a:prstGeom prst="ellipse">
            <a:avLst/>
          </a:prstGeom>
          <a:solidFill>
            <a:schemeClr val="tx2"/>
          </a:solidFill>
          <a:ln/>
        </p:spPr>
      </p:sp>
      <p:sp>
        <p:nvSpPr>
          <p:cNvPr id="28" name="tag10"/>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9" name="badge1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0"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1" name="data10"/>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2" name="badge10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180"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181"/>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182"/>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183"/>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184"/>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185"/>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186"/>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187"/>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188"/>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sp>
        <p:nvSpPr>
          <p:cNvPr id="13" name="tagDot11"/>
          <p:cNvSpPr/>
          <p:nvPr/>
        </p:nvSpPr>
        <p:spPr>
          <a:xfrm>
            <a:off x="9326880" y="155448"/>
            <a:ext cx="146304" cy="146304"/>
          </a:xfrm>
          <a:prstGeom prst="ellipse">
            <a:avLst/>
          </a:prstGeom>
          <a:solidFill>
            <a:schemeClr val="tx2"/>
          </a:solidFill>
          <a:ln/>
        </p:spPr>
      </p:sp>
      <p:sp>
        <p:nvSpPr>
          <p:cNvPr id="14" name="tag11"/>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5" name="badge1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6" name="data11"/>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7" name="badge11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189"/>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190"/>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191"/>
          <p:cNvSpPr/>
          <p:nvPr/>
        </p:nvSpPr>
        <p:spPr>
          <a:xfrm>
            <a:off x="4160520" y="2377440"/>
            <a:ext cx="3840480" cy="3154680"/>
          </a:xfrm>
          <a:prstGeom prst="ellipse">
            <a:avLst/>
          </a:prstGeom>
          <a:solidFill>
            <a:schemeClr val="accent2">
              <a:alpha val="65000"/>
            </a:schemeClr>
          </a:solidFill>
          <a:ln/>
        </p:spPr>
      </p:sp>
      <p:sp>
        <p:nvSpPr>
          <p:cNvPr id="6" name="shape192"/>
          <p:cNvSpPr/>
          <p:nvPr/>
        </p:nvSpPr>
        <p:spPr>
          <a:xfrm>
            <a:off x="4434840" y="2788920"/>
            <a:ext cx="2331720" cy="2331720"/>
          </a:xfrm>
          <a:prstGeom prst="ellipse">
            <a:avLst/>
          </a:prstGeom>
          <a:solidFill>
            <a:schemeClr val="accent1">
              <a:alpha val="75000"/>
            </a:schemeClr>
          </a:solidFill>
          <a:ln/>
        </p:spPr>
      </p:sp>
      <p:sp>
        <p:nvSpPr>
          <p:cNvPr id="7" name="text193"/>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194"/>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195"/>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196"/>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197"/>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sp>
        <p:nvSpPr>
          <p:cNvPr id="13" name="tagDot12"/>
          <p:cNvSpPr/>
          <p:nvPr/>
        </p:nvSpPr>
        <p:spPr>
          <a:xfrm>
            <a:off x="9326880" y="155448"/>
            <a:ext cx="146304" cy="146304"/>
          </a:xfrm>
          <a:prstGeom prst="ellipse">
            <a:avLst/>
          </a:prstGeom>
          <a:solidFill>
            <a:schemeClr val="tx2"/>
          </a:solidFill>
          <a:ln/>
        </p:spPr>
      </p:sp>
      <p:sp>
        <p:nvSpPr>
          <p:cNvPr id="14" name="tag1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5"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6" name="badge1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data12"/>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198"/>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199"/>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00"/>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01"/>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sp>
        <p:nvSpPr>
          <p:cNvPr id="8" name="tagDot13"/>
          <p:cNvSpPr/>
          <p:nvPr/>
        </p:nvSpPr>
        <p:spPr>
          <a:xfrm>
            <a:off x="9326880" y="155448"/>
            <a:ext cx="146304" cy="146304"/>
          </a:xfrm>
          <a:prstGeom prst="ellipse">
            <a:avLst/>
          </a:prstGeom>
          <a:solidFill>
            <a:schemeClr val="tx2"/>
          </a:solidFill>
          <a:ln/>
        </p:spPr>
      </p:sp>
      <p:sp>
        <p:nvSpPr>
          <p:cNvPr id="9" name="tag1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0"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1" name="badge1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2" name="data13"/>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3" name="badge13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02"/>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03"/>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04"/>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05"/>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06"/>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07"/>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08"/>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09"/>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sp>
        <p:nvSpPr>
          <p:cNvPr id="12" name="tagDot14"/>
          <p:cNvSpPr/>
          <p:nvPr/>
        </p:nvSpPr>
        <p:spPr>
          <a:xfrm>
            <a:off x="9326880" y="155448"/>
            <a:ext cx="146304" cy="146304"/>
          </a:xfrm>
          <a:prstGeom prst="ellipse">
            <a:avLst/>
          </a:prstGeom>
          <a:solidFill>
            <a:schemeClr val="tx2"/>
          </a:solidFill>
          <a:ln/>
        </p:spPr>
      </p:sp>
      <p:sp>
        <p:nvSpPr>
          <p:cNvPr id="13" name="tag14"/>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4"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data14"/>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6" name="badge14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10"/>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11"/>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12"/>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13"/>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14"/>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15"/>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16"/>
          <p:cNvSpPr/>
          <p:nvPr/>
        </p:nvSpPr>
        <p:spPr>
          <a:xfrm>
            <a:off x="-1234440" y="2697480"/>
            <a:ext cx="3474720" cy="2286000"/>
          </a:xfrm>
          <a:prstGeom prst="pie">
            <a:avLst>
              <a:gd name="adj1" fmla="val 16200000"/>
              <a:gd name="adj2" fmla="val 5400000"/>
            </a:avLst>
          </a:prstGeom>
          <a:solidFill>
            <a:schemeClr val="tx2"/>
          </a:solidFill>
          <a:ln/>
        </p:spPr>
      </p:sp>
      <p:sp>
        <p:nvSpPr>
          <p:cNvPr id="10" name="text217"/>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18"/>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19"/>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20"/>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21"/>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22"/>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23"/>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sp>
        <p:nvSpPr>
          <p:cNvPr id="18" name="tagDot15"/>
          <p:cNvSpPr/>
          <p:nvPr/>
        </p:nvSpPr>
        <p:spPr>
          <a:xfrm>
            <a:off x="9326880" y="155448"/>
            <a:ext cx="146304" cy="146304"/>
          </a:xfrm>
          <a:prstGeom prst="ellipse">
            <a:avLst/>
          </a:prstGeom>
          <a:solidFill>
            <a:schemeClr val="tx2"/>
          </a:solidFill>
          <a:ln/>
        </p:spPr>
      </p:sp>
      <p:sp>
        <p:nvSpPr>
          <p:cNvPr id="19" name="tag15"/>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0"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1" name="data15"/>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2" name="badge15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24"/>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25"/>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26"/>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27"/>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28"/>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29"/>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30"/>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31"/>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32"/>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33"/>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34"/>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35"/>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36"/>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37"/>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38"/>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39"/>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40"/>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sp>
        <p:nvSpPr>
          <p:cNvPr id="21" name="tagDot16"/>
          <p:cNvSpPr/>
          <p:nvPr/>
        </p:nvSpPr>
        <p:spPr>
          <a:xfrm>
            <a:off x="9326880" y="155448"/>
            <a:ext cx="146304" cy="146304"/>
          </a:xfrm>
          <a:prstGeom prst="ellipse">
            <a:avLst/>
          </a:prstGeom>
          <a:solidFill>
            <a:schemeClr val="tx2"/>
          </a:solidFill>
          <a:ln/>
        </p:spPr>
      </p:sp>
      <p:sp>
        <p:nvSpPr>
          <p:cNvPr id="22" name="tag16"/>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3"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badge1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5" name="data16"/>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6" name="badge16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241" descr="accuracy_by_evaluation.png">    </p:cNvPr>
          <p:cNvPicPr>
            <a:picLocks noChangeAspect="1"/>
          </p:cNvPicPr>
          <p:nvPr/>
        </p:nvPicPr>
        <p:blipFill>
          <a:blip r:embed="rId1"/>
          <a:stretch>
            <a:fillRect/>
          </a:stretch>
        </p:blipFill>
        <p:spPr>
          <a:xfrm>
            <a:off x="1531451" y="1234440"/>
            <a:ext cx="9098619" cy="5120640"/>
          </a:xfrm>
          <a:prstGeom prst="rect">
            <a:avLst/>
          </a:prstGeom>
        </p:spPr>
      </p:pic>
      <p:sp>
        <p:nvSpPr>
          <p:cNvPr id="5" name="tagDot17"/>
          <p:cNvSpPr/>
          <p:nvPr/>
        </p:nvSpPr>
        <p:spPr>
          <a:xfrm>
            <a:off x="9326880" y="155448"/>
            <a:ext cx="146304" cy="146304"/>
          </a:xfrm>
          <a:prstGeom prst="ellipse">
            <a:avLst/>
          </a:prstGeom>
          <a:solidFill>
            <a:schemeClr val="tx2"/>
          </a:solidFill>
          <a:ln/>
        </p:spPr>
      </p:sp>
      <p:sp>
        <p:nvSpPr>
          <p:cNvPr id="6" name="tag17"/>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7"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8" name="badge1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data17"/>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0" name="badge1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ReproPond and ReproLake: local and shared knowledge</a:t>
            </a:r>
            <a:endParaRPr lang="en-US" sz="3200" dirty="0"/>
          </a:p>
        </p:txBody>
      </p:sp>
      <p:sp>
        <p:nvSpPr>
          <p:cNvPr id="3" name="shape242"/>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243"/>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244"/>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245"/>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246"/>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248"/>
          <p:cNvSpPr/>
          <p:nvPr/>
        </p:nvSpPr>
        <p:spPr>
          <a:xfrm>
            <a:off x="777240" y="4206240"/>
            <a:ext cx="502920" cy="502920"/>
          </a:xfrm>
          <a:prstGeom prst="ellipse">
            <a:avLst/>
          </a:prstGeom>
          <a:solidFill>
            <a:schemeClr val="accent2"/>
          </a:solidFill>
          <a:ln/>
        </p:spPr>
      </p:sp>
      <p:pic>
        <p:nvPicPr>
          <p:cNvPr id="9" name="lock248"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249"/>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250"/>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251"/>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252"/>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253"/>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254"/>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255"/>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256"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257"/>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258"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259"/>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260"/>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261"/>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262"/>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263"/>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264"/>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265"/>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266"/>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267"/>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269"/>
          <p:cNvSpPr/>
          <p:nvPr/>
        </p:nvSpPr>
        <p:spPr>
          <a:xfrm>
            <a:off x="4160520" y="1234440"/>
            <a:ext cx="502920" cy="502920"/>
          </a:xfrm>
          <a:prstGeom prst="ellipse">
            <a:avLst/>
          </a:prstGeom>
          <a:solidFill>
            <a:schemeClr val="tx2"/>
          </a:solidFill>
          <a:ln/>
        </p:spPr>
      </p:sp>
      <p:pic>
        <p:nvPicPr>
          <p:cNvPr id="32" name="query269"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270"/>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271"/>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272"/>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sp>
        <p:nvSpPr>
          <p:cNvPr id="37" name="tagDot18"/>
          <p:cNvSpPr/>
          <p:nvPr/>
        </p:nvSpPr>
        <p:spPr>
          <a:xfrm>
            <a:off x="9326880" y="155448"/>
            <a:ext cx="146304" cy="146304"/>
          </a:xfrm>
          <a:prstGeom prst="ellipse">
            <a:avLst/>
          </a:prstGeom>
          <a:solidFill>
            <a:schemeClr val="tx2"/>
          </a:solidFill>
          <a:ln/>
        </p:spPr>
      </p:sp>
      <p:sp>
        <p:nvSpPr>
          <p:cNvPr id="38" name="tag18"/>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39" name="badge1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1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1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badge18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Capabilities and limits of LLM assistants</a:t>
            </a:r>
            <a:endParaRPr lang="en-US" sz="3200" dirty="0"/>
          </a:p>
        </p:txBody>
      </p:sp>
      <p:sp>
        <p:nvSpPr>
          <p:cNvPr id="3" name="shape273"/>
          <p:cNvSpPr txBox="1"/>
          <p:nvPr/>
        </p:nvSpPr>
        <p:spPr>
          <a:xfrm flipH="1">
            <a:off x="457200" y="1371600"/>
            <a:ext cx="5577840" cy="4023360"/>
          </a:xfrm>
          <a:prstGeom prst="wedgeEllipseCallout">
            <a:avLst/>
          </a:prstGeom>
          <a:solidFill>
            <a:schemeClr val="accent4"/>
          </a:solidFill>
          <a:ln/>
        </p:spPr>
        <p:txBody>
          <a:bodyPr wrap="square" lIns="76200" tIns="76200" rIns="76200" bIns="76200" rtlCol="0" anchor="ctr"/>
          <a:lstStyle/>
          <a:p>
            <a:pPr algn="ctr" indent="0" marL="0">
              <a:buNone/>
            </a:pPr>
            <a:r>
              <a:rPr lang="en-US" sz="2800" b="1" dirty="0">
                <a:solidFill>
                  <a:schemeClr val="accent1"/>
                </a:solidFill>
              </a:rPr>
              <a:t>It can</a:t>
            </a:r>
            <a:endParaRPr lang="en-US" sz="2400" dirty="0"/>
          </a:p>
          <a:p>
            <a:pPr algn="ctr" indent="0" marL="0">
              <a:buNone/>
            </a:pPr>
            <a:r>
              <a:rPr lang="en-US" sz="2400" dirty="0">
                <a:solidFill>
                  <a:schemeClr val="tx1"/>
                </a:solidFill>
              </a:rPr>
              <a:t>read what you give it</a:t>
            </a:r>
            <a:endParaRPr lang="en-US" sz="2400" dirty="0"/>
          </a:p>
          <a:p>
            <a:pPr algn="ctr" indent="0" marL="0">
              <a:buNone/>
            </a:pPr>
            <a:r>
              <a:rPr lang="en-US" sz="2400" dirty="0">
                <a:solidFill>
                  <a:schemeClr val="tx1"/>
                </a:solidFill>
              </a:rPr>
              <a:t>draft queries and code</a:t>
            </a:r>
            <a:endParaRPr lang="en-US" sz="2400" dirty="0"/>
          </a:p>
          <a:p>
            <a:pPr algn="ctr" indent="0" marL="0">
              <a:buNone/>
            </a:pPr>
            <a:r>
              <a:rPr lang="en-US" sz="2400" dirty="0">
                <a:solidFill>
                  <a:schemeClr val="tx1"/>
                </a:solidFill>
              </a:rPr>
              <a:t>follow a written procedure</a:t>
            </a:r>
            <a:endParaRPr lang="en-US" sz="2400" dirty="0"/>
          </a:p>
        </p:txBody>
      </p:sp>
      <p:sp>
        <p:nvSpPr>
          <p:cNvPr id="4" name="shape274"/>
          <p:cNvSpPr txBox="1"/>
          <p:nvPr/>
        </p:nvSpPr>
        <p:spPr>
          <a:xfrm>
            <a:off x="6172200" y="1371600"/>
            <a:ext cx="5577840" cy="4023360"/>
          </a:xfrm>
          <a:prstGeom prst="wedgeEllipseCallout">
            <a:avLst/>
          </a:prstGeom>
          <a:solidFill>
            <a:schemeClr val="accent5"/>
          </a:solidFill>
          <a:ln/>
        </p:spPr>
        <p:txBody>
          <a:bodyPr wrap="square" lIns="76200" tIns="76200" rIns="76200" bIns="76200" rtlCol="0" anchor="ctr"/>
          <a:lstStyle/>
          <a:p>
            <a:pPr algn="ctr" indent="0" marL="0">
              <a:buNone/>
            </a:pPr>
            <a:r>
              <a:rPr lang="en-US" sz="2800" b="1" dirty="0">
                <a:solidFill>
                  <a:schemeClr val="accent2"/>
                </a:solidFill>
              </a:rPr>
              <a:t>On its own it cannot</a:t>
            </a:r>
            <a:endParaRPr lang="en-US" sz="2400" dirty="0"/>
          </a:p>
          <a:p>
            <a:pPr algn="ctr" indent="0" marL="0">
              <a:buNone/>
            </a:pPr>
            <a:r>
              <a:rPr lang="en-US" sz="2400" dirty="0">
                <a:solidFill>
                  <a:schemeClr val="tx1"/>
                </a:solidFill>
              </a:rPr>
              <a:t>see your cohort or files</a:t>
            </a:r>
            <a:endParaRPr lang="en-US" sz="2400" dirty="0"/>
          </a:p>
          <a:p>
            <a:pPr algn="ctr" indent="0" marL="0">
              <a:buNone/>
            </a:pPr>
            <a:r>
              <a:rPr lang="en-US" sz="2400" dirty="0">
                <a:solidFill>
                  <a:schemeClr val="tx1"/>
                </a:solidFill>
              </a:rPr>
              <a:t>know which scope you mean</a:t>
            </a:r>
            <a:endParaRPr lang="en-US" sz="2400" dirty="0"/>
          </a:p>
          <a:p>
            <a:pPr algn="ctr" indent="0" marL="0">
              <a:buNone/>
            </a:pPr>
            <a:r>
              <a:rPr lang="en-US" sz="2400" dirty="0">
                <a:solidFill>
                  <a:schemeClr val="tx1"/>
                </a:solidFill>
              </a:rPr>
              <a:t>tell a correct quote</a:t>
            </a:r>
            <a:endParaRPr lang="en-US" sz="2400" dirty="0"/>
          </a:p>
          <a:p>
            <a:pPr algn="ctr" indent="0" marL="0">
              <a:buNone/>
            </a:pPr>
            <a:r>
              <a:rPr lang="en-US" sz="2400" dirty="0">
                <a:solidFill>
                  <a:schemeClr val="tx1"/>
                </a:solidFill>
              </a:rPr>
              <a:t>from a correct claim</a:t>
            </a:r>
            <a:endParaRPr lang="en-US" sz="2400" dirty="0"/>
          </a:p>
        </p:txBody>
      </p:sp>
      <p:sp>
        <p:nvSpPr>
          <p:cNvPr id="5" name="shape276"/>
          <p:cNvSpPr/>
          <p:nvPr/>
        </p:nvSpPr>
        <p:spPr>
          <a:xfrm>
            <a:off x="5532120" y="5349240"/>
            <a:ext cx="1143000" cy="1143000"/>
          </a:xfrm>
          <a:prstGeom prst="ellipse">
            <a:avLst/>
          </a:prstGeom>
          <a:solidFill>
            <a:schemeClr val="tx2"/>
          </a:solidFill>
          <a:ln/>
        </p:spPr>
      </p:sp>
      <p:pic>
        <p:nvPicPr>
          <p:cNvPr id="6" name="robot276" descr="preencoded.png">    </p:cNvPr>
          <p:cNvPicPr>
            <a:picLocks noChangeAspect="1"/>
          </p:cNvPicPr>
          <p:nvPr/>
        </p:nvPicPr>
        <p:blipFill>
          <a:blip r:embed="rId1"/>
          <a:stretch>
            <a:fillRect/>
          </a:stretch>
        </p:blipFill>
        <p:spPr>
          <a:xfrm>
            <a:off x="5806440" y="5623560"/>
            <a:ext cx="594360" cy="594360"/>
          </a:xfrm>
          <a:prstGeom prst="rect">
            <a:avLst/>
          </a:prstGeom>
        </p:spPr>
      </p:pic>
      <p:sp>
        <p:nvSpPr>
          <p:cNvPr id="8" name="tagDot19"/>
          <p:cNvSpPr/>
          <p:nvPr/>
        </p:nvSpPr>
        <p:spPr>
          <a:xfrm>
            <a:off x="9326880" y="155448"/>
            <a:ext cx="146304" cy="146304"/>
          </a:xfrm>
          <a:prstGeom prst="ellipse">
            <a:avLst/>
          </a:prstGeom>
          <a:solidFill>
            <a:schemeClr val="accent2"/>
          </a:solidFill>
          <a:ln/>
        </p:spPr>
      </p:sp>
      <p:sp>
        <p:nvSpPr>
          <p:cNvPr id="9" name="tag19"/>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0" name="badge1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1" name="badge1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2" name="badge19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277"/>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278"/>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279"/>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280"/>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sp>
        <p:nvSpPr>
          <p:cNvPr id="10" name="tagDot20"/>
          <p:cNvSpPr/>
          <p:nvPr/>
        </p:nvSpPr>
        <p:spPr>
          <a:xfrm>
            <a:off x="9326880" y="155448"/>
            <a:ext cx="146304" cy="146304"/>
          </a:xfrm>
          <a:prstGeom prst="ellipse">
            <a:avLst/>
          </a:prstGeom>
          <a:solidFill>
            <a:schemeClr val="accent2"/>
          </a:solidFill>
          <a:ln/>
        </p:spPr>
      </p:sp>
      <p:sp>
        <p:nvSpPr>
          <p:cNvPr id="11" name="tag20"/>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2"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2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4" name="data2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5" name="badge2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281"/>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282"/>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283"/>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sp>
        <p:nvSpPr>
          <p:cNvPr id="9" name="tagDot21"/>
          <p:cNvSpPr/>
          <p:nvPr/>
        </p:nvSpPr>
        <p:spPr>
          <a:xfrm>
            <a:off x="9326880" y="155448"/>
            <a:ext cx="146304" cy="146304"/>
          </a:xfrm>
          <a:prstGeom prst="ellipse">
            <a:avLst/>
          </a:prstGeom>
          <a:solidFill>
            <a:schemeClr val="accent2"/>
          </a:solidFill>
          <a:ln/>
        </p:spPr>
      </p:sp>
      <p:sp>
        <p:nvSpPr>
          <p:cNvPr id="10" name="tag21"/>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1" name="badge2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2"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data2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4" name="badge2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How this lecture was produced</a:t>
            </a:r>
            <a:endParaRPr lang="en-US" sz="3200" dirty="0"/>
          </a:p>
        </p:txBody>
      </p:sp>
      <p:sp>
        <p:nvSpPr>
          <p:cNvPr id="3" name="shape284"/>
          <p:cNvSpPr/>
          <p:nvPr/>
        </p:nvSpPr>
        <p:spPr>
          <a:xfrm>
            <a:off x="502920" y="1417320"/>
            <a:ext cx="1097280" cy="1097280"/>
          </a:xfrm>
          <a:prstGeom prst="ellipse">
            <a:avLst/>
          </a:prstGeom>
          <a:solidFill>
            <a:schemeClr val="tx2"/>
          </a:solidFill>
          <a:ln/>
        </p:spPr>
      </p:sp>
      <p:pic>
        <p:nvPicPr>
          <p:cNvPr id="4" name="lp285" descr="preencoded.png">    </p:cNvPr>
          <p:cNvPicPr>
            <a:picLocks noChangeAspect="1"/>
          </p:cNvPicPr>
          <p:nvPr/>
        </p:nvPicPr>
        <p:blipFill>
          <a:blip r:embed="rId1"/>
          <a:stretch>
            <a:fillRect/>
          </a:stretch>
        </p:blipFill>
        <p:spPr>
          <a:xfrm>
            <a:off x="799186" y="1713586"/>
            <a:ext cx="504749" cy="504749"/>
          </a:xfrm>
          <a:prstGeom prst="rect">
            <a:avLst/>
          </a:prstGeom>
        </p:spPr>
      </p:pic>
      <p:sp>
        <p:nvSpPr>
          <p:cNvPr id="5" name="spkLabel"/>
          <p:cNvSpPr txBox="1"/>
          <p:nvPr/>
        </p:nvSpPr>
        <p:spPr>
          <a:xfrm>
            <a:off x="182880" y="2560320"/>
            <a:ext cx="1737360" cy="365760"/>
          </a:xfrm>
          <a:prstGeom prst="rect">
            <a:avLst/>
          </a:prstGeom>
          <a:noFill/>
          <a:ln/>
        </p:spPr>
        <p:txBody>
          <a:bodyPr wrap="square" rtlCol="0" anchor="ctr"/>
          <a:lstStyle/>
          <a:p>
            <a:pPr algn="ctr" indent="0" marL="0">
              <a:buNone/>
            </a:pPr>
            <a:r>
              <a:rPr lang="en-US" sz="1600" b="1" dirty="0">
                <a:solidFill>
                  <a:schemeClr val="tx2"/>
                </a:solidFill>
              </a:rPr>
              <a:t>Speaker</a:t>
            </a:r>
            <a:endParaRPr lang="en-US" sz="1600" dirty="0"/>
          </a:p>
        </p:txBody>
      </p:sp>
      <p:sp>
        <p:nvSpPr>
          <p:cNvPr id="6" name="shape286"/>
          <p:cNvSpPr/>
          <p:nvPr/>
        </p:nvSpPr>
        <p:spPr>
          <a:xfrm>
            <a:off x="2514600" y="1371600"/>
            <a:ext cx="1188720" cy="1188720"/>
          </a:xfrm>
          <a:prstGeom prst="ellipse">
            <a:avLst/>
          </a:prstGeom>
          <a:solidFill>
            <a:schemeClr val="accent1"/>
          </a:solidFill>
          <a:ln/>
        </p:spPr>
      </p:sp>
      <p:pic>
        <p:nvPicPr>
          <p:cNvPr id="7" name="lp287" descr="preencoded.png">    </p:cNvPr>
          <p:cNvPicPr>
            <a:picLocks noChangeAspect="1"/>
          </p:cNvPicPr>
          <p:nvPr/>
        </p:nvPicPr>
        <p:blipFill>
          <a:blip r:embed="rId2"/>
          <a:stretch>
            <a:fillRect/>
          </a:stretch>
        </p:blipFill>
        <p:spPr>
          <a:xfrm>
            <a:off x="2835554" y="1692554"/>
            <a:ext cx="546811" cy="546811"/>
          </a:xfrm>
          <a:prstGeom prst="rect">
            <a:avLst/>
          </a:prstGeom>
        </p:spPr>
      </p:pic>
      <p:sp>
        <p:nvSpPr>
          <p:cNvPr id="8" name="text288"/>
          <p:cNvSpPr txBox="1"/>
          <p:nvPr/>
        </p:nvSpPr>
        <p:spPr>
          <a:xfrm>
            <a:off x="2194560" y="2606040"/>
            <a:ext cx="1828800" cy="594360"/>
          </a:xfrm>
          <a:prstGeom prst="rect">
            <a:avLst/>
          </a:prstGeom>
          <a:noFill/>
          <a:ln/>
        </p:spPr>
        <p:txBody>
          <a:bodyPr wrap="square" lIns="0" tIns="0" rIns="0" bIns="0" rtlCol="0" anchor="t"/>
          <a:lstStyle/>
          <a:p>
            <a:pPr algn="ctr" indent="0" marL="0">
              <a:buNone/>
            </a:pPr>
            <a:r>
              <a:rPr lang="en-US" sz="1600" b="1" dirty="0">
                <a:solidFill>
                  <a:schemeClr val="tx2"/>
                </a:solidFill>
              </a:rPr>
              <a:t>Orchestrating</a:t>
            </a:r>
            <a:endParaRPr lang="en-US" sz="1600" dirty="0"/>
          </a:p>
          <a:p>
            <a:pPr algn="ctr" indent="0" marL="0">
              <a:buNone/>
            </a:pPr>
            <a:r>
              <a:rPr lang="en-US" sz="1600" b="1" dirty="0">
                <a:solidFill>
                  <a:schemeClr val="tx2"/>
                </a:solidFill>
              </a:rPr>
              <a:t>agent</a:t>
            </a:r>
            <a:endParaRPr lang="en-US" sz="1600" dirty="0"/>
          </a:p>
        </p:txBody>
      </p:sp>
      <p:sp>
        <p:nvSpPr>
          <p:cNvPr id="9" name="shape289"/>
          <p:cNvSpPr/>
          <p:nvPr/>
        </p:nvSpPr>
        <p:spPr>
          <a:xfrm>
            <a:off x="4617720" y="1234440"/>
            <a:ext cx="640080" cy="640080"/>
          </a:xfrm>
          <a:prstGeom prst="ellipse">
            <a:avLst/>
          </a:prstGeom>
          <a:solidFill>
            <a:schemeClr val="accent3"/>
          </a:solidFill>
          <a:ln/>
        </p:spPr>
      </p:sp>
      <p:pic>
        <p:nvPicPr>
          <p:cNvPr id="10" name="lp290" descr="preencoded.png">    </p:cNvPr>
          <p:cNvPicPr>
            <a:picLocks noChangeAspect="1"/>
          </p:cNvPicPr>
          <p:nvPr/>
        </p:nvPicPr>
        <p:blipFill>
          <a:blip r:embed="rId3"/>
          <a:stretch>
            <a:fillRect/>
          </a:stretch>
        </p:blipFill>
        <p:spPr>
          <a:xfrm>
            <a:off x="4790542" y="1407262"/>
            <a:ext cx="294437" cy="294437"/>
          </a:xfrm>
          <a:prstGeom prst="rect">
            <a:avLst/>
          </a:prstGeom>
        </p:spPr>
      </p:pic>
      <p:sp>
        <p:nvSpPr>
          <p:cNvPr id="11" name="text291"/>
          <p:cNvSpPr txBox="1"/>
          <p:nvPr/>
        </p:nvSpPr>
        <p:spPr>
          <a:xfrm>
            <a:off x="5349240" y="128016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Deck builder</a:t>
            </a:r>
            <a:endParaRPr lang="en-US" sz="1600" dirty="0"/>
          </a:p>
        </p:txBody>
      </p:sp>
      <p:sp>
        <p:nvSpPr>
          <p:cNvPr id="12" name="shape292"/>
          <p:cNvSpPr/>
          <p:nvPr/>
        </p:nvSpPr>
        <p:spPr>
          <a:xfrm>
            <a:off x="4617720" y="2011680"/>
            <a:ext cx="640080" cy="640080"/>
          </a:xfrm>
          <a:prstGeom prst="ellipse">
            <a:avLst/>
          </a:prstGeom>
          <a:solidFill>
            <a:schemeClr val="accent3"/>
          </a:solidFill>
          <a:ln/>
        </p:spPr>
      </p:sp>
      <p:pic>
        <p:nvPicPr>
          <p:cNvPr id="13" name="lp293" descr="preencoded.png">    </p:cNvPr>
          <p:cNvPicPr>
            <a:picLocks noChangeAspect="1"/>
          </p:cNvPicPr>
          <p:nvPr/>
        </p:nvPicPr>
        <p:blipFill>
          <a:blip r:embed="rId4"/>
          <a:stretch>
            <a:fillRect/>
          </a:stretch>
        </p:blipFill>
        <p:spPr>
          <a:xfrm>
            <a:off x="4790542" y="2184502"/>
            <a:ext cx="294437" cy="294437"/>
          </a:xfrm>
          <a:prstGeom prst="rect">
            <a:avLst/>
          </a:prstGeom>
        </p:spPr>
      </p:pic>
      <p:sp>
        <p:nvSpPr>
          <p:cNvPr id="14" name="text294"/>
          <p:cNvSpPr txBox="1"/>
          <p:nvPr/>
        </p:nvSpPr>
        <p:spPr>
          <a:xfrm>
            <a:off x="5349240" y="205740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Experiment builder</a:t>
            </a:r>
            <a:endParaRPr lang="en-US" sz="1600" dirty="0"/>
          </a:p>
        </p:txBody>
      </p:sp>
      <p:sp>
        <p:nvSpPr>
          <p:cNvPr id="15" name="shape295"/>
          <p:cNvSpPr/>
          <p:nvPr/>
        </p:nvSpPr>
        <p:spPr>
          <a:xfrm>
            <a:off x="4617720" y="2788920"/>
            <a:ext cx="640080" cy="640080"/>
          </a:xfrm>
          <a:prstGeom prst="ellipse">
            <a:avLst/>
          </a:prstGeom>
          <a:solidFill>
            <a:schemeClr val="accent2"/>
          </a:solidFill>
          <a:ln/>
        </p:spPr>
      </p:sp>
      <p:pic>
        <p:nvPicPr>
          <p:cNvPr id="16" name="lp296" descr="preencoded.png">    </p:cNvPr>
          <p:cNvPicPr>
            <a:picLocks noChangeAspect="1"/>
          </p:cNvPicPr>
          <p:nvPr/>
        </p:nvPicPr>
        <p:blipFill>
          <a:blip r:embed="rId5"/>
          <a:stretch>
            <a:fillRect/>
          </a:stretch>
        </p:blipFill>
        <p:spPr>
          <a:xfrm>
            <a:off x="4790542" y="2961742"/>
            <a:ext cx="294437" cy="294437"/>
          </a:xfrm>
          <a:prstGeom prst="rect">
            <a:avLst/>
          </a:prstGeom>
        </p:spPr>
      </p:pic>
      <p:sp>
        <p:nvSpPr>
          <p:cNvPr id="17" name="text297"/>
          <p:cNvSpPr txBox="1"/>
          <p:nvPr/>
        </p:nvSpPr>
        <p:spPr>
          <a:xfrm>
            <a:off x="5349240" y="283464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Brain Researcher (MCP)</a:t>
            </a:r>
            <a:endParaRPr lang="en-US" sz="1600" dirty="0"/>
          </a:p>
        </p:txBody>
      </p:sp>
      <p:sp>
        <p:nvSpPr>
          <p:cNvPr id="18" name="shape298"/>
          <p:cNvSpPr txBox="1"/>
          <p:nvPr/>
        </p:nvSpPr>
        <p:spPr>
          <a:xfrm>
            <a:off x="7498080" y="11887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Python</a:t>
            </a:r>
            <a:endParaRPr lang="en-US" sz="1600" dirty="0"/>
          </a:p>
        </p:txBody>
      </p:sp>
      <p:sp>
        <p:nvSpPr>
          <p:cNvPr id="19" name="shape299"/>
          <p:cNvSpPr txBox="1"/>
          <p:nvPr/>
        </p:nvSpPr>
        <p:spPr>
          <a:xfrm>
            <a:off x="7498080" y="16459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graph database</a:t>
            </a:r>
            <a:endParaRPr lang="en-US" sz="1600" dirty="0"/>
          </a:p>
        </p:txBody>
      </p:sp>
      <p:sp>
        <p:nvSpPr>
          <p:cNvPr id="20" name="shape300"/>
          <p:cNvSpPr txBox="1"/>
          <p:nvPr/>
        </p:nvSpPr>
        <p:spPr>
          <a:xfrm>
            <a:off x="7498080" y="21031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graph rule checks</a:t>
            </a:r>
            <a:endParaRPr lang="en-US" sz="1600" dirty="0"/>
          </a:p>
        </p:txBody>
      </p:sp>
      <p:sp>
        <p:nvSpPr>
          <p:cNvPr id="21" name="shape301"/>
          <p:cNvSpPr txBox="1"/>
          <p:nvPr/>
        </p:nvSpPr>
        <p:spPr>
          <a:xfrm>
            <a:off x="7498080" y="25603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PowerPoint render</a:t>
            </a:r>
            <a:endParaRPr lang="en-US" sz="1600" dirty="0"/>
          </a:p>
        </p:txBody>
      </p:sp>
      <p:sp>
        <p:nvSpPr>
          <p:cNvPr id="22" name="shape302"/>
          <p:cNvSpPr txBox="1"/>
          <p:nvPr/>
        </p:nvSpPr>
        <p:spPr>
          <a:xfrm>
            <a:off x="7498080" y="30175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MIT cluster (ORCD)</a:t>
            </a:r>
            <a:endParaRPr lang="en-US" sz="1600" dirty="0"/>
          </a:p>
        </p:txBody>
      </p:sp>
      <p:sp>
        <p:nvSpPr>
          <p:cNvPr id="23" name="shape303"/>
          <p:cNvSpPr/>
          <p:nvPr/>
        </p:nvSpPr>
        <p:spPr>
          <a:xfrm>
            <a:off x="9921240" y="1600200"/>
            <a:ext cx="1188720" cy="1188720"/>
          </a:xfrm>
          <a:prstGeom prst="ellipse">
            <a:avLst/>
          </a:prstGeom>
          <a:solidFill>
            <a:schemeClr val="accent1"/>
          </a:solidFill>
          <a:ln/>
        </p:spPr>
      </p:sp>
      <p:pic>
        <p:nvPicPr>
          <p:cNvPr id="24" name="lp304" descr="preencoded.png">    </p:cNvPr>
          <p:cNvPicPr>
            <a:picLocks noChangeAspect="1"/>
          </p:cNvPicPr>
          <p:nvPr/>
        </p:nvPicPr>
        <p:blipFill>
          <a:blip r:embed="rId6"/>
          <a:stretch>
            <a:fillRect/>
          </a:stretch>
        </p:blipFill>
        <p:spPr>
          <a:xfrm>
            <a:off x="10242194" y="1921154"/>
            <a:ext cx="546811" cy="546811"/>
          </a:xfrm>
          <a:prstGeom prst="rect">
            <a:avLst/>
          </a:prstGeom>
        </p:spPr>
      </p:pic>
      <p:sp>
        <p:nvSpPr>
          <p:cNvPr id="25" name="text305"/>
          <p:cNvSpPr txBox="1"/>
          <p:nvPr/>
        </p:nvSpPr>
        <p:spPr>
          <a:xfrm>
            <a:off x="9601200" y="2834640"/>
            <a:ext cx="1828800" cy="594360"/>
          </a:xfrm>
          <a:prstGeom prst="rect">
            <a:avLst/>
          </a:prstGeom>
          <a:noFill/>
          <a:ln/>
        </p:spPr>
        <p:txBody>
          <a:bodyPr wrap="square" lIns="0" tIns="0" rIns="0" bIns="0" rtlCol="0" anchor="t"/>
          <a:lstStyle/>
          <a:p>
            <a:pPr algn="ctr" indent="0" marL="0">
              <a:buNone/>
            </a:pPr>
            <a:r>
              <a:rPr lang="en-US" sz="1600" b="1" dirty="0">
                <a:solidFill>
                  <a:schemeClr val="tx2"/>
                </a:solidFill>
              </a:rPr>
              <a:t>Automated</a:t>
            </a:r>
            <a:endParaRPr lang="en-US" sz="1600" dirty="0"/>
          </a:p>
          <a:p>
            <a:pPr algn="ctr" indent="0" marL="0">
              <a:buNone/>
            </a:pPr>
            <a:r>
              <a:rPr lang="en-US" sz="1600" b="1" dirty="0">
                <a:solidFill>
                  <a:schemeClr val="tx2"/>
                </a:solidFill>
              </a:rPr>
              <a:t>checks</a:t>
            </a:r>
            <a:endParaRPr lang="en-US" sz="1600" dirty="0"/>
          </a:p>
        </p:txBody>
      </p:sp>
      <p:sp>
        <p:nvSpPr>
          <p:cNvPr id="26" name="curve306"/>
          <p:cNvSpPr/>
          <p:nvPr/>
        </p:nvSpPr>
        <p:spPr>
          <a:xfrm>
            <a:off x="1600200" y="1965960"/>
            <a:ext cx="914400" cy="9144"/>
          </a:xfrm>
          <a:custGeom>
            <a:avLst/>
            <a:gdLst/>
            <a:ahLst/>
            <a:cxnLst/>
            <a:rect l="l" t="t" r="r" b="b"/>
            <a:pathLst>
              <a:path w="914400" h="9144">
                <a:moveTo>
                  <a:pt x="0" y="0"/>
                </a:moveTo>
                <a:cubicBezTo>
                  <a:pt x="457200" y="0"/>
                  <a:pt x="457200" y="0"/>
                  <a:pt x="914400" y="0"/>
                </a:cubicBezTo>
              </a:path>
            </a:pathLst>
          </a:custGeom>
          <a:ln w="25400">
            <a:solidFill>
              <a:schemeClr val="accent3"/>
            </a:solidFill>
            <a:prstDash val="solid"/>
            <a:tailEnd type="triangle"/>
          </a:ln>
        </p:spPr>
      </p:sp>
      <p:sp>
        <p:nvSpPr>
          <p:cNvPr id="27" name="curve307"/>
          <p:cNvSpPr/>
          <p:nvPr/>
        </p:nvSpPr>
        <p:spPr>
          <a:xfrm>
            <a:off x="3703320" y="1554480"/>
            <a:ext cx="914400" cy="411480"/>
          </a:xfrm>
          <a:custGeom>
            <a:avLst/>
            <a:gdLst/>
            <a:ahLst/>
            <a:cxnLst/>
            <a:rect l="l" t="t" r="r" b="b"/>
            <a:pathLst>
              <a:path w="914400" h="411480">
                <a:moveTo>
                  <a:pt x="0" y="411480"/>
                </a:moveTo>
                <a:cubicBezTo>
                  <a:pt x="457200" y="411480"/>
                  <a:pt x="457200" y="0"/>
                  <a:pt x="914400" y="0"/>
                </a:cubicBezTo>
              </a:path>
            </a:pathLst>
          </a:custGeom>
          <a:ln w="25400">
            <a:solidFill>
              <a:schemeClr val="accent3"/>
            </a:solidFill>
            <a:prstDash val="solid"/>
            <a:tailEnd type="triangle"/>
          </a:ln>
        </p:spPr>
      </p:sp>
      <p:sp>
        <p:nvSpPr>
          <p:cNvPr id="28" name="curve308"/>
          <p:cNvSpPr/>
          <p:nvPr/>
        </p:nvSpPr>
        <p:spPr>
          <a:xfrm>
            <a:off x="3703320" y="1965960"/>
            <a:ext cx="914400" cy="365760"/>
          </a:xfrm>
          <a:custGeom>
            <a:avLst/>
            <a:gdLst/>
            <a:ahLst/>
            <a:cxnLst/>
            <a:rect l="l" t="t" r="r" b="b"/>
            <a:pathLst>
              <a:path w="914400" h="365760">
                <a:moveTo>
                  <a:pt x="0" y="0"/>
                </a:moveTo>
                <a:cubicBezTo>
                  <a:pt x="457200" y="0"/>
                  <a:pt x="457200" y="365760"/>
                  <a:pt x="914400" y="365760"/>
                </a:cubicBezTo>
              </a:path>
            </a:pathLst>
          </a:custGeom>
          <a:ln w="25400">
            <a:solidFill>
              <a:schemeClr val="accent3"/>
            </a:solidFill>
            <a:prstDash val="solid"/>
            <a:tailEnd type="triangle"/>
          </a:ln>
        </p:spPr>
      </p:sp>
      <p:sp>
        <p:nvSpPr>
          <p:cNvPr id="29" name="curve309"/>
          <p:cNvSpPr/>
          <p:nvPr/>
        </p:nvSpPr>
        <p:spPr>
          <a:xfrm>
            <a:off x="3703320" y="1965960"/>
            <a:ext cx="914400" cy="1143000"/>
          </a:xfrm>
          <a:custGeom>
            <a:avLst/>
            <a:gdLst/>
            <a:ahLst/>
            <a:cxnLst/>
            <a:rect l="l" t="t" r="r" b="b"/>
            <a:pathLst>
              <a:path w="914400" h="1143000">
                <a:moveTo>
                  <a:pt x="0" y="0"/>
                </a:moveTo>
                <a:cubicBezTo>
                  <a:pt x="457200" y="0"/>
                  <a:pt x="457200" y="1143000"/>
                  <a:pt x="914400" y="1143000"/>
                </a:cubicBezTo>
              </a:path>
            </a:pathLst>
          </a:custGeom>
          <a:ln w="25400">
            <a:solidFill>
              <a:schemeClr val="accent3"/>
            </a:solidFill>
            <a:prstDash val="dash"/>
            <a:tailEnd type="triangle"/>
          </a:ln>
        </p:spPr>
      </p:sp>
      <p:sp>
        <p:nvSpPr>
          <p:cNvPr id="30" name="curve310"/>
          <p:cNvSpPr/>
          <p:nvPr/>
        </p:nvSpPr>
        <p:spPr>
          <a:xfrm>
            <a:off x="7086600" y="2103120"/>
            <a:ext cx="411480" cy="9144"/>
          </a:xfrm>
          <a:custGeom>
            <a:avLst/>
            <a:gdLst/>
            <a:ahLst/>
            <a:cxnLst/>
            <a:rect l="l" t="t" r="r" b="b"/>
            <a:pathLst>
              <a:path w="411480" h="9144">
                <a:moveTo>
                  <a:pt x="0" y="0"/>
                </a:moveTo>
                <a:cubicBezTo>
                  <a:pt x="205740" y="0"/>
                  <a:pt x="205740" y="0"/>
                  <a:pt x="411480" y="0"/>
                </a:cubicBezTo>
              </a:path>
            </a:pathLst>
          </a:custGeom>
          <a:ln w="25400">
            <a:solidFill>
              <a:schemeClr val="accent3"/>
            </a:solidFill>
            <a:prstDash val="solid"/>
            <a:tailEnd type="triangle"/>
          </a:ln>
        </p:spPr>
      </p:sp>
      <p:sp>
        <p:nvSpPr>
          <p:cNvPr id="31" name="curve311"/>
          <p:cNvSpPr/>
          <p:nvPr/>
        </p:nvSpPr>
        <p:spPr>
          <a:xfrm>
            <a:off x="9464040" y="2103120"/>
            <a:ext cx="457200" cy="91440"/>
          </a:xfrm>
          <a:custGeom>
            <a:avLst/>
            <a:gdLst/>
            <a:ahLst/>
            <a:cxnLst/>
            <a:rect l="l" t="t" r="r" b="b"/>
            <a:pathLst>
              <a:path w="457200" h="91440">
                <a:moveTo>
                  <a:pt x="0" y="0"/>
                </a:moveTo>
                <a:cubicBezTo>
                  <a:pt x="228600" y="0"/>
                  <a:pt x="228600" y="91440"/>
                  <a:pt x="457200" y="91440"/>
                </a:cubicBezTo>
              </a:path>
            </a:pathLst>
          </a:custGeom>
          <a:ln w="25400">
            <a:solidFill>
              <a:schemeClr val="accent3"/>
            </a:solidFill>
            <a:prstDash val="solid"/>
            <a:tailEnd type="triangle"/>
          </a:ln>
        </p:spPr>
      </p:sp>
      <p:sp>
        <p:nvSpPr>
          <p:cNvPr id="32" name="curve312"/>
          <p:cNvSpPr/>
          <p:nvPr/>
        </p:nvSpPr>
        <p:spPr>
          <a:xfrm>
            <a:off x="1051560" y="2971800"/>
            <a:ext cx="9464040" cy="1234440"/>
          </a:xfrm>
          <a:custGeom>
            <a:avLst/>
            <a:gdLst/>
            <a:ahLst/>
            <a:cxnLst/>
            <a:rect l="l" t="t" r="r" b="b"/>
            <a:pathLst>
              <a:path w="9464040" h="1234440">
                <a:moveTo>
                  <a:pt x="9464040" y="457200"/>
                </a:moveTo>
                <a:cubicBezTo>
                  <a:pt x="9464040" y="1234440"/>
                  <a:pt x="0" y="777240"/>
                  <a:pt x="0" y="0"/>
                </a:cubicBezTo>
              </a:path>
            </a:pathLst>
          </a:custGeom>
          <a:ln w="31750">
            <a:solidFill>
              <a:schemeClr val="accent2"/>
            </a:solidFill>
            <a:prstDash val="solid"/>
            <a:tailEnd type="triangle"/>
          </a:ln>
        </p:spPr>
      </p:sp>
      <p:sp>
        <p:nvSpPr>
          <p:cNvPr id="33" name="text313"/>
          <p:cNvSpPr txBox="1"/>
          <p:nvPr/>
        </p:nvSpPr>
        <p:spPr>
          <a:xfrm>
            <a:off x="4206240" y="3840480"/>
            <a:ext cx="3840480" cy="365760"/>
          </a:xfrm>
          <a:prstGeom prst="rect">
            <a:avLst/>
          </a:prstGeom>
          <a:noFill/>
          <a:ln/>
        </p:spPr>
        <p:txBody>
          <a:bodyPr wrap="square" lIns="0" tIns="0" rIns="0" bIns="0" rtlCol="0" anchor="t"/>
          <a:lstStyle/>
          <a:p>
            <a:pPr algn="ctr" indent="0" marL="0">
              <a:buNone/>
            </a:pPr>
            <a:r>
              <a:rPr lang="en-US" sz="1600" i="1" dirty="0">
                <a:solidFill>
                  <a:schemeClr val="accent2"/>
                </a:solidFill>
              </a:rPr>
              <a:t>speaker review of every slide</a:t>
            </a:r>
            <a:endParaRPr lang="en-US" sz="1600" dirty="0"/>
          </a:p>
        </p:txBody>
      </p:sp>
      <p:sp>
        <p:nvSpPr>
          <p:cNvPr id="34" name="text314"/>
          <p:cNvSpPr txBox="1"/>
          <p:nvPr/>
        </p:nvSpPr>
        <p:spPr>
          <a:xfrm>
            <a:off x="502920" y="4297680"/>
            <a:ext cx="5394960" cy="384048"/>
          </a:xfrm>
          <a:prstGeom prst="rect">
            <a:avLst/>
          </a:prstGeom>
          <a:noFill/>
          <a:ln/>
        </p:spPr>
        <p:txBody>
          <a:bodyPr wrap="square" lIns="0" tIns="0" rIns="0" bIns="0" rtlCol="0" anchor="t"/>
          <a:lstStyle/>
          <a:p>
            <a:pPr indent="0" marL="0">
              <a:buNone/>
            </a:pPr>
            <a:r>
              <a:rPr lang="en-US" sz="1800" b="1" dirty="0">
                <a:solidFill>
                  <a:schemeClr val="accent2"/>
                </a:solidFill>
              </a:rPr>
              <a:t>Caught by the speaker</a:t>
            </a:r>
            <a:endParaRPr lang="en-US" sz="1800" dirty="0"/>
          </a:p>
        </p:txBody>
      </p:sp>
      <p:sp>
        <p:nvSpPr>
          <p:cNvPr id="35" name="text315"/>
          <p:cNvSpPr txBox="1"/>
          <p:nvPr/>
        </p:nvSpPr>
        <p:spPr>
          <a:xfrm>
            <a:off x="6263640" y="4297680"/>
            <a:ext cx="5394960" cy="384048"/>
          </a:xfrm>
          <a:prstGeom prst="rect">
            <a:avLst/>
          </a:prstGeom>
          <a:noFill/>
          <a:ln/>
        </p:spPr>
        <p:txBody>
          <a:bodyPr wrap="square" lIns="0" tIns="0" rIns="0" bIns="0" rtlCol="0" anchor="t"/>
          <a:lstStyle/>
          <a:p>
            <a:pPr indent="0" marL="0">
              <a:buNone/>
            </a:pPr>
            <a:r>
              <a:rPr lang="en-US" sz="1800" b="1" dirty="0">
                <a:solidFill>
                  <a:schemeClr val="accent1"/>
                </a:solidFill>
              </a:rPr>
              <a:t>Caught by automated checks</a:t>
            </a:r>
            <a:endParaRPr lang="en-US" sz="1800" dirty="0"/>
          </a:p>
        </p:txBody>
      </p:sp>
      <p:sp>
        <p:nvSpPr>
          <p:cNvPr id="36" name="shape316"/>
          <p:cNvSpPr txBox="1"/>
          <p:nvPr/>
        </p:nvSpPr>
        <p:spPr>
          <a:xfrm>
            <a:off x="502920" y="4709160"/>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Consent wording: scoped consent, not “no consent”</a:t>
            </a:r>
            <a:endParaRPr lang="en-US" sz="1600" dirty="0"/>
          </a:p>
        </p:txBody>
      </p:sp>
      <p:sp>
        <p:nvSpPr>
          <p:cNvPr id="37" name="shape317"/>
          <p:cNvSpPr txBox="1"/>
          <p:nvPr/>
        </p:nvSpPr>
        <p:spPr>
          <a:xfrm>
            <a:off x="502920" y="5138928"/>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Kim 2023 question paraphrased wrongly; fixed from source</a:t>
            </a:r>
            <a:endParaRPr lang="en-US" sz="1600" dirty="0"/>
          </a:p>
        </p:txBody>
      </p:sp>
      <p:sp>
        <p:nvSpPr>
          <p:cNvPr id="38" name="shape318"/>
          <p:cNvSpPr txBox="1"/>
          <p:nvPr/>
        </p:nvSpPr>
        <p:spPr>
          <a:xfrm>
            <a:off x="502920" y="5568696"/>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AbstractAtlas links dropped, then restored</a:t>
            </a:r>
            <a:endParaRPr lang="en-US" sz="1600" dirty="0"/>
          </a:p>
        </p:txBody>
      </p:sp>
      <p:sp>
        <p:nvSpPr>
          <p:cNvPr id="39" name="shape319"/>
          <p:cNvSpPr txBox="1"/>
          <p:nvPr/>
        </p:nvSpPr>
        <p:spPr>
          <a:xfrm>
            <a:off x="502920" y="5998464"/>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LLM-style footers and titles removed</a:t>
            </a:r>
            <a:endParaRPr lang="en-US" sz="1600" dirty="0"/>
          </a:p>
        </p:txBody>
      </p:sp>
      <p:sp>
        <p:nvSpPr>
          <p:cNvPr id="40" name="shape320"/>
          <p:cNvSpPr txBox="1"/>
          <p:nvPr/>
        </p:nvSpPr>
        <p:spPr>
          <a:xfrm>
            <a:off x="6263640" y="4709160"/>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Failed ORCD job: invalid p-values</a:t>
            </a:r>
            <a:endParaRPr lang="en-US" sz="1600" dirty="0"/>
          </a:p>
        </p:txBody>
      </p:sp>
      <p:sp>
        <p:nvSpPr>
          <p:cNvPr id="41" name="shape321"/>
          <p:cNvSpPr txBox="1"/>
          <p:nvPr/>
        </p:nvSpPr>
        <p:spPr>
          <a:xfrm>
            <a:off x="6263640" y="5138928"/>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Clean rebuild caught a blocked download (HTTP 403)</a:t>
            </a:r>
            <a:endParaRPr lang="en-US" sz="1600" dirty="0"/>
          </a:p>
        </p:txBody>
      </p:sp>
      <p:sp>
        <p:nvSpPr>
          <p:cNvPr id="42" name="shape322"/>
          <p:cNvSpPr txBox="1"/>
          <p:nvPr/>
        </p:nvSpPr>
        <p:spPr>
          <a:xfrm>
            <a:off x="6263640" y="5568696"/>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Two agents reconstructed the same cohorts differently</a:t>
            </a:r>
            <a:endParaRPr lang="en-US" sz="1600" dirty="0"/>
          </a:p>
        </p:txBody>
      </p:sp>
      <p:sp>
        <p:nvSpPr>
          <p:cNvPr id="43" name="shape323"/>
          <p:cNvSpPr txBox="1"/>
          <p:nvPr/>
        </p:nvSpPr>
        <p:spPr>
          <a:xfrm>
            <a:off x="6263640" y="5998464"/>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UMAP values drift across machines; all else matched</a:t>
            </a:r>
            <a:endParaRPr lang="en-US" sz="1600" dirty="0"/>
          </a:p>
        </p:txBody>
      </p:sp>
      <p:sp>
        <p:nvSpPr>
          <p:cNvPr id="45" name="tagDot22"/>
          <p:cNvSpPr/>
          <p:nvPr/>
        </p:nvSpPr>
        <p:spPr>
          <a:xfrm>
            <a:off x="9326880" y="155448"/>
            <a:ext cx="146304" cy="146304"/>
          </a:xfrm>
          <a:prstGeom prst="ellipse">
            <a:avLst/>
          </a:prstGeom>
          <a:solidFill>
            <a:schemeClr val="accent2"/>
          </a:solidFill>
          <a:ln/>
        </p:spPr>
      </p:sp>
      <p:sp>
        <p:nvSpPr>
          <p:cNvPr id="46" name="tag2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47" name="badge2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8"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9" name="badge22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24"/>
          <p:cNvSpPr/>
          <p:nvPr/>
        </p:nvSpPr>
        <p:spPr>
          <a:xfrm>
            <a:off x="548640" y="1298448"/>
            <a:ext cx="237744" cy="237744"/>
          </a:xfrm>
          <a:prstGeom prst="ellipse">
            <a:avLst/>
          </a:prstGeom>
          <a:solidFill>
            <a:schemeClr val="accent1"/>
          </a:solidFill>
          <a:ln/>
        </p:spPr>
      </p:sp>
      <p:sp>
        <p:nvSpPr>
          <p:cNvPr id="4" name="text325"/>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26"/>
          <p:cNvSpPr/>
          <p:nvPr/>
        </p:nvSpPr>
        <p:spPr>
          <a:xfrm>
            <a:off x="5760720" y="1298448"/>
            <a:ext cx="237744" cy="237744"/>
          </a:xfrm>
          <a:prstGeom prst="ellipse">
            <a:avLst/>
          </a:prstGeom>
          <a:solidFill>
            <a:schemeClr val="tx2"/>
          </a:solidFill>
          <a:ln/>
        </p:spPr>
      </p:sp>
      <p:sp>
        <p:nvSpPr>
          <p:cNvPr id="6" name="text327"/>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28"/>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29"/>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30"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31"/>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32"/>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33"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34"/>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35"/>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36"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37"/>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38"/>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39"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40"/>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41"/>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42"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43"/>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sp>
        <p:nvSpPr>
          <p:cNvPr id="24" name="tagDot23"/>
          <p:cNvSpPr/>
          <p:nvPr/>
        </p:nvSpPr>
        <p:spPr>
          <a:xfrm>
            <a:off x="9326880" y="155448"/>
            <a:ext cx="146304" cy="146304"/>
          </a:xfrm>
          <a:prstGeom prst="ellipse">
            <a:avLst/>
          </a:prstGeom>
          <a:solidFill>
            <a:schemeClr val="accent3"/>
          </a:solidFill>
          <a:ln/>
        </p:spPr>
      </p:sp>
      <p:sp>
        <p:nvSpPr>
          <p:cNvPr id="25" name="tag2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Objectives 1 and 2</a:t>
            </a:r>
            <a:endParaRPr lang="en-US" sz="1300" dirty="0"/>
          </a:p>
        </p:txBody>
      </p:sp>
      <p:sp>
        <p:nvSpPr>
          <p:cNvPr id="26" name="badge2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7"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8" name="badge23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4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4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44"/>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45"/>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46"/>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47"/>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48"/>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49"/>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50"/>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5"/>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5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51"/>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52"/>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53"/>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354"/>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355"/>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356"/>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357"/>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358"/>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359"/>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360"/>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361"/>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362"/>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363"/>
          <p:cNvSpPr/>
          <p:nvPr/>
        </p:nvSpPr>
        <p:spPr>
          <a:xfrm>
            <a:off x="822960" y="6035040"/>
            <a:ext cx="10058400" cy="914"/>
          </a:xfrm>
          <a:prstGeom prst="line">
            <a:avLst/>
          </a:prstGeom>
          <a:noFill/>
          <a:ln w="25400">
            <a:solidFill>
              <a:schemeClr val="accent3"/>
            </a:solidFill>
            <a:prstDash val="solid"/>
            <a:tailEnd type="triangle"/>
          </a:ln>
        </p:spPr>
      </p:sp>
      <p:sp>
        <p:nvSpPr>
          <p:cNvPr id="16" name="text364"/>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365"/>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6"/>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6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366"/>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367"/>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368"/>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369"/>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370"/>
          <p:cNvSpPr/>
          <p:nvPr/>
        </p:nvSpPr>
        <p:spPr>
          <a:xfrm>
            <a:off x="502920" y="1188720"/>
            <a:ext cx="502920" cy="502920"/>
          </a:xfrm>
          <a:prstGeom prst="ellipse">
            <a:avLst/>
          </a:prstGeom>
          <a:solidFill>
            <a:schemeClr val="accent1"/>
          </a:solidFill>
          <a:ln/>
        </p:spPr>
      </p:sp>
      <p:pic>
        <p:nvPicPr>
          <p:cNvPr id="8" name="setIcon371"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372"/>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373"/>
          <p:cNvSpPr/>
          <p:nvPr/>
        </p:nvSpPr>
        <p:spPr>
          <a:xfrm>
            <a:off x="4480560" y="1581912"/>
            <a:ext cx="502920" cy="502920"/>
          </a:xfrm>
          <a:prstGeom prst="ellipse">
            <a:avLst/>
          </a:prstGeom>
          <a:solidFill>
            <a:schemeClr val="tx2"/>
          </a:solidFill>
          <a:ln/>
        </p:spPr>
      </p:sp>
      <p:pic>
        <p:nvPicPr>
          <p:cNvPr id="11" name="setIcon374"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375"/>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376"/>
          <p:cNvSpPr/>
          <p:nvPr/>
        </p:nvSpPr>
        <p:spPr>
          <a:xfrm>
            <a:off x="7772400" y="1856232"/>
            <a:ext cx="502920" cy="502920"/>
          </a:xfrm>
          <a:prstGeom prst="ellipse">
            <a:avLst/>
          </a:prstGeom>
          <a:solidFill>
            <a:schemeClr val="accent3"/>
          </a:solidFill>
          <a:ln/>
        </p:spPr>
      </p:sp>
      <p:pic>
        <p:nvPicPr>
          <p:cNvPr id="14" name="setIcon377"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378"/>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379"/>
          <p:cNvSpPr/>
          <p:nvPr/>
        </p:nvSpPr>
        <p:spPr>
          <a:xfrm>
            <a:off x="9921240" y="2084832"/>
            <a:ext cx="502920" cy="502920"/>
          </a:xfrm>
          <a:prstGeom prst="ellipse">
            <a:avLst/>
          </a:prstGeom>
          <a:solidFill>
            <a:schemeClr val="accent2"/>
          </a:solidFill>
          <a:ln/>
        </p:spPr>
      </p:sp>
      <p:pic>
        <p:nvPicPr>
          <p:cNvPr id="17" name="setIcon380"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381"/>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382"/>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383"/>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384"/>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385"/>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386"/>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387"/>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388"/>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389"/>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390"/>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391"/>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392"/>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393"/>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394"/>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7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7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395"/>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396"/>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397"/>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398"/>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399"/>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01"/>
          <p:cNvSpPr/>
          <p:nvPr/>
        </p:nvSpPr>
        <p:spPr>
          <a:xfrm>
            <a:off x="548640" y="4160520"/>
            <a:ext cx="685800" cy="685800"/>
          </a:xfrm>
          <a:prstGeom prst="ellipse">
            <a:avLst/>
          </a:prstGeom>
          <a:solidFill>
            <a:schemeClr val="accent1"/>
          </a:solidFill>
          <a:ln/>
        </p:spPr>
      </p:sp>
      <p:pic>
        <p:nvPicPr>
          <p:cNvPr id="9" name="check401"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02"/>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03"/>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04"/>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05"/>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06"/>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28"/>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28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07"/>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08"/>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09"/>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10"/>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11"/>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12"/>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13"/>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9"/>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9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0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0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0"/>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1"/>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1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2"/>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2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3"/>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3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4"/>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5"/>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5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6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9"/>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9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14"/>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15"/>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48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16"/>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417"/>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418"/>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419"/>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420"/>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21"/>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422"/>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23"/>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424"/>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25"/>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426"/>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27"/>
          <p:cNvSpPr/>
          <p:nvPr/>
        </p:nvSpPr>
        <p:spPr>
          <a:xfrm>
            <a:off x="7269480" y="3566160"/>
            <a:ext cx="914" cy="1691640"/>
          </a:xfrm>
          <a:prstGeom prst="line">
            <a:avLst/>
          </a:prstGeom>
          <a:noFill/>
          <a:ln w="25400">
            <a:solidFill>
              <a:schemeClr val="accent3"/>
            </a:solidFill>
            <a:prstDash val="solid"/>
            <a:tailEnd type="triangle"/>
          </a:ln>
        </p:spPr>
      </p:sp>
      <p:sp>
        <p:nvSpPr>
          <p:cNvPr id="15" name="text428"/>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4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4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49"/>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49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29"/>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30"/>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31"/>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32"/>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33"/>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34"/>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35"/>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36"/>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37"/>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38"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39"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2"/>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2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3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3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40"/>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41"/>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42"/>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43"/>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44"/>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45"/>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46"/>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47"/>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48"/>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49"/>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50"/>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51"/>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52"/>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53"/>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454"/>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455"/>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456"/>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457"/>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458"/>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5"/>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5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2026-10-15T22:38:22Z</dcterms:created>
  <dcterms:modified xsi:type="dcterms:W3CDTF">2026-10-15T22:38:22Z</dcterms:modified>
</cp:coreProperties>
</file>
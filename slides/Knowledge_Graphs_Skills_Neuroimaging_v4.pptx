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b30af5e3-f2e1-df9d-cb72-b398c9c933e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Backup" id="{46230df5-d749-a6ee-8ed7-23a95eaba494}">
          <p14:sldIdLst>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topic, two forms. The Wikipedia article on the hippocampus is written for people: it opens by calling the hippocampus “a major component of the brain of humans and many other vertebrates”, and it exists in 62 languages. Wikidata holds the same topic as one item, Q48360, linked to all 62 articles by sitelinks, and says it as statements a program can use: part of the temporal lobe, subclass of brain region, instance of brain region type. A person reads the article; a program or an AI assistant needs statements with identifiers. Those identifiers matter most: the item carries 48 external identifiers, including InterLex birnlex_721, NeuroNames 3157, FMA 275020, MeSH D006624 and OpenAlex C2781161787, and they are what let one graph be joined to another, which is exactly what this talk does with datasets and papers. Two limits carry over to our own graphs. Wikidata has no UBERON identifier for the hippocampus, so a join on UBERON would miss it: it is not recorded. And the query at the bottom, which regions are part of the temporal lobe, returns five items, archicortex, auditory cortex, entorhinal cortex, hippocampus and one item with no English label, because the answer holds only what someone has recorded, not what anatomy says. Sources: slides/demo/wikidata_SOURCE.md (Q48360 revision 2516828778; English Wikipedia revision 1374836959; query run on query.wikidata.org on 2026-10-16).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Before the worked examples, where a graph comes from. There are three starting points, and which lane you start in depends on what you have. If you have your own data, start with the dataset lane: PyNIDM's bidsmri2nidm and csv2nidm turn a BIDS dataset and its phenotype tables into NIDM, ReproNim's NIDM BIDS apps add FreeSurfer, ANTs and MRIQC outputs as NIDM, and the neuroimaging-kg skill (sensein/agent_skills PR #49) wraps these steps with validation and provenance. If you want what one paper reports, StructSense extracts named entities and resources such as datasets and tools, with the span of text each came from. If your question spans a literature, SynthScholar runs a systematic review from a protocol through search, screening and charting, and writes the result as a review graph. Questionnaires have their own route: ReproSchema Extraction turns a PDF questionnaire into ReproSchema assessments. All three lanes end as graphs that carry shared identifiers (participant IDs, dataset accessions, DOIs, ORCIDs), so they can be ingested into BrainKB (the sandbox's Ingest Knowledge Graph page, with a job-status page), queried with the brainkb skill or the BrainKB MCP server, and joined to each other: that is Objective 2. How this slide was checked: the sandbox page names were identified from the brainkb-ui source code (commit a4815a3) and were not exercised in this session, because the browser was unavailable, hence 'unverified'. The three 'used in this talk' examples were run: the ABIDE I graph (Knowledge graph around a single participant; Joining graphs through shared identifiers), the Caltech one-site build (the two live-demo slides), the Kim 2023 claims from the StructSense pilot (Linking a claim to its evaluation and cohort; backup: StructSense extraction pilot), and the 74-study SynthScholar review (Evaluation schemes in 74 ABIDE studies; Asking Claude about the literature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(1727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1:00 Wikipedia and Wikidata, 0:40 objectives, 0:30 the two datasets, 1:00 four-statement primer; objective 1: 1:00 dataset and publication components, 1:00 building a graph from a dataset, a paper or a set of papers, 0:30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1:15 demo 1, 1:15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eproNim/llm-workshop-kg" TargetMode="External"/><Relationship Id="rId3" Type="http://schemas.openxmlformats.org/officeDocument/2006/relationships/hyperlink" Target="https://github.com/ReproNim/llm-workshop-kg"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1800" b="1" dirty="0">
                <a:solidFill>
                  <a:schemeClr val="bg2"/>
                </a:solidFill>
              </a:rPr>
              <a:t>Satrajit Ghosh</a:t>
            </a:r>
            <a:endParaRPr lang="en-US" sz="2000" dirty="0"/>
          </a:p>
        </p:txBody>
      </p:sp>
      <p:pic>
        <p:nvPicPr>
          <p:cNvPr id="4" name="repoQR" descr="/Users/satra/software/repronim/llm-workshop-kg/slides/figs_slide/repo_qr.png">
            <a:hlinkClick r:id="rId2" tooltip="github.com/ReproNim/llm-workshop-kg"/>
          </p:cNvPr>
          <p:cNvPicPr>
            <a:picLocks noChangeAspect="1"/>
          </p:cNvPicPr>
          <p:nvPr/>
        </p:nvPicPr>
        <p:blipFill>
          <a:blip r:embed="rId1"/>
          <a:stretch>
            <a:fillRect/>
          </a:stretch>
        </p:blipFill>
        <p:spPr>
          <a:xfrm>
            <a:off x="731520" y="4251960"/>
            <a:ext cx="1554480" cy="1554480"/>
          </a:xfrm>
          <a:prstGeom prst="rect">
            <a:avLst/>
          </a:prstGeom>
        </p:spPr>
      </p:pic>
      <p:sp>
        <p:nvSpPr>
          <p:cNvPr id="5" name="text1"/>
          <p:cNvSpPr txBox="1"/>
          <p:nvPr/>
        </p:nvSpPr>
        <p:spPr>
          <a:xfrm>
            <a:off x="2468880" y="4572000"/>
            <a:ext cx="3840480" cy="868680"/>
          </a:xfrm>
          <a:prstGeom prst="rect">
            <a:avLst/>
          </a:prstGeom>
          <a:noFill/>
          <a:ln/>
        </p:spPr>
        <p:txBody>
          <a:bodyPr wrap="square" lIns="0" tIns="0" rIns="0" bIns="0" rtlCol="0" anchor="ctr"/>
          <a:lstStyle/>
          <a:p>
            <a:pPr indent="0" marL="0">
              <a:buNone/>
            </a:pPr>
            <a:r>
              <a:rPr lang="en-US" sz="1400" dirty="0">
                <a:solidFill>
                  <a:srgbClr val="C9D3D7"/>
                </a:solidFill>
              </a:rPr>
              <a:t>Slides, code, graphs and provenance</a:t>
            </a:r>
            <a:endParaRPr lang="en-US" sz="1800" dirty="0"/>
          </a:p>
          <a:p>
            <a:pPr indent="0" marL="0">
              <a:buNone/>
            </a:pPr>
            <a:r>
              <a:rPr lang="en-US" sz="16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github.com/ReproNim/llm-workshop-kg</a:t>
            </a:r>
            <a:endParaRPr lang="en-US" sz="1800" dirty="0"/>
          </a:p>
        </p:txBody>
      </p:sp>
      <p:sp>
        <p:nvSpPr>
          <p:cNvPr id="6" name="text2"/>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7" name="text3"/>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8"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9" name="text4"/>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10"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11" name="text5"/>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2"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3" name="text6"/>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4"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5" name="text7"/>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6"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7" name="text8"/>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8"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9" name="text9"/>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20" name="text10"/>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21" name="text11"/>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2" name="text12"/>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3" name="text13"/>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4" name="text14"/>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6"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7"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8"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Wikipedia and Wikidata: prose and a structured graph</a:t>
            </a:r>
            <a:endParaRPr lang="en-US" sz="3200" dirty="0"/>
          </a:p>
        </p:txBody>
      </p:sp>
      <p:sp>
        <p:nvSpPr>
          <p:cNvPr id="3" name="text15"/>
          <p:cNvSpPr txBox="1"/>
          <p:nvPr/>
        </p:nvSpPr>
        <p:spPr>
          <a:xfrm>
            <a:off x="411480" y="1325880"/>
            <a:ext cx="3657600" cy="411480"/>
          </a:xfrm>
          <a:prstGeom prst="rect">
            <a:avLst/>
          </a:prstGeom>
          <a:noFill/>
          <a:ln/>
        </p:spPr>
        <p:txBody>
          <a:bodyPr wrap="square" lIns="0" tIns="0" rIns="0" bIns="0" rtlCol="0" anchor="ctr"/>
          <a:lstStyle/>
          <a:p>
            <a:pPr indent="0" marL="0">
              <a:buNone/>
            </a:pPr>
            <a:r>
              <a:rPr lang="en-US" sz="1800" b="1" dirty="0">
                <a:solidFill>
                  <a:schemeClr val="tx2"/>
                </a:solidFill>
              </a:rPr>
              <a:t>Wikipedia: written for people</a:t>
            </a:r>
            <a:endParaRPr lang="en-US" sz="1800" dirty="0"/>
          </a:p>
        </p:txBody>
      </p:sp>
      <p:sp>
        <p:nvSpPr>
          <p:cNvPr id="4" name="text16"/>
          <p:cNvSpPr txBox="1"/>
          <p:nvPr/>
        </p:nvSpPr>
        <p:spPr>
          <a:xfrm>
            <a:off x="5760720" y="1325880"/>
            <a:ext cx="6035040" cy="411480"/>
          </a:xfrm>
          <a:prstGeom prst="rect">
            <a:avLst/>
          </a:prstGeom>
          <a:noFill/>
          <a:ln/>
        </p:spPr>
        <p:txBody>
          <a:bodyPr wrap="square" lIns="0" tIns="0" rIns="0" bIns="0" rtlCol="0" anchor="ctr"/>
          <a:lstStyle/>
          <a:p>
            <a:pPr indent="0" marL="0">
              <a:buNone/>
            </a:pPr>
            <a:r>
              <a:rPr lang="en-US" sz="1800" b="1" dirty="0">
                <a:solidFill>
                  <a:schemeClr val="tx2"/>
                </a:solidFill>
              </a:rPr>
              <a:t>Wikidata: statements a program can use</a:t>
            </a:r>
            <a:endParaRPr lang="en-US" sz="1800" dirty="0"/>
          </a:p>
        </p:txBody>
      </p:sp>
      <p:sp>
        <p:nvSpPr>
          <p:cNvPr id="5" name="shape17"/>
          <p:cNvSpPr/>
          <p:nvPr/>
        </p:nvSpPr>
        <p:spPr>
          <a:xfrm>
            <a:off x="411480" y="1810512"/>
            <a:ext cx="3520440" cy="2743200"/>
          </a:xfrm>
          <a:prstGeom prst="roundRect">
            <a:avLst>
              <a:gd name="adj" fmla="val 2000"/>
            </a:avLst>
          </a:prstGeom>
          <a:solidFill>
            <a:schemeClr val="bg1"/>
          </a:solidFill>
          <a:ln w="19050">
            <a:solidFill>
              <a:srgbClr val="C9D3D7"/>
            </a:solidFill>
            <a:prstDash val="solid"/>
          </a:ln>
        </p:spPr>
      </p:sp>
      <p:sp>
        <p:nvSpPr>
          <p:cNvPr id="6" name="text18"/>
          <p:cNvSpPr txBox="1"/>
          <p:nvPr/>
        </p:nvSpPr>
        <p:spPr>
          <a:xfrm>
            <a:off x="621792" y="1901952"/>
            <a:ext cx="3108960" cy="457200"/>
          </a:xfrm>
          <a:prstGeom prst="rect">
            <a:avLst/>
          </a:prstGeom>
          <a:noFill/>
          <a:ln/>
        </p:spPr>
        <p:txBody>
          <a:bodyPr wrap="square" lIns="0" tIns="0" rIns="0" bIns="0" rtlCol="0" anchor="ctr"/>
          <a:lstStyle/>
          <a:p>
            <a:pPr indent="0" marL="0">
              <a:buNone/>
            </a:pPr>
            <a:r>
              <a:rPr lang="en-US" sz="2400" dirty="0">
                <a:solidFill>
                  <a:schemeClr val="tx1"/>
                </a:solidFill>
                <a:latin typeface="Georgia" pitchFamily="34" charset="0"/>
                <a:ea typeface="Georgia" pitchFamily="34" charset="-122"/>
                <a:cs typeface="Georgia" pitchFamily="34" charset="-120"/>
              </a:rPr>
              <a:t>Hippocampus</a:t>
            </a:r>
            <a:endParaRPr lang="en-US" sz="2400" dirty="0"/>
          </a:p>
        </p:txBody>
      </p:sp>
      <p:sp>
        <p:nvSpPr>
          <p:cNvPr id="7" name="shape19"/>
          <p:cNvSpPr/>
          <p:nvPr/>
        </p:nvSpPr>
        <p:spPr>
          <a:xfrm>
            <a:off x="621792" y="2377440"/>
            <a:ext cx="3108960" cy="18288"/>
          </a:xfrm>
          <a:prstGeom prst="rect">
            <a:avLst/>
          </a:prstGeom>
          <a:solidFill>
            <a:srgbClr val="C9D3D7"/>
          </a:solidFill>
          <a:ln/>
        </p:spPr>
      </p:sp>
      <p:sp>
        <p:nvSpPr>
          <p:cNvPr id="8" name="text20"/>
          <p:cNvSpPr txBox="1"/>
          <p:nvPr/>
        </p:nvSpPr>
        <p:spPr>
          <a:xfrm>
            <a:off x="621792" y="2468880"/>
            <a:ext cx="3108960" cy="868680"/>
          </a:xfrm>
          <a:prstGeom prst="rect">
            <a:avLst/>
          </a:prstGeom>
          <a:noFill/>
          <a:ln/>
        </p:spPr>
        <p:txBody>
          <a:bodyPr wrap="square" lIns="0" tIns="0" rIns="0" bIns="0" rtlCol="0" anchor="t"/>
          <a:lstStyle/>
          <a:p>
            <a:pPr indent="0" marL="0">
              <a:buNone/>
            </a:pPr>
            <a:r>
              <a:rPr lang="en-US" sz="1600" i="1" dirty="0">
                <a:solidFill>
                  <a:schemeClr val="tx1"/>
                </a:solidFill>
                <a:latin typeface="Georgia" pitchFamily="34" charset="0"/>
                <a:ea typeface="Georgia" pitchFamily="34" charset="-122"/>
                <a:cs typeface="Georgia" pitchFamily="34" charset="-120"/>
              </a:rPr>
              <a:t>“… a major component of the brain of humans and many other vertebrates …”</a:t>
            </a:r>
            <a:endParaRPr lang="en-US" sz="1600" dirty="0"/>
          </a:p>
        </p:txBody>
      </p:sp>
      <p:sp>
        <p:nvSpPr>
          <p:cNvPr id="9" name="shape21"/>
          <p:cNvSpPr/>
          <p:nvPr/>
        </p:nvSpPr>
        <p:spPr>
          <a:xfrm>
            <a:off x="621792" y="3456432"/>
            <a:ext cx="3017520" cy="91440"/>
          </a:xfrm>
          <a:prstGeom prst="roundRect">
            <a:avLst>
              <a:gd name="adj" fmla="val 500000"/>
            </a:avLst>
          </a:prstGeom>
          <a:solidFill>
            <a:srgbClr val="E3E9EC"/>
          </a:solidFill>
          <a:ln/>
        </p:spPr>
      </p:sp>
      <p:sp>
        <p:nvSpPr>
          <p:cNvPr id="10" name="shape22"/>
          <p:cNvSpPr/>
          <p:nvPr/>
        </p:nvSpPr>
        <p:spPr>
          <a:xfrm>
            <a:off x="621792" y="3657600"/>
            <a:ext cx="2788920" cy="91440"/>
          </a:xfrm>
          <a:prstGeom prst="roundRect">
            <a:avLst>
              <a:gd name="adj" fmla="val 500000"/>
            </a:avLst>
          </a:prstGeom>
          <a:solidFill>
            <a:srgbClr val="E3E9EC"/>
          </a:solidFill>
          <a:ln/>
        </p:spPr>
      </p:sp>
      <p:sp>
        <p:nvSpPr>
          <p:cNvPr id="11" name="shape23"/>
          <p:cNvSpPr/>
          <p:nvPr/>
        </p:nvSpPr>
        <p:spPr>
          <a:xfrm>
            <a:off x="621792" y="3858768"/>
            <a:ext cx="3108960" cy="91440"/>
          </a:xfrm>
          <a:prstGeom prst="roundRect">
            <a:avLst>
              <a:gd name="adj" fmla="val 500000"/>
            </a:avLst>
          </a:prstGeom>
          <a:solidFill>
            <a:srgbClr val="E3E9EC"/>
          </a:solidFill>
          <a:ln/>
        </p:spPr>
      </p:sp>
      <p:sp>
        <p:nvSpPr>
          <p:cNvPr id="12" name="shape24"/>
          <p:cNvSpPr/>
          <p:nvPr/>
        </p:nvSpPr>
        <p:spPr>
          <a:xfrm>
            <a:off x="621792" y="4059936"/>
            <a:ext cx="2377440" cy="91440"/>
          </a:xfrm>
          <a:prstGeom prst="roundRect">
            <a:avLst>
              <a:gd name="adj" fmla="val 500000"/>
            </a:avLst>
          </a:prstGeom>
          <a:solidFill>
            <a:srgbClr val="E3E9EC"/>
          </a:solidFill>
          <a:ln/>
        </p:spPr>
      </p:sp>
      <p:sp>
        <p:nvSpPr>
          <p:cNvPr id="13" name="shape25"/>
          <p:cNvSpPr/>
          <p:nvPr/>
        </p:nvSpPr>
        <p:spPr>
          <a:xfrm>
            <a:off x="621792" y="4261104"/>
            <a:ext cx="2926080" cy="91440"/>
          </a:xfrm>
          <a:prstGeom prst="roundRect">
            <a:avLst>
              <a:gd name="adj" fmla="val 500000"/>
            </a:avLst>
          </a:prstGeom>
          <a:solidFill>
            <a:srgbClr val="E3E9EC"/>
          </a:solidFill>
          <a:ln/>
        </p:spPr>
      </p:sp>
      <p:sp>
        <p:nvSpPr>
          <p:cNvPr id="14" name="text26"/>
          <p:cNvSpPr txBox="1"/>
          <p:nvPr/>
        </p:nvSpPr>
        <p:spPr>
          <a:xfrm>
            <a:off x="411480" y="4599432"/>
            <a:ext cx="3520440" cy="365760"/>
          </a:xfrm>
          <a:prstGeom prst="rect">
            <a:avLst/>
          </a:prstGeom>
          <a:noFill/>
          <a:ln/>
        </p:spPr>
        <p:txBody>
          <a:bodyPr wrap="square" lIns="0" tIns="0" rIns="0" bIns="0" rtlCol="0" anchor="ctr"/>
          <a:lstStyle/>
          <a:p>
            <a:pPr algn="ctr" indent="0" marL="0">
              <a:buNone/>
            </a:pPr>
            <a:r>
              <a:rPr lang="en-US" sz="1600" dirty="0">
                <a:solidFill>
                  <a:schemeClr val="accent3"/>
                </a:solidFill>
              </a:rPr>
              <a:t>62 language versions</a:t>
            </a:r>
            <a:endParaRPr lang="en-US" sz="1600" dirty="0"/>
          </a:p>
        </p:txBody>
      </p:sp>
      <p:sp>
        <p:nvSpPr>
          <p:cNvPr id="15" name="curve27"/>
          <p:cNvSpPr/>
          <p:nvPr/>
        </p:nvSpPr>
        <p:spPr>
          <a:xfrm>
            <a:off x="3931920" y="2834640"/>
            <a:ext cx="2743200" cy="45720"/>
          </a:xfrm>
          <a:custGeom>
            <a:avLst/>
            <a:gdLst/>
            <a:ahLst/>
            <a:cxnLst/>
            <a:rect l="l" t="t" r="r" b="b"/>
            <a:pathLst>
              <a:path w="2743200" h="45720">
                <a:moveTo>
                  <a:pt x="0" y="45720"/>
                </a:moveTo>
                <a:cubicBezTo>
                  <a:pt x="1371600" y="45720"/>
                  <a:pt x="1371600" y="0"/>
                  <a:pt x="2743200" y="0"/>
                </a:cubicBezTo>
              </a:path>
            </a:pathLst>
          </a:custGeom>
          <a:ln w="31750">
            <a:solidFill>
              <a:schemeClr val="accent2"/>
            </a:solidFill>
            <a:prstDash val="solid"/>
            <a:tailEnd type="triangle"/>
          </a:ln>
        </p:spPr>
      </p:sp>
      <p:sp>
        <p:nvSpPr>
          <p:cNvPr id="16" name="curve28"/>
          <p:cNvSpPr/>
          <p:nvPr/>
        </p:nvSpPr>
        <p:spPr>
          <a:xfrm>
            <a:off x="3931920" y="3154680"/>
            <a:ext cx="2743200" cy="45720"/>
          </a:xfrm>
          <a:custGeom>
            <a:avLst/>
            <a:gdLst/>
            <a:ahLst/>
            <a:cxnLst/>
            <a:rect l="l" t="t" r="r" b="b"/>
            <a:pathLst>
              <a:path w="2743200" h="45720">
                <a:moveTo>
                  <a:pt x="2743200" y="0"/>
                </a:moveTo>
                <a:cubicBezTo>
                  <a:pt x="1371600" y="0"/>
                  <a:pt x="1371600" y="45720"/>
                  <a:pt x="0" y="45720"/>
                </a:cubicBezTo>
              </a:path>
            </a:pathLst>
          </a:custGeom>
          <a:ln w="31750">
            <a:solidFill>
              <a:schemeClr val="accent2"/>
            </a:solidFill>
            <a:prstDash val="solid"/>
            <a:tailEnd type="triangle"/>
          </a:ln>
        </p:spPr>
      </p:sp>
      <p:sp>
        <p:nvSpPr>
          <p:cNvPr id="17" name="text29"/>
          <p:cNvSpPr txBox="1"/>
          <p:nvPr/>
        </p:nvSpPr>
        <p:spPr>
          <a:xfrm>
            <a:off x="4069080" y="2423160"/>
            <a:ext cx="2468880" cy="365760"/>
          </a:xfrm>
          <a:prstGeom prst="rect">
            <a:avLst/>
          </a:prstGeom>
          <a:noFill/>
          <a:ln/>
        </p:spPr>
        <p:txBody>
          <a:bodyPr wrap="square" lIns="0" tIns="0" rIns="0" bIns="0" rtlCol="0" anchor="ctr"/>
          <a:lstStyle/>
          <a:p>
            <a:pPr algn="ctr" indent="0" marL="0">
              <a:buNone/>
            </a:pPr>
            <a:r>
              <a:rPr lang="en-US" sz="1600" b="1" i="1" dirty="0">
                <a:solidFill>
                  <a:schemeClr val="accent2"/>
                </a:solidFill>
              </a:rPr>
              <a:t>sitelink</a:t>
            </a:r>
            <a:endParaRPr lang="en-US" sz="1600" dirty="0"/>
          </a:p>
        </p:txBody>
      </p:sp>
      <p:sp>
        <p:nvSpPr>
          <p:cNvPr id="18" name="text30"/>
          <p:cNvSpPr txBox="1"/>
          <p:nvPr/>
        </p:nvSpPr>
        <p:spPr>
          <a:xfrm>
            <a:off x="4069080" y="3291840"/>
            <a:ext cx="2468880" cy="365760"/>
          </a:xfrm>
          <a:prstGeom prst="rect">
            <a:avLst/>
          </a:prstGeom>
          <a:noFill/>
          <a:ln/>
        </p:spPr>
        <p:txBody>
          <a:bodyPr wrap="square" lIns="0" tIns="0" rIns="0" bIns="0" rtlCol="0" anchor="ctr"/>
          <a:lstStyle/>
          <a:p>
            <a:pPr algn="ctr" indent="0" marL="0">
              <a:buNone/>
            </a:pPr>
            <a:r>
              <a:rPr lang="en-US" sz="1500" dirty="0">
                <a:solidFill>
                  <a:schemeClr val="accent2"/>
                </a:solidFill>
              </a:rPr>
              <a:t>one item ↔ 62 articles</a:t>
            </a:r>
            <a:endParaRPr lang="en-US" sz="1500" dirty="0"/>
          </a:p>
        </p:txBody>
      </p:sp>
      <p:sp>
        <p:nvSpPr>
          <p:cNvPr id="19" name="shape31"/>
          <p:cNvSpPr txBox="1"/>
          <p:nvPr/>
        </p:nvSpPr>
        <p:spPr>
          <a:xfrm>
            <a:off x="6675120" y="2487168"/>
            <a:ext cx="2194560" cy="96012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Q48360</a:t>
            </a:r>
            <a:endParaRPr lang="en-US" sz="1800" dirty="0"/>
          </a:p>
          <a:p>
            <a:pPr algn="ctr" indent="0" marL="0">
              <a:buNone/>
            </a:pPr>
            <a:r>
              <a:rPr lang="en-US" sz="1600" dirty="0">
                <a:solidFill>
                  <a:schemeClr val="bg1"/>
                </a:solidFill>
              </a:rPr>
              <a:t>hippocampus</a:t>
            </a:r>
            <a:endParaRPr lang="en-US" sz="1800" dirty="0"/>
          </a:p>
        </p:txBody>
      </p:sp>
      <p:sp>
        <p:nvSpPr>
          <p:cNvPr id="20" name="curve32"/>
          <p:cNvSpPr/>
          <p:nvPr/>
        </p:nvSpPr>
        <p:spPr>
          <a:xfrm>
            <a:off x="8869680" y="2093976"/>
            <a:ext cx="1188720" cy="873252"/>
          </a:xfrm>
          <a:custGeom>
            <a:avLst/>
            <a:gdLst/>
            <a:ahLst/>
            <a:cxnLst/>
            <a:rect l="l" t="t" r="r" b="b"/>
            <a:pathLst>
              <a:path w="1188720" h="873252">
                <a:moveTo>
                  <a:pt x="0" y="873252"/>
                </a:moveTo>
                <a:cubicBezTo>
                  <a:pt x="594360" y="873252"/>
                  <a:pt x="594360" y="0"/>
                  <a:pt x="1188720" y="0"/>
                </a:cubicBezTo>
              </a:path>
            </a:pathLst>
          </a:custGeom>
          <a:ln w="25400">
            <a:solidFill>
              <a:schemeClr val="accent1"/>
            </a:solidFill>
            <a:prstDash val="solid"/>
            <a:tailEnd type="triangle"/>
          </a:ln>
        </p:spPr>
      </p:sp>
      <p:sp>
        <p:nvSpPr>
          <p:cNvPr id="21" name="shape33"/>
          <p:cNvSpPr txBox="1"/>
          <p:nvPr/>
        </p:nvSpPr>
        <p:spPr>
          <a:xfrm>
            <a:off x="10058400" y="1810512"/>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temporal lobe</a:t>
            </a:r>
            <a:endParaRPr lang="en-US" sz="1500" dirty="0"/>
          </a:p>
        </p:txBody>
      </p:sp>
      <p:sp>
        <p:nvSpPr>
          <p:cNvPr id="22" name="text34"/>
          <p:cNvSpPr txBox="1"/>
          <p:nvPr/>
        </p:nvSpPr>
        <p:spPr>
          <a:xfrm>
            <a:off x="8887968" y="1828800"/>
            <a:ext cx="1188720" cy="274320"/>
          </a:xfrm>
          <a:prstGeom prst="rect">
            <a:avLst/>
          </a:prstGeom>
          <a:noFill/>
          <a:ln/>
        </p:spPr>
        <p:txBody>
          <a:bodyPr wrap="square" lIns="0" tIns="0" rIns="0" bIns="0" rtlCol="0" anchor="ctr"/>
          <a:lstStyle/>
          <a:p>
            <a:pPr algn="ctr" indent="0" marL="0">
              <a:buNone/>
            </a:pPr>
            <a:r>
              <a:rPr lang="en-US" sz="1400" i="1" dirty="0">
                <a:solidFill>
                  <a:schemeClr val="accent1"/>
                </a:solidFill>
              </a:rPr>
              <a:t>part of</a:t>
            </a:r>
            <a:endParaRPr lang="en-US" sz="1400" dirty="0"/>
          </a:p>
        </p:txBody>
      </p:sp>
      <p:sp>
        <p:nvSpPr>
          <p:cNvPr id="23" name="curve35"/>
          <p:cNvSpPr/>
          <p:nvPr/>
        </p:nvSpPr>
        <p:spPr>
          <a:xfrm>
            <a:off x="8869680" y="2967228"/>
            <a:ext cx="1188720" cy="4572"/>
          </a:xfrm>
          <a:custGeom>
            <a:avLst/>
            <a:gdLst/>
            <a:ahLst/>
            <a:cxnLst/>
            <a:rect l="l" t="t" r="r" b="b"/>
            <a:pathLst>
              <a:path w="1188720" h="4572">
                <a:moveTo>
                  <a:pt x="0" y="0"/>
                </a:moveTo>
                <a:cubicBezTo>
                  <a:pt x="594360" y="0"/>
                  <a:pt x="594360" y="4572"/>
                  <a:pt x="1188720" y="4572"/>
                </a:cubicBezTo>
              </a:path>
            </a:pathLst>
          </a:custGeom>
          <a:ln w="25400">
            <a:solidFill>
              <a:schemeClr val="accent1"/>
            </a:solidFill>
            <a:prstDash val="solid"/>
            <a:tailEnd type="triangle"/>
          </a:ln>
        </p:spPr>
      </p:sp>
      <p:sp>
        <p:nvSpPr>
          <p:cNvPr id="24" name="shape36"/>
          <p:cNvSpPr txBox="1"/>
          <p:nvPr/>
        </p:nvSpPr>
        <p:spPr>
          <a:xfrm>
            <a:off x="10058400" y="2688336"/>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brain region</a:t>
            </a:r>
            <a:endParaRPr lang="en-US" sz="1500" dirty="0"/>
          </a:p>
        </p:txBody>
      </p:sp>
      <p:sp>
        <p:nvSpPr>
          <p:cNvPr id="25" name="text37"/>
          <p:cNvSpPr txBox="1"/>
          <p:nvPr/>
        </p:nvSpPr>
        <p:spPr>
          <a:xfrm>
            <a:off x="9235440" y="2999232"/>
            <a:ext cx="822960" cy="256032"/>
          </a:xfrm>
          <a:prstGeom prst="rect">
            <a:avLst/>
          </a:prstGeom>
          <a:noFill/>
          <a:ln/>
        </p:spPr>
        <p:txBody>
          <a:bodyPr wrap="square" lIns="0" tIns="0" rIns="0" bIns="0" rtlCol="0" anchor="ctr"/>
          <a:lstStyle/>
          <a:p>
            <a:pPr algn="r" indent="0" marL="0">
              <a:buNone/>
            </a:pPr>
            <a:r>
              <a:rPr lang="en-US" sz="1400" i="1" dirty="0">
                <a:solidFill>
                  <a:schemeClr val="accent1"/>
                </a:solidFill>
              </a:rPr>
              <a:t>subclass of</a:t>
            </a:r>
            <a:endParaRPr lang="en-US" sz="1400" dirty="0"/>
          </a:p>
        </p:txBody>
      </p:sp>
      <p:sp>
        <p:nvSpPr>
          <p:cNvPr id="26" name="curve38"/>
          <p:cNvSpPr/>
          <p:nvPr/>
        </p:nvSpPr>
        <p:spPr>
          <a:xfrm>
            <a:off x="8869680" y="2967228"/>
            <a:ext cx="1188720" cy="882396"/>
          </a:xfrm>
          <a:custGeom>
            <a:avLst/>
            <a:gdLst/>
            <a:ahLst/>
            <a:cxnLst/>
            <a:rect l="l" t="t" r="r" b="b"/>
            <a:pathLst>
              <a:path w="1188720" h="882396">
                <a:moveTo>
                  <a:pt x="0" y="0"/>
                </a:moveTo>
                <a:cubicBezTo>
                  <a:pt x="594360" y="0"/>
                  <a:pt x="594360" y="882396"/>
                  <a:pt x="1188720" y="882396"/>
                </a:cubicBezTo>
              </a:path>
            </a:pathLst>
          </a:custGeom>
          <a:ln w="25400">
            <a:solidFill>
              <a:schemeClr val="accent1"/>
            </a:solidFill>
            <a:prstDash val="solid"/>
            <a:tailEnd type="triangle"/>
          </a:ln>
        </p:spPr>
      </p:sp>
      <p:sp>
        <p:nvSpPr>
          <p:cNvPr id="27" name="shape39"/>
          <p:cNvSpPr txBox="1"/>
          <p:nvPr/>
        </p:nvSpPr>
        <p:spPr>
          <a:xfrm>
            <a:off x="10058400" y="3566160"/>
            <a:ext cx="1783080" cy="566928"/>
          </a:xfrm>
          <a:prstGeom prst="roundRect">
            <a:avLst>
              <a:gd name="adj" fmla="val 80645"/>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brain region type</a:t>
            </a:r>
            <a:endParaRPr lang="en-US" sz="1500" dirty="0"/>
          </a:p>
        </p:txBody>
      </p:sp>
      <p:sp>
        <p:nvSpPr>
          <p:cNvPr id="28" name="text40"/>
          <p:cNvSpPr txBox="1"/>
          <p:nvPr/>
        </p:nvSpPr>
        <p:spPr>
          <a:xfrm>
            <a:off x="8887968" y="3840480"/>
            <a:ext cx="1188720" cy="274320"/>
          </a:xfrm>
          <a:prstGeom prst="rect">
            <a:avLst/>
          </a:prstGeom>
          <a:noFill/>
          <a:ln/>
        </p:spPr>
        <p:txBody>
          <a:bodyPr wrap="square" lIns="0" tIns="0" rIns="0" bIns="0" rtlCol="0" anchor="ctr"/>
          <a:lstStyle/>
          <a:p>
            <a:pPr algn="ctr" indent="0" marL="0">
              <a:buNone/>
            </a:pPr>
            <a:r>
              <a:rPr lang="en-US" sz="1400" i="1" dirty="0">
                <a:solidFill>
                  <a:schemeClr val="accent1"/>
                </a:solidFill>
              </a:rPr>
              <a:t>instance of</a:t>
            </a:r>
            <a:endParaRPr lang="en-US" sz="1400" dirty="0"/>
          </a:p>
        </p:txBody>
      </p:sp>
      <p:sp>
        <p:nvSpPr>
          <p:cNvPr id="29" name="curve41"/>
          <p:cNvSpPr/>
          <p:nvPr/>
        </p:nvSpPr>
        <p:spPr>
          <a:xfrm>
            <a:off x="7772400" y="3447288"/>
            <a:ext cx="1005840" cy="667512"/>
          </a:xfrm>
          <a:custGeom>
            <a:avLst/>
            <a:gdLst/>
            <a:ahLst/>
            <a:cxnLst/>
            <a:rect l="l" t="t" r="r" b="b"/>
            <a:pathLst>
              <a:path w="1005840" h="667512">
                <a:moveTo>
                  <a:pt x="0" y="0"/>
                </a:moveTo>
                <a:cubicBezTo>
                  <a:pt x="502920" y="0"/>
                  <a:pt x="502920" y="667512"/>
                  <a:pt x="1005840" y="667512"/>
                </a:cubicBezTo>
              </a:path>
            </a:pathLst>
          </a:custGeom>
          <a:ln w="19050">
            <a:solidFill>
              <a:schemeClr val="accent3"/>
            </a:solidFill>
            <a:prstDash val="dash"/>
          </a:ln>
        </p:spPr>
      </p:sp>
      <p:sp>
        <p:nvSpPr>
          <p:cNvPr id="30" name="text42"/>
          <p:cNvSpPr txBox="1"/>
          <p:nvPr/>
        </p:nvSpPr>
        <p:spPr>
          <a:xfrm>
            <a:off x="5760720" y="3749040"/>
            <a:ext cx="2103120" cy="320040"/>
          </a:xfrm>
          <a:prstGeom prst="rect">
            <a:avLst/>
          </a:prstGeom>
          <a:noFill/>
          <a:ln/>
        </p:spPr>
        <p:txBody>
          <a:bodyPr wrap="square" lIns="0" tIns="0" rIns="0" bIns="0" rtlCol="0" anchor="ctr"/>
          <a:lstStyle/>
          <a:p>
            <a:pPr indent="0" marL="0">
              <a:buNone/>
            </a:pPr>
            <a:r>
              <a:rPr lang="en-US" sz="1400" i="1" dirty="0">
                <a:solidFill>
                  <a:schemeClr val="accent3"/>
                </a:solidFill>
              </a:rPr>
              <a:t>external identifiers</a:t>
            </a:r>
            <a:endParaRPr lang="en-US" sz="1400" dirty="0"/>
          </a:p>
        </p:txBody>
      </p:sp>
      <p:sp>
        <p:nvSpPr>
          <p:cNvPr id="31" name="shape43"/>
          <p:cNvSpPr txBox="1"/>
          <p:nvPr/>
        </p:nvSpPr>
        <p:spPr>
          <a:xfrm>
            <a:off x="5760720"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InterLex birnlex_721</a:t>
            </a:r>
            <a:endParaRPr lang="en-US" sz="1400" dirty="0"/>
          </a:p>
        </p:txBody>
      </p:sp>
      <p:sp>
        <p:nvSpPr>
          <p:cNvPr id="32" name="shape44"/>
          <p:cNvSpPr txBox="1"/>
          <p:nvPr/>
        </p:nvSpPr>
        <p:spPr>
          <a:xfrm>
            <a:off x="7790688"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NeuroNames 3157</a:t>
            </a:r>
            <a:endParaRPr lang="en-US" sz="1400" dirty="0"/>
          </a:p>
        </p:txBody>
      </p:sp>
      <p:sp>
        <p:nvSpPr>
          <p:cNvPr id="33" name="shape45"/>
          <p:cNvSpPr txBox="1"/>
          <p:nvPr/>
        </p:nvSpPr>
        <p:spPr>
          <a:xfrm>
            <a:off x="9820656" y="4133088"/>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FMA 275020</a:t>
            </a:r>
            <a:endParaRPr lang="en-US" sz="1400" dirty="0"/>
          </a:p>
        </p:txBody>
      </p:sp>
      <p:sp>
        <p:nvSpPr>
          <p:cNvPr id="34" name="shape46"/>
          <p:cNvSpPr txBox="1"/>
          <p:nvPr/>
        </p:nvSpPr>
        <p:spPr>
          <a:xfrm>
            <a:off x="5760720" y="4608576"/>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MeSH D006624</a:t>
            </a:r>
            <a:endParaRPr lang="en-US" sz="1400" dirty="0"/>
          </a:p>
        </p:txBody>
      </p:sp>
      <p:sp>
        <p:nvSpPr>
          <p:cNvPr id="35" name="shape47"/>
          <p:cNvSpPr txBox="1"/>
          <p:nvPr/>
        </p:nvSpPr>
        <p:spPr>
          <a:xfrm>
            <a:off x="7790688" y="4608576"/>
            <a:ext cx="1938528" cy="384048"/>
          </a:xfrm>
          <a:prstGeom prst="roundRect">
            <a:avLst>
              <a:gd name="adj" fmla="val 119048"/>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400" dirty="0">
                <a:solidFill>
                  <a:schemeClr val="tx2"/>
                </a:solidFill>
              </a:rPr>
              <a:t>OpenAlex C2781161787</a:t>
            </a:r>
            <a:endParaRPr lang="en-US" sz="1400" dirty="0"/>
          </a:p>
        </p:txBody>
      </p:sp>
      <p:sp>
        <p:nvSpPr>
          <p:cNvPr id="36" name="shape48"/>
          <p:cNvSpPr txBox="1"/>
          <p:nvPr/>
        </p:nvSpPr>
        <p:spPr>
          <a:xfrm>
            <a:off x="9820656" y="4608576"/>
            <a:ext cx="1938528" cy="384048"/>
          </a:xfrm>
          <a:prstGeom prst="roundRect">
            <a:avLst>
              <a:gd name="adj" fmla="val 119048"/>
            </a:avLst>
          </a:prstGeom>
          <a:solidFill>
            <a:schemeClr val="bg1"/>
          </a:solidFill>
          <a:ln w="19050">
            <a:solidFill>
              <a:schemeClr val="accent3"/>
            </a:solidFill>
            <a:prstDash val="dash"/>
          </a:ln>
        </p:spPr>
        <p:txBody>
          <a:bodyPr wrap="square" lIns="25400" tIns="25400" rIns="25400" bIns="25400" rtlCol="0" anchor="ctr"/>
          <a:lstStyle/>
          <a:p>
            <a:pPr algn="ctr" indent="0" marL="0">
              <a:buNone/>
            </a:pPr>
            <a:r>
              <a:rPr lang="en-US" sz="1400" dirty="0">
                <a:solidFill>
                  <a:schemeClr val="accent3"/>
                </a:solidFill>
              </a:rPr>
              <a:t>+ 43 more identifiers</a:t>
            </a:r>
            <a:endParaRPr lang="en-US" sz="1400" dirty="0"/>
          </a:p>
        </p:txBody>
      </p:sp>
      <p:sp>
        <p:nvSpPr>
          <p:cNvPr id="37" name="shape49"/>
          <p:cNvSpPr/>
          <p:nvPr/>
        </p:nvSpPr>
        <p:spPr>
          <a:xfrm>
            <a:off x="411480" y="5193792"/>
            <a:ext cx="11384280" cy="1161288"/>
          </a:xfrm>
          <a:prstGeom prst="roundRect">
            <a:avLst>
              <a:gd name="adj" fmla="val 6299"/>
            </a:avLst>
          </a:prstGeom>
          <a:solidFill>
            <a:schemeClr val="tx2"/>
          </a:solidFill>
          <a:ln/>
        </p:spPr>
      </p:sp>
      <p:sp>
        <p:nvSpPr>
          <p:cNvPr id="38" name="wikiQuery"/>
          <p:cNvSpPr txBox="1"/>
          <p:nvPr/>
        </p:nvSpPr>
        <p:spPr>
          <a:xfrm>
            <a:off x="594360" y="5266944"/>
            <a:ext cx="731520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Query: </a:t>
            </a:r>
            <a:pPr indent="0" marL="0">
              <a:buNone/>
            </a:pPr>
            <a:r>
              <a:rPr lang="en-US" sz="1600" dirty="0">
                <a:solidFill>
                  <a:srgbClr val="9FD3D4"/>
                </a:solidFill>
                <a:latin typeface="Courier New" pitchFamily="34" charset="0"/>
                <a:ea typeface="Courier New" pitchFamily="34" charset="-122"/>
                <a:cs typeface="Courier New" pitchFamily="34" charset="-120"/>
              </a:rPr>
              <a:t>?region —part of→ temporal lobe</a:t>
            </a:r>
            <a:endParaRPr lang="en-US" sz="1600" dirty="0"/>
          </a:p>
        </p:txBody>
      </p:sp>
      <p:sp>
        <p:nvSpPr>
          <p:cNvPr id="39" name="text50"/>
          <p:cNvSpPr txBox="1"/>
          <p:nvPr/>
        </p:nvSpPr>
        <p:spPr>
          <a:xfrm>
            <a:off x="594360" y="5614416"/>
            <a:ext cx="10972800" cy="347472"/>
          </a:xfrm>
          <a:prstGeom prst="rect">
            <a:avLst/>
          </a:prstGeom>
          <a:noFill/>
          <a:ln/>
        </p:spPr>
        <p:txBody>
          <a:bodyPr wrap="square" lIns="0" tIns="0" rIns="0" bIns="0" rtlCol="0" anchor="ctr"/>
          <a:lstStyle/>
          <a:p>
            <a:pPr indent="0" marL="0">
              <a:buNone/>
            </a:pPr>
            <a:r>
              <a:rPr lang="en-US" sz="1600" dirty="0">
                <a:solidFill>
                  <a:srgbClr val="E8F1F2"/>
                </a:solidFill>
              </a:rPr>
              <a:t>→ 5 recorded: archicortex, auditory cortex, entorhinal cortex, hippocampus, and one unlabelled item</a:t>
            </a:r>
            <a:endParaRPr lang="en-US" sz="1600" dirty="0"/>
          </a:p>
        </p:txBody>
      </p:sp>
      <p:sp>
        <p:nvSpPr>
          <p:cNvPr id="40" name="text51"/>
          <p:cNvSpPr txBox="1"/>
          <p:nvPr/>
        </p:nvSpPr>
        <p:spPr>
          <a:xfrm>
            <a:off x="594360" y="5961888"/>
            <a:ext cx="10972800" cy="301752"/>
          </a:xfrm>
          <a:prstGeom prst="rect">
            <a:avLst/>
          </a:prstGeom>
          <a:noFill/>
          <a:ln/>
        </p:spPr>
        <p:txBody>
          <a:bodyPr wrap="square" lIns="0" tIns="0" rIns="0" bIns="0" rtlCol="0" anchor="ctr"/>
          <a:lstStyle/>
          <a:p>
            <a:pPr indent="0" marL="0">
              <a:buNone/>
            </a:pPr>
            <a:r>
              <a:rPr lang="en-US" sz="1400" i="1" dirty="0">
                <a:solidFill>
                  <a:srgbClr val="C9D3D7"/>
                </a:solidFill>
              </a:rPr>
              <a:t>returns only items with a ‘part of: temporal lobe’ statement</a:t>
            </a:r>
            <a:endParaRPr lang="en-US" sz="1400" dirty="0"/>
          </a:p>
        </p:txBody>
      </p:sp>
      <p:pic>
        <p:nvPicPr>
          <p:cNvPr id="42" name="stripIcon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43" name="strip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Not our graph: Wikidata's public graph (query.wikidata.org SPARQL); same pattern as the graphs in this talk</a:t>
            </a:r>
            <a:endParaRPr lang="en-US" sz="1200" dirty="0"/>
          </a:p>
        </p:txBody>
      </p:sp>
      <p:sp>
        <p:nvSpPr>
          <p:cNvPr id="44" name="badge1_R"/>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5" name="badge1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46" name="data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Wikidata Q48360 (rev. 2516828778) and English Wikipedia ‘Hippocampus’ (rev. 1374836959), retrieved 2026-10-16</a:t>
            </a:r>
            <a:endParaRPr lang="en-US" sz="1100" dirty="0"/>
          </a:p>
        </p:txBody>
      </p:sp>
      <p:sp>
        <p:nvSpPr>
          <p:cNvPr id="47" name="badge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52"/>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53"/>
          <p:cNvSpPr/>
          <p:nvPr/>
        </p:nvSpPr>
        <p:spPr>
          <a:xfrm>
            <a:off x="685800" y="1828800"/>
            <a:ext cx="2103120" cy="2103120"/>
          </a:xfrm>
          <a:prstGeom prst="donut">
            <a:avLst/>
          </a:prstGeom>
          <a:solidFill>
            <a:schemeClr val="accent1"/>
          </a:solidFill>
          <a:ln/>
        </p:spPr>
      </p:sp>
      <p:sp>
        <p:nvSpPr>
          <p:cNvPr id="5" name="text54"/>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55"/>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56"/>
          <p:cNvSpPr/>
          <p:nvPr/>
        </p:nvSpPr>
        <p:spPr>
          <a:xfrm>
            <a:off x="1463040" y="4160520"/>
            <a:ext cx="2103120" cy="2103120"/>
          </a:xfrm>
          <a:prstGeom prst="donut">
            <a:avLst/>
          </a:prstGeom>
          <a:solidFill>
            <a:schemeClr val="tx2"/>
          </a:solidFill>
          <a:ln/>
        </p:spPr>
      </p:sp>
      <p:sp>
        <p:nvSpPr>
          <p:cNvPr id="8" name="text57"/>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58"/>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59"/>
          <p:cNvSpPr/>
          <p:nvPr/>
        </p:nvSpPr>
        <p:spPr>
          <a:xfrm>
            <a:off x="457200" y="1280160"/>
            <a:ext cx="5532120" cy="5074920"/>
          </a:xfrm>
          <a:prstGeom prst="roundRect">
            <a:avLst>
              <a:gd name="adj" fmla="val 5405"/>
            </a:avLst>
          </a:prstGeom>
          <a:solidFill>
            <a:schemeClr val="accent4"/>
          </a:solidFill>
          <a:ln/>
        </p:spPr>
      </p:sp>
      <p:sp>
        <p:nvSpPr>
          <p:cNvPr id="4" name="text60"/>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61"/>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62"/>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63"/>
          <p:cNvSpPr/>
          <p:nvPr/>
        </p:nvSpPr>
        <p:spPr>
          <a:xfrm>
            <a:off x="6217920" y="1280160"/>
            <a:ext cx="5532120" cy="5074920"/>
          </a:xfrm>
          <a:prstGeom prst="roundRect">
            <a:avLst>
              <a:gd name="adj" fmla="val 5405"/>
            </a:avLst>
          </a:prstGeom>
          <a:solidFill>
            <a:schemeClr val="accent5"/>
          </a:solidFill>
          <a:ln/>
        </p:spPr>
      </p:sp>
      <p:sp>
        <p:nvSpPr>
          <p:cNvPr id="10" name="text64"/>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65"/>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66"/>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3"/>
          <p:cNvSpPr/>
          <p:nvPr/>
        </p:nvSpPr>
        <p:spPr>
          <a:xfrm>
            <a:off x="9326880" y="82296"/>
            <a:ext cx="128016" cy="128016"/>
          </a:xfrm>
          <a:prstGeom prst="ellipse">
            <a:avLst/>
          </a:prstGeom>
          <a:solidFill>
            <a:schemeClr val="accent3"/>
          </a:solidFill>
          <a:ln/>
        </p:spPr>
      </p:sp>
      <p:sp>
        <p:nvSpPr>
          <p:cNvPr id="19"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3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3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3"/>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3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67"/>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68"/>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69"/>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70"/>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71"/>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72"/>
          <p:cNvSpPr/>
          <p:nvPr/>
        </p:nvSpPr>
        <p:spPr>
          <a:xfrm flipH="1">
            <a:off x="2103120" y="2350008"/>
            <a:ext cx="1965960" cy="914"/>
          </a:xfrm>
          <a:prstGeom prst="line">
            <a:avLst/>
          </a:prstGeom>
          <a:noFill/>
          <a:ln w="31750">
            <a:solidFill>
              <a:schemeClr val="accent1"/>
            </a:solidFill>
            <a:prstDash val="solid"/>
            <a:tailEnd type="triangle"/>
          </a:ln>
        </p:spPr>
      </p:sp>
      <p:sp>
        <p:nvSpPr>
          <p:cNvPr id="9" name="text73"/>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74"/>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75"/>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76"/>
          <p:cNvSpPr/>
          <p:nvPr/>
        </p:nvSpPr>
        <p:spPr>
          <a:xfrm>
            <a:off x="10058400" y="2331720"/>
            <a:ext cx="914" cy="685800"/>
          </a:xfrm>
          <a:prstGeom prst="line">
            <a:avLst/>
          </a:prstGeom>
          <a:noFill/>
          <a:ln w="31750">
            <a:solidFill>
              <a:schemeClr val="accent1"/>
            </a:solidFill>
            <a:prstDash val="solid"/>
            <a:tailEnd type="triangle"/>
          </a:ln>
        </p:spPr>
      </p:sp>
      <p:sp>
        <p:nvSpPr>
          <p:cNvPr id="13" name="text77"/>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78"/>
          <p:cNvSpPr/>
          <p:nvPr/>
        </p:nvSpPr>
        <p:spPr>
          <a:xfrm>
            <a:off x="5486400" y="2880360"/>
            <a:ext cx="914" cy="457200"/>
          </a:xfrm>
          <a:prstGeom prst="line">
            <a:avLst/>
          </a:prstGeom>
          <a:noFill/>
          <a:ln w="19050">
            <a:solidFill>
              <a:schemeClr val="accent3"/>
            </a:solidFill>
            <a:prstDash val="solid"/>
            <a:tailEnd type="triangle"/>
          </a:ln>
        </p:spPr>
      </p:sp>
      <p:sp>
        <p:nvSpPr>
          <p:cNvPr id="15" name="text79"/>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80"/>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81"/>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82"/>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83"/>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84"/>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85"/>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86"/>
          <p:cNvSpPr/>
          <p:nvPr/>
        </p:nvSpPr>
        <p:spPr>
          <a:xfrm flipH="1">
            <a:off x="2423160" y="4572000"/>
            <a:ext cx="868680" cy="914"/>
          </a:xfrm>
          <a:prstGeom prst="line">
            <a:avLst/>
          </a:prstGeom>
          <a:noFill/>
          <a:ln w="25400">
            <a:solidFill>
              <a:schemeClr val="accent1"/>
            </a:solidFill>
            <a:prstDash val="solid"/>
            <a:tailEnd type="triangle"/>
          </a:ln>
        </p:spPr>
      </p:sp>
      <p:sp>
        <p:nvSpPr>
          <p:cNvPr id="23" name="arrow87"/>
          <p:cNvSpPr/>
          <p:nvPr/>
        </p:nvSpPr>
        <p:spPr>
          <a:xfrm>
            <a:off x="4709160" y="4572000"/>
            <a:ext cx="1188720" cy="914"/>
          </a:xfrm>
          <a:prstGeom prst="line">
            <a:avLst/>
          </a:prstGeom>
          <a:noFill/>
          <a:ln w="25400">
            <a:solidFill>
              <a:schemeClr val="accent1"/>
            </a:solidFill>
            <a:prstDash val="solid"/>
            <a:tailEnd type="triangle"/>
          </a:ln>
        </p:spPr>
      </p:sp>
      <p:sp>
        <p:nvSpPr>
          <p:cNvPr id="24" name="arrow88"/>
          <p:cNvSpPr/>
          <p:nvPr/>
        </p:nvSpPr>
        <p:spPr>
          <a:xfrm>
            <a:off x="7315200" y="4572000"/>
            <a:ext cx="1188720" cy="914"/>
          </a:xfrm>
          <a:prstGeom prst="line">
            <a:avLst/>
          </a:prstGeom>
          <a:noFill/>
          <a:ln w="25400">
            <a:solidFill>
              <a:schemeClr val="accent1"/>
            </a:solidFill>
            <a:prstDash val="solid"/>
            <a:tailEnd type="triangle"/>
          </a:ln>
        </p:spPr>
      </p:sp>
      <p:sp>
        <p:nvSpPr>
          <p:cNvPr id="25" name="text89"/>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90"/>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91"/>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92"/>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93"/>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94"/>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95"/>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96"/>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4"/>
          <p:cNvSpPr/>
          <p:nvPr/>
        </p:nvSpPr>
        <p:spPr>
          <a:xfrm>
            <a:off x="9326880" y="82296"/>
            <a:ext cx="128016" cy="128016"/>
          </a:xfrm>
          <a:prstGeom prst="ellipse">
            <a:avLst/>
          </a:prstGeom>
          <a:solidFill>
            <a:schemeClr val="accent1"/>
          </a:solidFill>
          <a:ln/>
        </p:spPr>
      </p:sp>
      <p:sp>
        <p:nvSpPr>
          <p:cNvPr id="3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4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4"/>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4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97"/>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98"/>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99"/>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100"/>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101"/>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102"/>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103"/>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104"/>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105"/>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106"/>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107"/>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108"/>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109"/>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110"/>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111"/>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112"/>
          <p:cNvSpPr/>
          <p:nvPr/>
        </p:nvSpPr>
        <p:spPr>
          <a:xfrm>
            <a:off x="5193792" y="2240280"/>
            <a:ext cx="1783080" cy="3566160"/>
          </a:xfrm>
          <a:prstGeom prst="ellipse">
            <a:avLst/>
          </a:prstGeom>
          <a:solidFill>
            <a:schemeClr val="tx2"/>
          </a:solidFill>
          <a:ln/>
        </p:spPr>
      </p:sp>
      <p:sp>
        <p:nvSpPr>
          <p:cNvPr id="19" name="text113"/>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114"/>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115"/>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116"/>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5"/>
          <p:cNvSpPr/>
          <p:nvPr/>
        </p:nvSpPr>
        <p:spPr>
          <a:xfrm>
            <a:off x="9326880" y="82296"/>
            <a:ext cx="128016" cy="128016"/>
          </a:xfrm>
          <a:prstGeom prst="ellipse">
            <a:avLst/>
          </a:prstGeom>
          <a:solidFill>
            <a:schemeClr val="accent1"/>
          </a:solidFill>
          <a:ln/>
        </p:spPr>
      </p:sp>
      <p:sp>
        <p:nvSpPr>
          <p:cNvPr id="27"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5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5"/>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5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Building knowledge graphs from datasets and papers</a:t>
            </a:r>
            <a:endParaRPr lang="en-US" sz="3200" dirty="0"/>
          </a:p>
        </p:txBody>
      </p:sp>
      <p:sp>
        <p:nvSpPr>
          <p:cNvPr id="3" name="shape117"/>
          <p:cNvSpPr/>
          <p:nvPr/>
        </p:nvSpPr>
        <p:spPr>
          <a:xfrm>
            <a:off x="9418320" y="1371600"/>
            <a:ext cx="2423160" cy="4160520"/>
          </a:xfrm>
          <a:custGeom>
            <a:avLst/>
            <a:gdLst/>
            <a:ahLst/>
            <a:cxnLst/>
            <a:rect l="l" t="t" r="r" b="b"/>
            <a:pathLst>
              <a:path w="2423160" h="4160520">
                <a:moveTo>
                  <a:pt x="2348661" y="2080260"/>
                </a:moveTo>
                <a:cubicBezTo>
                  <a:pt x="2342264" y="2480002"/>
                  <a:pt x="2182931" y="2946536"/>
                  <a:pt x="2024771" y="3251839"/>
                </a:cubicBezTo>
                <a:cubicBezTo>
                  <a:pt x="1866611" y="3557143"/>
                  <a:pt x="1628327" y="3830489"/>
                  <a:pt x="1399700" y="3912080"/>
                </a:cubicBezTo>
                <a:cubicBezTo>
                  <a:pt x="1171074" y="3993671"/>
                  <a:pt x="861004" y="3936302"/>
                  <a:pt x="653012" y="3741385"/>
                </a:cubicBezTo>
                <a:cubicBezTo>
                  <a:pt x="445019" y="3546469"/>
                  <a:pt x="223925" y="3122721"/>
                  <a:pt x="151746" y="2742582"/>
                </a:cubicBezTo>
                <a:cubicBezTo>
                  <a:pt x="79567" y="2362443"/>
                  <a:pt x="142551" y="1866108"/>
                  <a:pt x="219938" y="1460553"/>
                </a:cubicBezTo>
                <a:cubicBezTo>
                  <a:pt x="297324" y="1054998"/>
                  <a:pt x="417740" y="527785"/>
                  <a:pt x="616063" y="309253"/>
                </a:cubicBezTo>
                <a:cubicBezTo>
                  <a:pt x="814386" y="90721"/>
                  <a:pt x="1168694" y="58673"/>
                  <a:pt x="1409875" y="149363"/>
                </a:cubicBezTo>
                <a:cubicBezTo>
                  <a:pt x="1651056" y="240052"/>
                  <a:pt x="1906684" y="531574"/>
                  <a:pt x="2063148" y="853390"/>
                </a:cubicBezTo>
                <a:cubicBezTo>
                  <a:pt x="2219612" y="1175206"/>
                  <a:pt x="2355057" y="1680518"/>
                  <a:pt x="2348661" y="2080260"/>
                </a:cubicBezTo>
                <a:close/>
              </a:path>
            </a:pathLst>
          </a:custGeom>
          <a:solidFill>
            <a:srgbClr val="BFE0E0"/>
          </a:solidFill>
          <a:ln/>
        </p:spPr>
      </p:sp>
      <p:sp>
        <p:nvSpPr>
          <p:cNvPr id="4" name="shape118"/>
          <p:cNvSpPr txBox="1"/>
          <p:nvPr/>
        </p:nvSpPr>
        <p:spPr>
          <a:xfrm>
            <a:off x="457200" y="1371600"/>
            <a:ext cx="1874520" cy="1005840"/>
          </a:xfrm>
          <a:prstGeom prst="roundRect">
            <a:avLst>
              <a:gd name="adj" fmla="val 45455"/>
            </a:avLst>
          </a:prstGeom>
          <a:solidFill>
            <a:schemeClr val="accent4"/>
          </a:solidFill>
          <a:ln/>
        </p:spPr>
        <p:txBody>
          <a:bodyPr wrap="square" lIns="101600" tIns="101600" rIns="101600" bIns="101600" rtlCol="0" anchor="ctr"/>
          <a:lstStyle/>
          <a:p>
            <a:pPr algn="l" indent="0" marL="0">
              <a:buNone/>
            </a:pPr>
            <a:r>
              <a:rPr lang="en-US" sz="1700" b="1" dirty="0">
                <a:solidFill>
                  <a:schemeClr val="accent1"/>
                </a:solidFill>
              </a:rPr>
              <a:t>A dataset</a:t>
            </a:r>
            <a:endParaRPr lang="en-US" sz="1800" dirty="0"/>
          </a:p>
          <a:p>
            <a:pPr algn="l" indent="0" marL="0">
              <a:buNone/>
            </a:pPr>
            <a:r>
              <a:rPr lang="en-US" sz="1400" dirty="0">
                <a:solidFill>
                  <a:schemeClr val="tx1"/>
                </a:solidFill>
              </a:rPr>
              <a:t>BIDS + phenotype tables</a:t>
            </a:r>
            <a:endParaRPr lang="en-US" sz="1800" dirty="0"/>
          </a:p>
        </p:txBody>
      </p:sp>
      <p:sp>
        <p:nvSpPr>
          <p:cNvPr id="5" name="shape119"/>
          <p:cNvSpPr/>
          <p:nvPr/>
        </p:nvSpPr>
        <p:spPr>
          <a:xfrm>
            <a:off x="18288" y="1673352"/>
            <a:ext cx="384048" cy="384048"/>
          </a:xfrm>
          <a:prstGeom prst="ellipse">
            <a:avLst/>
          </a:prstGeom>
          <a:solidFill>
            <a:schemeClr val="accent1"/>
          </a:solidFill>
          <a:ln/>
        </p:spPr>
      </p:sp>
      <p:pic>
        <p:nvPicPr>
          <p:cNvPr id="6" name="buildIcon120" descr="preencoded.png">    </p:cNvPr>
          <p:cNvPicPr>
            <a:picLocks noChangeAspect="1"/>
          </p:cNvPicPr>
          <p:nvPr/>
        </p:nvPicPr>
        <p:blipFill>
          <a:blip r:embed="rId1"/>
          <a:stretch>
            <a:fillRect/>
          </a:stretch>
        </p:blipFill>
        <p:spPr>
          <a:xfrm>
            <a:off x="109728" y="1764792"/>
            <a:ext cx="201168" cy="201168"/>
          </a:xfrm>
          <a:prstGeom prst="rect">
            <a:avLst/>
          </a:prstGeom>
        </p:spPr>
      </p:pic>
      <p:sp>
        <p:nvSpPr>
          <p:cNvPr id="7" name="curve121"/>
          <p:cNvSpPr/>
          <p:nvPr/>
        </p:nvSpPr>
        <p:spPr>
          <a:xfrm>
            <a:off x="2331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8" name="shape122"/>
          <p:cNvSpPr txBox="1"/>
          <p:nvPr/>
        </p:nvSpPr>
        <p:spPr>
          <a:xfrm>
            <a:off x="2560320" y="137160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neuroimaging-kg skill (agent_skills PR #49)</a:t>
            </a:r>
            <a:endParaRPr lang="en-US" sz="1800" dirty="0"/>
          </a:p>
          <a:p>
            <a:pPr algn="l" indent="0" marL="0">
              <a:buNone/>
            </a:pPr>
            <a:r>
              <a:rPr lang="en-US" sz="1400" dirty="0">
                <a:solidFill>
                  <a:schemeClr val="tx1"/>
                </a:solidFill>
              </a:rPr>
              <a:t>PyNIDM bidsmri2nidm / csv2nidm; ReproNim NIDM BIDS apps (FreeSurfer, ANTs, MRIQC → NIDM)</a:t>
            </a:r>
            <a:endParaRPr lang="en-US" sz="1800" dirty="0"/>
          </a:p>
        </p:txBody>
      </p:sp>
      <p:sp>
        <p:nvSpPr>
          <p:cNvPr id="9" name="curve123"/>
          <p:cNvSpPr/>
          <p:nvPr/>
        </p:nvSpPr>
        <p:spPr>
          <a:xfrm>
            <a:off x="6903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10" name="shape124"/>
          <p:cNvSpPr txBox="1"/>
          <p:nvPr/>
        </p:nvSpPr>
        <p:spPr>
          <a:xfrm>
            <a:off x="7132320" y="1371600"/>
            <a:ext cx="2011680" cy="1005840"/>
          </a:xfrm>
          <a:prstGeom prst="roundRect">
            <a:avLst>
              <a:gd name="adj" fmla="val 45455"/>
            </a:avLst>
          </a:prstGeom>
          <a:solidFill>
            <a:schemeClr val="accent1"/>
          </a:solidFill>
          <a:ln/>
        </p:spPr>
        <p:txBody>
          <a:bodyPr wrap="square" lIns="76200" tIns="76200" rIns="76200" bIns="76200" rtlCol="0" anchor="ctr"/>
          <a:lstStyle/>
          <a:p>
            <a:pPr algn="ctr" indent="0" marL="0">
              <a:buNone/>
            </a:pPr>
            <a:r>
              <a:rPr lang="en-US" sz="1500" b="1" dirty="0">
                <a:solidFill>
                  <a:schemeClr val="bg1"/>
                </a:solidFill>
              </a:rPr>
              <a:t>NIDM / PROV dataset graph</a:t>
            </a:r>
            <a:endParaRPr lang="en-US" sz="1500" dirty="0"/>
          </a:p>
        </p:txBody>
      </p:sp>
      <p:sp>
        <p:nvSpPr>
          <p:cNvPr id="11" name="curve125"/>
          <p:cNvSpPr/>
          <p:nvPr/>
        </p:nvSpPr>
        <p:spPr>
          <a:xfrm>
            <a:off x="9144000" y="1874520"/>
            <a:ext cx="457200" cy="1577340"/>
          </a:xfrm>
          <a:custGeom>
            <a:avLst/>
            <a:gdLst/>
            <a:ahLst/>
            <a:cxnLst/>
            <a:rect l="l" t="t" r="r" b="b"/>
            <a:pathLst>
              <a:path w="457200" h="1577340">
                <a:moveTo>
                  <a:pt x="0" y="0"/>
                </a:moveTo>
                <a:cubicBezTo>
                  <a:pt x="228600" y="0"/>
                  <a:pt x="228600" y="1577340"/>
                  <a:pt x="457200" y="1577340"/>
                </a:cubicBezTo>
              </a:path>
            </a:pathLst>
          </a:custGeom>
          <a:ln w="25400">
            <a:solidFill>
              <a:schemeClr val="accent1"/>
            </a:solidFill>
            <a:prstDash val="solid"/>
            <a:tailEnd type="triangle"/>
          </a:ln>
        </p:spPr>
      </p:sp>
      <p:sp>
        <p:nvSpPr>
          <p:cNvPr id="12" name="text126"/>
          <p:cNvSpPr txBox="1"/>
          <p:nvPr/>
        </p:nvSpPr>
        <p:spPr>
          <a:xfrm>
            <a:off x="2560320" y="241401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ABIDE I graph; one-site demo (Caltech)</a:t>
            </a:r>
            <a:endParaRPr lang="en-US" sz="1400" dirty="0"/>
          </a:p>
        </p:txBody>
      </p:sp>
      <p:sp>
        <p:nvSpPr>
          <p:cNvPr id="13" name="shape127"/>
          <p:cNvSpPr txBox="1"/>
          <p:nvPr/>
        </p:nvSpPr>
        <p:spPr>
          <a:xfrm>
            <a:off x="457200" y="2788920"/>
            <a:ext cx="1874520" cy="1005840"/>
          </a:xfrm>
          <a:prstGeom prst="roundRect">
            <a:avLst>
              <a:gd name="adj" fmla="val 45455"/>
            </a:avLst>
          </a:prstGeom>
          <a:solidFill>
            <a:schemeClr val="accent6"/>
          </a:solidFill>
          <a:ln/>
        </p:spPr>
        <p:txBody>
          <a:bodyPr wrap="square" lIns="101600" tIns="101600" rIns="101600" bIns="101600" rtlCol="0" anchor="ctr"/>
          <a:lstStyle/>
          <a:p>
            <a:pPr algn="l" indent="0" marL="0">
              <a:buNone/>
            </a:pPr>
            <a:r>
              <a:rPr lang="en-US" sz="1700" b="1" dirty="0">
                <a:solidFill>
                  <a:schemeClr val="tx2"/>
                </a:solidFill>
              </a:rPr>
              <a:t>One publication</a:t>
            </a:r>
            <a:endParaRPr lang="en-US" sz="1800" dirty="0"/>
          </a:p>
          <a:p>
            <a:pPr algn="l" indent="0" marL="0">
              <a:buNone/>
            </a:pPr>
            <a:r>
              <a:rPr lang="en-US" sz="1400" dirty="0">
                <a:solidFill>
                  <a:schemeClr val="tx1"/>
                </a:solidFill>
              </a:rPr>
              <a:t>PDF or DOI</a:t>
            </a:r>
            <a:endParaRPr lang="en-US" sz="1800" dirty="0"/>
          </a:p>
        </p:txBody>
      </p:sp>
      <p:sp>
        <p:nvSpPr>
          <p:cNvPr id="14" name="shape128"/>
          <p:cNvSpPr/>
          <p:nvPr/>
        </p:nvSpPr>
        <p:spPr>
          <a:xfrm>
            <a:off x="18288" y="3090672"/>
            <a:ext cx="384048" cy="384048"/>
          </a:xfrm>
          <a:prstGeom prst="ellipse">
            <a:avLst/>
          </a:prstGeom>
          <a:solidFill>
            <a:schemeClr val="tx2"/>
          </a:solidFill>
          <a:ln/>
        </p:spPr>
      </p:sp>
      <p:pic>
        <p:nvPicPr>
          <p:cNvPr id="15" name="buildIcon129" descr="preencoded.png">    </p:cNvPr>
          <p:cNvPicPr>
            <a:picLocks noChangeAspect="1"/>
          </p:cNvPicPr>
          <p:nvPr/>
        </p:nvPicPr>
        <p:blipFill>
          <a:blip r:embed="rId2"/>
          <a:stretch>
            <a:fillRect/>
          </a:stretch>
        </p:blipFill>
        <p:spPr>
          <a:xfrm>
            <a:off x="109728" y="3182112"/>
            <a:ext cx="201168" cy="201168"/>
          </a:xfrm>
          <a:prstGeom prst="rect">
            <a:avLst/>
          </a:prstGeom>
        </p:spPr>
      </p:pic>
      <p:sp>
        <p:nvSpPr>
          <p:cNvPr id="16" name="curve130"/>
          <p:cNvSpPr/>
          <p:nvPr/>
        </p:nvSpPr>
        <p:spPr>
          <a:xfrm>
            <a:off x="2331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7" name="shape131"/>
          <p:cNvSpPr txBox="1"/>
          <p:nvPr/>
        </p:nvSpPr>
        <p:spPr>
          <a:xfrm>
            <a:off x="2560320" y="278892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StructSense skill</a:t>
            </a:r>
            <a:endParaRPr lang="en-US" sz="1800" dirty="0"/>
          </a:p>
          <a:p>
            <a:pPr algn="l" indent="0" marL="0">
              <a:buNone/>
            </a:pPr>
            <a:r>
              <a:rPr lang="en-US" sz="1400" dirty="0">
                <a:solidFill>
                  <a:schemeClr val="tx1"/>
                </a:solidFill>
              </a:rPr>
              <a:t>sandbox: Neuroscientific Named Entity Extraction; Structured Resource Extraction (BrainKB Resource Ontology)</a:t>
            </a:r>
            <a:endParaRPr lang="en-US" sz="1800" dirty="0"/>
          </a:p>
        </p:txBody>
      </p:sp>
      <p:sp>
        <p:nvSpPr>
          <p:cNvPr id="18" name="curve132"/>
          <p:cNvSpPr/>
          <p:nvPr/>
        </p:nvSpPr>
        <p:spPr>
          <a:xfrm>
            <a:off x="6903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9" name="shape133"/>
          <p:cNvSpPr txBox="1"/>
          <p:nvPr/>
        </p:nvSpPr>
        <p:spPr>
          <a:xfrm>
            <a:off x="7132320" y="2788920"/>
            <a:ext cx="2011680" cy="1005840"/>
          </a:xfrm>
          <a:prstGeom prst="roundRect">
            <a:avLst>
              <a:gd name="adj" fmla="val 45455"/>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claims, entities, datasets and tools, with evidence spans</a:t>
            </a:r>
            <a:endParaRPr lang="en-US" sz="1500" dirty="0"/>
          </a:p>
        </p:txBody>
      </p:sp>
      <p:sp>
        <p:nvSpPr>
          <p:cNvPr id="20" name="curve134"/>
          <p:cNvSpPr/>
          <p:nvPr/>
        </p:nvSpPr>
        <p:spPr>
          <a:xfrm>
            <a:off x="9144000" y="3291840"/>
            <a:ext cx="457200" cy="160020"/>
          </a:xfrm>
          <a:custGeom>
            <a:avLst/>
            <a:gdLst/>
            <a:ahLst/>
            <a:cxnLst/>
            <a:rect l="l" t="t" r="r" b="b"/>
            <a:pathLst>
              <a:path w="457200" h="160020">
                <a:moveTo>
                  <a:pt x="0" y="0"/>
                </a:moveTo>
                <a:cubicBezTo>
                  <a:pt x="228600" y="0"/>
                  <a:pt x="228600" y="160020"/>
                  <a:pt x="457200" y="160020"/>
                </a:cubicBezTo>
              </a:path>
            </a:pathLst>
          </a:custGeom>
          <a:ln w="25400">
            <a:solidFill>
              <a:schemeClr val="tx2"/>
            </a:solidFill>
            <a:prstDash val="solid"/>
            <a:tailEnd type="triangle"/>
          </a:ln>
        </p:spPr>
      </p:sp>
      <p:sp>
        <p:nvSpPr>
          <p:cNvPr id="21" name="text135"/>
          <p:cNvSpPr txBox="1"/>
          <p:nvPr/>
        </p:nvSpPr>
        <p:spPr>
          <a:xfrm>
            <a:off x="2560320" y="383133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Kim 2023 claims (StructSense pilot)</a:t>
            </a:r>
            <a:endParaRPr lang="en-US" sz="1400" dirty="0"/>
          </a:p>
        </p:txBody>
      </p:sp>
      <p:sp>
        <p:nvSpPr>
          <p:cNvPr id="22" name="shape136"/>
          <p:cNvSpPr txBox="1"/>
          <p:nvPr/>
        </p:nvSpPr>
        <p:spPr>
          <a:xfrm>
            <a:off x="457200" y="4206240"/>
            <a:ext cx="1874520" cy="1005840"/>
          </a:xfrm>
          <a:prstGeom prst="roundRect">
            <a:avLst>
              <a:gd name="adj" fmla="val 45455"/>
            </a:avLst>
          </a:prstGeom>
          <a:solidFill>
            <a:schemeClr val="accent5"/>
          </a:solidFill>
          <a:ln/>
        </p:spPr>
        <p:txBody>
          <a:bodyPr wrap="square" lIns="101600" tIns="101600" rIns="101600" bIns="101600" rtlCol="0" anchor="ctr"/>
          <a:lstStyle/>
          <a:p>
            <a:pPr algn="l" indent="0" marL="0">
              <a:buNone/>
            </a:pPr>
            <a:r>
              <a:rPr lang="en-US" sz="1700" b="1" dirty="0">
                <a:solidFill>
                  <a:schemeClr val="accent2"/>
                </a:solidFill>
              </a:rPr>
              <a:t>A body of publications</a:t>
            </a:r>
            <a:endParaRPr lang="en-US" sz="1800" dirty="0"/>
          </a:p>
          <a:p>
            <a:pPr algn="l" indent="0" marL="0">
              <a:buNone/>
            </a:pPr>
            <a:r>
              <a:rPr lang="en-US" sz="1400" dirty="0">
                <a:solidFill>
                  <a:schemeClr val="tx1"/>
                </a:solidFill>
              </a:rPr>
              <a:t>a topic or question</a:t>
            </a:r>
            <a:endParaRPr lang="en-US" sz="1800" dirty="0"/>
          </a:p>
        </p:txBody>
      </p:sp>
      <p:sp>
        <p:nvSpPr>
          <p:cNvPr id="23" name="shape137"/>
          <p:cNvSpPr/>
          <p:nvPr/>
        </p:nvSpPr>
        <p:spPr>
          <a:xfrm>
            <a:off x="18288" y="4507992"/>
            <a:ext cx="384048" cy="384048"/>
          </a:xfrm>
          <a:prstGeom prst="ellipse">
            <a:avLst/>
          </a:prstGeom>
          <a:solidFill>
            <a:schemeClr val="accent2"/>
          </a:solidFill>
          <a:ln/>
        </p:spPr>
      </p:sp>
      <p:pic>
        <p:nvPicPr>
          <p:cNvPr id="24" name="buildIcon138" descr="preencoded.png">    </p:cNvPr>
          <p:cNvPicPr>
            <a:picLocks noChangeAspect="1"/>
          </p:cNvPicPr>
          <p:nvPr/>
        </p:nvPicPr>
        <p:blipFill>
          <a:blip r:embed="rId3"/>
          <a:stretch>
            <a:fillRect/>
          </a:stretch>
        </p:blipFill>
        <p:spPr>
          <a:xfrm>
            <a:off x="109728" y="4599432"/>
            <a:ext cx="201168" cy="201168"/>
          </a:xfrm>
          <a:prstGeom prst="rect">
            <a:avLst/>
          </a:prstGeom>
        </p:spPr>
      </p:pic>
      <p:sp>
        <p:nvSpPr>
          <p:cNvPr id="25" name="curve139"/>
          <p:cNvSpPr/>
          <p:nvPr/>
        </p:nvSpPr>
        <p:spPr>
          <a:xfrm>
            <a:off x="2331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6" name="shape140"/>
          <p:cNvSpPr txBox="1"/>
          <p:nvPr/>
        </p:nvSpPr>
        <p:spPr>
          <a:xfrm>
            <a:off x="2560320" y="420624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SynthScholar skill</a:t>
            </a:r>
            <a:endParaRPr lang="en-US" sz="1800" dirty="0"/>
          </a:p>
          <a:p>
            <a:pPr algn="l" indent="0" marL="0">
              <a:buNone/>
            </a:pPr>
            <a:r>
              <a:rPr lang="en-US" sz="1400" dirty="0">
                <a:solidFill>
                  <a:schemeClr val="tx1"/>
                </a:solidFill>
              </a:rPr>
              <a:t>sandbox: SynthScholar — protocol → search strategy → screening and charting</a:t>
            </a:r>
            <a:endParaRPr lang="en-US" sz="1800" dirty="0"/>
          </a:p>
        </p:txBody>
      </p:sp>
      <p:sp>
        <p:nvSpPr>
          <p:cNvPr id="27" name="curve141"/>
          <p:cNvSpPr/>
          <p:nvPr/>
        </p:nvSpPr>
        <p:spPr>
          <a:xfrm>
            <a:off x="6903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8" name="shape142"/>
          <p:cNvSpPr txBox="1"/>
          <p:nvPr/>
        </p:nvSpPr>
        <p:spPr>
          <a:xfrm>
            <a:off x="7132320" y="4206240"/>
            <a:ext cx="2011680" cy="1005840"/>
          </a:xfrm>
          <a:prstGeom prst="roundRect">
            <a:avLst>
              <a:gd name="adj" fmla="val 45455"/>
            </a:avLst>
          </a:prstGeom>
          <a:solidFill>
            <a:schemeClr val="accent2"/>
          </a:solidFill>
          <a:ln/>
        </p:spPr>
        <p:txBody>
          <a:bodyPr wrap="square" lIns="76200" tIns="76200" rIns="76200" bIns="76200" rtlCol="0" anchor="ctr"/>
          <a:lstStyle/>
          <a:p>
            <a:pPr algn="ctr" indent="0" marL="0">
              <a:buNone/>
            </a:pPr>
            <a:r>
              <a:rPr lang="en-US" sz="1500" b="1" dirty="0">
                <a:solidFill>
                  <a:schemeClr val="bg1"/>
                </a:solidFill>
              </a:rPr>
              <a:t>review graph (SLR ontology)</a:t>
            </a:r>
            <a:endParaRPr lang="en-US" sz="1500" dirty="0"/>
          </a:p>
        </p:txBody>
      </p:sp>
      <p:sp>
        <p:nvSpPr>
          <p:cNvPr id="29" name="curve143"/>
          <p:cNvSpPr/>
          <p:nvPr/>
        </p:nvSpPr>
        <p:spPr>
          <a:xfrm>
            <a:off x="9144000" y="3451860"/>
            <a:ext cx="457200" cy="1257300"/>
          </a:xfrm>
          <a:custGeom>
            <a:avLst/>
            <a:gdLst/>
            <a:ahLst/>
            <a:cxnLst/>
            <a:rect l="l" t="t" r="r" b="b"/>
            <a:pathLst>
              <a:path w="457200" h="1257300">
                <a:moveTo>
                  <a:pt x="0" y="1257300"/>
                </a:moveTo>
                <a:cubicBezTo>
                  <a:pt x="228600" y="1257300"/>
                  <a:pt x="228600" y="0"/>
                  <a:pt x="457200" y="0"/>
                </a:cubicBezTo>
              </a:path>
            </a:pathLst>
          </a:custGeom>
          <a:ln w="25400">
            <a:solidFill>
              <a:schemeClr val="accent2"/>
            </a:solidFill>
            <a:prstDash val="solid"/>
            <a:tailEnd type="triangle"/>
          </a:ln>
        </p:spPr>
      </p:sp>
      <p:sp>
        <p:nvSpPr>
          <p:cNvPr id="30" name="text144"/>
          <p:cNvSpPr txBox="1"/>
          <p:nvPr/>
        </p:nvSpPr>
        <p:spPr>
          <a:xfrm>
            <a:off x="2560320" y="524865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74 ABIDE studies</a:t>
            </a:r>
            <a:endParaRPr lang="en-US" sz="1400" dirty="0"/>
          </a:p>
        </p:txBody>
      </p:sp>
      <p:sp>
        <p:nvSpPr>
          <p:cNvPr id="31" name="text145"/>
          <p:cNvSpPr txBox="1"/>
          <p:nvPr/>
        </p:nvSpPr>
        <p:spPr>
          <a:xfrm>
            <a:off x="9646920" y="2331720"/>
            <a:ext cx="1965960" cy="2286000"/>
          </a:xfrm>
          <a:prstGeom prst="rect">
            <a:avLst/>
          </a:prstGeom>
          <a:noFill/>
          <a:ln/>
        </p:spPr>
        <p:txBody>
          <a:bodyPr wrap="square" lIns="0" tIns="0" rIns="0" bIns="0" rtlCol="0" anchor="ctr"/>
          <a:lstStyle/>
          <a:p>
            <a:pPr algn="ctr" indent="0" marL="0">
              <a:buNone/>
            </a:pPr>
            <a:r>
              <a:rPr lang="en-US" sz="2000" b="1" dirty="0">
                <a:solidFill>
                  <a:schemeClr val="tx2"/>
                </a:solidFill>
              </a:rPr>
              <a:t>Ingest into BrainKB</a:t>
            </a:r>
            <a:endParaRPr lang="en-US" sz="1800" dirty="0"/>
          </a:p>
          <a:p>
            <a:pPr algn="ctr" indent="0" marL="0">
              <a:buNone/>
            </a:pPr>
            <a:r>
              <a:rPr lang="en-US" sz="1400" dirty="0">
                <a:solidFill>
                  <a:schemeClr val="tx1"/>
                </a:solidFill>
              </a:rPr>
              <a:t>sandbox: Ingest Knowledge Graph, then job status</a:t>
            </a:r>
            <a:endParaRPr lang="en-US" sz="1800" dirty="0"/>
          </a:p>
          <a:p>
            <a:pPr algn="ctr" indent="0" marL="0">
              <a:buNone/>
            </a:pPr>
            <a:r>
              <a:rPr lang="en-US" sz="800" dirty="0">
                <a:solidFill>
                  <a:schemeClr val="tx1"/>
                </a:solidFill>
              </a:rPr>
              <a:t> </a:t>
            </a:r>
            <a:endParaRPr lang="en-US" sz="1800" dirty="0"/>
          </a:p>
          <a:p>
            <a:pPr algn="ctr" indent="0" marL="0">
              <a:buNone/>
            </a:pPr>
            <a:r>
              <a:rPr lang="en-US" sz="1600" b="1" dirty="0">
                <a:solidFill>
                  <a:schemeClr val="tx2"/>
                </a:solidFill>
              </a:rPr>
              <a:t>Query it</a:t>
            </a:r>
            <a:endParaRPr lang="en-US" sz="1800" dirty="0"/>
          </a:p>
          <a:p>
            <a:pPr algn="ctr" indent="0" marL="0">
              <a:buNone/>
            </a:pPr>
            <a:r>
              <a:rPr lang="en-US" sz="1400" dirty="0">
                <a:solidFill>
                  <a:schemeClr val="tx1"/>
                </a:solidFill>
              </a:rPr>
              <a:t>brainkb skill · BrainKB MCP</a:t>
            </a:r>
            <a:endParaRPr lang="en-US" sz="1800" dirty="0"/>
          </a:p>
        </p:txBody>
      </p:sp>
      <p:sp>
        <p:nvSpPr>
          <p:cNvPr id="32" name="shape146"/>
          <p:cNvSpPr txBox="1"/>
          <p:nvPr/>
        </p:nvSpPr>
        <p:spPr>
          <a:xfrm>
            <a:off x="365760" y="5760720"/>
            <a:ext cx="6537960" cy="530352"/>
          </a:xfrm>
          <a:prstGeom prst="roundRect">
            <a:avLst>
              <a:gd name="adj" fmla="val 86207"/>
            </a:avLst>
          </a:prstGeom>
          <a:solidFill>
            <a:schemeClr val="bg1"/>
          </a:solidFill>
          <a:ln w="19050">
            <a:solidFill>
              <a:schemeClr val="accent3"/>
            </a:solidFill>
            <a:prstDash val="dash"/>
          </a:ln>
        </p:spPr>
        <p:txBody>
          <a:bodyPr wrap="square" lIns="76200" tIns="76200" rIns="76200" bIns="76200" rtlCol="0" anchor="ctr"/>
          <a:lstStyle/>
          <a:p>
            <a:pPr algn="ctr" indent="0" marL="0">
              <a:buNone/>
            </a:pPr>
            <a:r>
              <a:rPr lang="en-US" sz="1500" b="1" dirty="0">
                <a:solidFill>
                  <a:schemeClr val="tx2"/>
                </a:solidFill>
              </a:rPr>
              <a:t>Questionnaires: </a:t>
            </a:r>
            <a:pPr algn="ctr" indent="0" marL="0">
              <a:buNone/>
            </a:pPr>
            <a:r>
              <a:rPr lang="en-US" sz="1500" dirty="0">
                <a:solidFill>
                  <a:schemeClr val="tx2"/>
                </a:solidFill>
              </a:rPr>
              <a:t>sandbox ReproSchema Extraction (PDF → ReproSchema assessments)</a:t>
            </a:r>
            <a:endParaRPr lang="en-US" sz="1500" dirty="0"/>
          </a:p>
        </p:txBody>
      </p:sp>
      <p:sp>
        <p:nvSpPr>
          <p:cNvPr id="33" name="text147"/>
          <p:cNvSpPr txBox="1"/>
          <p:nvPr/>
        </p:nvSpPr>
        <p:spPr>
          <a:xfrm>
            <a:off x="9418320" y="5806440"/>
            <a:ext cx="2423160" cy="411480"/>
          </a:xfrm>
          <a:prstGeom prst="rect">
            <a:avLst/>
          </a:prstGeom>
          <a:noFill/>
          <a:ln/>
        </p:spPr>
        <p:txBody>
          <a:bodyPr wrap="square" lIns="0" tIns="0" rIns="0" bIns="0" rtlCol="0" anchor="ctr"/>
          <a:lstStyle/>
          <a:p>
            <a:pPr algn="ctr" indent="0" marL="0">
              <a:buNone/>
            </a:pPr>
            <a:r>
              <a:rPr lang="en-US" sz="1600" b="1" dirty="0">
                <a:solidFill>
                  <a:schemeClr val="accent1"/>
                </a:solidFill>
              </a:rPr>
              <a:t>sandbox.brainkb.org</a:t>
            </a:r>
            <a:endParaRPr lang="en-US" sz="1600" dirty="0"/>
          </a:p>
        </p:txBody>
      </p:sp>
      <p:pic>
        <p:nvPicPr>
          <p:cNvPr id="35" name="stripIcon6"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36"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Pages listed from sensein/brainkb-ui source (commit a4815a3) for sandbox.brainkb.org; skills in sensein/agent_skills</a:t>
            </a:r>
            <a:endParaRPr lang="en-US" sz="1200" dirty="0"/>
          </a:p>
        </p:txBody>
      </p:sp>
      <p:sp>
        <p:nvSpPr>
          <p:cNvPr id="37" name="tagDot6"/>
          <p:cNvSpPr/>
          <p:nvPr/>
        </p:nvSpPr>
        <p:spPr>
          <a:xfrm>
            <a:off x="9326880" y="82296"/>
            <a:ext cx="128016" cy="128016"/>
          </a:xfrm>
          <a:prstGeom prst="ellipse">
            <a:avLst/>
          </a:prstGeom>
          <a:solidFill>
            <a:schemeClr val="accent1"/>
          </a:solidFill>
          <a:ln/>
        </p:spPr>
      </p:sp>
      <p:sp>
        <p:nvSpPr>
          <p:cNvPr id="38"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9" name="badge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data6"/>
          <p:cNvSpPr txBox="1"/>
          <p:nvPr/>
        </p:nvSpPr>
        <p:spPr>
          <a:xfrm>
            <a:off x="2194560" y="6473952"/>
            <a:ext cx="8961120" cy="301752"/>
          </a:xfrm>
          <a:prstGeom prst="rect">
            <a:avLst/>
          </a:prstGeom>
          <a:noFill/>
          <a:ln/>
        </p:spPr>
        <p:txBody>
          <a:bodyPr wrap="square" lIns="0" tIns="0" rIns="0" bIns="0" rtlCol="0" anchor="ctr"/>
          <a:lstStyle/>
          <a:p>
            <a:pPr indent="0" marL="0">
              <a:buNone/>
            </a:pPr>
            <a:r>
              <a:rPr lang="en-US" sz="1100" dirty="0">
                <a:solidFill>
                  <a:srgbClr val="5E7A88"/>
                </a:solidFill>
              </a:rPr>
              <a:t>Data: ABIDE I; Kim et al. 2023; 74 ABIDE studies</a:t>
            </a:r>
            <a:endParaRPr lang="en-US" sz="1100" dirty="0"/>
          </a:p>
        </p:txBody>
      </p:sp>
      <p:sp>
        <p:nvSpPr>
          <p:cNvPr id="43" name="badge6_check"/>
          <p:cNvSpPr txBox="1"/>
          <p:nvPr/>
        </p:nvSpPr>
        <p:spPr>
          <a:xfrm>
            <a:off x="1234440"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148"/>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149"/>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150"/>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151"/>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152"/>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153"/>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154"/>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155"/>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156"/>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157"/>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158"/>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159"/>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160"/>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161"/>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162"/>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163"/>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164"/>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165"/>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166"/>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167"/>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168"/>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69"/>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70"/>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71"/>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72"/>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73"/>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74"/>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75"/>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76"/>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77"/>
          <p:cNvSpPr/>
          <p:nvPr/>
        </p:nvSpPr>
        <p:spPr>
          <a:xfrm>
            <a:off x="4617720" y="5833872"/>
            <a:ext cx="274320" cy="274320"/>
          </a:xfrm>
          <a:prstGeom prst="ellipse">
            <a:avLst/>
          </a:prstGeom>
          <a:solidFill>
            <a:schemeClr val="accent1"/>
          </a:solidFill>
          <a:ln/>
        </p:spPr>
      </p:sp>
      <p:sp>
        <p:nvSpPr>
          <p:cNvPr id="33" name="text178"/>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79"/>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7"/>
          <p:cNvSpPr/>
          <p:nvPr/>
        </p:nvSpPr>
        <p:spPr>
          <a:xfrm>
            <a:off x="9326880" y="82296"/>
            <a:ext cx="128016" cy="128016"/>
          </a:xfrm>
          <a:prstGeom prst="ellipse">
            <a:avLst/>
          </a:prstGeom>
          <a:solidFill>
            <a:schemeClr val="accent1"/>
          </a:solidFill>
          <a:ln/>
        </p:spPr>
      </p:sp>
      <p:sp>
        <p:nvSpPr>
          <p:cNvPr id="39"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7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7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80"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81"/>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82"/>
          <p:cNvSpPr/>
          <p:nvPr/>
        </p:nvSpPr>
        <p:spPr>
          <a:xfrm>
            <a:off x="8686800" y="1920240"/>
            <a:ext cx="310896" cy="310896"/>
          </a:xfrm>
          <a:prstGeom prst="ellipse">
            <a:avLst/>
          </a:prstGeom>
          <a:solidFill>
            <a:schemeClr val="accent1"/>
          </a:solidFill>
          <a:ln/>
        </p:spPr>
      </p:sp>
      <p:sp>
        <p:nvSpPr>
          <p:cNvPr id="6" name="text183"/>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84"/>
          <p:cNvSpPr/>
          <p:nvPr/>
        </p:nvSpPr>
        <p:spPr>
          <a:xfrm>
            <a:off x="8686800" y="2487168"/>
            <a:ext cx="310896" cy="310896"/>
          </a:xfrm>
          <a:prstGeom prst="ellipse">
            <a:avLst/>
          </a:prstGeom>
          <a:solidFill>
            <a:schemeClr val="tx2"/>
          </a:solidFill>
          <a:ln/>
        </p:spPr>
      </p:sp>
      <p:sp>
        <p:nvSpPr>
          <p:cNvPr id="8" name="text185"/>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86"/>
          <p:cNvSpPr/>
          <p:nvPr/>
        </p:nvSpPr>
        <p:spPr>
          <a:xfrm>
            <a:off x="8686800" y="3054096"/>
            <a:ext cx="310896" cy="310896"/>
          </a:xfrm>
          <a:prstGeom prst="ellipse">
            <a:avLst/>
          </a:prstGeom>
          <a:solidFill>
            <a:schemeClr val="accent3"/>
          </a:solidFill>
          <a:ln/>
        </p:spPr>
      </p:sp>
      <p:sp>
        <p:nvSpPr>
          <p:cNvPr id="10" name="text187"/>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88"/>
          <p:cNvSpPr/>
          <p:nvPr/>
        </p:nvSpPr>
        <p:spPr>
          <a:xfrm>
            <a:off x="8686800" y="3621024"/>
            <a:ext cx="310896" cy="310896"/>
          </a:xfrm>
          <a:prstGeom prst="ellipse">
            <a:avLst/>
          </a:prstGeom>
          <a:solidFill>
            <a:schemeClr val="accent2"/>
          </a:solidFill>
          <a:ln/>
        </p:spPr>
      </p:sp>
      <p:sp>
        <p:nvSpPr>
          <p:cNvPr id="12" name="text189"/>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90"/>
          <p:cNvSpPr/>
          <p:nvPr/>
        </p:nvSpPr>
        <p:spPr>
          <a:xfrm>
            <a:off x="8686800" y="4187952"/>
            <a:ext cx="310896" cy="310896"/>
          </a:xfrm>
          <a:prstGeom prst="ellipse">
            <a:avLst/>
          </a:prstGeom>
          <a:solidFill>
            <a:srgbClr val="8EA4AE"/>
          </a:solidFill>
          <a:ln/>
        </p:spPr>
      </p:sp>
      <p:sp>
        <p:nvSpPr>
          <p:cNvPr id="14" name="text191"/>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92"/>
          <p:cNvSpPr/>
          <p:nvPr/>
        </p:nvSpPr>
        <p:spPr>
          <a:xfrm>
            <a:off x="8686800" y="4754880"/>
            <a:ext cx="310896" cy="310896"/>
          </a:xfrm>
          <a:prstGeom prst="ellipse">
            <a:avLst/>
          </a:prstGeom>
          <a:solidFill>
            <a:srgbClr val="5FA8A9"/>
          </a:solidFill>
          <a:ln/>
        </p:spPr>
      </p:sp>
      <p:sp>
        <p:nvSpPr>
          <p:cNvPr id="16" name="text193"/>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94"/>
          <p:cNvSpPr/>
          <p:nvPr/>
        </p:nvSpPr>
        <p:spPr>
          <a:xfrm>
            <a:off x="8686800" y="5321808"/>
            <a:ext cx="310896" cy="310896"/>
          </a:xfrm>
          <a:prstGeom prst="ellipse">
            <a:avLst/>
          </a:prstGeom>
          <a:solidFill>
            <a:srgbClr val="D98C6A"/>
          </a:solidFill>
          <a:ln/>
        </p:spPr>
      </p:sp>
      <p:sp>
        <p:nvSpPr>
          <p:cNvPr id="18" name="text195"/>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96"/>
          <p:cNvSpPr/>
          <p:nvPr/>
        </p:nvSpPr>
        <p:spPr>
          <a:xfrm>
            <a:off x="8686800" y="5888736"/>
            <a:ext cx="310896" cy="310896"/>
          </a:xfrm>
          <a:prstGeom prst="ellipse">
            <a:avLst/>
          </a:prstGeom>
          <a:solidFill>
            <a:srgbClr val="2F5D6E"/>
          </a:solidFill>
          <a:ln/>
        </p:spPr>
      </p:sp>
      <p:sp>
        <p:nvSpPr>
          <p:cNvPr id="20" name="text197"/>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8"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8"/>
          <p:cNvSpPr/>
          <p:nvPr/>
        </p:nvSpPr>
        <p:spPr>
          <a:xfrm>
            <a:off x="9326880" y="82296"/>
            <a:ext cx="128016" cy="128016"/>
          </a:xfrm>
          <a:prstGeom prst="ellipse">
            <a:avLst/>
          </a:prstGeom>
          <a:solidFill>
            <a:schemeClr val="accent1"/>
          </a:solidFill>
          <a:ln/>
        </p:spPr>
      </p:sp>
      <p:sp>
        <p:nvSpPr>
          <p:cNvPr id="25"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8"/>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8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98"/>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199"/>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200"/>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201"/>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202"/>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203"/>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204"/>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205"/>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206"/>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curve207"/>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3" name="curve208"/>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4" name="shape209"/>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5" name="text210"/>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7"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8"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evidence re-run from the authors' OSF data (osf.io/agqtn) by kim2023_rerun/rerun_ucla_cpm.py</a:t>
            </a:r>
            <a:endParaRPr lang="en-US" sz="1200" dirty="0"/>
          </a:p>
        </p:txBody>
      </p:sp>
      <p:sp>
        <p:nvSpPr>
          <p:cNvPr id="19" name="tagDot9"/>
          <p:cNvSpPr/>
          <p:nvPr/>
        </p:nvSpPr>
        <p:spPr>
          <a:xfrm>
            <a:off x="9326880" y="82296"/>
            <a:ext cx="128016" cy="128016"/>
          </a:xfrm>
          <a:prstGeom prst="ellipse">
            <a:avLst/>
          </a:prstGeom>
          <a:solidFill>
            <a:schemeClr val="accent1"/>
          </a:solidFill>
          <a:ln/>
        </p:spPr>
      </p:sp>
      <p:sp>
        <p:nvSpPr>
          <p:cNvPr id="20"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1"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2"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badge9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9"/>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5" name="badge9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211"/>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212"/>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213"/>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214"/>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215"/>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216"/>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217"/>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10"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10"/>
          <p:cNvSpPr/>
          <p:nvPr/>
        </p:nvSpPr>
        <p:spPr>
          <a:xfrm>
            <a:off x="9326880" y="82296"/>
            <a:ext cx="128016" cy="128016"/>
          </a:xfrm>
          <a:prstGeom prst="ellipse">
            <a:avLst/>
          </a:prstGeom>
          <a:solidFill>
            <a:schemeClr val="accent1"/>
          </a:solidFill>
          <a:ln/>
        </p:spPr>
      </p:sp>
      <p:sp>
        <p:nvSpPr>
          <p:cNvPr id="14"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1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10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10"/>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10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218"/>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219"/>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220"/>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221"/>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222"/>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223"/>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224"/>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225"/>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226"/>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11"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11"/>
          <p:cNvSpPr/>
          <p:nvPr/>
        </p:nvSpPr>
        <p:spPr>
          <a:xfrm>
            <a:off x="9326880" y="82296"/>
            <a:ext cx="128016" cy="128016"/>
          </a:xfrm>
          <a:prstGeom prst="ellipse">
            <a:avLst/>
          </a:prstGeom>
          <a:solidFill>
            <a:schemeClr val="accent1"/>
          </a:solidFill>
          <a:ln/>
        </p:spPr>
      </p:sp>
      <p:sp>
        <p:nvSpPr>
          <p:cNvPr id="16"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1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1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1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227"/>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228"/>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229"/>
          <p:cNvSpPr/>
          <p:nvPr/>
        </p:nvSpPr>
        <p:spPr>
          <a:xfrm>
            <a:off x="4114800" y="1325880"/>
            <a:ext cx="822960" cy="822960"/>
          </a:xfrm>
          <a:prstGeom prst="ellipse">
            <a:avLst/>
          </a:prstGeom>
          <a:solidFill>
            <a:schemeClr val="tx2"/>
          </a:solidFill>
          <a:ln/>
        </p:spPr>
      </p:sp>
      <p:pic>
        <p:nvPicPr>
          <p:cNvPr id="6" name="join230"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231"/>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232"/>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233"/>
          <p:cNvSpPr/>
          <p:nvPr/>
        </p:nvSpPr>
        <p:spPr>
          <a:xfrm>
            <a:off x="4114800" y="2359152"/>
            <a:ext cx="822960" cy="822960"/>
          </a:xfrm>
          <a:prstGeom prst="ellipse">
            <a:avLst/>
          </a:prstGeom>
          <a:solidFill>
            <a:schemeClr val="tx2"/>
          </a:solidFill>
          <a:ln/>
        </p:spPr>
      </p:sp>
      <p:pic>
        <p:nvPicPr>
          <p:cNvPr id="10" name="join234"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235"/>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236"/>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237"/>
          <p:cNvSpPr/>
          <p:nvPr/>
        </p:nvSpPr>
        <p:spPr>
          <a:xfrm>
            <a:off x="4114800" y="3392424"/>
            <a:ext cx="822960" cy="822960"/>
          </a:xfrm>
          <a:prstGeom prst="ellipse">
            <a:avLst/>
          </a:prstGeom>
          <a:solidFill>
            <a:schemeClr val="tx2"/>
          </a:solidFill>
          <a:ln/>
        </p:spPr>
      </p:sp>
      <p:pic>
        <p:nvPicPr>
          <p:cNvPr id="14" name="join238"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239"/>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240"/>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241"/>
          <p:cNvSpPr/>
          <p:nvPr/>
        </p:nvSpPr>
        <p:spPr>
          <a:xfrm>
            <a:off x="4114800" y="4425696"/>
            <a:ext cx="822960" cy="822960"/>
          </a:xfrm>
          <a:prstGeom prst="ellipse">
            <a:avLst/>
          </a:prstGeom>
          <a:solidFill>
            <a:schemeClr val="accent2"/>
          </a:solidFill>
          <a:ln/>
        </p:spPr>
      </p:sp>
      <p:pic>
        <p:nvPicPr>
          <p:cNvPr id="18" name="join242"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243"/>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244"/>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245"/>
          <p:cNvSpPr/>
          <p:nvPr/>
        </p:nvSpPr>
        <p:spPr>
          <a:xfrm>
            <a:off x="4114800" y="5458968"/>
            <a:ext cx="822960" cy="822960"/>
          </a:xfrm>
          <a:prstGeom prst="ellipse">
            <a:avLst/>
          </a:prstGeom>
          <a:solidFill>
            <a:schemeClr val="tx2"/>
          </a:solidFill>
          <a:ln/>
        </p:spPr>
      </p:sp>
      <p:pic>
        <p:nvPicPr>
          <p:cNvPr id="22" name="join246"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247"/>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248"/>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249"/>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2"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2"/>
          <p:cNvSpPr/>
          <p:nvPr/>
        </p:nvSpPr>
        <p:spPr>
          <a:xfrm>
            <a:off x="9326880" y="82296"/>
            <a:ext cx="128016" cy="128016"/>
          </a:xfrm>
          <a:prstGeom prst="ellipse">
            <a:avLst/>
          </a:prstGeom>
          <a:solidFill>
            <a:schemeClr val="tx2"/>
          </a:solidFill>
          <a:ln/>
        </p:spPr>
      </p:sp>
      <p:sp>
        <p:nvSpPr>
          <p:cNvPr id="30"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2"/>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250"/>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251"/>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252"/>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253"/>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254"/>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255"/>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256"/>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257"/>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258"/>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259"/>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260"/>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261"/>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262"/>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263"/>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264"/>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265"/>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266"/>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267"/>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268"/>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69"/>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70"/>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71"/>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3"/>
          <p:cNvSpPr/>
          <p:nvPr/>
        </p:nvSpPr>
        <p:spPr>
          <a:xfrm>
            <a:off x="9326880" y="82296"/>
            <a:ext cx="128016" cy="128016"/>
          </a:xfrm>
          <a:prstGeom prst="ellipse">
            <a:avLst/>
          </a:prstGeom>
          <a:solidFill>
            <a:schemeClr val="tx2"/>
          </a:solidFill>
          <a:ln/>
        </p:spPr>
      </p:sp>
      <p:sp>
        <p:nvSpPr>
          <p:cNvPr id="29"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3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3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3"/>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3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72"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73"/>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74"/>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75"/>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76"/>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77"/>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78"/>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79"/>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80"/>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4"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4"/>
          <p:cNvSpPr/>
          <p:nvPr/>
        </p:nvSpPr>
        <p:spPr>
          <a:xfrm>
            <a:off x="9326880" y="82296"/>
            <a:ext cx="128016" cy="128016"/>
          </a:xfrm>
          <a:prstGeom prst="ellipse">
            <a:avLst/>
          </a:prstGeom>
          <a:solidFill>
            <a:schemeClr val="tx2"/>
          </a:solidFill>
          <a:ln/>
        </p:spPr>
      </p:sp>
      <p:sp>
        <p:nvSpPr>
          <p:cNvPr id="16"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4"/>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4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81"/>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82"/>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83"/>
          <p:cNvSpPr/>
          <p:nvPr/>
        </p:nvSpPr>
        <p:spPr>
          <a:xfrm>
            <a:off x="4160520" y="2377440"/>
            <a:ext cx="3840480" cy="3154680"/>
          </a:xfrm>
          <a:prstGeom prst="ellipse">
            <a:avLst/>
          </a:prstGeom>
          <a:solidFill>
            <a:schemeClr val="accent2">
              <a:alpha val="65000"/>
            </a:schemeClr>
          </a:solidFill>
          <a:ln/>
        </p:spPr>
      </p:sp>
      <p:sp>
        <p:nvSpPr>
          <p:cNvPr id="6" name="shape284"/>
          <p:cNvSpPr/>
          <p:nvPr/>
        </p:nvSpPr>
        <p:spPr>
          <a:xfrm>
            <a:off x="4434840" y="2788920"/>
            <a:ext cx="2331720" cy="2331720"/>
          </a:xfrm>
          <a:prstGeom prst="ellipse">
            <a:avLst/>
          </a:prstGeom>
          <a:solidFill>
            <a:schemeClr val="accent1">
              <a:alpha val="75000"/>
            </a:schemeClr>
          </a:solidFill>
          <a:ln/>
        </p:spPr>
      </p:sp>
      <p:sp>
        <p:nvSpPr>
          <p:cNvPr id="7" name="text285"/>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86"/>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87"/>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88"/>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89"/>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5"/>
          <p:cNvSpPr/>
          <p:nvPr/>
        </p:nvSpPr>
        <p:spPr>
          <a:xfrm>
            <a:off x="9326880" y="82296"/>
            <a:ext cx="128016" cy="128016"/>
          </a:xfrm>
          <a:prstGeom prst="ellipse">
            <a:avLst/>
          </a:prstGeom>
          <a:solidFill>
            <a:schemeClr val="tx2"/>
          </a:solidFill>
          <a:ln/>
        </p:spPr>
      </p:sp>
      <p:sp>
        <p:nvSpPr>
          <p:cNvPr id="16"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90"/>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91"/>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92"/>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93"/>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6"/>
          <p:cNvSpPr/>
          <p:nvPr/>
        </p:nvSpPr>
        <p:spPr>
          <a:xfrm>
            <a:off x="9326880" y="82296"/>
            <a:ext cx="128016" cy="128016"/>
          </a:xfrm>
          <a:prstGeom prst="ellipse">
            <a:avLst/>
          </a:prstGeom>
          <a:solidFill>
            <a:schemeClr val="tx2"/>
          </a:solidFill>
          <a:ln/>
        </p:spPr>
      </p:sp>
      <p:sp>
        <p:nvSpPr>
          <p:cNvPr id="11"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6"/>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6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94"/>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95"/>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96"/>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97"/>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98"/>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99"/>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300"/>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301"/>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7"/>
          <p:cNvSpPr/>
          <p:nvPr/>
        </p:nvSpPr>
        <p:spPr>
          <a:xfrm>
            <a:off x="9326880" y="82296"/>
            <a:ext cx="128016" cy="128016"/>
          </a:xfrm>
          <a:prstGeom prst="ellipse">
            <a:avLst/>
          </a:prstGeom>
          <a:solidFill>
            <a:schemeClr val="tx2"/>
          </a:solidFill>
          <a:ln/>
        </p:spPr>
      </p:sp>
      <p:sp>
        <p:nvSpPr>
          <p:cNvPr id="15"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302"/>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303"/>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304"/>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305"/>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306"/>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307"/>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308"/>
          <p:cNvSpPr/>
          <p:nvPr/>
        </p:nvSpPr>
        <p:spPr>
          <a:xfrm>
            <a:off x="-1234440" y="2697480"/>
            <a:ext cx="3474720" cy="2286000"/>
          </a:xfrm>
          <a:prstGeom prst="pie">
            <a:avLst>
              <a:gd name="adj1" fmla="val 16200000"/>
              <a:gd name="adj2" fmla="val 5400000"/>
            </a:avLst>
          </a:prstGeom>
          <a:solidFill>
            <a:schemeClr val="tx2"/>
          </a:solidFill>
          <a:ln/>
        </p:spPr>
      </p:sp>
      <p:sp>
        <p:nvSpPr>
          <p:cNvPr id="10" name="text309"/>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310"/>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311"/>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312"/>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313"/>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314"/>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315"/>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8"/>
          <p:cNvSpPr/>
          <p:nvPr/>
        </p:nvSpPr>
        <p:spPr>
          <a:xfrm>
            <a:off x="9326880" y="82296"/>
            <a:ext cx="128016" cy="128016"/>
          </a:xfrm>
          <a:prstGeom prst="ellipse">
            <a:avLst/>
          </a:prstGeom>
          <a:solidFill>
            <a:schemeClr val="tx2"/>
          </a:solidFill>
          <a:ln/>
        </p:spPr>
      </p:sp>
      <p:sp>
        <p:nvSpPr>
          <p:cNvPr id="21"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8"/>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8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316"/>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317"/>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318"/>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319"/>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320"/>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321"/>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322"/>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323"/>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324"/>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325"/>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326"/>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327"/>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328"/>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329"/>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330"/>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331"/>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332"/>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9"/>
          <p:cNvSpPr/>
          <p:nvPr/>
        </p:nvSpPr>
        <p:spPr>
          <a:xfrm>
            <a:off x="9326880" y="82296"/>
            <a:ext cx="128016" cy="128016"/>
          </a:xfrm>
          <a:prstGeom prst="ellipse">
            <a:avLst/>
          </a:prstGeom>
          <a:solidFill>
            <a:schemeClr val="tx2"/>
          </a:solidFill>
          <a:ln/>
        </p:spPr>
      </p:sp>
      <p:sp>
        <p:nvSpPr>
          <p:cNvPr id="24"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9"/>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9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333"/>
          <p:cNvSpPr/>
          <p:nvPr/>
        </p:nvSpPr>
        <p:spPr>
          <a:xfrm>
            <a:off x="411480" y="1344168"/>
            <a:ext cx="420624" cy="420624"/>
          </a:xfrm>
          <a:prstGeom prst="ellipse">
            <a:avLst/>
          </a:prstGeom>
          <a:solidFill>
            <a:schemeClr val="accent1"/>
          </a:solidFill>
          <a:ln/>
        </p:spPr>
      </p:sp>
      <p:pic>
        <p:nvPicPr>
          <p:cNvPr id="4" name="litHeadIcon334"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335"/>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336"/>
          <p:cNvSpPr/>
          <p:nvPr/>
        </p:nvSpPr>
        <p:spPr>
          <a:xfrm>
            <a:off x="3337560" y="1344168"/>
            <a:ext cx="420624" cy="420624"/>
          </a:xfrm>
          <a:prstGeom prst="ellipse">
            <a:avLst/>
          </a:prstGeom>
          <a:solidFill>
            <a:schemeClr val="tx2"/>
          </a:solidFill>
          <a:ln/>
        </p:spPr>
      </p:sp>
      <p:pic>
        <p:nvPicPr>
          <p:cNvPr id="7" name="litHeadIcon337"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338"/>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339"/>
          <p:cNvSpPr/>
          <p:nvPr/>
        </p:nvSpPr>
        <p:spPr>
          <a:xfrm>
            <a:off x="7955280" y="1344168"/>
            <a:ext cx="420624" cy="420624"/>
          </a:xfrm>
          <a:prstGeom prst="ellipse">
            <a:avLst/>
          </a:prstGeom>
          <a:solidFill>
            <a:schemeClr val="tx2"/>
          </a:solidFill>
          <a:ln/>
        </p:spPr>
      </p:sp>
      <p:pic>
        <p:nvPicPr>
          <p:cNvPr id="10" name="litHeadIcon340"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341"/>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342"/>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343"/>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344"/>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345"/>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346"/>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347"/>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348"/>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20"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20"/>
          <p:cNvSpPr/>
          <p:nvPr/>
        </p:nvSpPr>
        <p:spPr>
          <a:xfrm>
            <a:off x="9326880" y="82296"/>
            <a:ext cx="128016" cy="128016"/>
          </a:xfrm>
          <a:prstGeom prst="ellipse">
            <a:avLst/>
          </a:prstGeom>
          <a:solidFill>
            <a:schemeClr val="tx2"/>
          </a:solidFill>
          <a:ln/>
        </p:spPr>
      </p:sp>
      <p:sp>
        <p:nvSpPr>
          <p:cNvPr id="25"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20"/>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20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349"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21"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21"/>
          <p:cNvSpPr/>
          <p:nvPr/>
        </p:nvSpPr>
        <p:spPr>
          <a:xfrm>
            <a:off x="9326880" y="82296"/>
            <a:ext cx="128016" cy="128016"/>
          </a:xfrm>
          <a:prstGeom prst="ellipse">
            <a:avLst/>
          </a:prstGeom>
          <a:solidFill>
            <a:schemeClr val="tx2"/>
          </a:solidFill>
          <a:ln/>
        </p:spPr>
      </p:sp>
      <p:sp>
        <p:nvSpPr>
          <p:cNvPr id="8"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2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2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2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350"/>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351"/>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352"/>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353"/>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354"/>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356"/>
          <p:cNvSpPr/>
          <p:nvPr/>
        </p:nvSpPr>
        <p:spPr>
          <a:xfrm>
            <a:off x="777240" y="4206240"/>
            <a:ext cx="502920" cy="502920"/>
          </a:xfrm>
          <a:prstGeom prst="ellipse">
            <a:avLst/>
          </a:prstGeom>
          <a:solidFill>
            <a:schemeClr val="accent2"/>
          </a:solidFill>
          <a:ln/>
        </p:spPr>
      </p:sp>
      <p:pic>
        <p:nvPicPr>
          <p:cNvPr id="9" name="lock356"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357"/>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358"/>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359"/>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360"/>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361"/>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362"/>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363"/>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364"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365"/>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366"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367"/>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368"/>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69"/>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70"/>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71"/>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72"/>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73"/>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74"/>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75"/>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77"/>
          <p:cNvSpPr/>
          <p:nvPr/>
        </p:nvSpPr>
        <p:spPr>
          <a:xfrm>
            <a:off x="4160520" y="1234440"/>
            <a:ext cx="502920" cy="502920"/>
          </a:xfrm>
          <a:prstGeom prst="ellipse">
            <a:avLst/>
          </a:prstGeom>
          <a:solidFill>
            <a:schemeClr val="tx2"/>
          </a:solidFill>
          <a:ln/>
        </p:spPr>
      </p:sp>
      <p:pic>
        <p:nvPicPr>
          <p:cNvPr id="32" name="query377"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78"/>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79"/>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80"/>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2"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2"/>
          <p:cNvSpPr/>
          <p:nvPr/>
        </p:nvSpPr>
        <p:spPr>
          <a:xfrm>
            <a:off x="9326880" y="82296"/>
            <a:ext cx="128016" cy="128016"/>
          </a:xfrm>
          <a:prstGeom prst="ellipse">
            <a:avLst/>
          </a:prstGeom>
          <a:solidFill>
            <a:schemeClr val="tx2"/>
          </a:solidFill>
          <a:ln/>
        </p:spPr>
      </p:sp>
      <p:sp>
        <p:nvSpPr>
          <p:cNvPr id="40"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2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81"/>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82"/>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83"/>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84"/>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3"/>
          <p:cNvSpPr/>
          <p:nvPr/>
        </p:nvSpPr>
        <p:spPr>
          <a:xfrm>
            <a:off x="9326880" y="82296"/>
            <a:ext cx="128016" cy="128016"/>
          </a:xfrm>
          <a:prstGeom prst="ellipse">
            <a:avLst/>
          </a:prstGeom>
          <a:solidFill>
            <a:schemeClr val="accent2"/>
          </a:solidFill>
          <a:ln/>
        </p:spPr>
      </p:sp>
      <p:sp>
        <p:nvSpPr>
          <p:cNvPr id="13"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85"/>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86"/>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87"/>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4"/>
          <p:cNvSpPr/>
          <p:nvPr/>
        </p:nvSpPr>
        <p:spPr>
          <a:xfrm>
            <a:off x="9326880" y="82296"/>
            <a:ext cx="128016" cy="128016"/>
          </a:xfrm>
          <a:prstGeom prst="ellipse">
            <a:avLst/>
          </a:prstGeom>
          <a:solidFill>
            <a:schemeClr val="accent2"/>
          </a:solidFill>
          <a:ln/>
        </p:spPr>
      </p:sp>
      <p:sp>
        <p:nvSpPr>
          <p:cNvPr id="12"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4"/>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88"/>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89"/>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90"/>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91"/>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92"/>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93"/>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94"/>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95"/>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96"/>
          <p:cNvSpPr/>
          <p:nvPr/>
        </p:nvSpPr>
        <p:spPr>
          <a:xfrm>
            <a:off x="5669280" y="1837944"/>
            <a:ext cx="411480" cy="914"/>
          </a:xfrm>
          <a:prstGeom prst="line">
            <a:avLst/>
          </a:prstGeom>
          <a:noFill/>
          <a:ln w="25400">
            <a:solidFill>
              <a:schemeClr val="accent1"/>
            </a:solidFill>
            <a:prstDash val="solid"/>
            <a:tailEnd type="triangle"/>
          </a:ln>
        </p:spPr>
      </p:sp>
      <p:sp>
        <p:nvSpPr>
          <p:cNvPr id="12" name="text397"/>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98"/>
          <p:cNvSpPr/>
          <p:nvPr/>
        </p:nvSpPr>
        <p:spPr>
          <a:xfrm>
            <a:off x="2560320" y="2724912"/>
            <a:ext cx="731520" cy="914"/>
          </a:xfrm>
          <a:prstGeom prst="line">
            <a:avLst/>
          </a:prstGeom>
          <a:noFill/>
          <a:ln w="25400">
            <a:solidFill>
              <a:schemeClr val="accent1"/>
            </a:solidFill>
            <a:prstDash val="solid"/>
            <a:tailEnd type="triangle"/>
          </a:ln>
        </p:spPr>
      </p:sp>
      <p:sp>
        <p:nvSpPr>
          <p:cNvPr id="14" name="text399"/>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400"/>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401"/>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402"/>
          <p:cNvSpPr/>
          <p:nvPr/>
        </p:nvSpPr>
        <p:spPr>
          <a:xfrm>
            <a:off x="5669280" y="3730752"/>
            <a:ext cx="320040" cy="914"/>
          </a:xfrm>
          <a:prstGeom prst="line">
            <a:avLst/>
          </a:prstGeom>
          <a:noFill/>
          <a:ln w="25400">
            <a:solidFill>
              <a:schemeClr val="accent1"/>
            </a:solidFill>
            <a:prstDash val="solid"/>
            <a:tailEnd type="triangle"/>
          </a:ln>
        </p:spPr>
      </p:sp>
      <p:sp>
        <p:nvSpPr>
          <p:cNvPr id="18" name="text403"/>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404"/>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405"/>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6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406"/>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407"/>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5"/>
          <p:cNvSpPr/>
          <p:nvPr/>
        </p:nvSpPr>
        <p:spPr>
          <a:xfrm>
            <a:off x="9326880" y="82296"/>
            <a:ext cx="128016" cy="128016"/>
          </a:xfrm>
          <a:prstGeom prst="ellipse">
            <a:avLst/>
          </a:prstGeom>
          <a:solidFill>
            <a:schemeClr val="accent2"/>
          </a:solidFill>
          <a:ln/>
        </p:spPr>
      </p:sp>
      <p:sp>
        <p:nvSpPr>
          <p:cNvPr id="31" name="tag2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408"/>
          <p:cNvSpPr/>
          <p:nvPr/>
        </p:nvSpPr>
        <p:spPr>
          <a:xfrm>
            <a:off x="548640" y="1298448"/>
            <a:ext cx="237744" cy="237744"/>
          </a:xfrm>
          <a:prstGeom prst="ellipse">
            <a:avLst/>
          </a:prstGeom>
          <a:solidFill>
            <a:schemeClr val="accent1"/>
          </a:solidFill>
          <a:ln/>
        </p:spPr>
      </p:sp>
      <p:sp>
        <p:nvSpPr>
          <p:cNvPr id="4" name="text409"/>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410"/>
          <p:cNvSpPr/>
          <p:nvPr/>
        </p:nvSpPr>
        <p:spPr>
          <a:xfrm>
            <a:off x="5760720" y="1298448"/>
            <a:ext cx="237744" cy="237744"/>
          </a:xfrm>
          <a:prstGeom prst="ellipse">
            <a:avLst/>
          </a:prstGeom>
          <a:solidFill>
            <a:schemeClr val="tx2"/>
          </a:solidFill>
          <a:ln/>
        </p:spPr>
      </p:sp>
      <p:sp>
        <p:nvSpPr>
          <p:cNvPr id="6" name="text411"/>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412"/>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413"/>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414"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415"/>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416"/>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417"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418"/>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419"/>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420"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421"/>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422"/>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423"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424"/>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425"/>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426"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427"/>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6"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6"/>
          <p:cNvSpPr/>
          <p:nvPr/>
        </p:nvSpPr>
        <p:spPr>
          <a:xfrm>
            <a:off x="9326880" y="82296"/>
            <a:ext cx="128016" cy="128016"/>
          </a:xfrm>
          <a:prstGeom prst="ellipse">
            <a:avLst/>
          </a:prstGeom>
          <a:solidFill>
            <a:schemeClr val="accent3"/>
          </a:solidFill>
          <a:ln/>
        </p:spPr>
      </p:sp>
      <p:sp>
        <p:nvSpPr>
          <p:cNvPr id="27" name="tag2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7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7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428"/>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429"/>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430"/>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431"/>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432"/>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433"/>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434"/>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435"/>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436"/>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437"/>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438"/>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439"/>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440"/>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441"/>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442"/>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443"/>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444"/>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445"/>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446"/>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447"/>
          <p:cNvSpPr/>
          <p:nvPr/>
        </p:nvSpPr>
        <p:spPr>
          <a:xfrm>
            <a:off x="822960" y="6035040"/>
            <a:ext cx="10058400" cy="914"/>
          </a:xfrm>
          <a:prstGeom prst="line">
            <a:avLst/>
          </a:prstGeom>
          <a:noFill/>
          <a:ln w="25400">
            <a:solidFill>
              <a:schemeClr val="accent3"/>
            </a:solidFill>
            <a:prstDash val="solid"/>
            <a:tailEnd type="triangle"/>
          </a:ln>
        </p:spPr>
      </p:sp>
      <p:sp>
        <p:nvSpPr>
          <p:cNvPr id="16" name="text448"/>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449"/>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9"/>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9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450"/>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451"/>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452"/>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453"/>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454"/>
          <p:cNvSpPr/>
          <p:nvPr/>
        </p:nvSpPr>
        <p:spPr>
          <a:xfrm>
            <a:off x="502920" y="1188720"/>
            <a:ext cx="502920" cy="502920"/>
          </a:xfrm>
          <a:prstGeom prst="ellipse">
            <a:avLst/>
          </a:prstGeom>
          <a:solidFill>
            <a:schemeClr val="accent1"/>
          </a:solidFill>
          <a:ln/>
        </p:spPr>
      </p:sp>
      <p:pic>
        <p:nvPicPr>
          <p:cNvPr id="8" name="setIcon455"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456"/>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457"/>
          <p:cNvSpPr/>
          <p:nvPr/>
        </p:nvSpPr>
        <p:spPr>
          <a:xfrm>
            <a:off x="4480560" y="1581912"/>
            <a:ext cx="502920" cy="502920"/>
          </a:xfrm>
          <a:prstGeom prst="ellipse">
            <a:avLst/>
          </a:prstGeom>
          <a:solidFill>
            <a:schemeClr val="tx2"/>
          </a:solidFill>
          <a:ln/>
        </p:spPr>
      </p:sp>
      <p:pic>
        <p:nvPicPr>
          <p:cNvPr id="11" name="setIcon458"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459"/>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460"/>
          <p:cNvSpPr/>
          <p:nvPr/>
        </p:nvSpPr>
        <p:spPr>
          <a:xfrm>
            <a:off x="7772400" y="1856232"/>
            <a:ext cx="502920" cy="502920"/>
          </a:xfrm>
          <a:prstGeom prst="ellipse">
            <a:avLst/>
          </a:prstGeom>
          <a:solidFill>
            <a:schemeClr val="accent3"/>
          </a:solidFill>
          <a:ln/>
        </p:spPr>
      </p:sp>
      <p:pic>
        <p:nvPicPr>
          <p:cNvPr id="14" name="setIcon461"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462"/>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463"/>
          <p:cNvSpPr/>
          <p:nvPr/>
        </p:nvSpPr>
        <p:spPr>
          <a:xfrm>
            <a:off x="9921240" y="2084832"/>
            <a:ext cx="502920" cy="502920"/>
          </a:xfrm>
          <a:prstGeom prst="ellipse">
            <a:avLst/>
          </a:prstGeom>
          <a:solidFill>
            <a:schemeClr val="accent2"/>
          </a:solidFill>
          <a:ln/>
        </p:spPr>
      </p:sp>
      <p:pic>
        <p:nvPicPr>
          <p:cNvPr id="17" name="setIcon464"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465"/>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466"/>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467"/>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468"/>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69"/>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70"/>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71"/>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72"/>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73"/>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74"/>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75"/>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76"/>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77"/>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78"/>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3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3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3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3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79"/>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80"/>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81"/>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82"/>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83"/>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85"/>
          <p:cNvSpPr/>
          <p:nvPr/>
        </p:nvSpPr>
        <p:spPr>
          <a:xfrm>
            <a:off x="548640" y="4160520"/>
            <a:ext cx="685800" cy="685800"/>
          </a:xfrm>
          <a:prstGeom prst="ellipse">
            <a:avLst/>
          </a:prstGeom>
          <a:solidFill>
            <a:schemeClr val="accent1"/>
          </a:solidFill>
          <a:ln/>
        </p:spPr>
      </p:sp>
      <p:pic>
        <p:nvPicPr>
          <p:cNvPr id="9" name="check485"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86"/>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87"/>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88"/>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89"/>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90"/>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3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31"/>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31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91"/>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92"/>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93"/>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94"/>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95"/>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96"/>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97"/>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2"/>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3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3"/>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3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4"/>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4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5"/>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5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6"/>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6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7"/>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8"/>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8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9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5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6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7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98"/>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99"/>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5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5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5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5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1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500"/>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501"/>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502"/>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503"/>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504"/>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505"/>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506"/>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507"/>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508"/>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509"/>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510"/>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511"/>
          <p:cNvSpPr/>
          <p:nvPr/>
        </p:nvSpPr>
        <p:spPr>
          <a:xfrm>
            <a:off x="7269480" y="3566160"/>
            <a:ext cx="914" cy="1691640"/>
          </a:xfrm>
          <a:prstGeom prst="line">
            <a:avLst/>
          </a:prstGeom>
          <a:noFill/>
          <a:ln w="25400">
            <a:solidFill>
              <a:schemeClr val="accent3"/>
            </a:solidFill>
            <a:prstDash val="solid"/>
            <a:tailEnd type="triangle"/>
          </a:ln>
        </p:spPr>
      </p:sp>
      <p:sp>
        <p:nvSpPr>
          <p:cNvPr id="15" name="text512"/>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2"/>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2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513"/>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514"/>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515"/>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516"/>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517"/>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518"/>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519"/>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520"/>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521"/>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522"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523"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5"/>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5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6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524"/>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525"/>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526"/>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527"/>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528"/>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529"/>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530"/>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531"/>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532"/>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533"/>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534"/>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535"/>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536"/>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537"/>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538"/>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539"/>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540"/>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541"/>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542"/>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8"/>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8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2026-10-16T14:28:51Z</dcterms:created>
  <dcterms:modified xsi:type="dcterms:W3CDTF">2026-10-16T14:28:51Z</dcterms:modified>
</cp:coreProperties>
</file>
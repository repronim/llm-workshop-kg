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talk" id="{9917d535-f0de-46ab-ff55-57805708caf7}">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Lst>
        </p14:section>
        <p14:section name="Backup" id="{5394060d-9f80-cf11-ab43-4417c2c8d7bb}">
          <p14:sldIdLst>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 id="31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Every term is explained on the slide where it first appears, and a full glossary is in backup. Two worked examples run in the background: a pinned OpenNeuro dataset (ds000030) joined to three papers, and ABIDE I with two simulated collaborators. Both are packaged with code and graphs; the talk uses them as evidence, not as the topic.
[v3 slide 1] Concrete worked example: a pinned OpenNeuro dataset joined to its data descriptor, preprocessing descriptor and a later scientific analysis. Ask what knowledge should survive the agent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Two objectives, both tied to the title. First, represent a neuroimaging result as a knowledge graph: the research question, the claim and its scope, the participants and derived measures it relies on, and the source data, each linked so that the result can be traced back to data and evidence by a colleague or an AI assistant. NIDM and PROV give these links standard names, but the habit of recording them matters more than the vocabulary. Second, connect information across knowledge graphs, which is the connecting in the title: join your lab's graph to public datasets, publications, tools and collaborators' work through shared identifiers (participant IDs, DOIs, ORCIDs, repository URLs) and shared vocabularies (nidm-terms, InterLex, UBERON), and decide what can leave your lab. A shared identifier makes a join possible; it does not make two measurements the same, so joined information still has to be verified before it is used. The ReproPond/ReproLake and joining-graphs slides show both sides.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Two public datasets carry every example. ds000030 is the UCLA Consortium for Neuropsychiatric Phenomics dataset on OpenNeuro (commit 4070b6e, CC0 licence): 272 adults, 130 healthy controls, 50 with schizophrenia, 49 with bipolar disorder and 43 with ADHD, with structural MRI, resting and task fMRI such as the stop-signal task, and 52 questionnaire and phenotype tables. We use it with three papers: the data descriptor (Poldrack et al. 2016), the preprocessed derivatives (Gorgolewski et al. 2017) and a prediction study across the UCLA and COBRE cohorts (Kim et al. 2023). It carries Part 1, representing a result. ABIDE I is the Autism Brain Imaging Data Exchange: 1,112 participants, 539 autistic and 573 typically developing, from 17 sites (20 site codes in the data), with resting-state fMRI and phenotypes including IQ, the ADOS clinician assessment and the Social Responsiveness Scale. ABIDE Preprocessed provides C-PAC-processed 200-region time series for 1,035 of them (CC BY-NC-SA licence). We use it with Di Martino et al. 2014 (group differences), Abraham et al. 2017 (prediction at held-out sites) and a review of 74 ABIDE studies; it carries Part 2, connecting graphs, and the live demo uses one site. Counts are from the ds000030 package (rebuilt and matched) and ABIDE results/key_numbers.json and element_coverage.json.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A knowledge graph is a set of statements, each with three parts: a subject, a relation and an object; that unit is called a triple. This is how the ds000030 graph actually records one questionnaire score, in four statements. A questionnaire record has the 'acts impulsively' score 2.0 (the variable bis_parcel1). The record was generated by a Barratt questionnaire session (in NIDM, an acquisition). That session was carried out with participant sub-10159, who has the role of subject (in PROV, a qualified association with an agent). And the record was derived from row 2 of barratt.tsv. The participant is two steps away from the score, not attached to it directly: that is how the graph keeps the measurement, the session it came from and the person separate. An identifier is a name that means the same thing everywhere, such as a participant ID or a DOI; a vocabulary is an agreed set of names for relations and types, such as NIDM for neuroimaging records and PROV for where things came from. A query is the same path with blanks: find any record with an 'acts impulsively' score ?x, generated by some session ?session, carried out with some participant ?participant. Run on the ds000030 graph (results/nidm_phenotypes.ttl) it returns all 272 participants and their scores; for sub-10159 it returns 2.0 from barratt.tsv row 2. SPARQL is the standard language for writing such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Terms: ds000030 is the UCLA Consortium for Neuropsychiatric Phenomics dataset on OpenNeuro; the Barratt Impulsiveness Scale is a 30-item impulsivity questionnaire; a scan sidecar is the BIDS JSON file of acquisition parameters; C-PAC and fMRIPrep are preprocessing pipelines; BBR and ANTs SyN are registration methods to anatomy and to the MNI template. Concrete components, each with an example already in this talk. A dataset is more than its images: participant and phenotype tables (272 participants; 52 tables and 1,983 columns in ds000030), a data dictionary that defines derived scores (the 'acts impulsively' score bis_parcel1 is the mean of Barratt items 17 and 19, stored on each participant's questionnaire record), scan sidecars (sub-10159's resting BOLD: TR 2 s, TE 0.03 s, 3 T, scanner 35343), task event files (256 rows), a file inventory (2,531 pointers), derivatives (Barratt scores; CC200 time series from C-PAC) and a release version (commit 4070b6e; ABIDE Preprocessed). A publication has its own components: the research question, the cohort and its exclusions (Kim 2023, 47 + 47; Abraham 2017, 871 of ABIDE I's 1,112), preprocessing with versions (Gorgolewski 2017: FMRIPREP with FreeSurfer 6.0.0 BBR and ANTs 2.1.0 SyN to MNI152NLin2009cAsym), the analysis and evaluation scheme, scoped results (70.2% UCLA leave-one-out) and data and code availability; in our review, only 17 of 74 ABIDE studies had reconstructible cohorts. What links the two sides is participant IDs, the dataset accession and version, and the cohort definition, which is what the joining slide uses. Details are in the backup slides on the ds000030 extraction, the papers' research questions, and scan, event and phenotype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Twenty kinds of neuroimaging knowledge, in four groups: what was studied (datasets, participants, acquisitions, tasks), how it was done (methods, procedures, spaces, provenance, environments), what was found (derivatives, results, questions, scoped claims) and who and in what context (papers, people, funding, reviews, resource activity, vocabularies, governance). Short names are on the slide; standards and examples for each are in the backup table. Teal tiles are populated in the ds000030 and ABIDE packages; grey ones are not. 'How to apply a method' is distinct from the method itself: for registration, the graph holds the route (functional → T1 → MNI152NLin2009cAsym), compatible spaces and per-case QC checks (see the backup registration slide). Atlases and templates are best referenced by TemplateFlow identifiers. A graph is only as good as what someone wrote down: each tile is a habit before it is a technology. Ask: which of these does your lab already write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Terms: an image-derived phenotype is a measurement computed from images, such as a regional brain volume; a cross-validation fold is one train/test split. One ABIDE participant, with every layer the graph holds about them: phenotype values, acquisition and QC records, derivatives, image-derived phenotypes by tool, membership in each analyst's cohort and cross-validation folds, the results that depend on them, the publication that used the cohort, and the consent scope that governs what can be shared. This replaces the single-measurement view from ds000030, which is in backup. Source: results/participant_ego.json and figures/participant_ego.png (239 triples within two hops, 30 nodes; one query, 0.027 s). MaxMun_c_0051332: 38 phenotype values from source row 1003, mean FD 0.0644 mm; two raw scans held as S3 pointers; CC200 time series and 19,900-edge connectivity with hashes; brain volumes from ANTs (101), FSL (18) and FreeSurfer (62) joined from ReproNim simple2 through ndar:src_subject_id; member of the reconstructed Abraham cohort, B_v1, A_v1 and B_v2, but not A_v2, because the MAX_MUN site falls below the 10-per-group minimum under the stricter motion rule; input to 10 results; record scope broad sharing, egress permitted.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Terms: Kim et al. 2023 classified schizophrenia patients versus controls from resting-state connectivity; CPM is connectome-based predictive modelling, here with a linear support vector machine (a standard linear classifier); leave-one-out cross-validation trains on all participants but one and tests on the one left out, repeated for each person. The question is the paper's own aim, verbatim from the abstract: 'we aimed to determine the direction of the connectivity alteration associated with schizophrenia using a multivariate, data-driven approach' (Kim et al. 2023, 'Bidirectional connectivity alterations in schizophrenia: a multivariate, machine-learning approach', https://www.frontiersin.org/articles/10.3389/fpsyt.2023.1232015/full). The claim node answers that question with the paper's own result: 'combining information from both increased and decreased rsFC substantially improved prediction accuracy', and 'When tested across datasets, the prediction model using decreased rsFC performed best.' Note for the speaker: earlier drafts of this slide paraphrased the question as 'do decreased and increased connectivity predict diagnosis?', which turns a question about the direction of an association into a prediction question; it was corrected after checking the source, and is itself an example of the scope error this talk warns about. Say: the paper tells us which dataset, but not which 94 people from it, so we cannot rebuild the cohort. Kim et al. 2023 (Front Psychiatry, doi 10.3389/fpsyt.2023.1232015). The 70.2% is the evidence for the claim, not the claim itself: it is the within-UCLA leave-one-out accuracy for both connectivity directions; transfer to COBRE was 61.5% for decreased connectivity and the reverse direction was not above chance. The paper names ds000030, but not the 94 participants or per-file processing, and reports GRETNA/SPM12, so reuse of the 2017 fMRIPrep derivatives is not asserted. Lesson: save the participant manifest with every analysis.
[v3 slide 13] Claim C1 links to question Q1 and the reported evaluation in the original graph. Evaluation links to analysis cohort and model. The cohort has an explicit unresolved membership status. Dataset accession does not identify the exact 94 participants or the processed inputs. Paper reports GRETNA/SPM12, so reuse of 2017 FMRIPREP derivatives is not asserted.
[v3 slide 12] Source: Kim 2023 Results and Figure 2. UCLA cohort 47 patients plus 47 controls. COBRE 62 plus 73. The reported models use CPM with linear SVM. The sensitivity analysis changes both global signal regression and scrubbing, so it cannot isolate either causal effect. No independent replication performed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Audience exercise: 30 seconds. All three statements carry the same exact evidence span. Statement C was actually run through the StructSense span validator in the pilot and passed it; B is constructed for this exercise to show scope loss (cross-dataset transfer was 61.5% in one direction and not above chance in the other).
[v3 slide 18] Adversarial example: changing the statement to a causal claim while retaining the exact 70.2% evidence span still passes the upstream span validator. The source does not establish causality. Separate semantic review rejects that interpretation. This is a demonstrated limit of lexical validation, not a demonstrated autonomous semantic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Reveal. Say: a graph will store B and C just as faithfully as A, so someone still has to check scope and whether the statement follows from the source. Exact-span checking is lexical: it confirms that the words exist in the source, not that the statement follows from them. In the pilot, C passes the upstream span validator; separate semantic review rejects it. This is a demonstrated limit of lexical validation, not a demonstrated autonomous semantic gate.
[v3 slide 18] Adversarial example: changing the statement to a causal claim while retaining the exact 70.2% evidence span still passes the upstream span validator. The source does not establish causality. Separate semantic review rejects that interpretation. This is a demonstrated limit of lexical validation, not a demonstrated autonomous semantic gate.
[v3 slide 15] Six pilot records cover three result claims, a preprocessing method, a behavioral derivation and a missing unit. All six evidence spans pass upstream span validation. JSON Schema passes. Host-model judgments are procedurally separate but share the same model context. The numeric span alone does not prove the surrounding interpretation.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Terms: ABIDE I is the Autism Brain Imaging Data Exchange, resting-state fMRI from 17 sites; NIDM is a vocabulary for neuroimaging records; simple2 is ReproNim's set of ABIDE records written in NIDM, one graph per site; OpenAlex is an open catalogue of scholarly papers; a DOI is a persistent identifier for a paper. Our ABIDE graph joined to five others, each through a different key, with what the join actually returned. ReproNim's simple2 NIDM graphs (27 site graphs, commit e0dff17) join on ndar:src_subject_id = SUB_ID: all 1,112 participants matched with no orphans, 1,035 have CC200 files, and 767 are in Analyst B's cohort; the link is a reviewed correspondence, not owl:sameAs. AbstractAtlas (OHBM 2026, commit 181652e2) joins only on the dataset name in abstract text: 35 abstracts, 17 of which state data use, and 15 of those 17 were correct on a hand check. OpenAlex joins on DOI and citation: 598 works cite Di Martino 2014 and name ABIDE. Brain Researcher's graph has one aggregate ABIDE node (2,226 subjects) and neither paper. A SynthScholar literature review joining on DOI plus cohort description found three papers sharing the 871-participant ABIDE I subset (Abraham 2017, Parisot 2018, Ktena 2017). The inset is the caution: a shared concept term (UBERON:0000956, cortical grey matter) let us join volumes across tools, but ANTs and FreeSurfer agree well (r = 0.85, median ratio 1.01), ANTs and FSL less (r = 0.72, ratio 0.84), and under 'CSF' (UBERON:0001359) FSL reports total CSF while ANTs and FreeSurfer report ventricles, so values differ about 200-fold (ANTs/FSL median ratio 0.005, r = 0.23; FSL/FreeSurfer 224): the term matched, the measurement definition did not. Sources: ABIDE_Collaboration_Experiment/results/simple2.json, simple2_tool_agreement.csv, publications.json.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Six layers let graphs built by different people be used together. First, shared identifiers: a dataset and its version, participant IDs, DOIs for papers, ORCIDs for people, RRIDs for tools; ReproNim's simple2 graphs join ours on the participant ID for all 1,112 ABIDE I participants. Second, shared vocabularies: tags that say what a variable is about (InterLex and nidm-terms concepts), UBERON for anatomy, Cognitive Atlas for tasks. Third, a shared schema with validation: the PyNIDM LinkML schema compiled to SHACL rules, so every contributor's graph passes the same checks. Fourth, where vocabularies differ, mapping links (exactMatch or closeMatch) that a named reviewer asserted, never a silent declaration that two things are identical. Fifth, one named graph per contributor with PROV, so disagreements stay visible instead of being overwritten: under the same UBERON term for CSF, FSL reports total CSF while ANTs and FreeSurfer report ventricles, about 200-fold apart; and two agents reconstructed the ABIDE cohorts differently (871-based versus 767). Sixth, federation instead of copying: Neurobagel sends the query to each pond and returns only permitted results. The Caltech numbers on the slide are a real comparison of two contributors' graphs for one site, our graph against ReproNim's simple2 NIDM, run by compare_graphs.py (sensein/agent_skills PR #49, skills/neuroimaging-kg/scripts/compare_graphs.py; output in examples/abide_one_site/demo_output.txt and graph/compare.md): all 38 participants match with none left over; 12 concepts are shared; 28 variables, over half of them ADOS, ADI-R and SRS subscores, carry the same source variable in both graphs but no shared concept, so they are written to a review file as proposed skos:exactMatch links and none is asserted automatically; and 0 of 282 participant-by-concept values conflict, which is expected because both graphs come from the same ABIDE phenotype table. The conflict that does appear is across tools, not contributors: the CSF definitions in layer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Terms: FIQ, VIQ and PIQ are full-scale, verbal and performance IQ; ADOS is a clinician-administered autism assessment; SRS is the Social Responsiveness Scale; mean FD is average head movement between fMRI volumes; CC200 is a 200-region brain parcellation. The same graph read the other way: for each data element, how many participants have it, by site. The callouts are joins the graph answers directly, for example how many participants have phenotype, time series and image-derived phenotypes together. Source: results/element_coverage.json (query Q14, 0.24 s) and figures/element_coverage.png. 1,112 participants; CC200 time series for 989; Analyst B's inputs (age, FD, CC200) for 988 at 20 sites; age + FIQ/VIQ/PIQ + FreeSurfer hippocampus for 746 at 15 sites (VIQ limits it); adding SRS leaves 330 at 4 sites. Missing elements cluster by site, not at random: SRS is missing at 15 sites, VIQ at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Cohorts from results/key_numbers.json: Analyst A's cohort (n = 441, 9 sites) lies entirely inside Analyst B's (n = 767, 20 sites); 326 participants are in B only. Under the stricter QC rule A loses 69 and B loses 63. An earlier version of this slide showed 104 / 780 / 91 from a second agent's reconstruction built around an 871-participant cohort; the two agents reconstructed the same cohorts differently, which is itself a point for the comparison slide. Say: both use ABIDE, but they may not use the same participants, and they are asking different questions, so their claims need separate scopes. Second worked example, executed in the background on ABIDE I Preprocessed (CPAC, CC200 atlas). Analysts A and B are simulated, clearly labelled illustrative agents, not real people. A asks an associational question modelled on Di Martino et al. 2014 (Mol Psychiatry); B asks a predictive question modelled on Abraham et al. 2017 (NeuroImage), with leave-site-out evaluation. A group difference does not establish accurate individual prediction, and a shared dataset name does not establish identical samples. The graph records each collaborator's cohort, derivatives, results and reviews of the other's work as attributed PROV activities.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Terms: FDR (false discovery rate) correction controls the share of false positives among the many connections tested; Cohen's d is the group difference in standard-deviation units; AUC is the area under the ROC curve, 0.5 is chance and 1 is perfect; tangent-space connectivity is a way of comparing whole connectivity matrices that respects their geometry; leave-site-out trains on all sites but one and tests on the held-out site. Say: these answer different questions, so neither result confirms or refutes the other. Source: results/key_numbers.json. Analyst A (n = 441, 9 sites): 5,428 FDR-significant edges, 5,407 hypoconnected and 21 hyperconnected (99.6%, 95% CI 90.2–99.8%), 52% of hypoconnected edges interhemispheric, median |d| 0.30. Analyst B (n = 767, 20 leave-site-out folds): AUC tangent 0.74 (0.70–0.77), correlation 0.72 (0.69–0.76), demographic + FD 0.59 (0.54–0.62), demographic 0.48 (0.44–0.52); tangent accuracy 66.9%. Reviews: A finds 90 of B's top predictive edges among its significant edges against 54 expected (p ≈ 4e−8); B finds A's effect not established in the 326 participants outside A's cohort (pooled d −0.08, −0.31 to 0.15; 8 of 14 sites in the same direction). Abraham et al. 2017 reported 66.8% leave-site-out accuracy, against our B's 66.9%, on a different cohort definition (871 versus 767); rater QC alone gives 873 here against Abraham's reported 871 (cohort.rater_qc_pass.n). Caveat on A: its hypoconnectivity pattern correlates 0.98 with whole-brain mean connectivity (key_numbers.json: review_v1.B_of_A.signature_global_r), so much of it may reflect a global difference rather than specific edges. Figures in the package: figures/analyst_b_sites.png, figures/review_b_of_a_forest.png.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Ask the room to guess before the reveal. The rule change is from results/key_numbers.json and README (mean framewise displacement &lt; 0.2 mm → &lt; 0.15 mm).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Reveal. The sequence is: traverse the graph, flag the dependent results, rerun only those, record what changed. Say: a flagged result needs a second look; only the rerun tells us whether it actually changed. Sources: results/revision_flags.json (graph traversal on the v1 graph, Oxigraph, 0.05 s in total) and results/revision_impact.json (after recomputation). 63 of B's participants fail the stricter rule; 17 of 20 leave-site-out folds have an affected test site and all 20 have affected training data. 91 distinct entities are flagged: 85 results, 2 claims and 4 reviews or assessments (comparison/gold_answers.json, Q5); revision_flags.json lists 92 entries because one review appears twice. After recomputation none of the 9 result families changed materially (rule: the v2 estimate outside the v1 95% interval, or a review verdict changing); tangent AUC 0.739 → 0.734. Analyst A loses 69 participants: 38 by the motion rule and the rest because MAX_MUN falls below the per-site minimum. The exclusion is differential: the tighter rule removes 23% of ASD and 14% of TD participants, and up to 88% at one site (key_numbers.json: scope.fd015_asd_excluded, scope.fd015_td_excluded, scope.fd015_site_max_excluded), so a QC change can shift the diagnostic balance of a cohort.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Start from the dataset and follow it outward: publications that cite and name ABIDE (counted from OpenAlex), a systematic review of those studies, abstracts in AbstractAtlas and the claims extracted from them with ECO evidence codes, and how many study cohorts can be rebuilt and so linked back to our graph. Each link carries a status: mentions, uses the data, or only a candidate. The counts are a dated snapshot, so the refresh date is part of the record. AbstractAtlas: abstractatlas.brainkb.org, code at github.com/sensein/abstractatlas. Two cautions: its author IDs are corpus-local, deduplicated by name and affiliation, so they should not be treated as global identities; and semantic similarity only proposes candidate relations, it does not verify support. Sources: results/publications.json and literature_review/synthesis.md. OpenAlex (pulled 2026-10-15): 598 works cite Di Martino 2014 and name ABIDE in title or abstract; 220 do so for Abraham 2017; status candidate. AbstractAtlas OHBM 2026 (commit 181652e2): 35 abstracts mention ABIDE, 17 state data use (15 of 17 correct on hand check), 18 mention it only; they carry 541 extracted claims. SynthScholar review: 994 records identified, 99 assessed, 74 included; cohorts reconstructible exactly for 17 (participant lists published for 4); 9 studies reuse the 871-participant ABIDE I subset, which our graph reconstructs as 873.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This exchange was run, not mocked up: Claude Code ran headless in a fresh folder that held only literature_kg.ttl, the review's graph, and answered in 88 s. A participant can do the same: open Claude Code in a folder containing the graph file and ask in plain language. It wrote the SPARQL itself (the middle panel is an excerpt of its two queries), ran it with pyoxigraph, and returned a table with a verbatim quote for each study; the prompt on the left is an excerpt, and the full answer is in slides/demo/literature_query_answer.md. Its numbers match the review's synthesis (literature_review/synthesis.md): 6 studies hold whole sites out and 5 of them report an accuracy, median 66.8%, range 56–73.4% (Abraham 2017 66.8%, S-030 56% balanced accuracy, S-062 71%, S-071 73.4%, S-072 about 62%). Equally important is what it did not do: S-022 says it ran the leave-site-out test, the graph stores no accuracy for it, and the assistant said so instead of borrowing that paper's 70.22% from pooled cross-validation. It also reported that quotes are linked to papers rather than to individual accuracy values, so it chose each quote from the graph's summary of what the quote supports, and that most values are the best of several models and S-030's is balanced accuracy, so they are not directly comparable.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Terms: pooled k-fold cross-validation mixes participants from all sites in training and test folds; leave-site-out holds out whole sites; leakage means information from the test data reached training (for example, harmonising sites before splitting). From a SynthScholar (v0.3.0) review: 994 records identified, 99 assessed, 74 studies included. Of 53 studies with a predictive claim, 26 use cross-validation that mixes sites across train and test folds and only 6 hold whole sites out. Median best accuracy is 73% under pooled k-fold cross-validation (23 studies; 70.9% without the 8 leakage-flagged ones) and 67% under leave-site-out (5 studies). These are different studies, models and subsets, so the gap is descriptive, not a controlled comparison; one study that reports both schemes for the same model drops from 64% to 56% balanced accuracy when sites are held out. Charting was done by AI agents with mechanical checks that each quoted value appears in the paper's full text; individual charting decisions were not verified by a person. Source: literature_review/synthesis.md, results_synthesis.json, figures/accuracy_by_evaluation.png.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ReproNim's terms, from the repronim.org tutorial 'Sharing and Searching Metadata Using a ReproPond and the ReproLake' (resources/tutorials/pond-lake). A ReproPond is a local FAIR metadata store, NIDM Turtle served by a Neurobagel node; ponds can be federated across sites. The ReproLake is a semantically aligned store of public datasets maintained by ReproNim. Neurobagel queries search across ponds and the lake. In our examples, ds000030 and ABIDE I are public, de-identified releases, so they are lake-eligible; the analysts' reviews, local QC rules and the illustrative collaboration records start in a pond. Example of what a global graph lacks: Brain Researcher's knowledge graph holds a single ABIDE node (2,226 subjects across ABIDE I and II) and neither Di Martino 2014 nor Abraham 2017. Our local graph holds the exact cohorts, for example the 871 participants in Analyst B's cohort, which matches Abraham's reported N; those cohort definitions and scoped claims are candidates to move from pond to lake, subject to the gates: generality beyond one site, review, consent that covers broad sharing (DUO), licence, a persistent identifier with a version, and provenance. Lake to pond: a template such as MNI152NLin2009cAsym is pinned to a version, local parameters are recorded, and it still needs per-participant registration QC. Some things stay in the pond: data whose consent is scoped to the study or to named uses rather than broad sharing (DUO-restricted, or limited by a DUA such as NDA or ABCD), direct identifiers and full dates, undefaced images, quasi-identifier combinations and small cells, restricted fields, and the keys that link pseudonymous IDs to people. Federated query lets the question travel to the pond so that only permitted answers come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1:45. Install the skill into this project only, then build a graph for one ABIDE I site (Caltech, 38 participants) from the phenotype table and ReproNim's NIDM file of brain volumes. Prompt 1 took 34 s in testing: the graph built, its checks passed, and a deliberately deleted 'derived from' link was caught. The assistant also said the volumes came from three tools (FreeSurfer, FSL, ANTs); Caltech's file has FreeSurfer and FSL only. That is a real check-against-the-graph moment: ask the room how we would verify it, and point out that one query over the software agents in the graph answers it. Prompt 2 (14 s) joins IQ from our table with FreeSurfer hippocampal volume from ReproNim's file through the shared participant ID: 18 autistic and 19 control participants. Repository and branch: github.com/sensein/agent_skills, branch neuroimaging-kg (PR #49). Prompts and outputs are from a headless test (Claude Sonnet, 2026-10-15) recorded in the transcript; if the live run is slow (prompt 3 took 162 s), show the transcript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1:45. Prompt 3 (162 s, the slow one) traces participant 51456's left-hippocampus volume to its FreeSurfer run and the T1-weighted scan. The volume (4513.9 mm³) and its meaning are recorded; the link 'FreeSurfer ran on this scan' is not recorded, only implied by the subject ID appearing in a command line, and the FreeSurfer version appears only inside a path string. The graph shows where provenance is missing. Prompt 4 (55 s) applies the stricter motion rule, mean FD below 0.15 mm: participants 51456 and 51469 drop out, so the cohort becomes 17 autistic and 19 control, and the assistant flags two queries that ignore the cohort. Prompts and outputs are from a headless test (Claude Sonnet, 2026-10-15) recorded in the transcript; if the live run is slow (prompt 3 took 162 s), show the transcript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The lecture has its own provenance graph, talk_provenance.ttl, written by the deck build from a table of how each slide was made. Each slide is a node; it was generated by one or more production activities, each associated with an agent (the speaker, an LLM drafting from the speaker's instructions, an agent running code, an agent retrieving from sources, an external agent through MCP, or an earlier agentic session); it was derived from the result files it shows; and an assessment records how it was checked, derived from the evidence for that check (a rebuild comparison, a claim verification). The query on the right counts slides by checking status; it was run with pyoxigraph over the file (1643 triples) and the answer is shown as returned. The badge in the corner of every slide is the same record. Corrections came from both directions: the speaker caught the consent wording, a paraphrase of Kim et al. 2023's research question that turned an association question into a prediction question, AbstractAtlas links that had been dropped, and LLM-style footers and titles; automated checks caught an ORCD job with invalid p-values, a clean rebuild that failed on a blocked download (HTTP 403), two agents that reconstructed the same ABIDE cohorts differently, and UMAP values that drift between machines while everything else matched.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The take-home list; none of it needs an AI system, and each item supports one of the two objectives. For representing results (objective 1): pin your data with a DataLad version or commit and file hashes (connects to Yarik's STAMPED talk); save the participant manifest, which was the missing link in the Kim 2023 claim chain; scope each claim, keeping association and prediction apart as in the two ABIDE analyses; recompute one derived value from source, as in the Barratt check. For connecting graphs (objective 2): use shared identifiers and terms, such as DOIs for papers, ORCIDs for people, RRIDs or repository URLs for tools, and nidm-terms or InterLex concepts for variables, so that your graph can be joined to others; and check that a shared term really means the same measurement before relying on the join.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 discussion. Main-route total: 24:00 (opening: 0:20 title, 0:40 objectives, 0:45 the two datasets, 1:15 four-statement primer; objective 1: 1:15 dataset and publication components, 0:45 entities, 1:00 participant graph, 1:30 claim chain, 0:45 claim exercise, 0:30 quotation checks; objective 2: 1:30 joining graphs, 1:00 harmonising graphs, 0:45 coverage, 0:45 ABIDE design, 1:00 ABIDE results, 0:30 QC exercise, 0:45 dependency tracing, 0:30 publications and abstracts, 1:00 asking Claude about the literature graph, 0:30 evaluation schemes, 1:00 ReproPond and ReproLake; with an assistant: 1:45 demo 1, 1:45 demo 2, 0:45 the lecture's provenance graph; close: 1:00 practices, 0:45 discussion). Open the floor: which link in the chain (manifest, scope, derivative lineage, review) would your lab require before an agent's change is accepted? Offer a live look at the HTML experiment report if time allows.
[v3 slide 28] End main talk. Invite discussion of the missing image lineage, interpretation of UMAP and a fair graph-versus-search ablation. Main route is 28 slides with suggested timing approximately 23 minutes, leaving room for a short demonstration.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(was a main-route slide).  Tokens are shuffled (A = 259, B = 290, C = 94, D = 272, E = 255, F = 261). Ask the audience to hold up fingers or call out a letter. Give 20 seconds. Then ask: which number would an agent return if you asked it 'how many subjects'?
[v3 slide 34] Actual extraction on 13 October 2026. Repository pinned at commit 4070b6eea231517bfeff42527a46d9d166ac4e13. Full participant table and Git tree parsed. Git-annex image pointers inventoried, image bytes not inspected. All ten modality flags match tree paths. See attached graph bundle and executable query results. Dataset Description lists 138 controls, 58 schizophrenia, 49 bipolar and 45 ADHD, total 290; the table has 130/50/49/43, total 272. The prose cohort scope remains unresolved. 2017 reports 255 for the stop-signal model. Kim 2023 Table 1 reports 47 patients and 47 controls. Do not subtract current inventory counts to invent a historical exclusion manifest. Ask the audience: which count should an agent return for ‘how many subjects’? Give 20 seconds to identify the missing scope. Sources: https://github.com/OpenNeuroDatasets/ds000030/blob/4070b6eea231517bfeff42527a46d9d166ac4e13/dataset_description.json ; https://github.com/OpenNeuroDatasets/ds000030/blob/4070b6eea231517bfeff42527a46d9d166ac4e13/participants.tsv ; https://pmc.ncbi.nlm.nih.gov/articles/PMC5664981/ ; https://doi.org/10.3389/fpsyt.2023.1232015
[v3 slide 29] Actual extraction on 13 October 2026. Repository pinned at commit 4070b6eea231517bfeff42527a46d9d166ac4e13. Full participant table and Git tree parsed. Git-annex image pointers inventoried, image bytes not inspected. All ten modality flags match tree paths. See attached graph bundle and executable query results. Graph query returns 122 CONTROL, 50 SCHZ, 49 BIPOLAR and 40 ADHD. The graph bundle includes the complete candidate manifest. Presence of a Git-annex pointer does not establish readability or QC acceptance. Source: https://github.com/OpenNeuroDatasets/ds000030/blob/4070b6eea231517bfeff42527a46d9d166ac4e13/participants.tsv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Say: every one of these is a correct answer to a slightly different question, so whatever records the number has to record its scope too. 290 is the sum in the dataset's prose description (138/58/49/45); 272 is the pinned participants.tsv; 261 and 259 are file-availability joins (availability is not QC); 255 is the 2017 stop-signal model; 94 is Kim 2023's matched UCLA cohort (47+47). An agent with document search will happily return any of these. A graph that stores the scope with each count makes the question answerable.
[v3 slide 34] Actual extraction on 13 October 2026. Repository pinned at commit 4070b6eea231517bfeff42527a46d9d166ac4e13. Full participant table and Git tree parsed. Git-annex image pointers inventoried, image bytes not inspected. All ten modality flags match tree paths. See attached graph bundle and executable query results. Dataset Description lists 138 controls, 58 schizophrenia, 49 bipolar and 45 ADHD, total 290; the table has 130/50/49/43, total 272. The prose cohort scope remains unresolved. 2017 reports 255 for the stop-signal model. Kim 2023 Table 1 reports 47 patients and 47 controls. Do not subtract current inventory counts to invent a historical exclusion manifest. Ask the audience: which count should an agent return for ‘how many subjects’? Give 20 seconds to identify the missing scope. Sources: https://github.com/OpenNeuroDatasets/ds000030/blob/4070b6eea231517bfeff42527a46d9d166ac4e13/dataset_description.json ; https://github.com/OpenNeuroDatasets/ds000030/blob/4070b6eea231517bfeff42527a46d9d166ac4e13/participants.tsv ; https://pmc.ncbi.nlm.nih.gov/articles/PMC5664981/ ; https://doi.org/10.3389/fpsyt.2023.1232015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(was a main-route slide).  The practical question is where each kind of knowledge can be checked; write it there. Walk one example per column. A fact such as TR = 2 s for this scan goes in the graph with its source. Know-how such as registering BOLD → T1 → template and checking it is a skill, a written procedure. A failure mode such as leakage across cross-validation folds becomes a harness test that runs every time. Tacit judgement such as visual QC of a registration stays human, but is recorded as an attributed assessment. Heuristics such as 'exclude mean FD &gt; 0.2 mm' live as skill parameters and must carry their derivation and limits, not just the number. Some kinds live in two places: definitions in the graph plus ontology terms; local lab knowledge in the graph plus a skill scoped to the site. The examples for every kind are in the backup table; the slide shows where each one lives. Local knowledge sits in the overlap because it needs both a graph record and a site-scoped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(was a main-route slide).  We checked this one formula across all 272 participants; other variables marked as derivatives in the dictionary have not been recomputed, so the flag alone tells us nothing about their lineage. Executed check. Dictionary formula from phenotype/barratt.json, item values from phenotype/barratt.tsv. The graph keeps formula, inputs, output and the agreement check as a recorded activity. Lesson for Monday: before trusting a derived table, recompute one derived value from source.
[v3 slide 7] Actual computation. Dictionary: phenotype/barratt.json, bis_parcel1 Description. Values: phenotype/barratt.tsv. Each new derivative output links to a processing activity, the source record and parser. We verify this one formula only; Derivative=true on other variables does not prove their lineage.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(was a main-route slide).  Say: these are smoke tests; we have not measured precision and recall on held-out papers. A skill can be sound while one output fails; a correct output does not validate the skill. The StructSense pilot (0.12.0, commit dde54251) used a frozen schema, six bounded records, the unmodified upstream span validator, Ajv JSON Schema and pySHACL. The four injected faults are executed checks (skill/pilot_report.json, skill/schema_validation.json, shacl_mutation_report.txt). It does not establish held-out precision/recall or long-run agent reliability.
[v3 slide 16] The pilot provides smoke tests and fault demonstrations only. It does not establish held-out precision/recall, calibrated confidence, robustness across models, or reliable long-run agent behavior. A skill can be sound while an individual output fails; a correct output does not validate the general skill.
[v3 slide 17] Executed checks in skill/pilot_report.json, skill/schema_validation.json and shacl_mutation_report.txt. Baseline graph passes the implemented six-shape local NIDM/PROV profile using pySHACL 0.30.1 and RDFLib 7.1.4. Local profile conformance is not full NIDM certification or scientific validation.
[v3 slide 14] StructSense 0.12.0 at dde54251a5a70f55d0b9bbbaab0dd21013b1bbfc. Followed references/structured-extraction.md and prompts/extractor-structured.md. Executed its unmodified scripts/span_validator.py. This is a bounded structured-mode pilot, not the entire NER/resource pipeline or an exhaustive paper extraction. No external LLM API was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(was a main-route slide).  One run per condition with one model, not blinded: treat it as a demonstration rather than a benchmark. Sources: comparison/gold_answers.json and comparison/brain_researcher/answers.json with transcripts Q1–Q7 (BR-only answers from its MCP tools; unscored). Brain Researcher's graph holds one aggregate ABIDE (I &amp; II) node with 2,226 subjects and neither Di Martino 2014 nor Abraham 2017. The question about each paper's research question and claim type (Q4) is omitted from the table; BR could not answer it either. The search-only arm has not been run, so it is not shown. A second agent's reconstruction of the cohorts, built around the 871-participant subset, gave different overlaps (104 / 780 / 91) from the gold answer here; that disagreement between two agents is itself a reason to keep the cohort definition in the graph.
[v3 slide 22] Actual SPARQL queries executed for participant count, column count, derivative lineage, transfer claim and qualifying evidence. The original inventory query returns 261 T1w/rest candidates. Search remains valuable for discovering and interpreting papers. A graph adds explicit joins and constraints; a no-graph agent with equivalent tables and code may answer just as well.
[v3 slide 23] Proposed 2-by-2 ablation, not an executed performance claim. Use blinded gold annotations, equal source coverage and repeated runs with uncertainty intervals. Include SQL/table retrieval as a baseline for tabular joins. Record graph construction cost and failures caused by incorrect extraction. Do not attribute whole-harness gains to the graph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[v3 slide 4] Actual extraction on 13 October 2026. Repository pinned at commit 4070b6eea231517bfeff42527a46d9d166ac4e13. Full participant table and Git tree parsed. Git-annex image pointers inventoried, image bytes not inspected. All ten modality flags match tree paths. See attached graph bundle and executable query results. New deterministic NIDM graph contains 834,327 triples before the claim bridge. All table columns have dictionary entries. No duplicate IDs or unknown participant IDs in the tables. This is complete coverage of the pinned phenotype tables, not a complete image-content or derivative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[v3 slide 5] Mappings checked against PyNIDM src/nidm/experiment/schema/nidm_schema.yaml, retrieved 14 October 2026. Participant association uses prov:qualifiedAssociation, prov:agent and sio:Subject. Source rows use prov:wasDerivedFrom, sourceRow and hashes. Acquisition/session containers reconstructed from metadata, with no invented dates. NIDM supplies the neuroimaging vocabulary; PROV supplies general provenance relationships.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[v3 slide 8] Image-derived phenotype example is a proposed analysis, not a measured result. External FreeSurfer stats could not be retrieved in this runtime. Required join: Person linked to behavioral AcquisitionObject and image DerivativeObject; derivative output generated by processing activity that used the source image. Regional volume and cortical thickness are distinct measures. Scanner, motion, age, sex and intracranial volume may require adjustment depending on the scientific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[v3 slide 11] Poldrack is a data descriptor, not a resolution of every neurobiological hypothesis. Gorgolewski reports a processing resource, not causal disease findings. Kim asks which direction of connectivity change is associated with schizophrenia (aim, verbatim: 'we aimed to determine the direction of the connectivity alteration associated with schizophrenia using a multivariate, data-driven approach') and tests transfer across datasets. [Corrected 2026-10-15 after checking the source, https://www.frontiersin.org/articles/10.3389/fpsyt.2023.1232015/full: earlier paraphrases ('adds information beyond decreased connectivity', then 'do decreased and increased connectivity predict diagnosis') did not match the paper's stated aim.] The graph gives questions their own nodes and distinguishes supports, qualifies and unresolved. Sources: https://pmc.ncbi.nlm.nih.gov/articles/PMC5139672/ ; https://pmc.ncbi.nlm.nih.gov/articles/PMC5664981/ ; https://doi.org/10.3389/fpsyt.2023.1232015
[v3 slide 12] Source: Kim 2023 Results and Figure 2. UCLA cohort 47 patients plus 47 controls. COBRE 62 plus 73. The reported models use CPM with linear SVM. The sensitivity analysis changes both global signal regression and scrubbing, so it cannot isolate either causal effect. No independent replication performed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[v3 slide 14] StructSense 0.12.0 at dde54251a5a70f55d0b9bbbaab0dd21013b1bbfc. Followed references/structured-extraction.md and prompts/extractor-structured.md. Executed its unmodified scripts/span_validator.py. This is a bounded structured-mode pilot, not the entire NER/resource pipeline or an exhaustive paper extraction. No external LLM API was required.
[v3 slide 15] Six pilot records cover three result claims, a preprocessing method, a behavioral derivation and a missing unit. All six evidence spans pass upstream span validation. JSON Schema passes. Host-model judgments are procedurally separate but share the same model context. The numeric span alone does not prove the surrounding interpretation.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[v3 slide 19] Inspected 14 October 2026: https://abstractatlas.brainkb.org/ and https://github.com/sensein/abstractatlas at 181652e2be0902a4926d292d9ec0e230dfd97b96. Source files: src/ohbm2026/enrich/claims.py and src/ohbm2026/ui_data/authors.py. Claims code independently checks source quotations and filters off-vocabulary ECO codes. Exact quotations and vocabulary membership do not establish entailment. The atlas maps publications/abstracts; the participant UMAP earlier maps people using phenotype measurements. These are different units of analysis. Repository inspected, pipeline not rerun.
[v3 slide 20] Proposed collaboration layer, illustrated with hypothetical analysts A and B and reviewer C. Analyst A studies added predictive information in Kim 2023. Analyst B examines reusable preprocessing in Gorgolewski 2017. Both use ds000030-related evidence, but the graph does not assume the same processing outputs or participant subsets. PROV represents the activities and qualified agent roles. Review assessments are separate evidence-bearing entities. This is a proposed extension, not a claim that AbstractAtlas implements collaborative review.
[v3 slide 21] Proposed graph extension. Paper authorship is distinct from claim-level contribution, review, endorsement and task ownership. Use verified identifiers when available; preserve uncertain identity links. AbstractAtlas deduplicates author records using normalized name plus primary affiliation, with corpus-local sorted numeric IDs. Do not promote these to global sameAs links. Similar embeddings only generate candidate relations. Review comparisons of population, measure, direction, processing and evidence dependence before asserting supports/contradicts. Record who made each relationship assertion and its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[v3 slide 22] Actual SPARQL queries executed for participant count, column count, derivative lineage, transfer claim and qualifying evidence. The original inventory query returns 261 T1w/rest candidates. Search remains valuable for discovering and interpreting papers. A graph adds explicit joins and constraints; a no-graph agent with equivalent tables and code may answer just as well.
[v3 slide 23] Proposed 2-by-2 ablation, not an executed performance claim. Use blinded gold annotations, equal source coverage and repeated runs with uncertainty intervals. Include SQL/table retrieval as a baseline for tabular joins. Record graph construction cost and failures caused by incorrect extraction. Do not attribute whole-harness gains to the graph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[v3 slide 24] Architecture recommendation grounded in executed structural tests. Required workflow: agent proposes a change set, validate in a staging graph, review semantic claims, then promote accepted changes and record a graph diff. Pin queries, schemas, prompts, tools, seeds and input hashes. Instructions alone cannot enforce these transitions. Long-horizon drift reduction has not been measured in this pilot.
[v3 slide 25] Public derivative S3 requests were unsuccessful in this runtime. This is a retrieval limitation, not evidence that derivatives do not exist. Full end-to-end image provenance requires actual stats files, logs, content hashes and inputs. The supplied package retains gaps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[v3 slide 30] Actual extraction on 13 October 2026. Repository pinned at commit 4070b6eea231517bfeff42527a46d9d166ac4e13. Full participant table and Git tree parsed. Git-annex image pointers inventoried, image bytes not inspected. All ten modality flags match tree paths. See attached graph bundle and executable query results. Values come from sub-10159/func/sub-10159_task-rest_bold.json; the task instruction comes from task-rest_bold.json. Only selected sidecars were parsed; do not generalize these values to every scan. MRAcquisitionType=2D describes the acquisition and does not mean the stored BOLD file is a single 2D image. Source: https://github.com/OpenNeuroDatasets/ds000030/blob/4070b6eea231517bfeff42527a46d9d166ac4e13/sub-10159/func/sub-10159_task-rest_bold.json ; https://github.com/OpenNeuroDatasets/ds000030/blob/4070b6eea231517bfeff42527a46d9d166ac4e13/task-rest_bold.json
[v3 slide 31] Actual extraction on 13 October 2026. Repository pinned at commit 4070b6eea231517bfeff42527a46d9d166ac4e13. Full participant table and Git tree parsed. Git-annex image pointers inventoried, image bytes not inspected. All ten modality flags match tree paths. See attached graph bundle and executable query results. For sub-10159, the event file has 256 rows: 96 GO, 32 STOP, 128 NULL. STOP outcomes are 17 SuccessfulStop and 15 UnsuccessfulStop. GO outcomes include 94 SuccessfulGo and two source-spelled UnuccessfulGo. NULL rows represent intervals, not additional task trials. Source: https://github.com/OpenNeuroDatasets/ds000030/blob/4070b6eea231517bfeff42527a46d9d166ac4e13/sub-10159/func/sub-10159_task-stopsignal_events.tsv
[v3 slide 32] Actual extraction on 13 October 2026. Repository pinned at commit 4070b6eea231517bfeff42527a46d9d166ac4e13. Full participant table and Git tree parsed. Git-annex image pointers inventoried, image bytes not inspected. All ten modality flags match tree paths. See attached graph bundle and executable query results. The graph includes these two variables across all 272 phenotype rows and preserves n/a values. Do not silently add a unit or equate these scores. The source dictionary defines each calculation and marks it as derivative. The numerical values were not recomputed from event data. Sources: https://github.com/OpenNeuroDatasets/ds000030/blob/4070b6eea231517bfeff42527a46d9d166ac4e13/phenotype/stopsignal.tsv ; https://github.com/OpenNeuroDatasets/ds000030/blob/4070b6eea231517bfeff42527a46d9d166ac4e13/phenotype/stopsignal.json
[v3 slide 43] Sources: https://pmc.ncbi.nlm.nih.gov/articles/PMC5664981/ Participants and procedures; https://github.com/OpenNeuroDatasets/ds000030/blob/4070b6eea231517bfeff42527a46d9d166ac4e13/sub-10159/anat/sub-10159_T1w.json . The discrepancy was observed during inspection and requires review. It does not establish which source is globally wrong, nor does it justify replacing all scans with the paper’s generic protocol. The acquisition values are in the graph; the table here adds the paper-method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[v3 slide 33] Source: https://pmc.ncbi.nlm.nih.gov/articles/PMC5664981/ Preprocessing. The paper reports FreeSurfer 6.0.0 boundary-based registration with 9 degrees of freedom from functional to T1 space, ANTs 2.1.0 SyN with affine initialization from T1 to MNI152NLin2009cAsym, and composed motion/spatial transforms with one Lanczos resampling. These nodes describe reported frame roles, not retrieved individual transform files. The registration guide turns these into required input/output compatibility checks.
[v3 slide 35] Actual extraction on 13 October 2026. Repository pinned at commit 4070b6eea231517bfeff42527a46d9d166ac4e13. Full participant table and Git tree parsed. Git-annex image pointers inventoried, image bytes not inspected. All ten modality flags match tree paths. See attached graph bundle and executable query results. Seven IDs: 10299,10428,10501,10971,11121,70035,70036. The graph does not infer participant membership in the 2023 matched cohort, individual historical output paths, or reuse of FMRIPREP derivatives. Sources: https://pmc.ncbi.nlm.nih.gov/articles/PMC5664981/ Table 1; https://doi.org/10.3389/fpsyt.2023.1232015 Methods; pinned metadata.
[v3 slide 36] Connect to the existing Brain Registration Companion Guide and brain_registration_shapes.ttl. Its transform-chain joins, endpoint constraints and case-specific evidence apply directly. Those source documents were inspected in the previous draft. Here the route is grounded in the 2017 paper. Never use group overlap as a certificate for one individual. https://pmc.ncbi.nlm.nih.gov/articles/PMC5664981/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[v3 slide 26] Repository capabilities are not all executed here. Only the stated StructSense subset ran. Sensein and K-Dense sources and PR snapshots are in backup slides. The registration guide supplies transform compatibility and case-specific QC checks once real artifacts are retrieved.
[v3 slide 37] These are present on main as inspected 12 October 2026. StructSense separates resolved identity from source-specific mentions. SynthScholar distinguishes full-text inclusion from abstract-only inclusion. labnb provenance is best-effort. duct resource sampling has limits. orcd-remote is specific to MIT ORCD. The table describes repository capabilities, not runs performed for this talk. Sources: https://github.com/sensein/agent_skills/blob/main/README.md and corresponding skills/&lt;name&gt;/SKILL.md files.
[v3 slide 38] A pull request proposes a reviewable change to a repository. Main already documents judging and optional feedback; #34 aims to make correction consistent across modes. #33 builds on judge-feedback-loop, not directly on main. #36 adds a search engine to SynthScholar; its author reports testing mesh_only but not its LLM modes. A reported test result is not a test rerun for this deck. Sources: https://github.com/sensein/agent_skills/pull/34 ; /pull/33 ; /pull/36, metadata and patches inspected 12 October 2026.
[v3 slide 39] Repository and PR status retained as checked 12 October 2026. These are proposed workshop connections, not claims about the other speakers’ implementations. DataLad and STAMPED connect directly to Yarik; PR #227/#265 acknowledge Brent’s datalad-cli work. Analytical alternatives connect to JB and reviewed improvement to Johanna. Sources: https://github.com/K-Dense-AI/scientific-agent-skills ; /pull/227 ; /pull/265.
[v3 slide 41] This is a direct bridge to Yarik’s talk and a contribution link to Brent: #227 acknowledges orientation from Brent McPherson’s datalad-cli plugin; #265 adapts an evidence map and assessment procedure from it. Do not imply that the open PR has landed. A run record and rerun --report are evidence for replayability, not proof that scientific results reproduce. Sources: https://github.com/K-Dense-AI/scientific-agent-skills/pull/227 ; https://github.com/K-Dense-AI/scientific-agent-skills/pull/265 . Current main has evolved since these PR bases. Status checked 12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[v3 slide 27] Architecture connection to https://github.com/brain-researcher/brain-researcher-public and https://arxiv.org/abs/2608.19902 . This graph has not been loaded into Brain Researcher. The preprint’s whole-harness comparison does not isolate the graph contribution. Author-reported benchmark in backup.
[v3 slide 40] Chen et al., Bringing analytic rigor to agentic AI for science, arXiv:2608.19902v1 (preprint, 20 August 2026), Results 1.2. Tool selection: 60 tasks across seven models. Grounding: a separate 50-question benchmark. The paired comparison changes the registry, graph and constraint layer together. It does not isolate the graph effect or prove downstream scientific validity. Most grounding still fails. The no-direct-KG ablation uses a different exact-label endpoint, so do not subtract it from this comparison. Source: https://arxiv.org/html/2608.19902v1 . These are author-reported results, not replications performed for this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[v3 slide 42] Backup synthesis based only on the supplied program. These are suggested transitions, not summaries of the speakers’ unpublished material. Ask how each pattern could preserve a decision from an earlier talk so the next researcher can inspect and reuse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[v3 slide 44] Actual extraction on 13 October 2026. Repository pinned at commit 4070b6eea231517bfeff42527a46d9d166ac4e13. Full participant table and Git tree parsed. Git-annex image pointers inventoried, image bytes not inspected. All ten modality flags match tree paths. See attached graph bundle and executable query results. Full source URLs, locators and downloaded metadata hashes are in sources.json. https://pmc.ncbi.nlm.nih.gov/articles/PMC5139672/ ; https://pmc.ncbi.nlm.nih.gov/articles/PMC5664981/ ; https://doi.org/10.3389/fpsyt.2023.1232015
[v3 slide 45] Backup. Guide: Brain_Registration_Companion_Guide.pdf, Library v5, modified 30 September 2026. Constraints: brain_registration_shapes.ttl, Library v4, modified 30 September 2026. GitHub sources: https://github.com/sensein/agent_skills ; https://github.com/K-Dense-AI/scientific-agent-skills ; https://github.com/brain-researcher/brain-researcher-public . All repository/PR status claims reflect reads on 12 October 2026; future status may change. This revision executed the documented StructSense subset; other repository capabilities remain untested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typology from talk_plan.md. Standards named here are pointers, not endorsements of completeness; several (ReproStim, reproseed, BABS) are ReproNim-adjacent tools. A graph only holds what someone recorded.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typology from talk_plan.md. Standards named here are pointers, not endorsements of completeness; several (ReproStim, reproseed, BABS) are ReproNim-adjacent tools. A graph only holds what someone recorded.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table from talk_plan.md, section 'Types of knowledge, and where each lives'. Graph = records you query; skill = procedure you follow; harness check = test that runs; human review = judgement you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repronim.org tutorial 'Sharing and Searching Metadata Using a ReproPond and the ReproLake' (content/resources/tutorials/pond-lake.md). Scope levels: individual analyst → lab → institution / site → consortium → shared (registries, ontologies, literature-derived KGs such as BR-KG, AbstractAtlas). Each transition is recorded as a PROV activity with an agent and a review assessment. Pond-to-lake examples here: ABIDE claims and cohort definitions absent from BR-KG; an FD-threshold sweep as evidence for a guideline; local ABIDE variable mappings → nidm-terms; a lab registration skill → a shared skill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(was main-route slide). NIDM gives each record its neuroimaging role; PROV records where each value came from. A real record from the pinned ds000030 graph. The participant joins through a PROV qualified association with a subject role; the questionnaire record is generated by the assessment activity and derived from a specific row of a specific file; the value is a data element defined by the dataset dictionary. You do not need the vocabulary to adopt the habit: every value should point to its participant and its source row.
[v3 slide 6] Actual record for sub-10159. Dataset dictionary defines bis_parcel1. Participant identity joins through a PROV qualified association. Source row and dictionary path remain distinct. Graph structure reconstructed from pinned metadata.
[v3 slide 5] Mappings checked against PyNIDM src/nidm/experiment/schema/nidm_schema.yaml, retrieved 14 October 2026. Participant association uses prov:qualifiedAssociation, prov:agent and sio:Subject. Source rows use prov:wasDerivedFrom, sourceRow and hashes. Acquisition/session containers reconstructed from metadata, with no invented dates. NIDM supplies the neuroimaging vocabulary; PROV supplies general provenance relationships.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[v3 slide 19] Inspected 14 October 2026: https://abstractatlas.brainkb.org/ and https://github.com/sensein/abstractatlas at 181652e2be0902a4926d292d9ec0e230dfd97b96. Source files: src/ohbm2026/enrich/claims.py and src/ohbm2026/ui_data/authors.py. Claims code independently checks source quotations and filters off-vocabulary ECO codes. Exact quotations and vocabulary membership do not establish entailment. The atlas maps publications/abstracts; the participant UMAP earlier maps people using phenotype measurements. These are different units of analysis. Repository inspected, pipeline not rerun.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(was a main-route slide). Source: results/find_resources_examples.json (first query) and figures/resource_map.png; workflow steps from graph/resources.ttl. Ranking is BM25 relevance times a freshness factor from dated activity snapshots (commits, releases, OpenAlex mentions), so every answer carries how old its evidence is. segstats_jsonld ranks second on relevance but has had no commits for 318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(was a main-route slide). Before reading anything into clusters, colour by site and age. Source: results/umap.json and figures/umap_primary.png. 604 complete cases (163 dropped for missing IQ), 15 sites; trustworthiness 0.977 (PCA 0.920), other seeds 0.973 and 0.974, 15-neighbour overlap 0.87 and 0.86. Diagnosis does not separate (silhouette 0.03). Joined image-derived phenotypes correlate weakly with the embedding: FreeSurfer grey matter with UMAP 2, ρ = −0.26, which is about the same as its correlation with age (−0.25); check age and site before reading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Plain-language glossary from talk_plan.md; each term is also glossed on the main slide where it first appears.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Badge key from talk_plan.md. Each slide's production letters and checking status are set in SLIDE_PROV in slides/build_deck.js and exported to talk_provenance.ttl (slides as prov:Entity, production activities associated with agent types, sources via prov:wasDerivedFrom, checking status as an attributed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and re-run (ORCD job 25941523) side by side. Same seeds, different machine: UMAP is not bit-identical across platforms, and trustworthiness moved by at most 0.011; PCA matched exactly. The conclusion is unchanged: useful local structure with material layout and neighbourhood variation. Seeding alone does not make a stochastic method reproducible across environments; see ReproNim/reproseed (github.com/ReproNim/reproseed) for recording and propagating seeds. Source: codex_verification/orcd_rebuild/rebuild_comparison.md.
[v3 slide 9] Actual UMAP via PAIR-code/umap-js commit 14abb51c523f71456550a7c6ef3f7062127b6bad. 272 participants and 10 named scores from Barratt, WAIS, stop-signal, ANT and CPT. Scores fixed before visualization. Median-impute 3 cells, then z-score columns. Diagnosis, age, sex and scanner excluded from inputs. Euclidean distance, 15 neighbors, min_dist 0.1, 500 epochs, seeded RNG 42. UMAP geometry is exploratory, not proof of diagnostic subtypes. Chart coordinates rounded to six decimals for Excel portability; full precision retained in participant_embedding.csv. See matrix_query.sparql.
[v3 slide 10] Computed with sklearn.manifold.trustworthiness on the same 10-dimensional standardized matrix. Mean overlap compares each participant’s 15 nearest embedding neighbors with seed 42. High trustworthiness does not establish clusters or disease effects. Age coloring shows why demographic sensitivity matters. Correlated score weighting and confound-adjusted analyses remain future sensitivity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515600"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749040"/>
            <a:ext cx="10515600" cy="219456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
            <a:ext cx="11064240" cy="713232"/>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ACKUP">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692640" cy="731520"/>
          </a:xfrm>
          <a:prstGeom prst="rect">
            <a:avLst/>
          </a:prstGeom>
          <a:noFill/>
          <a:ln/>
        </p:spPr>
        <p:txBody>
          <a:bodyPr wrap="square" rtlCol="0"/>
          <a:lstStyle>
            <a:lvl1pPr algn="l" indent="0" marL="0">
              <a:buNone/>
              <a:defRPr lang="en-US" sz="2600" b="1" dirty="0">
                <a:solidFill>
                  <a:schemeClr val="tx2"/>
                </a:solidFill>
              </a:defRPr>
            </a:lvl1pPr>
          </a:lstStyle>
          <a:p>
            <a:pPr algn="l" indent="0" marL="0">
              <a:buNone/>
            </a:pPr>
            <a:endParaRPr lang="en-US" sz="2600" dirty="0"/>
          </a:p>
        </p:txBody>
      </p:sp>
      <p:sp>
        <p:nvSpPr>
          <p:cNvPr id="3" name="Text 0"/>
          <p:cNvSpPr/>
          <p:nvPr/>
        </p:nvSpPr>
        <p:spPr>
          <a:xfrm>
            <a:off x="10332720" y="384048"/>
            <a:ext cx="1325880" cy="457200"/>
          </a:xfrm>
          <a:prstGeom prst="rect">
            <a:avLst/>
          </a:prstGeom>
          <a:noFill/>
          <a:ln/>
        </p:spPr>
        <p:txBody>
          <a:bodyPr wrap="square" rtlCol="0" anchor="ctr"/>
          <a:lstStyle/>
          <a:p>
            <a:pPr algn="r" indent="0" marL="0">
              <a:buNone/>
            </a:pPr>
            <a:r>
              <a:rPr lang="en-US" sz="1200" i="1" dirty="0">
                <a:solidFill>
                  <a:schemeClr val="accent3"/>
                </a:solidFill>
              </a:rPr>
              <a:t>Backup</a:t>
            </a:r>
            <a:endParaRPr lang="en-US" sz="12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3.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3.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3.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3.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slideLayout" Target="../slideLayouts/slideLayout3.xml"/><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slideLayout" Target="../slideLayouts/slideLayout4.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4.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4.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4.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4.xml"/><Relationship Id="rId3"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515600" cy="1737360"/>
          </a:xfrm>
          <a:prstGeom prst="rect">
            <a:avLst/>
          </a:prstGeom>
          <a:noFill/>
          <a:ln/>
        </p:spPr>
        <p:txBody>
          <a:bodyPr wrap="square" rtlCol="0" anchor="b"/>
          <a:lstStyle/>
          <a:p>
            <a:pPr algn="l" indent="0" marL="0">
              <a:buNone/>
            </a:pPr>
            <a:r>
              <a:rPr lang="en-US" sz="4000" b="1" dirty="0">
                <a:solidFill>
                  <a:schemeClr val="bg1"/>
                </a:solidFill>
              </a:rPr>
              <a:t>Connecting neuroimaging knowledge graphs across data, publications and labs</a:t>
            </a:r>
            <a:endParaRPr lang="en-US" sz="4000" dirty="0"/>
          </a:p>
        </p:txBody>
      </p:sp>
      <p:sp>
        <p:nvSpPr>
          <p:cNvPr id="3" name="Text 0"/>
          <p:cNvSpPr/>
          <p:nvPr>
            <p:ph idx="101" type="body" hasCustomPrompt="1"/>
          </p:nvPr>
        </p:nvSpPr>
        <p:spPr>
          <a:xfrm>
            <a:off x="731520" y="3749040"/>
            <a:ext cx="10515600" cy="2194560"/>
          </a:xfrm>
          <a:prstGeom prst="rect">
            <a:avLst/>
          </a:prstGeom>
          <a:noFill/>
          <a:ln/>
        </p:spPr>
        <p:txBody>
          <a:bodyPr wrap="square" rtlCol="0" anchor="t"/>
          <a:lstStyle/>
          <a:p>
            <a:pPr algn="l" indent="0" marL="0">
              <a:buNone/>
            </a:pPr>
            <a:r>
              <a:rPr lang="en-US" sz="2000" dirty="0">
                <a:solidFill>
                  <a:schemeClr val="bg2"/>
                </a:solidFill>
              </a:rPr>
              <a:t>Worked examples on ds000030 and ABIDE I</a:t>
            </a:r>
            <a:endParaRPr lang="en-US" sz="2000" dirty="0"/>
          </a:p>
          <a:p>
            <a:pPr algn="l" indent="0" marL="0">
              <a:buNone/>
            </a:pPr>
            <a:r>
              <a:rPr lang="en-US" sz="1200" dirty="0">
                <a:solidFill>
                  <a:schemeClr val="bg2"/>
                </a:solidFill>
              </a:rPr>
              <a:t> </a:t>
            </a:r>
            <a:endParaRPr lang="en-US" sz="2000" dirty="0"/>
          </a:p>
          <a:p>
            <a:pPr algn="l" indent="0" marL="0">
              <a:buNone/>
            </a:pPr>
            <a:r>
              <a:rPr lang="en-US" sz="1800" b="1" dirty="0">
                <a:solidFill>
                  <a:schemeClr val="bg2"/>
                </a:solidFill>
              </a:rPr>
              <a:t>Satrajit Ghosh</a:t>
            </a:r>
            <a:endParaRPr lang="en-US" sz="2000" dirty="0"/>
          </a:p>
          <a:p>
            <a:pPr algn="l" indent="0" marL="0">
              <a:buNone/>
            </a:pPr>
            <a:r>
              <a:rPr lang="en-US" sz="1800" dirty="0">
                <a:solidFill>
                  <a:schemeClr val="bg2"/>
                </a:solidFill>
              </a:rPr>
              <a:t>ReproNim / LLM symposium · 25 minutes + discussion</a:t>
            </a:r>
            <a:endParaRPr lang="en-US" sz="2000" dirty="0"/>
          </a:p>
        </p:txBody>
      </p:sp>
      <p:sp>
        <p:nvSpPr>
          <p:cNvPr id="4" name="text1"/>
          <p:cNvSpPr txBox="1"/>
          <p:nvPr/>
        </p:nvSpPr>
        <p:spPr>
          <a:xfrm>
            <a:off x="6355080" y="3977640"/>
            <a:ext cx="5394960" cy="365760"/>
          </a:xfrm>
          <a:prstGeom prst="rect">
            <a:avLst/>
          </a:prstGeom>
          <a:noFill/>
          <a:ln/>
        </p:spPr>
        <p:txBody>
          <a:bodyPr wrap="square" lIns="0" tIns="0" rIns="0" bIns="0" rtlCol="0" anchor="ctr"/>
          <a:lstStyle/>
          <a:p>
            <a:pPr indent="0" marL="0">
              <a:buNone/>
            </a:pPr>
            <a:r>
              <a:rPr lang="en-US" sz="1500" b="1" dirty="0">
                <a:solidFill>
                  <a:srgbClr val="FFFFFF"/>
                </a:solidFill>
              </a:rPr>
              <a:t>How each slide was made</a:t>
            </a:r>
            <a:endParaRPr lang="en-US" sz="1500" dirty="0"/>
          </a:p>
        </p:txBody>
      </p:sp>
      <p:sp>
        <p:nvSpPr>
          <p:cNvPr id="5" name="text2"/>
          <p:cNvSpPr txBox="1"/>
          <p:nvPr/>
        </p:nvSpPr>
        <p:spPr>
          <a:xfrm>
            <a:off x="6355080" y="4389120"/>
            <a:ext cx="3200400" cy="274320"/>
          </a:xfrm>
          <a:prstGeom prst="rect">
            <a:avLst/>
          </a:prstGeom>
          <a:noFill/>
          <a:ln/>
        </p:spPr>
        <p:txBody>
          <a:bodyPr wrap="square" lIns="0" tIns="0" rIns="0" bIns="0" rtlCol="0" anchor="ctr"/>
          <a:lstStyle/>
          <a:p>
            <a:pPr indent="0" marL="0">
              <a:buNone/>
            </a:pPr>
            <a:r>
              <a:rPr lang="en-US" sz="1200" b="1" dirty="0">
                <a:solidFill>
                  <a:srgbClr val="C9D3D7"/>
                </a:solidFill>
              </a:rPr>
              <a:t>Production</a:t>
            </a:r>
            <a:endParaRPr lang="en-US" sz="1200" dirty="0"/>
          </a:p>
        </p:txBody>
      </p:sp>
      <p:sp>
        <p:nvSpPr>
          <p:cNvPr id="6" name="keyChipH"/>
          <p:cNvSpPr txBox="1"/>
          <p:nvPr/>
        </p:nvSpPr>
        <p:spPr>
          <a:xfrm>
            <a:off x="6355080" y="4700016"/>
            <a:ext cx="237744" cy="237744"/>
          </a:xfrm>
          <a:prstGeom prst="ellipse">
            <a:avLst/>
          </a:prstGeom>
          <a:solidFill>
            <a:srgbClr val="2F4A57"/>
          </a:solidFill>
          <a:ln/>
        </p:spPr>
        <p:txBody>
          <a:bodyPr wrap="square" lIns="0" tIns="0" rIns="0" bIns="0" rtlCol="0" anchor="ctr"/>
          <a:lstStyle/>
          <a:p>
            <a:pPr algn="ctr" indent="0" marL="0">
              <a:buNone/>
            </a:pPr>
            <a:r>
              <a:rPr lang="en-US" sz="1100" b="1" dirty="0">
                <a:solidFill>
                  <a:srgbClr val="FFFFFF"/>
                </a:solidFill>
              </a:rPr>
              <a:t>H</a:t>
            </a:r>
            <a:endParaRPr lang="en-US" sz="1100" dirty="0"/>
          </a:p>
        </p:txBody>
      </p:sp>
      <p:sp>
        <p:nvSpPr>
          <p:cNvPr id="7" name="text3"/>
          <p:cNvSpPr txBox="1"/>
          <p:nvPr/>
        </p:nvSpPr>
        <p:spPr>
          <a:xfrm>
            <a:off x="6665976" y="4663440"/>
            <a:ext cx="3063240" cy="274320"/>
          </a:xfrm>
          <a:prstGeom prst="rect">
            <a:avLst/>
          </a:prstGeom>
          <a:noFill/>
          <a:ln/>
        </p:spPr>
        <p:txBody>
          <a:bodyPr wrap="square" lIns="0" tIns="0" rIns="0" bIns="0" rtlCol="0" anchor="t"/>
          <a:lstStyle/>
          <a:p>
            <a:pPr indent="0" marL="0">
              <a:buNone/>
            </a:pPr>
            <a:r>
              <a:rPr lang="en-US" sz="1200" dirty="0">
                <a:solidFill>
                  <a:srgbClr val="DCEEEC"/>
                </a:solidFill>
              </a:rPr>
              <a:t>written by the speaker</a:t>
            </a:r>
            <a:endParaRPr lang="en-US" sz="1200" dirty="0"/>
          </a:p>
        </p:txBody>
      </p:sp>
      <p:sp>
        <p:nvSpPr>
          <p:cNvPr id="8" name="keyChipL"/>
          <p:cNvSpPr txBox="1"/>
          <p:nvPr/>
        </p:nvSpPr>
        <p:spPr>
          <a:xfrm>
            <a:off x="6355080" y="4974336"/>
            <a:ext cx="237744" cy="237744"/>
          </a:xfrm>
          <a:prstGeom prst="ellipse">
            <a:avLst/>
          </a:prstGeom>
          <a:solidFill>
            <a:srgbClr val="2F4A57"/>
          </a:solidFill>
          <a:ln/>
        </p:spPr>
        <p:txBody>
          <a:bodyPr wrap="square" lIns="0" tIns="0" rIns="0" bIns="0" rtlCol="0" anchor="ctr"/>
          <a:lstStyle/>
          <a:p>
            <a:pPr algn="ctr" indent="0" marL="0">
              <a:buNone/>
            </a:pPr>
            <a:r>
              <a:rPr lang="en-US" sz="1100" b="1" dirty="0">
                <a:solidFill>
                  <a:srgbClr val="FFFFFF"/>
                </a:solidFill>
              </a:rPr>
              <a:t>L</a:t>
            </a:r>
            <a:endParaRPr lang="en-US" sz="1100" dirty="0"/>
          </a:p>
        </p:txBody>
      </p:sp>
      <p:sp>
        <p:nvSpPr>
          <p:cNvPr id="9" name="text4"/>
          <p:cNvSpPr txBox="1"/>
          <p:nvPr/>
        </p:nvSpPr>
        <p:spPr>
          <a:xfrm>
            <a:off x="6665976" y="4937760"/>
            <a:ext cx="3063240" cy="274320"/>
          </a:xfrm>
          <a:prstGeom prst="rect">
            <a:avLst/>
          </a:prstGeom>
          <a:noFill/>
          <a:ln/>
        </p:spPr>
        <p:txBody>
          <a:bodyPr wrap="square" lIns="0" tIns="0" rIns="0" bIns="0" rtlCol="0" anchor="t"/>
          <a:lstStyle/>
          <a:p>
            <a:pPr indent="0" marL="0">
              <a:buNone/>
            </a:pPr>
            <a:r>
              <a:rPr lang="en-US" sz="1200" dirty="0">
                <a:solidFill>
                  <a:srgbClr val="DCEEEC"/>
                </a:solidFill>
              </a:rPr>
              <a:t>drafted by an LLM, edited by the speaker</a:t>
            </a:r>
            <a:endParaRPr lang="en-US" sz="1200" dirty="0"/>
          </a:p>
        </p:txBody>
      </p:sp>
      <p:sp>
        <p:nvSpPr>
          <p:cNvPr id="10" name="keyChipA"/>
          <p:cNvSpPr txBox="1"/>
          <p:nvPr/>
        </p:nvSpPr>
        <p:spPr>
          <a:xfrm>
            <a:off x="6355080" y="5248656"/>
            <a:ext cx="237744" cy="237744"/>
          </a:xfrm>
          <a:prstGeom prst="ellipse">
            <a:avLst/>
          </a:prstGeom>
          <a:solidFill>
            <a:srgbClr val="2F4A57"/>
          </a:solidFill>
          <a:ln/>
        </p:spPr>
        <p:txBody>
          <a:bodyPr wrap="square" lIns="0" tIns="0" rIns="0" bIns="0" rtlCol="0" anchor="ctr"/>
          <a:lstStyle/>
          <a:p>
            <a:pPr algn="ctr" indent="0" marL="0">
              <a:buNone/>
            </a:pPr>
            <a:r>
              <a:rPr lang="en-US" sz="1100" b="1" dirty="0">
                <a:solidFill>
                  <a:srgbClr val="FFFFFF"/>
                </a:solidFill>
              </a:rPr>
              <a:t>A</a:t>
            </a:r>
            <a:endParaRPr lang="en-US" sz="1100" dirty="0"/>
          </a:p>
        </p:txBody>
      </p:sp>
      <p:sp>
        <p:nvSpPr>
          <p:cNvPr id="11" name="text5"/>
          <p:cNvSpPr txBox="1"/>
          <p:nvPr/>
        </p:nvSpPr>
        <p:spPr>
          <a:xfrm>
            <a:off x="6665976" y="5212080"/>
            <a:ext cx="3063240" cy="274320"/>
          </a:xfrm>
          <a:prstGeom prst="rect">
            <a:avLst/>
          </a:prstGeom>
          <a:noFill/>
          <a:ln/>
        </p:spPr>
        <p:txBody>
          <a:bodyPr wrap="square" lIns="0" tIns="0" rIns="0" bIns="0" rtlCol="0" anchor="t"/>
          <a:lstStyle/>
          <a:p>
            <a:pPr indent="0" marL="0">
              <a:buNone/>
            </a:pPr>
            <a:r>
              <a:rPr lang="en-US" sz="1200" dirty="0">
                <a:solidFill>
                  <a:srgbClr val="DCEEEC"/>
                </a:solidFill>
              </a:rPr>
              <a:t>computed by an agent running code</a:t>
            </a:r>
            <a:endParaRPr lang="en-US" sz="1200" dirty="0"/>
          </a:p>
        </p:txBody>
      </p:sp>
      <p:sp>
        <p:nvSpPr>
          <p:cNvPr id="12" name="keyChipR"/>
          <p:cNvSpPr txBox="1"/>
          <p:nvPr/>
        </p:nvSpPr>
        <p:spPr>
          <a:xfrm>
            <a:off x="6355080" y="5522976"/>
            <a:ext cx="237744" cy="237744"/>
          </a:xfrm>
          <a:prstGeom prst="ellipse">
            <a:avLst/>
          </a:prstGeom>
          <a:solidFill>
            <a:srgbClr val="2F4A57"/>
          </a:solidFill>
          <a:ln/>
        </p:spPr>
        <p:txBody>
          <a:bodyPr wrap="square" lIns="0" tIns="0" rIns="0" bIns="0" rtlCol="0" anchor="ctr"/>
          <a:lstStyle/>
          <a:p>
            <a:pPr algn="ctr" indent="0" marL="0">
              <a:buNone/>
            </a:pPr>
            <a:r>
              <a:rPr lang="en-US" sz="1100" b="1" dirty="0">
                <a:solidFill>
                  <a:srgbClr val="FFFFFF"/>
                </a:solidFill>
              </a:rPr>
              <a:t>R</a:t>
            </a:r>
            <a:endParaRPr lang="en-US" sz="1100" dirty="0"/>
          </a:p>
        </p:txBody>
      </p:sp>
      <p:sp>
        <p:nvSpPr>
          <p:cNvPr id="13" name="text6"/>
          <p:cNvSpPr txBox="1"/>
          <p:nvPr/>
        </p:nvSpPr>
        <p:spPr>
          <a:xfrm>
            <a:off x="6665976" y="5486400"/>
            <a:ext cx="3063240" cy="274320"/>
          </a:xfrm>
          <a:prstGeom prst="rect">
            <a:avLst/>
          </a:prstGeom>
          <a:noFill/>
          <a:ln/>
        </p:spPr>
        <p:txBody>
          <a:bodyPr wrap="square" lIns="0" tIns="0" rIns="0" bIns="0" rtlCol="0" anchor="t"/>
          <a:lstStyle/>
          <a:p>
            <a:pPr indent="0" marL="0">
              <a:buNone/>
            </a:pPr>
            <a:r>
              <a:rPr lang="en-US" sz="1200" dirty="0">
                <a:solidFill>
                  <a:srgbClr val="DCEEEC"/>
                </a:solidFill>
              </a:rPr>
              <a:t>retrieved by an agent from cited sources</a:t>
            </a:r>
            <a:endParaRPr lang="en-US" sz="1200" dirty="0"/>
          </a:p>
        </p:txBody>
      </p:sp>
      <p:sp>
        <p:nvSpPr>
          <p:cNvPr id="14" name="keyChipM"/>
          <p:cNvSpPr txBox="1"/>
          <p:nvPr/>
        </p:nvSpPr>
        <p:spPr>
          <a:xfrm>
            <a:off x="6355080" y="5797296"/>
            <a:ext cx="237744" cy="237744"/>
          </a:xfrm>
          <a:prstGeom prst="ellipse">
            <a:avLst/>
          </a:prstGeom>
          <a:solidFill>
            <a:srgbClr val="2F4A57"/>
          </a:solidFill>
          <a:ln/>
        </p:spPr>
        <p:txBody>
          <a:bodyPr wrap="square" lIns="0" tIns="0" rIns="0" bIns="0" rtlCol="0" anchor="ctr"/>
          <a:lstStyle/>
          <a:p>
            <a:pPr algn="ctr" indent="0" marL="0">
              <a:buNone/>
            </a:pPr>
            <a:r>
              <a:rPr lang="en-US" sz="1100" b="1" dirty="0">
                <a:solidFill>
                  <a:srgbClr val="FFFFFF"/>
                </a:solidFill>
              </a:rPr>
              <a:t>M</a:t>
            </a:r>
            <a:endParaRPr lang="en-US" sz="1100" dirty="0"/>
          </a:p>
        </p:txBody>
      </p:sp>
      <p:sp>
        <p:nvSpPr>
          <p:cNvPr id="15" name="text7"/>
          <p:cNvSpPr txBox="1"/>
          <p:nvPr/>
        </p:nvSpPr>
        <p:spPr>
          <a:xfrm>
            <a:off x="6665976" y="5760720"/>
            <a:ext cx="3063240" cy="384048"/>
          </a:xfrm>
          <a:prstGeom prst="rect">
            <a:avLst/>
          </a:prstGeom>
          <a:noFill/>
          <a:ln/>
        </p:spPr>
        <p:txBody>
          <a:bodyPr wrap="square" lIns="0" tIns="0" rIns="0" bIns="0" rtlCol="0" anchor="t"/>
          <a:lstStyle/>
          <a:p>
            <a:pPr indent="0" marL="0">
              <a:buNone/>
            </a:pPr>
            <a:r>
              <a:rPr lang="en-US" sz="1200" dirty="0">
                <a:solidFill>
                  <a:srgbClr val="DCEEEC"/>
                </a:solidFill>
              </a:rPr>
              <a:t>answered by an external agent via MCP (Brain Researcher)</a:t>
            </a:r>
            <a:endParaRPr lang="en-US" sz="1200" dirty="0"/>
          </a:p>
        </p:txBody>
      </p:sp>
      <p:sp>
        <p:nvSpPr>
          <p:cNvPr id="16" name="keyChipP"/>
          <p:cNvSpPr txBox="1"/>
          <p:nvPr/>
        </p:nvSpPr>
        <p:spPr>
          <a:xfrm>
            <a:off x="6355080" y="6181344"/>
            <a:ext cx="237744" cy="237744"/>
          </a:xfrm>
          <a:prstGeom prst="ellipse">
            <a:avLst/>
          </a:prstGeom>
          <a:solidFill>
            <a:srgbClr val="2F4A57"/>
          </a:solidFill>
          <a:ln/>
        </p:spPr>
        <p:txBody>
          <a:bodyPr wrap="square" lIns="0" tIns="0" rIns="0" bIns="0" rtlCol="0" anchor="ctr"/>
          <a:lstStyle/>
          <a:p>
            <a:pPr algn="ctr" indent="0" marL="0">
              <a:buNone/>
            </a:pPr>
            <a:r>
              <a:rPr lang="en-US" sz="1100" b="1" dirty="0">
                <a:solidFill>
                  <a:srgbClr val="FFFFFF"/>
                </a:solidFill>
              </a:rPr>
              <a:t>P</a:t>
            </a:r>
            <a:endParaRPr lang="en-US" sz="1100" dirty="0"/>
          </a:p>
        </p:txBody>
      </p:sp>
      <p:sp>
        <p:nvSpPr>
          <p:cNvPr id="17" name="text8"/>
          <p:cNvSpPr txBox="1"/>
          <p:nvPr/>
        </p:nvSpPr>
        <p:spPr>
          <a:xfrm>
            <a:off x="6665976" y="6144768"/>
            <a:ext cx="3063240" cy="274320"/>
          </a:xfrm>
          <a:prstGeom prst="rect">
            <a:avLst/>
          </a:prstGeom>
          <a:noFill/>
          <a:ln/>
        </p:spPr>
        <p:txBody>
          <a:bodyPr wrap="square" lIns="0" tIns="0" rIns="0" bIns="0" rtlCol="0" anchor="t"/>
          <a:lstStyle/>
          <a:p>
            <a:pPr indent="0" marL="0">
              <a:buNone/>
            </a:pPr>
            <a:r>
              <a:rPr lang="en-US" sz="1200" dirty="0">
                <a:solidFill>
                  <a:srgbClr val="DCEEEC"/>
                </a:solidFill>
              </a:rPr>
              <a:t>produced earlier by a different agentic system</a:t>
            </a:r>
            <a:endParaRPr lang="en-US" sz="1200" dirty="0"/>
          </a:p>
        </p:txBody>
      </p:sp>
      <p:sp>
        <p:nvSpPr>
          <p:cNvPr id="18" name="text9"/>
          <p:cNvSpPr txBox="1"/>
          <p:nvPr/>
        </p:nvSpPr>
        <p:spPr>
          <a:xfrm>
            <a:off x="9829800" y="4389120"/>
            <a:ext cx="2011680" cy="274320"/>
          </a:xfrm>
          <a:prstGeom prst="rect">
            <a:avLst/>
          </a:prstGeom>
          <a:noFill/>
          <a:ln/>
        </p:spPr>
        <p:txBody>
          <a:bodyPr wrap="square" lIns="0" tIns="0" rIns="0" bIns="0" rtlCol="0" anchor="ctr"/>
          <a:lstStyle/>
          <a:p>
            <a:pPr indent="0" marL="0">
              <a:buNone/>
            </a:pPr>
            <a:r>
              <a:rPr lang="en-US" sz="1200" b="1" dirty="0">
                <a:solidFill>
                  <a:srgbClr val="C9D3D7"/>
                </a:solidFill>
              </a:rPr>
              <a:t>Checking</a:t>
            </a:r>
            <a:endParaRPr lang="en-US" sz="1200" dirty="0"/>
          </a:p>
        </p:txBody>
      </p:sp>
      <p:sp>
        <p:nvSpPr>
          <p:cNvPr id="19" name="text10"/>
          <p:cNvSpPr txBox="1"/>
          <p:nvPr/>
        </p:nvSpPr>
        <p:spPr>
          <a:xfrm>
            <a:off x="9829800" y="4681728"/>
            <a:ext cx="2103120" cy="429768"/>
          </a:xfrm>
          <a:prstGeom prst="rect">
            <a:avLst/>
          </a:prstGeom>
          <a:noFill/>
          <a:ln/>
        </p:spPr>
        <p:txBody>
          <a:bodyPr wrap="square" lIns="0" tIns="0" rIns="0" bIns="0" rtlCol="0" anchor="t"/>
          <a:lstStyle/>
          <a:p>
            <a:pPr indent="0" marL="0">
              <a:buNone/>
            </a:pPr>
            <a:r>
              <a:rPr lang="en-US" sz="1200" b="1" i="1" dirty="0">
                <a:solidFill>
                  <a:srgbClr val="FFFFFF"/>
                </a:solidFill>
              </a:rPr>
              <a:t>re-run</a:t>
            </a:r>
            <a:endParaRPr lang="en-US" sz="1200" dirty="0"/>
          </a:p>
          <a:p>
            <a:pPr indent="0" marL="0">
              <a:buNone/>
            </a:pPr>
            <a:r>
              <a:rPr lang="en-US" sz="1200" dirty="0">
                <a:solidFill>
                  <a:srgbClr val="DCEEEC"/>
                </a:solidFill>
              </a:rPr>
              <a:t>recomputed independently</a:t>
            </a:r>
            <a:endParaRPr lang="en-US" sz="1200" dirty="0"/>
          </a:p>
        </p:txBody>
      </p:sp>
      <p:sp>
        <p:nvSpPr>
          <p:cNvPr id="20" name="text11"/>
          <p:cNvSpPr txBox="1"/>
          <p:nvPr/>
        </p:nvSpPr>
        <p:spPr>
          <a:xfrm>
            <a:off x="9829800" y="5111496"/>
            <a:ext cx="2103120" cy="429768"/>
          </a:xfrm>
          <a:prstGeom prst="rect">
            <a:avLst/>
          </a:prstGeom>
          <a:noFill/>
          <a:ln/>
        </p:spPr>
        <p:txBody>
          <a:bodyPr wrap="square" lIns="0" tIns="0" rIns="0" bIns="0" rtlCol="0" anchor="t"/>
          <a:lstStyle/>
          <a:p>
            <a:pPr indent="0" marL="0">
              <a:buNone/>
            </a:pPr>
            <a:r>
              <a:rPr lang="en-US" sz="1200" b="1" i="1" dirty="0">
                <a:solidFill>
                  <a:srgbClr val="FFFFFF"/>
                </a:solidFill>
              </a:rPr>
              <a:t>validated</a:t>
            </a:r>
            <a:endParaRPr lang="en-US" sz="1200" dirty="0"/>
          </a:p>
          <a:p>
            <a:pPr indent="0" marL="0">
              <a:buNone/>
            </a:pPr>
            <a:r>
              <a:rPr lang="en-US" sz="1200" dirty="0">
                <a:solidFill>
                  <a:srgbClr val="DCEEEC"/>
                </a:solidFill>
              </a:rPr>
              <a:t>passed automated checks</a:t>
            </a:r>
            <a:endParaRPr lang="en-US" sz="1200" dirty="0"/>
          </a:p>
        </p:txBody>
      </p:sp>
      <p:sp>
        <p:nvSpPr>
          <p:cNvPr id="21" name="text12"/>
          <p:cNvSpPr txBox="1"/>
          <p:nvPr/>
        </p:nvSpPr>
        <p:spPr>
          <a:xfrm>
            <a:off x="9829800" y="5541264"/>
            <a:ext cx="2103120" cy="585216"/>
          </a:xfrm>
          <a:prstGeom prst="rect">
            <a:avLst/>
          </a:prstGeom>
          <a:noFill/>
          <a:ln/>
        </p:spPr>
        <p:txBody>
          <a:bodyPr wrap="square" lIns="0" tIns="0" rIns="0" bIns="0" rtlCol="0" anchor="t"/>
          <a:lstStyle/>
          <a:p>
            <a:pPr indent="0" marL="0">
              <a:buNone/>
            </a:pPr>
            <a:r>
              <a:rPr lang="en-US" sz="1200" b="1" i="1" dirty="0">
                <a:solidFill>
                  <a:srgbClr val="FFFFFF"/>
                </a:solidFill>
              </a:rPr>
              <a:t>reviewed</a:t>
            </a:r>
            <a:endParaRPr lang="en-US" sz="1200" dirty="0"/>
          </a:p>
          <a:p>
            <a:pPr indent="0" marL="0">
              <a:buNone/>
            </a:pPr>
            <a:r>
              <a:rPr lang="en-US" sz="1200" dirty="0">
                <a:solidFill>
                  <a:srgbClr val="DCEEEC"/>
                </a:solidFill>
              </a:rPr>
              <a:t>read and corrected by the speaker</a:t>
            </a:r>
            <a:endParaRPr lang="en-US" sz="1200" dirty="0"/>
          </a:p>
        </p:txBody>
      </p:sp>
      <p:sp>
        <p:nvSpPr>
          <p:cNvPr id="22" name="text13"/>
          <p:cNvSpPr txBox="1"/>
          <p:nvPr/>
        </p:nvSpPr>
        <p:spPr>
          <a:xfrm>
            <a:off x="9829800" y="6126480"/>
            <a:ext cx="2103120" cy="429768"/>
          </a:xfrm>
          <a:prstGeom prst="rect">
            <a:avLst/>
          </a:prstGeom>
          <a:noFill/>
          <a:ln/>
        </p:spPr>
        <p:txBody>
          <a:bodyPr wrap="square" lIns="0" tIns="0" rIns="0" bIns="0" rtlCol="0" anchor="t"/>
          <a:lstStyle/>
          <a:p>
            <a:pPr indent="0" marL="0">
              <a:buNone/>
            </a:pPr>
            <a:r>
              <a:rPr lang="en-US" sz="1200" b="1" i="1" dirty="0">
                <a:solidFill>
                  <a:srgbClr val="FFFFFF"/>
                </a:solidFill>
              </a:rPr>
              <a:t>unverified</a:t>
            </a:r>
            <a:endParaRPr lang="en-US" sz="1200" dirty="0"/>
          </a:p>
          <a:p>
            <a:pPr indent="0" marL="0">
              <a:buNone/>
            </a:pPr>
            <a:r>
              <a:rPr lang="en-US" sz="1200" dirty="0">
                <a:solidFill>
                  <a:srgbClr val="DCEEEC"/>
                </a:solidFill>
              </a:rPr>
              <a:t>not independently checked</a:t>
            </a:r>
            <a:endParaRPr lang="en-US" sz="1200" dirty="0"/>
          </a:p>
        </p:txBody>
      </p:sp>
      <p:sp>
        <p:nvSpPr>
          <p:cNvPr id="24" name="badge0_H"/>
          <p:cNvSpPr txBox="1"/>
          <p:nvPr/>
        </p:nvSpPr>
        <p:spPr>
          <a:xfrm>
            <a:off x="274320" y="6492240"/>
            <a:ext cx="265176" cy="265176"/>
          </a:xfrm>
          <a:prstGeom prst="ellipse">
            <a:avLst/>
          </a:prstGeom>
          <a:solidFill>
            <a:srgbClr val="2F4A57"/>
          </a:solidFill>
          <a:ln/>
        </p:spPr>
        <p:txBody>
          <a:bodyPr wrap="square" lIns="0" tIns="0" rIns="0" bIns="0" rtlCol="0" anchor="ctr"/>
          <a:lstStyle/>
          <a:p>
            <a:pPr algn="ctr" indent="0" marL="0">
              <a:buNone/>
            </a:pPr>
            <a:r>
              <a:rPr lang="en-US" sz="1100" b="1" dirty="0">
                <a:solidFill>
                  <a:srgbClr val="FFFFFF"/>
                </a:solidFill>
              </a:rPr>
              <a:t>H</a:t>
            </a:r>
            <a:endParaRPr lang="en-US" sz="1100" dirty="0"/>
          </a:p>
        </p:txBody>
      </p:sp>
      <p:sp>
        <p:nvSpPr>
          <p:cNvPr id="25" name="badge0_L"/>
          <p:cNvSpPr txBox="1"/>
          <p:nvPr/>
        </p:nvSpPr>
        <p:spPr>
          <a:xfrm>
            <a:off x="576072" y="6492240"/>
            <a:ext cx="265176" cy="265176"/>
          </a:xfrm>
          <a:prstGeom prst="ellipse">
            <a:avLst/>
          </a:prstGeom>
          <a:solidFill>
            <a:srgbClr val="2F4A57"/>
          </a:solidFill>
          <a:ln/>
        </p:spPr>
        <p:txBody>
          <a:bodyPr wrap="square" lIns="0" tIns="0" rIns="0" bIns="0" rtlCol="0" anchor="ctr"/>
          <a:lstStyle/>
          <a:p>
            <a:pPr algn="ctr" indent="0" marL="0">
              <a:buNone/>
            </a:pPr>
            <a:r>
              <a:rPr lang="en-US" sz="1100" b="1" dirty="0">
                <a:solidFill>
                  <a:srgbClr val="FFFFFF"/>
                </a:solidFill>
              </a:rPr>
              <a:t>L</a:t>
            </a:r>
            <a:endParaRPr lang="en-US" sz="1100" dirty="0"/>
          </a:p>
        </p:txBody>
      </p:sp>
      <p:sp>
        <p:nvSpPr>
          <p:cNvPr id="26" name="badge0_check"/>
          <p:cNvSpPr txBox="1"/>
          <p:nvPr/>
        </p:nvSpPr>
        <p:spPr>
          <a:xfrm>
            <a:off x="932688" y="6473952"/>
            <a:ext cx="676656" cy="301752"/>
          </a:xfrm>
          <a:prstGeom prst="rect">
            <a:avLst/>
          </a:prstGeom>
          <a:noFill/>
          <a:ln/>
        </p:spPr>
        <p:txBody>
          <a:bodyPr wrap="square" lIns="0" tIns="0" rIns="0" bIns="0" rtlCol="0" anchor="ctr"/>
          <a:lstStyle/>
          <a:p>
            <a:pPr indent="0" marL="0">
              <a:buNone/>
            </a:pPr>
            <a:r>
              <a:rPr lang="en-US" sz="1100" i="1" dirty="0">
                <a:solidFill>
                  <a:srgbClr val="C9D3D7"/>
                </a:solidFill>
              </a:rPr>
              <a:t>reviewed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
            <a:ext cx="11064240" cy="713232"/>
          </a:xfrm>
          <a:prstGeom prst="rect">
            <a:avLst/>
          </a:prstGeom>
          <a:noFill/>
          <a:ln/>
        </p:spPr>
        <p:txBody>
          <a:bodyPr wrap="square" rtlCol="0" anchor="ctr"/>
          <a:lstStyle/>
          <a:p>
            <a:pPr algn="l" indent="0" marL="0">
              <a:buNone/>
            </a:pPr>
            <a:r>
              <a:rPr lang="en-US" sz="3200" b="1" dirty="0">
                <a:solidFill>
                  <a:schemeClr val="tx2"/>
                </a:solidFill>
              </a:rPr>
              <a:t>Learning objectives</a:t>
            </a:r>
            <a:endParaRPr lang="en-US" sz="3200" dirty="0"/>
          </a:p>
        </p:txBody>
      </p:sp>
      <p:sp>
        <p:nvSpPr>
          <p:cNvPr id="3" name="text14"/>
          <p:cNvSpPr txBox="1"/>
          <p:nvPr/>
        </p:nvSpPr>
        <p:spPr>
          <a:xfrm>
            <a:off x="685800" y="1188720"/>
            <a:ext cx="10515600" cy="457200"/>
          </a:xfrm>
          <a:prstGeom prst="rect">
            <a:avLst/>
          </a:prstGeom>
          <a:noFill/>
          <a:ln/>
        </p:spPr>
        <p:txBody>
          <a:bodyPr wrap="square" lIns="0" tIns="0" rIns="0" bIns="0" rtlCol="0" anchor="ctr"/>
          <a:lstStyle/>
          <a:p>
            <a:pPr indent="0" marL="0">
              <a:buNone/>
            </a:pPr>
            <a:r>
              <a:rPr lang="en-US" sz="2200" dirty="0">
                <a:solidFill>
                  <a:schemeClr val="tx1"/>
                </a:solidFill>
              </a:rPr>
              <a:t>By the end of this talk, you should be able to:</a:t>
            </a:r>
            <a:endParaRPr lang="en-US" sz="2200" dirty="0"/>
          </a:p>
        </p:txBody>
      </p:sp>
      <p:sp>
        <p:nvSpPr>
          <p:cNvPr id="4" name="shape15"/>
          <p:cNvSpPr/>
          <p:nvPr/>
        </p:nvSpPr>
        <p:spPr>
          <a:xfrm>
            <a:off x="685800" y="1828800"/>
            <a:ext cx="2103120" cy="2103120"/>
          </a:xfrm>
          <a:prstGeom prst="donut">
            <a:avLst/>
          </a:prstGeom>
          <a:solidFill>
            <a:schemeClr val="accent1"/>
          </a:solidFill>
          <a:ln/>
        </p:spPr>
      </p:sp>
      <p:sp>
        <p:nvSpPr>
          <p:cNvPr id="5" name="text16"/>
          <p:cNvSpPr txBox="1"/>
          <p:nvPr/>
        </p:nvSpPr>
        <p:spPr>
          <a:xfrm>
            <a:off x="685800" y="1828800"/>
            <a:ext cx="2103120" cy="2103120"/>
          </a:xfrm>
          <a:prstGeom prst="rect">
            <a:avLst/>
          </a:prstGeom>
          <a:noFill/>
          <a:ln/>
        </p:spPr>
        <p:txBody>
          <a:bodyPr wrap="square" lIns="0" tIns="0" rIns="0" bIns="0" rtlCol="0" anchor="ctr"/>
          <a:lstStyle/>
          <a:p>
            <a:pPr algn="ctr" indent="0" marL="0">
              <a:buNone/>
            </a:pPr>
            <a:r>
              <a:rPr lang="en-US" sz="6200" b="1" dirty="0">
                <a:solidFill>
                  <a:schemeClr val="accent1"/>
                </a:solidFill>
              </a:rPr>
              <a:t>1</a:t>
            </a:r>
            <a:endParaRPr lang="en-US" sz="6200" dirty="0"/>
          </a:p>
        </p:txBody>
      </p:sp>
      <p:sp>
        <p:nvSpPr>
          <p:cNvPr id="6" name="text17"/>
          <p:cNvSpPr txBox="1"/>
          <p:nvPr/>
        </p:nvSpPr>
        <p:spPr>
          <a:xfrm>
            <a:off x="2971800" y="1920240"/>
            <a:ext cx="8778240" cy="1920240"/>
          </a:xfrm>
          <a:prstGeom prst="rect">
            <a:avLst/>
          </a:prstGeom>
          <a:noFill/>
          <a:ln/>
        </p:spPr>
        <p:txBody>
          <a:bodyPr wrap="square" lIns="0" tIns="0" rIns="0" bIns="0" rtlCol="0" anchor="ctr"/>
          <a:lstStyle/>
          <a:p>
            <a:pPr indent="0" marL="0">
              <a:spcAft>
                <a:spcPts val="800"/>
              </a:spcAft>
              <a:buNone/>
            </a:pPr>
            <a:r>
              <a:rPr lang="en-US" sz="2800" b="1" dirty="0">
                <a:solidFill>
                  <a:schemeClr val="tx2"/>
                </a:solidFill>
              </a:rPr>
              <a:t>Represent a neuroimaging result as a knowledge graph</a:t>
            </a:r>
            <a:endParaRPr lang="en-US" sz="1800" dirty="0"/>
          </a:p>
          <a:p>
            <a:pPr indent="0" marL="0">
              <a:spcAft>
                <a:spcPts val="800"/>
              </a:spcAft>
              <a:buNone/>
            </a:pPr>
            <a:r>
              <a:rPr lang="en-US" sz="1900" dirty="0">
                <a:solidFill>
                  <a:schemeClr val="accent3"/>
                </a:solidFill>
              </a:rPr>
              <a:t>linking the research question, the claim and its scope, the participants and derived measures it relies on, and the source data</a:t>
            </a:r>
            <a:endParaRPr lang="en-US" sz="1800" dirty="0"/>
          </a:p>
        </p:txBody>
      </p:sp>
      <p:sp>
        <p:nvSpPr>
          <p:cNvPr id="7" name="shape18"/>
          <p:cNvSpPr/>
          <p:nvPr/>
        </p:nvSpPr>
        <p:spPr>
          <a:xfrm>
            <a:off x="1463040" y="4160520"/>
            <a:ext cx="2103120" cy="2103120"/>
          </a:xfrm>
          <a:prstGeom prst="donut">
            <a:avLst/>
          </a:prstGeom>
          <a:solidFill>
            <a:schemeClr val="tx2"/>
          </a:solidFill>
          <a:ln/>
        </p:spPr>
      </p:sp>
      <p:sp>
        <p:nvSpPr>
          <p:cNvPr id="8" name="text19"/>
          <p:cNvSpPr txBox="1"/>
          <p:nvPr/>
        </p:nvSpPr>
        <p:spPr>
          <a:xfrm>
            <a:off x="1463040" y="4160520"/>
            <a:ext cx="2103120" cy="2103120"/>
          </a:xfrm>
          <a:prstGeom prst="rect">
            <a:avLst/>
          </a:prstGeom>
          <a:noFill/>
          <a:ln/>
        </p:spPr>
        <p:txBody>
          <a:bodyPr wrap="square" lIns="0" tIns="0" rIns="0" bIns="0" rtlCol="0" anchor="ctr"/>
          <a:lstStyle/>
          <a:p>
            <a:pPr algn="ctr" indent="0" marL="0">
              <a:buNone/>
            </a:pPr>
            <a:r>
              <a:rPr lang="en-US" sz="6200" b="1" dirty="0">
                <a:solidFill>
                  <a:schemeClr val="tx2"/>
                </a:solidFill>
              </a:rPr>
              <a:t>2</a:t>
            </a:r>
            <a:endParaRPr lang="en-US" sz="6200" dirty="0"/>
          </a:p>
        </p:txBody>
      </p:sp>
      <p:sp>
        <p:nvSpPr>
          <p:cNvPr id="9" name="text20"/>
          <p:cNvSpPr txBox="1"/>
          <p:nvPr/>
        </p:nvSpPr>
        <p:spPr>
          <a:xfrm>
            <a:off x="3749040" y="4251960"/>
            <a:ext cx="8001000" cy="1920240"/>
          </a:xfrm>
          <a:prstGeom prst="rect">
            <a:avLst/>
          </a:prstGeom>
          <a:noFill/>
          <a:ln/>
        </p:spPr>
        <p:txBody>
          <a:bodyPr wrap="square" lIns="0" tIns="0" rIns="0" bIns="0" rtlCol="0" anchor="ctr"/>
          <a:lstStyle/>
          <a:p>
            <a:pPr indent="0" marL="0">
              <a:spcAft>
                <a:spcPts val="800"/>
              </a:spcAft>
              <a:buNone/>
            </a:pPr>
            <a:r>
              <a:rPr lang="en-US" sz="2800" b="1" dirty="0">
                <a:solidFill>
                  <a:schemeClr val="tx2"/>
                </a:solidFill>
              </a:rPr>
              <a:t>Connect information across knowledge graphs</a:t>
            </a:r>
            <a:endParaRPr lang="en-US" sz="1800" dirty="0"/>
          </a:p>
          <a:p>
            <a:pPr indent="0" marL="0">
              <a:spcAft>
                <a:spcPts val="800"/>
              </a:spcAft>
              <a:buNone/>
            </a:pPr>
            <a:r>
              <a:rPr lang="en-US" sz="1900" dirty="0">
                <a:solidFill>
                  <a:schemeClr val="accent3"/>
                </a:solidFill>
              </a:rPr>
              <a:t>joining your data with public datasets, publications, tools and collaborators' work through shared identifiers and vocabularies, and deciding what can leave your lab</a:t>
            </a:r>
            <a:endParaRPr lang="en-US" sz="1800" dirty="0"/>
          </a:p>
        </p:txBody>
      </p:sp>
      <p:sp>
        <p:nvSpPr>
          <p:cNvPr id="11" name="badge1_H"/>
          <p:cNvSpPr txBox="1"/>
          <p:nvPr/>
        </p:nvSpPr>
        <p:spPr>
          <a:xfrm>
            <a:off x="274320"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H</a:t>
            </a:r>
            <a:endParaRPr lang="en-US" sz="1100" dirty="0"/>
          </a:p>
        </p:txBody>
      </p:sp>
      <p:sp>
        <p:nvSpPr>
          <p:cNvPr id="12" name="badge1_L"/>
          <p:cNvSpPr txBox="1"/>
          <p:nvPr/>
        </p:nvSpPr>
        <p:spPr>
          <a:xfrm>
            <a:off x="576072"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L</a:t>
            </a:r>
            <a:endParaRPr lang="en-US" sz="1100" dirty="0"/>
          </a:p>
        </p:txBody>
      </p:sp>
      <p:sp>
        <p:nvSpPr>
          <p:cNvPr id="13" name="badge1_check"/>
          <p:cNvSpPr txBox="1"/>
          <p:nvPr/>
        </p:nvSpPr>
        <p:spPr>
          <a:xfrm>
            <a:off x="932688" y="6473952"/>
            <a:ext cx="676656" cy="301752"/>
          </a:xfrm>
          <a:prstGeom prst="rect">
            <a:avLst/>
          </a:prstGeom>
          <a:noFill/>
          <a:ln/>
        </p:spPr>
        <p:txBody>
          <a:bodyPr wrap="square" lIns="0" tIns="0" rIns="0" bIns="0" rtlCol="0" anchor="ctr"/>
          <a:lstStyle/>
          <a:p>
            <a:pPr indent="0" marL="0">
              <a:buNone/>
            </a:pPr>
            <a:r>
              <a:rPr lang="en-US" sz="1100" i="1" dirty="0">
                <a:solidFill>
                  <a:srgbClr val="5E7A88"/>
                </a:solidFill>
              </a:rPr>
              <a:t>reviewed</a:t>
            </a:r>
            <a:endParaRPr lang="en-US" sz="11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
            <a:ext cx="11064240" cy="713232"/>
          </a:xfrm>
          <a:prstGeom prst="rect">
            <a:avLst/>
          </a:prstGeom>
          <a:noFill/>
          <a:ln/>
        </p:spPr>
        <p:txBody>
          <a:bodyPr wrap="square" rtlCol="0" anchor="ctr"/>
          <a:lstStyle/>
          <a:p>
            <a:pPr algn="l" indent="0" marL="0">
              <a:buNone/>
            </a:pPr>
            <a:r>
              <a:rPr lang="en-US" sz="3200" b="1" dirty="0">
                <a:solidFill>
                  <a:schemeClr val="tx2"/>
                </a:solidFill>
              </a:rPr>
              <a:t>The two example datasets</a:t>
            </a:r>
            <a:endParaRPr lang="en-US" sz="3200" dirty="0"/>
          </a:p>
        </p:txBody>
      </p:sp>
      <p:sp>
        <p:nvSpPr>
          <p:cNvPr id="3" name="shape21"/>
          <p:cNvSpPr/>
          <p:nvPr/>
        </p:nvSpPr>
        <p:spPr>
          <a:xfrm>
            <a:off x="457200" y="1280160"/>
            <a:ext cx="5532120" cy="5074920"/>
          </a:xfrm>
          <a:prstGeom prst="roundRect">
            <a:avLst>
              <a:gd name="adj" fmla="val 5405"/>
            </a:avLst>
          </a:prstGeom>
          <a:solidFill>
            <a:schemeClr val="accent4"/>
          </a:solidFill>
          <a:ln/>
        </p:spPr>
      </p:sp>
      <p:sp>
        <p:nvSpPr>
          <p:cNvPr id="4" name="text22"/>
          <p:cNvSpPr txBox="1"/>
          <p:nvPr/>
        </p:nvSpPr>
        <p:spPr>
          <a:xfrm>
            <a:off x="731520" y="1417320"/>
            <a:ext cx="5029200" cy="914400"/>
          </a:xfrm>
          <a:prstGeom prst="rect">
            <a:avLst/>
          </a:prstGeom>
          <a:noFill/>
          <a:ln/>
        </p:spPr>
        <p:txBody>
          <a:bodyPr wrap="square" lIns="0" tIns="0" rIns="0" bIns="0" rtlCol="0" anchor="t"/>
          <a:lstStyle/>
          <a:p>
            <a:pPr indent="0" marL="0">
              <a:buNone/>
            </a:pPr>
            <a:r>
              <a:rPr lang="en-US" sz="2600" b="1" dirty="0">
                <a:solidFill>
                  <a:schemeClr val="accent1"/>
                </a:solidFill>
              </a:rPr>
              <a:t>ds000030</a:t>
            </a:r>
            <a:endParaRPr lang="en-US" sz="1800" dirty="0"/>
          </a:p>
          <a:p>
            <a:pPr indent="0" marL="0">
              <a:buNone/>
            </a:pPr>
            <a:r>
              <a:rPr lang="en-US" sz="1600" dirty="0">
                <a:solidFill>
                  <a:schemeClr val="tx1"/>
                </a:solidFill>
              </a:rPr>
              <a:t>UCLA Consortium for Neuropsychiatric Phenomics · OpenNeuro, commit 4070b6e, CC0</a:t>
            </a:r>
            <a:endParaRPr lang="en-US" sz="1800" dirty="0"/>
          </a:p>
        </p:txBody>
      </p:sp>
      <p:sp>
        <p:nvSpPr>
          <p:cNvPr id="5" name="dsFacts0.5"/>
          <p:cNvSpPr txBox="1"/>
          <p:nvPr/>
        </p:nvSpPr>
        <p:spPr>
          <a:xfrm>
            <a:off x="731520" y="2423160"/>
            <a:ext cx="5029200" cy="19659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chemeClr val="tx1"/>
                </a:solidFill>
              </a:rPr>
              <a:t>272 adults: 130 controls, 50 schizophrenia, 49 bipolar disorder, 43 ADHD</a:t>
            </a:r>
            <a:endParaRPr lang="en-US" sz="1600" dirty="0"/>
          </a:p>
          <a:p>
            <a:pPr marL="342900" indent="-342900">
              <a:spcAft>
                <a:spcPts val="400"/>
              </a:spcAft>
              <a:buSzPct val="100000"/>
              <a:buChar char="•"/>
            </a:pPr>
            <a:r>
              <a:rPr lang="en-US" sz="1600" dirty="0">
                <a:solidFill>
                  <a:schemeClr val="tx1"/>
                </a:solidFill>
              </a:rPr>
              <a:t>structural MRI, resting and task fMRI (e.g. stop-signal)</a:t>
            </a:r>
            <a:endParaRPr lang="en-US" sz="1600" dirty="0"/>
          </a:p>
          <a:p>
            <a:pPr marL="342900" indent="-342900">
              <a:spcAft>
                <a:spcPts val="400"/>
              </a:spcAft>
              <a:buSzPct val="100000"/>
              <a:buChar char="•"/>
            </a:pPr>
            <a:r>
              <a:rPr lang="en-US" sz="1600" dirty="0">
                <a:solidFill>
                  <a:schemeClr val="tx1"/>
                </a:solidFill>
              </a:rPr>
              <a:t>52 questionnaire and phenotype tables</a:t>
            </a:r>
            <a:endParaRPr lang="en-US" sz="1600" dirty="0"/>
          </a:p>
        </p:txBody>
      </p:sp>
      <p:sp>
        <p:nvSpPr>
          <p:cNvPr id="6" name="text23"/>
          <p:cNvSpPr txBox="1"/>
          <p:nvPr/>
        </p:nvSpPr>
        <p:spPr>
          <a:xfrm>
            <a:off x="731520" y="4434840"/>
            <a:ext cx="5029200" cy="320040"/>
          </a:xfrm>
          <a:prstGeom prst="rect">
            <a:avLst/>
          </a:prstGeom>
          <a:noFill/>
          <a:ln/>
        </p:spPr>
        <p:txBody>
          <a:bodyPr wrap="square" lIns="0" tIns="0" rIns="0" bIns="0" rtlCol="0" anchor="t"/>
          <a:lstStyle/>
          <a:p>
            <a:pPr indent="0" marL="0">
              <a:buNone/>
            </a:pPr>
            <a:r>
              <a:rPr lang="en-US" sz="1500" b="1" dirty="0">
                <a:solidFill>
                  <a:schemeClr val="accent1"/>
                </a:solidFill>
              </a:rPr>
              <a:t>Papers used here</a:t>
            </a:r>
            <a:endParaRPr lang="en-US" sz="1500" dirty="0"/>
          </a:p>
        </p:txBody>
      </p:sp>
      <p:sp>
        <p:nvSpPr>
          <p:cNvPr id="7" name="dsPapers0.5"/>
          <p:cNvSpPr txBox="1"/>
          <p:nvPr/>
        </p:nvSpPr>
        <p:spPr>
          <a:xfrm>
            <a:off x="731520" y="4754880"/>
            <a:ext cx="5029200" cy="914400"/>
          </a:xfrm>
          <a:prstGeom prst="rect">
            <a:avLst/>
          </a:prstGeom>
          <a:noFill/>
          <a:ln/>
        </p:spPr>
        <p:txBody>
          <a:bodyPr wrap="square" lIns="0" tIns="0" rIns="0" bIns="0" rtlCol="0" anchor="t"/>
          <a:lstStyle/>
          <a:p>
            <a:pPr indent="0" marL="0">
              <a:buNone/>
            </a:pPr>
            <a:r>
              <a:rPr lang="en-US" sz="1500" dirty="0">
                <a:solidFill>
                  <a:schemeClr val="tx1"/>
                </a:solidFill>
              </a:rPr>
              <a:t>Poldrack et al. 2016: data descriptor</a:t>
            </a:r>
            <a:endParaRPr lang="en-US" sz="1500" dirty="0"/>
          </a:p>
          <a:p>
            <a:pPr indent="0" marL="0">
              <a:buNone/>
            </a:pPr>
            <a:r>
              <a:rPr lang="en-US" sz="1500" dirty="0">
                <a:solidFill>
                  <a:schemeClr val="tx1"/>
                </a:solidFill>
              </a:rPr>
              <a:t>Gorgolewski et al. 2017: preprocessed derivatives</a:t>
            </a:r>
            <a:endParaRPr lang="en-US" sz="1500" dirty="0"/>
          </a:p>
          <a:p>
            <a:pPr indent="0" marL="0">
              <a:buNone/>
            </a:pPr>
            <a:r>
              <a:rPr lang="en-US" sz="1500" dirty="0">
                <a:solidFill>
                  <a:schemeClr val="tx1"/>
                </a:solidFill>
              </a:rPr>
              <a:t>Kim et al. 2023: prediction across UCLA and COBRE</a:t>
            </a:r>
            <a:endParaRPr lang="en-US" sz="1500" dirty="0"/>
          </a:p>
        </p:txBody>
      </p:sp>
      <p:sp>
        <p:nvSpPr>
          <p:cNvPr id="8" name="shape24"/>
          <p:cNvSpPr txBox="1"/>
          <p:nvPr/>
        </p:nvSpPr>
        <p:spPr>
          <a:xfrm>
            <a:off x="731520" y="5760720"/>
            <a:ext cx="4983480" cy="411480"/>
          </a:xfrm>
          <a:prstGeom prst="roundRect">
            <a:avLst>
              <a:gd name="adj" fmla="val 111111"/>
            </a:avLst>
          </a:prstGeom>
          <a:solidFill>
            <a:schemeClr val="bg1"/>
          </a:solidFill>
          <a:ln/>
        </p:spPr>
        <p:txBody>
          <a:bodyPr wrap="square" lIns="50800" tIns="50800" rIns="50800" bIns="50800" rtlCol="0" anchor="ctr"/>
          <a:lstStyle/>
          <a:p>
            <a:pPr algn="ctr" indent="0" marL="0">
              <a:buNone/>
            </a:pPr>
            <a:r>
              <a:rPr lang="en-US" sz="1500" b="1" dirty="0">
                <a:solidFill>
                  <a:schemeClr val="accent1"/>
                </a:solidFill>
              </a:rPr>
              <a:t>Used in Part 1: representing a result</a:t>
            </a:r>
            <a:endParaRPr lang="en-US" sz="1500" dirty="0"/>
          </a:p>
        </p:txBody>
      </p:sp>
      <p:sp>
        <p:nvSpPr>
          <p:cNvPr id="9" name="shape25"/>
          <p:cNvSpPr/>
          <p:nvPr/>
        </p:nvSpPr>
        <p:spPr>
          <a:xfrm>
            <a:off x="6217920" y="1280160"/>
            <a:ext cx="5532120" cy="5074920"/>
          </a:xfrm>
          <a:prstGeom prst="roundRect">
            <a:avLst>
              <a:gd name="adj" fmla="val 5405"/>
            </a:avLst>
          </a:prstGeom>
          <a:solidFill>
            <a:schemeClr val="accent5"/>
          </a:solidFill>
          <a:ln/>
        </p:spPr>
      </p:sp>
      <p:sp>
        <p:nvSpPr>
          <p:cNvPr id="10" name="text26"/>
          <p:cNvSpPr txBox="1"/>
          <p:nvPr/>
        </p:nvSpPr>
        <p:spPr>
          <a:xfrm>
            <a:off x="6492240" y="1417320"/>
            <a:ext cx="5029200" cy="914400"/>
          </a:xfrm>
          <a:prstGeom prst="rect">
            <a:avLst/>
          </a:prstGeom>
          <a:noFill/>
          <a:ln/>
        </p:spPr>
        <p:txBody>
          <a:bodyPr wrap="square" lIns="0" tIns="0" rIns="0" bIns="0" rtlCol="0" anchor="t"/>
          <a:lstStyle/>
          <a:p>
            <a:pPr indent="0" marL="0">
              <a:buNone/>
            </a:pPr>
            <a:r>
              <a:rPr lang="en-US" sz="2600" b="1" dirty="0">
                <a:solidFill>
                  <a:schemeClr val="accent2"/>
                </a:solidFill>
              </a:rPr>
              <a:t>ABIDE I</a:t>
            </a:r>
            <a:endParaRPr lang="en-US" sz="1800" dirty="0"/>
          </a:p>
          <a:p>
            <a:pPr indent="0" marL="0">
              <a:buNone/>
            </a:pPr>
            <a:r>
              <a:rPr lang="en-US" sz="1600" dirty="0">
                <a:solidFill>
                  <a:schemeClr val="tx1"/>
                </a:solidFill>
              </a:rPr>
              <a:t>Autism Brain Imaging Data Exchange · ABIDE Preprocessed (C-PAC), CC BY-NC-SA</a:t>
            </a:r>
            <a:endParaRPr lang="en-US" sz="1800" dirty="0"/>
          </a:p>
        </p:txBody>
      </p:sp>
      <p:sp>
        <p:nvSpPr>
          <p:cNvPr id="11" name="dsFacts6.8"/>
          <p:cNvSpPr txBox="1"/>
          <p:nvPr/>
        </p:nvSpPr>
        <p:spPr>
          <a:xfrm>
            <a:off x="6492240" y="2423160"/>
            <a:ext cx="5029200" cy="19659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chemeClr val="tx1"/>
                </a:solidFill>
              </a:rPr>
              <a:t>1,112 participants (539 autistic, 573 typically developing) from 17 sites</a:t>
            </a:r>
            <a:endParaRPr lang="en-US" sz="1600" dirty="0"/>
          </a:p>
          <a:p>
            <a:pPr marL="342900" indent="-342900">
              <a:spcAft>
                <a:spcPts val="400"/>
              </a:spcAft>
              <a:buSzPct val="100000"/>
              <a:buChar char="•"/>
            </a:pPr>
            <a:r>
              <a:rPr lang="en-US" sz="1600" dirty="0">
                <a:solidFill>
                  <a:schemeClr val="tx1"/>
                </a:solidFill>
              </a:rPr>
              <a:t>resting-state fMRI; phenotypes incl. IQ, ADOS, SRS</a:t>
            </a:r>
            <a:endParaRPr lang="en-US" sz="1600" dirty="0"/>
          </a:p>
          <a:p>
            <a:pPr marL="342900" indent="-342900">
              <a:spcAft>
                <a:spcPts val="400"/>
              </a:spcAft>
              <a:buSzPct val="100000"/>
              <a:buChar char="•"/>
            </a:pPr>
            <a:r>
              <a:rPr lang="en-US" sz="1600" dirty="0">
                <a:solidFill>
                  <a:schemeClr val="tx1"/>
                </a:solidFill>
              </a:rPr>
              <a:t>200-region time series for 1,035 participants</a:t>
            </a:r>
            <a:endParaRPr lang="en-US" sz="1600" dirty="0"/>
          </a:p>
        </p:txBody>
      </p:sp>
      <p:sp>
        <p:nvSpPr>
          <p:cNvPr id="12" name="text27"/>
          <p:cNvSpPr txBox="1"/>
          <p:nvPr/>
        </p:nvSpPr>
        <p:spPr>
          <a:xfrm>
            <a:off x="6492240" y="4434840"/>
            <a:ext cx="5029200" cy="320040"/>
          </a:xfrm>
          <a:prstGeom prst="rect">
            <a:avLst/>
          </a:prstGeom>
          <a:noFill/>
          <a:ln/>
        </p:spPr>
        <p:txBody>
          <a:bodyPr wrap="square" lIns="0" tIns="0" rIns="0" bIns="0" rtlCol="0" anchor="t"/>
          <a:lstStyle/>
          <a:p>
            <a:pPr indent="0" marL="0">
              <a:buNone/>
            </a:pPr>
            <a:r>
              <a:rPr lang="en-US" sz="1500" b="1" dirty="0">
                <a:solidFill>
                  <a:schemeClr val="accent2"/>
                </a:solidFill>
              </a:rPr>
              <a:t>Papers used here</a:t>
            </a:r>
            <a:endParaRPr lang="en-US" sz="1500" dirty="0"/>
          </a:p>
        </p:txBody>
      </p:sp>
      <p:sp>
        <p:nvSpPr>
          <p:cNvPr id="13" name="dsPapers6.8"/>
          <p:cNvSpPr txBox="1"/>
          <p:nvPr/>
        </p:nvSpPr>
        <p:spPr>
          <a:xfrm>
            <a:off x="6492240" y="4754880"/>
            <a:ext cx="5029200" cy="914400"/>
          </a:xfrm>
          <a:prstGeom prst="rect">
            <a:avLst/>
          </a:prstGeom>
          <a:noFill/>
          <a:ln/>
        </p:spPr>
        <p:txBody>
          <a:bodyPr wrap="square" lIns="0" tIns="0" rIns="0" bIns="0" rtlCol="0" anchor="t"/>
          <a:lstStyle/>
          <a:p>
            <a:pPr indent="0" marL="0">
              <a:buNone/>
            </a:pPr>
            <a:r>
              <a:rPr lang="en-US" sz="1500" dirty="0">
                <a:solidFill>
                  <a:schemeClr val="tx1"/>
                </a:solidFill>
              </a:rPr>
              <a:t>Di Martino et al. 2014: group differences</a:t>
            </a:r>
            <a:endParaRPr lang="en-US" sz="1500" dirty="0"/>
          </a:p>
          <a:p>
            <a:pPr indent="0" marL="0">
              <a:buNone/>
            </a:pPr>
            <a:r>
              <a:rPr lang="en-US" sz="1500" dirty="0">
                <a:solidFill>
                  <a:schemeClr val="tx1"/>
                </a:solidFill>
              </a:rPr>
              <a:t>Abraham et al. 2017: site-held-out prediction</a:t>
            </a:r>
            <a:endParaRPr lang="en-US" sz="1500" dirty="0"/>
          </a:p>
          <a:p>
            <a:pPr indent="0" marL="0">
              <a:buNone/>
            </a:pPr>
            <a:r>
              <a:rPr lang="en-US" sz="1500" dirty="0">
                <a:solidFill>
                  <a:schemeClr val="tx1"/>
                </a:solidFill>
              </a:rPr>
              <a:t>a 74-study literature review</a:t>
            </a:r>
            <a:endParaRPr lang="en-US" sz="1500" dirty="0"/>
          </a:p>
        </p:txBody>
      </p:sp>
      <p:sp>
        <p:nvSpPr>
          <p:cNvPr id="14" name="shape28"/>
          <p:cNvSpPr txBox="1"/>
          <p:nvPr/>
        </p:nvSpPr>
        <p:spPr>
          <a:xfrm>
            <a:off x="6492240" y="5760720"/>
            <a:ext cx="4983480" cy="411480"/>
          </a:xfrm>
          <a:prstGeom prst="roundRect">
            <a:avLst>
              <a:gd name="adj" fmla="val 111111"/>
            </a:avLst>
          </a:prstGeom>
          <a:solidFill>
            <a:schemeClr val="bg1"/>
          </a:solidFill>
          <a:ln/>
        </p:spPr>
        <p:txBody>
          <a:bodyPr wrap="square" lIns="50800" tIns="50800" rIns="50800" bIns="50800" rtlCol="0" anchor="ctr"/>
          <a:lstStyle/>
          <a:p>
            <a:pPr algn="ctr" indent="0" marL="0">
              <a:buNone/>
            </a:pPr>
            <a:r>
              <a:rPr lang="en-US" sz="1500" b="1" dirty="0">
                <a:solidFill>
                  <a:schemeClr val="accent2"/>
                </a:solidFill>
              </a:rPr>
              <a:t>Used in Part 2 and the live demo (one site)</a:t>
            </a:r>
            <a:endParaRPr lang="en-US" sz="1500" dirty="0"/>
          </a:p>
        </p:txBody>
      </p:sp>
      <p:pic>
        <p:nvPicPr>
          <p:cNvPr id="16" name="stripIcon2" descr="preencoded.png">    </p:cNvPr>
          <p:cNvPicPr>
            <a:picLocks noChangeAspect="1"/>
          </p:cNvPicPr>
          <p:nvPr/>
        </p:nvPicPr>
        <p:blipFill>
          <a:blip r:embed="rId1"/>
          <a:stretch>
            <a:fillRect/>
          </a:stretch>
        </p:blipFill>
        <p:spPr>
          <a:xfrm>
            <a:off x="548640" y="969264"/>
            <a:ext cx="182880" cy="182880"/>
          </a:xfrm>
          <a:prstGeom prst="rect">
            <a:avLst/>
          </a:prstGeom>
        </p:spPr>
      </p:pic>
      <p:sp>
        <p:nvSpPr>
          <p:cNvPr id="17" name="strip2"/>
          <p:cNvSpPr txBox="1"/>
          <p:nvPr/>
        </p:nvSpPr>
        <p:spPr>
          <a:xfrm>
            <a:off x="804672" y="914400"/>
            <a:ext cx="10972800" cy="292608"/>
          </a:xfrm>
          <a:prstGeom prst="rect">
            <a:avLst/>
          </a:prstGeom>
          <a:noFill/>
          <a:ln/>
        </p:spPr>
        <p:txBody>
          <a:bodyPr wrap="square" lIns="0" tIns="0" rIns="0" bIns="0" rtlCol="0" anchor="ctr"/>
          <a:lstStyle/>
          <a:p>
            <a:pPr indent="0" marL="0">
              <a:buNone/>
            </a:pPr>
            <a:r>
              <a:rPr lang="en-US" sz="1200" b="1" dirty="0">
                <a:solidFill>
                  <a:schemeClr val="accent1"/>
                </a:solidFill>
              </a:rPr>
              <a:t>In the graph: </a:t>
            </a:r>
            <a:pPr indent="0" marL="0">
              <a:buNone/>
            </a:pPr>
            <a:r>
              <a:rPr lang="en-US" sz="1200" dirty="0">
                <a:solidFill>
                  <a:schemeClr val="accent3"/>
                </a:solidFill>
              </a:rPr>
              <a:t>Counts read by SPARQL: ds000030 graph (combined_graph.ttl, 1,113,959 triples); ABIDE graph/core (queries/Q14.rq)</a:t>
            </a:r>
            <a:endParaRPr lang="en-US" sz="1200" dirty="0"/>
          </a:p>
        </p:txBody>
      </p:sp>
      <p:sp>
        <p:nvSpPr>
          <p:cNvPr id="18" name="tagDot2"/>
          <p:cNvSpPr/>
          <p:nvPr/>
        </p:nvSpPr>
        <p:spPr>
          <a:xfrm>
            <a:off x="9326880" y="82296"/>
            <a:ext cx="128016" cy="128016"/>
          </a:xfrm>
          <a:prstGeom prst="ellipse">
            <a:avLst/>
          </a:prstGeom>
          <a:solidFill>
            <a:schemeClr val="accent3"/>
          </a:solidFill>
          <a:ln/>
        </p:spPr>
      </p:sp>
      <p:sp>
        <p:nvSpPr>
          <p:cNvPr id="19" name="tag2"/>
          <p:cNvSpPr txBox="1"/>
          <p:nvPr/>
        </p:nvSpPr>
        <p:spPr>
          <a:xfrm>
            <a:off x="9509760" y="18288"/>
            <a:ext cx="2286000" cy="256032"/>
          </a:xfrm>
          <a:prstGeom prst="rect">
            <a:avLst/>
          </a:prstGeom>
          <a:noFill/>
          <a:ln/>
        </p:spPr>
        <p:txBody>
          <a:bodyPr wrap="square" lIns="0" tIns="0" rIns="0" bIns="0" rtlCol="0" anchor="ctr"/>
          <a:lstStyle/>
          <a:p>
            <a:pPr indent="0" marL="0">
              <a:buNone/>
            </a:pPr>
            <a:r>
              <a:rPr lang="en-US" sz="1200" i="1" dirty="0">
                <a:solidFill>
                  <a:schemeClr val="accent3"/>
                </a:solidFill>
              </a:rPr>
              <a:t>Objectives 1 and 2</a:t>
            </a:r>
            <a:endParaRPr lang="en-US" sz="1200" dirty="0"/>
          </a:p>
        </p:txBody>
      </p:sp>
      <p:sp>
        <p:nvSpPr>
          <p:cNvPr id="20" name="badge2_P"/>
          <p:cNvSpPr txBox="1"/>
          <p:nvPr/>
        </p:nvSpPr>
        <p:spPr>
          <a:xfrm>
            <a:off x="274320"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P</a:t>
            </a:r>
            <a:endParaRPr lang="en-US" sz="1100" dirty="0"/>
          </a:p>
        </p:txBody>
      </p:sp>
      <p:sp>
        <p:nvSpPr>
          <p:cNvPr id="21" name="badge2_A"/>
          <p:cNvSpPr txBox="1"/>
          <p:nvPr/>
        </p:nvSpPr>
        <p:spPr>
          <a:xfrm>
            <a:off x="576072"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A</a:t>
            </a:r>
            <a:endParaRPr lang="en-US" sz="1100" dirty="0"/>
          </a:p>
        </p:txBody>
      </p:sp>
      <p:sp>
        <p:nvSpPr>
          <p:cNvPr id="22" name="badge2_R"/>
          <p:cNvSpPr txBox="1"/>
          <p:nvPr/>
        </p:nvSpPr>
        <p:spPr>
          <a:xfrm>
            <a:off x="877824"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R</a:t>
            </a:r>
            <a:endParaRPr lang="en-US" sz="1100" dirty="0"/>
          </a:p>
        </p:txBody>
      </p:sp>
      <p:sp>
        <p:nvSpPr>
          <p:cNvPr id="23" name="data2"/>
          <p:cNvSpPr txBox="1"/>
          <p:nvPr/>
        </p:nvSpPr>
        <p:spPr>
          <a:xfrm>
            <a:off x="2779776" y="6473952"/>
            <a:ext cx="8375904" cy="301752"/>
          </a:xfrm>
          <a:prstGeom prst="rect">
            <a:avLst/>
          </a:prstGeom>
          <a:noFill/>
          <a:ln/>
        </p:spPr>
        <p:txBody>
          <a:bodyPr wrap="square" lIns="0" tIns="0" rIns="0" bIns="0" rtlCol="0" anchor="ctr"/>
          <a:lstStyle/>
          <a:p>
            <a:pPr indent="0" marL="0">
              <a:buNone/>
            </a:pPr>
            <a:r>
              <a:rPr lang="en-US" sz="1100" dirty="0">
                <a:solidFill>
                  <a:srgbClr val="5E7A88"/>
                </a:solidFill>
              </a:rPr>
              <a:t>Data: ds000030 (OpenNeuro, commit 4070b6e); ABIDE I (ABIDE Preprocessed)</a:t>
            </a:r>
            <a:endParaRPr lang="en-US" sz="1100" dirty="0"/>
          </a:p>
        </p:txBody>
      </p:sp>
      <p:sp>
        <p:nvSpPr>
          <p:cNvPr id="24" name="badge2_check"/>
          <p:cNvSpPr txBox="1"/>
          <p:nvPr/>
        </p:nvSpPr>
        <p:spPr>
          <a:xfrm>
            <a:off x="1234440" y="6473952"/>
            <a:ext cx="1408176" cy="301752"/>
          </a:xfrm>
          <a:prstGeom prst="rect">
            <a:avLst/>
          </a:prstGeom>
          <a:noFill/>
          <a:ln/>
        </p:spPr>
        <p:txBody>
          <a:bodyPr wrap="square" lIns="0" tIns="0" rIns="0" bIns="0" rtlCol="0" anchor="ctr"/>
          <a:lstStyle/>
          <a:p>
            <a:pPr indent="0" marL="0">
              <a:buNone/>
            </a:pPr>
            <a:r>
              <a:rPr lang="en-US" sz="1100" i="1" dirty="0">
                <a:solidFill>
                  <a:srgbClr val="5E7A88"/>
                </a:solidFill>
              </a:rPr>
              <a:t>re-run · validated</a:t>
            </a:r>
            <a:endParaRPr lang="en-US" sz="11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
            <a:ext cx="11064240" cy="713232"/>
          </a:xfrm>
          <a:prstGeom prst="rect">
            <a:avLst/>
          </a:prstGeom>
          <a:noFill/>
          <a:ln/>
        </p:spPr>
        <p:txBody>
          <a:bodyPr wrap="square" rtlCol="0" anchor="ctr"/>
          <a:lstStyle/>
          <a:p>
            <a:pPr algn="l" indent="0" marL="0">
              <a:buNone/>
            </a:pPr>
            <a:r>
              <a:rPr lang="en-US" sz="3200" b="1" dirty="0">
                <a:solidFill>
                  <a:schemeClr val="tx2"/>
                </a:solidFill>
              </a:rPr>
              <a:t>A knowledge graph in four statements</a:t>
            </a:r>
            <a:endParaRPr lang="en-US" sz="3200" dirty="0"/>
          </a:p>
        </p:txBody>
      </p:sp>
      <p:sp>
        <p:nvSpPr>
          <p:cNvPr id="3" name="shape29"/>
          <p:cNvSpPr txBox="1"/>
          <p:nvPr/>
        </p:nvSpPr>
        <p:spPr>
          <a:xfrm>
            <a:off x="502920" y="1828800"/>
            <a:ext cx="1600200" cy="1051560"/>
          </a:xfrm>
          <a:prstGeom prst="ellipse">
            <a:avLst/>
          </a:prstGeom>
          <a:solidFill>
            <a:schemeClr val="accent4"/>
          </a:solidFill>
          <a:ln/>
        </p:spPr>
        <p:txBody>
          <a:bodyPr wrap="square" lIns="50800" tIns="50800" rIns="50800" bIns="50800" rtlCol="0" anchor="ctr"/>
          <a:lstStyle/>
          <a:p>
            <a:pPr algn="ctr" indent="0" marL="0">
              <a:buNone/>
            </a:pPr>
            <a:r>
              <a:rPr lang="en-US" sz="1800" b="1" dirty="0">
                <a:solidFill>
                  <a:schemeClr val="tx2"/>
                </a:solidFill>
              </a:rPr>
              <a:t>2.0</a:t>
            </a:r>
            <a:endParaRPr lang="en-US" sz="1800" dirty="0"/>
          </a:p>
          <a:p>
            <a:pPr algn="ctr" indent="0" marL="0">
              <a:buNone/>
            </a:pPr>
            <a:r>
              <a:rPr lang="en-US" sz="1300" dirty="0">
                <a:solidFill>
                  <a:schemeClr val="accent3"/>
                </a:solidFill>
              </a:rPr>
              <a:t>‘acts impulsively’</a:t>
            </a:r>
            <a:endParaRPr lang="en-US" sz="1800" dirty="0"/>
          </a:p>
        </p:txBody>
      </p:sp>
      <p:sp>
        <p:nvSpPr>
          <p:cNvPr id="4" name="shape30"/>
          <p:cNvSpPr txBox="1"/>
          <p:nvPr/>
        </p:nvSpPr>
        <p:spPr>
          <a:xfrm>
            <a:off x="4069080" y="1828800"/>
            <a:ext cx="2834640" cy="1051560"/>
          </a:xfrm>
          <a:prstGeom prst="ellipse">
            <a:avLst/>
          </a:prstGeom>
          <a:solidFill>
            <a:schemeClr val="accent4"/>
          </a:solidFill>
          <a:ln/>
        </p:spPr>
        <p:txBody>
          <a:bodyPr wrap="square" lIns="50800" tIns="50800" rIns="50800" bIns="50800" rtlCol="0" anchor="ctr"/>
          <a:lstStyle/>
          <a:p>
            <a:pPr algn="ctr" indent="0" marL="0">
              <a:buNone/>
            </a:pPr>
            <a:r>
              <a:rPr lang="en-US" sz="1800" b="1" dirty="0">
                <a:solidFill>
                  <a:schemeClr val="tx2"/>
                </a:solidFill>
              </a:rPr>
              <a:t>questionnaire record</a:t>
            </a:r>
            <a:endParaRPr lang="en-US" sz="1800" dirty="0"/>
          </a:p>
          <a:p>
            <a:pPr algn="ctr" indent="0" marL="0">
              <a:buNone/>
            </a:pPr>
            <a:r>
              <a:rPr lang="en-US" sz="1300" dirty="0">
                <a:solidFill>
                  <a:schemeClr val="accent3"/>
                </a:solidFill>
              </a:rPr>
              <a:t>nidm:AcquisitionObject</a:t>
            </a:r>
            <a:endParaRPr lang="en-US" sz="1800" dirty="0"/>
          </a:p>
        </p:txBody>
      </p:sp>
      <p:sp>
        <p:nvSpPr>
          <p:cNvPr id="5" name="shape31"/>
          <p:cNvSpPr txBox="1"/>
          <p:nvPr/>
        </p:nvSpPr>
        <p:spPr>
          <a:xfrm>
            <a:off x="8275320" y="1280160"/>
            <a:ext cx="3474720" cy="1051560"/>
          </a:xfrm>
          <a:prstGeom prst="ellipse">
            <a:avLst/>
          </a:prstGeom>
          <a:solidFill>
            <a:schemeClr val="accent4"/>
          </a:solidFill>
          <a:ln/>
        </p:spPr>
        <p:txBody>
          <a:bodyPr wrap="square" lIns="50800" tIns="50800" rIns="50800" bIns="50800" rtlCol="0" anchor="ctr"/>
          <a:lstStyle/>
          <a:p>
            <a:pPr algn="ctr" indent="0" marL="0">
              <a:buNone/>
            </a:pPr>
            <a:r>
              <a:rPr lang="en-US" sz="1800" b="1" dirty="0">
                <a:solidFill>
                  <a:schemeClr val="tx2"/>
                </a:solidFill>
              </a:rPr>
              <a:t>Barratt questionnaire session</a:t>
            </a:r>
            <a:endParaRPr lang="en-US" sz="1800" dirty="0"/>
          </a:p>
          <a:p>
            <a:pPr algn="ctr" indent="0" marL="0">
              <a:buNone/>
            </a:pPr>
            <a:r>
              <a:rPr lang="en-US" sz="1300" dirty="0">
                <a:solidFill>
                  <a:schemeClr val="accent3"/>
                </a:solidFill>
              </a:rPr>
              <a:t>nidm:Acquisition</a:t>
            </a:r>
            <a:endParaRPr lang="en-US" sz="1800" dirty="0"/>
          </a:p>
        </p:txBody>
      </p:sp>
      <p:sp>
        <p:nvSpPr>
          <p:cNvPr id="6" name="shape32"/>
          <p:cNvSpPr txBox="1"/>
          <p:nvPr/>
        </p:nvSpPr>
        <p:spPr>
          <a:xfrm>
            <a:off x="9372600" y="3017520"/>
            <a:ext cx="1371600" cy="1097280"/>
          </a:xfrm>
          <a:prstGeom prst="ellipse">
            <a:avLst/>
          </a:prstGeom>
          <a:solidFill>
            <a:schemeClr val="tx2"/>
          </a:solidFill>
          <a:ln/>
        </p:spPr>
        <p:txBody>
          <a:bodyPr wrap="square" lIns="50800" tIns="50800" rIns="50800" bIns="50800" rtlCol="0" anchor="ctr"/>
          <a:lstStyle/>
          <a:p>
            <a:pPr algn="ctr" indent="0" marL="0">
              <a:buNone/>
            </a:pPr>
            <a:r>
              <a:rPr lang="en-US" sz="1800" b="1" dirty="0">
                <a:solidFill>
                  <a:schemeClr val="bg1"/>
                </a:solidFill>
              </a:rPr>
              <a:t>sub-10159</a:t>
            </a:r>
            <a:endParaRPr lang="en-US" sz="1800" dirty="0"/>
          </a:p>
          <a:p>
            <a:pPr algn="ctr" indent="0" marL="0">
              <a:buNone/>
            </a:pPr>
            <a:r>
              <a:rPr lang="en-US" sz="1300" dirty="0">
                <a:solidFill>
                  <a:schemeClr val="accent4"/>
                </a:solidFill>
              </a:rPr>
              <a:t>participant</a:t>
            </a:r>
            <a:endParaRPr lang="en-US" sz="1800" dirty="0"/>
          </a:p>
        </p:txBody>
      </p:sp>
      <p:sp>
        <p:nvSpPr>
          <p:cNvPr id="7" name="shape33"/>
          <p:cNvSpPr txBox="1"/>
          <p:nvPr/>
        </p:nvSpPr>
        <p:spPr>
          <a:xfrm>
            <a:off x="4206240" y="3337560"/>
            <a:ext cx="2560320" cy="713232"/>
          </a:xfrm>
          <a:prstGeom prst="roundRect">
            <a:avLst>
              <a:gd name="adj" fmla="val 25641"/>
            </a:avLst>
          </a:prstGeom>
          <a:solidFill>
            <a:schemeClr val="bg2"/>
          </a:solidFill>
          <a:ln w="19050">
            <a:solidFill>
              <a:srgbClr val="C9D3D7"/>
            </a:solidFill>
            <a:prstDash val="solid"/>
          </a:ln>
        </p:spPr>
        <p:txBody>
          <a:bodyPr wrap="square" lIns="50800" tIns="50800" rIns="50800" bIns="50800" rtlCol="0" anchor="ctr"/>
          <a:lstStyle/>
          <a:p>
            <a:pPr algn="ctr" indent="0" marL="0">
              <a:buNone/>
            </a:pPr>
            <a:r>
              <a:rPr lang="en-US" sz="1600" b="1" dirty="0">
                <a:solidFill>
                  <a:schemeClr val="tx1"/>
                </a:solidFill>
              </a:rPr>
              <a:t>barratt.tsv, row 2</a:t>
            </a:r>
            <a:endParaRPr lang="en-US" sz="1800" dirty="0"/>
          </a:p>
          <a:p>
            <a:pPr algn="ctr" indent="0" marL="0">
              <a:buNone/>
            </a:pPr>
            <a:r>
              <a:rPr lang="en-US" sz="1200" dirty="0">
                <a:solidFill>
                  <a:schemeClr val="accent3"/>
                </a:solidFill>
              </a:rPr>
              <a:t>Barratt Impulsiveness Scale answers</a:t>
            </a:r>
            <a:endParaRPr lang="en-US" sz="1800" dirty="0"/>
          </a:p>
        </p:txBody>
      </p:sp>
      <p:sp>
        <p:nvSpPr>
          <p:cNvPr id="8" name="arrow34"/>
          <p:cNvSpPr/>
          <p:nvPr/>
        </p:nvSpPr>
        <p:spPr>
          <a:xfrm flipH="1">
            <a:off x="2103120" y="2350008"/>
            <a:ext cx="1965960" cy="914"/>
          </a:xfrm>
          <a:prstGeom prst="line">
            <a:avLst/>
          </a:prstGeom>
          <a:noFill/>
          <a:ln w="31750">
            <a:solidFill>
              <a:schemeClr val="accent1"/>
            </a:solidFill>
            <a:prstDash val="solid"/>
            <a:tailEnd type="triangle"/>
          </a:ln>
        </p:spPr>
      </p:sp>
      <p:sp>
        <p:nvSpPr>
          <p:cNvPr id="9" name="text35"/>
          <p:cNvSpPr txBox="1"/>
          <p:nvPr/>
        </p:nvSpPr>
        <p:spPr>
          <a:xfrm>
            <a:off x="2057400" y="1417320"/>
            <a:ext cx="2103120" cy="566928"/>
          </a:xfrm>
          <a:prstGeom prst="rect">
            <a:avLst/>
          </a:prstGeom>
          <a:noFill/>
          <a:ln/>
        </p:spPr>
        <p:txBody>
          <a:bodyPr wrap="square" lIns="0" tIns="0" rIns="0" bIns="0" rtlCol="0" anchor="ctr"/>
          <a:lstStyle/>
          <a:p>
            <a:pPr algn="ctr" indent="0" marL="0">
              <a:buNone/>
            </a:pPr>
            <a:r>
              <a:rPr lang="en-US" sz="1600" i="1" dirty="0">
                <a:solidFill>
                  <a:schemeClr val="accent1"/>
                </a:solidFill>
              </a:rPr>
              <a:t>‘acts impulsively’ score</a:t>
            </a:r>
            <a:endParaRPr lang="en-US" sz="1800" dirty="0"/>
          </a:p>
          <a:p>
            <a:pPr algn="ctr" indent="0" marL="0">
              <a:buNone/>
            </a:pPr>
            <a:r>
              <a:rPr lang="en-US" sz="1200" dirty="0">
                <a:solidFill>
                  <a:schemeClr val="accent3"/>
                </a:solidFill>
              </a:rPr>
              <a:t>bis_parcel1</a:t>
            </a:r>
            <a:endParaRPr lang="en-US" sz="1800" dirty="0"/>
          </a:p>
        </p:txBody>
      </p:sp>
      <p:sp>
        <p:nvSpPr>
          <p:cNvPr id="10" name="curve36"/>
          <p:cNvSpPr/>
          <p:nvPr/>
        </p:nvSpPr>
        <p:spPr>
          <a:xfrm>
            <a:off x="6903720" y="1801368"/>
            <a:ext cx="1371600" cy="301752"/>
          </a:xfrm>
          <a:custGeom>
            <a:avLst/>
            <a:gdLst/>
            <a:ahLst/>
            <a:cxnLst/>
            <a:rect l="l" t="t" r="r" b="b"/>
            <a:pathLst>
              <a:path w="1371600" h="301752">
                <a:moveTo>
                  <a:pt x="0" y="301752"/>
                </a:moveTo>
                <a:cubicBezTo>
                  <a:pt x="685800" y="301752"/>
                  <a:pt x="685800" y="0"/>
                  <a:pt x="1371600" y="0"/>
                </a:cubicBezTo>
              </a:path>
            </a:pathLst>
          </a:custGeom>
          <a:ln w="31750">
            <a:solidFill>
              <a:schemeClr val="accent1"/>
            </a:solidFill>
            <a:prstDash val="solid"/>
            <a:tailEnd type="triangle"/>
          </a:ln>
        </p:spPr>
      </p:sp>
      <p:sp>
        <p:nvSpPr>
          <p:cNvPr id="11" name="text37"/>
          <p:cNvSpPr txBox="1"/>
          <p:nvPr/>
        </p:nvSpPr>
        <p:spPr>
          <a:xfrm>
            <a:off x="6583680" y="1188720"/>
            <a:ext cx="1828800" cy="566928"/>
          </a:xfrm>
          <a:prstGeom prst="rect">
            <a:avLst/>
          </a:prstGeom>
          <a:noFill/>
          <a:ln/>
        </p:spPr>
        <p:txBody>
          <a:bodyPr wrap="square" lIns="0" tIns="0" rIns="0" bIns="0" rtlCol="0" anchor="ctr"/>
          <a:lstStyle/>
          <a:p>
            <a:pPr algn="ctr" indent="0" marL="0">
              <a:buNone/>
            </a:pPr>
            <a:r>
              <a:rPr lang="en-US" sz="1600" i="1" dirty="0">
                <a:solidFill>
                  <a:schemeClr val="accent1"/>
                </a:solidFill>
              </a:rPr>
              <a:t>was generated by</a:t>
            </a:r>
            <a:endParaRPr lang="en-US" sz="1800" dirty="0"/>
          </a:p>
          <a:p>
            <a:pPr algn="ctr" indent="0" marL="0">
              <a:buNone/>
            </a:pPr>
            <a:r>
              <a:rPr lang="en-US" sz="1200" dirty="0">
                <a:solidFill>
                  <a:schemeClr val="accent3"/>
                </a:solidFill>
              </a:rPr>
              <a:t>prov:wasGeneratedBy</a:t>
            </a:r>
            <a:endParaRPr lang="en-US" sz="1800" dirty="0"/>
          </a:p>
        </p:txBody>
      </p:sp>
      <p:sp>
        <p:nvSpPr>
          <p:cNvPr id="12" name="arrow38"/>
          <p:cNvSpPr/>
          <p:nvPr/>
        </p:nvSpPr>
        <p:spPr>
          <a:xfrm>
            <a:off x="10058400" y="2331720"/>
            <a:ext cx="914" cy="685800"/>
          </a:xfrm>
          <a:prstGeom prst="line">
            <a:avLst/>
          </a:prstGeom>
          <a:noFill/>
          <a:ln w="31750">
            <a:solidFill>
              <a:schemeClr val="accent1"/>
            </a:solidFill>
            <a:prstDash val="solid"/>
            <a:tailEnd type="triangle"/>
          </a:ln>
        </p:spPr>
      </p:sp>
      <p:sp>
        <p:nvSpPr>
          <p:cNvPr id="13" name="text39"/>
          <p:cNvSpPr txBox="1"/>
          <p:nvPr/>
        </p:nvSpPr>
        <p:spPr>
          <a:xfrm>
            <a:off x="6903720" y="2423160"/>
            <a:ext cx="3063240" cy="566928"/>
          </a:xfrm>
          <a:prstGeom prst="rect">
            <a:avLst/>
          </a:prstGeom>
          <a:noFill/>
          <a:ln/>
        </p:spPr>
        <p:txBody>
          <a:bodyPr wrap="square" lIns="0" tIns="0" rIns="0" bIns="0" rtlCol="0" anchor="ctr"/>
          <a:lstStyle/>
          <a:p>
            <a:pPr algn="r" indent="0" marL="0">
              <a:buNone/>
            </a:pPr>
            <a:r>
              <a:rPr lang="en-US" sz="1600" i="1" dirty="0">
                <a:solidFill>
                  <a:schemeClr val="accent1"/>
                </a:solidFill>
              </a:rPr>
              <a:t>with participant</a:t>
            </a:r>
            <a:endParaRPr lang="en-US" sz="1800" dirty="0"/>
          </a:p>
          <a:p>
            <a:pPr algn="r" indent="0" marL="0">
              <a:buNone/>
            </a:pPr>
            <a:r>
              <a:rPr lang="en-US" sz="1200" dirty="0">
                <a:solidFill>
                  <a:schemeClr val="accent3"/>
                </a:solidFill>
              </a:rPr>
              <a:t>prov:qualifiedAssociation · agent, role: subject</a:t>
            </a:r>
            <a:endParaRPr lang="en-US" sz="1800" dirty="0"/>
          </a:p>
        </p:txBody>
      </p:sp>
      <p:sp>
        <p:nvSpPr>
          <p:cNvPr id="14" name="arrow40"/>
          <p:cNvSpPr/>
          <p:nvPr/>
        </p:nvSpPr>
        <p:spPr>
          <a:xfrm>
            <a:off x="5486400" y="2880360"/>
            <a:ext cx="914" cy="457200"/>
          </a:xfrm>
          <a:prstGeom prst="line">
            <a:avLst/>
          </a:prstGeom>
          <a:noFill/>
          <a:ln w="19050">
            <a:solidFill>
              <a:schemeClr val="accent3"/>
            </a:solidFill>
            <a:prstDash val="solid"/>
            <a:tailEnd type="triangle"/>
          </a:ln>
        </p:spPr>
      </p:sp>
      <p:sp>
        <p:nvSpPr>
          <p:cNvPr id="15" name="text41"/>
          <p:cNvSpPr txBox="1"/>
          <p:nvPr/>
        </p:nvSpPr>
        <p:spPr>
          <a:xfrm>
            <a:off x="5577840" y="2944368"/>
            <a:ext cx="2743200" cy="320040"/>
          </a:xfrm>
          <a:prstGeom prst="rect">
            <a:avLst/>
          </a:prstGeom>
          <a:noFill/>
          <a:ln/>
        </p:spPr>
        <p:txBody>
          <a:bodyPr wrap="square" lIns="0" tIns="0" rIns="0" bIns="0" rtlCol="0" anchor="ctr"/>
          <a:lstStyle/>
          <a:p>
            <a:pPr indent="0" marL="0">
              <a:buNone/>
            </a:pPr>
            <a:r>
              <a:rPr lang="en-US" sz="1400" i="1" dirty="0">
                <a:solidFill>
                  <a:schemeClr val="accent3"/>
                </a:solidFill>
              </a:rPr>
              <a:t>was derived from </a:t>
            </a:r>
            <a:pPr indent="0" marL="0">
              <a:buNone/>
            </a:pPr>
            <a:r>
              <a:rPr lang="en-US" sz="1200" dirty="0">
                <a:solidFill>
                  <a:schemeClr val="accent3"/>
                </a:solidFill>
              </a:rPr>
              <a:t>prov:wasDerivedFrom</a:t>
            </a:r>
            <a:endParaRPr lang="en-US" sz="1800" dirty="0"/>
          </a:p>
        </p:txBody>
      </p:sp>
      <p:sp>
        <p:nvSpPr>
          <p:cNvPr id="16" name="text42"/>
          <p:cNvSpPr txBox="1"/>
          <p:nvPr/>
        </p:nvSpPr>
        <p:spPr>
          <a:xfrm>
            <a:off x="502920" y="3063240"/>
            <a:ext cx="3520440" cy="1005840"/>
          </a:xfrm>
          <a:prstGeom prst="rect">
            <a:avLst/>
          </a:prstGeom>
          <a:noFill/>
          <a:ln/>
        </p:spPr>
        <p:txBody>
          <a:bodyPr wrap="square" lIns="0" tIns="0" rIns="0" bIns="0" rtlCol="0" anchor="t"/>
          <a:lstStyle/>
          <a:p>
            <a:pPr indent="0" marL="0">
              <a:buNone/>
            </a:pPr>
            <a:r>
              <a:rPr lang="en-US" sz="1300" dirty="0">
                <a:solidFill>
                  <a:schemeClr val="accent3"/>
                </a:solidFill>
              </a:rPr>
              <a:t>Barratt items 17 ‘I act on impulse’ and 19 ‘I act on the spur of the moment’ were each answered 2 (occasionally); their mean is the ‘acts impulsively’ score.</a:t>
            </a:r>
            <a:endParaRPr lang="en-US" sz="1300" dirty="0"/>
          </a:p>
        </p:txBody>
      </p:sp>
      <p:sp>
        <p:nvSpPr>
          <p:cNvPr id="17" name="text43"/>
          <p:cNvSpPr txBox="1"/>
          <p:nvPr/>
        </p:nvSpPr>
        <p:spPr>
          <a:xfrm>
            <a:off x="502920" y="4297680"/>
            <a:ext cx="1097280" cy="548640"/>
          </a:xfrm>
          <a:prstGeom prst="rect">
            <a:avLst/>
          </a:prstGeom>
          <a:noFill/>
          <a:ln/>
        </p:spPr>
        <p:txBody>
          <a:bodyPr wrap="square" lIns="0" tIns="0" rIns="0" bIns="0" rtlCol="0" anchor="ctr"/>
          <a:lstStyle/>
          <a:p>
            <a:pPr indent="0" marL="0">
              <a:buNone/>
            </a:pPr>
            <a:r>
              <a:rPr lang="en-US" sz="1800" b="1" dirty="0">
                <a:solidFill>
                  <a:schemeClr val="tx2"/>
                </a:solidFill>
              </a:rPr>
              <a:t>A query</a:t>
            </a:r>
            <a:endParaRPr lang="en-US" sz="1800" dirty="0"/>
          </a:p>
        </p:txBody>
      </p:sp>
      <p:sp>
        <p:nvSpPr>
          <p:cNvPr id="18" name="shape44"/>
          <p:cNvSpPr txBox="1"/>
          <p:nvPr/>
        </p:nvSpPr>
        <p:spPr>
          <a:xfrm>
            <a:off x="1600200" y="4279392"/>
            <a:ext cx="822960" cy="585216"/>
          </a:xfrm>
          <a:prstGeom prst="ellipse">
            <a:avLst/>
          </a:prstGeom>
          <a:solidFill>
            <a:schemeClr val="bg1"/>
          </a:solidFill>
          <a:ln w="19050">
            <a:solidFill>
              <a:schemeClr val="accent2"/>
            </a:solidFill>
            <a:prstDash val="dash"/>
          </a:ln>
        </p:spPr>
        <p:txBody>
          <a:bodyPr wrap="square" lIns="50800" tIns="50800" rIns="50800" bIns="50800" rtlCol="0" anchor="ctr"/>
          <a:lstStyle/>
          <a:p>
            <a:pPr algn="ctr" indent="0" marL="0">
              <a:buNone/>
            </a:pPr>
            <a:r>
              <a:rPr lang="en-US" sz="1600" dirty="0">
                <a:solidFill>
                  <a:schemeClr val="accent2"/>
                </a:solidFill>
              </a:rPr>
              <a:t>?x</a:t>
            </a:r>
            <a:endParaRPr lang="en-US" sz="1600" dirty="0"/>
          </a:p>
        </p:txBody>
      </p:sp>
      <p:sp>
        <p:nvSpPr>
          <p:cNvPr id="19" name="shape45"/>
          <p:cNvSpPr txBox="1"/>
          <p:nvPr/>
        </p:nvSpPr>
        <p:spPr>
          <a:xfrm>
            <a:off x="3291840" y="4279392"/>
            <a:ext cx="1417320" cy="585216"/>
          </a:xfrm>
          <a:prstGeom prst="ellipse">
            <a:avLst/>
          </a:prstGeom>
          <a:solidFill>
            <a:schemeClr val="bg1"/>
          </a:solidFill>
          <a:ln w="19050">
            <a:solidFill>
              <a:schemeClr val="accent2"/>
            </a:solidFill>
            <a:prstDash val="dash"/>
          </a:ln>
        </p:spPr>
        <p:txBody>
          <a:bodyPr wrap="square" lIns="50800" tIns="50800" rIns="50800" bIns="50800" rtlCol="0" anchor="ctr"/>
          <a:lstStyle/>
          <a:p>
            <a:pPr algn="ctr" indent="0" marL="0">
              <a:buNone/>
            </a:pPr>
            <a:r>
              <a:rPr lang="en-US" sz="1600" dirty="0">
                <a:solidFill>
                  <a:schemeClr val="accent2"/>
                </a:solidFill>
              </a:rPr>
              <a:t>?record</a:t>
            </a:r>
            <a:endParaRPr lang="en-US" sz="1600" dirty="0"/>
          </a:p>
        </p:txBody>
      </p:sp>
      <p:sp>
        <p:nvSpPr>
          <p:cNvPr id="20" name="shape46"/>
          <p:cNvSpPr txBox="1"/>
          <p:nvPr/>
        </p:nvSpPr>
        <p:spPr>
          <a:xfrm>
            <a:off x="5897880" y="4279392"/>
            <a:ext cx="1417320" cy="585216"/>
          </a:xfrm>
          <a:prstGeom prst="ellipse">
            <a:avLst/>
          </a:prstGeom>
          <a:solidFill>
            <a:schemeClr val="bg1"/>
          </a:solidFill>
          <a:ln w="19050">
            <a:solidFill>
              <a:schemeClr val="accent2"/>
            </a:solidFill>
            <a:prstDash val="dash"/>
          </a:ln>
        </p:spPr>
        <p:txBody>
          <a:bodyPr wrap="square" lIns="50800" tIns="50800" rIns="50800" bIns="50800" rtlCol="0" anchor="ctr"/>
          <a:lstStyle/>
          <a:p>
            <a:pPr algn="ctr" indent="0" marL="0">
              <a:buNone/>
            </a:pPr>
            <a:r>
              <a:rPr lang="en-US" sz="1600" dirty="0">
                <a:solidFill>
                  <a:schemeClr val="accent2"/>
                </a:solidFill>
              </a:rPr>
              <a:t>?session</a:t>
            </a:r>
            <a:endParaRPr lang="en-US" sz="1600" dirty="0"/>
          </a:p>
        </p:txBody>
      </p:sp>
      <p:sp>
        <p:nvSpPr>
          <p:cNvPr id="21" name="shape47"/>
          <p:cNvSpPr txBox="1"/>
          <p:nvPr/>
        </p:nvSpPr>
        <p:spPr>
          <a:xfrm>
            <a:off x="8503920" y="4279392"/>
            <a:ext cx="1737360" cy="585216"/>
          </a:xfrm>
          <a:prstGeom prst="ellipse">
            <a:avLst/>
          </a:prstGeom>
          <a:solidFill>
            <a:schemeClr val="bg1"/>
          </a:solidFill>
          <a:ln w="19050">
            <a:solidFill>
              <a:schemeClr val="accent2"/>
            </a:solidFill>
            <a:prstDash val="dash"/>
          </a:ln>
        </p:spPr>
        <p:txBody>
          <a:bodyPr wrap="square" lIns="50800" tIns="50800" rIns="50800" bIns="50800" rtlCol="0" anchor="ctr"/>
          <a:lstStyle/>
          <a:p>
            <a:pPr algn="ctr" indent="0" marL="0">
              <a:buNone/>
            </a:pPr>
            <a:r>
              <a:rPr lang="en-US" sz="1600" dirty="0">
                <a:solidFill>
                  <a:schemeClr val="accent2"/>
                </a:solidFill>
              </a:rPr>
              <a:t>?participant</a:t>
            </a:r>
            <a:endParaRPr lang="en-US" sz="1600" dirty="0"/>
          </a:p>
        </p:txBody>
      </p:sp>
      <p:sp>
        <p:nvSpPr>
          <p:cNvPr id="22" name="arrow48"/>
          <p:cNvSpPr/>
          <p:nvPr/>
        </p:nvSpPr>
        <p:spPr>
          <a:xfrm flipH="1">
            <a:off x="2423160" y="4572000"/>
            <a:ext cx="868680" cy="914"/>
          </a:xfrm>
          <a:prstGeom prst="line">
            <a:avLst/>
          </a:prstGeom>
          <a:noFill/>
          <a:ln w="25400">
            <a:solidFill>
              <a:schemeClr val="accent1"/>
            </a:solidFill>
            <a:prstDash val="solid"/>
            <a:tailEnd type="triangle"/>
          </a:ln>
        </p:spPr>
      </p:sp>
      <p:sp>
        <p:nvSpPr>
          <p:cNvPr id="23" name="arrow49"/>
          <p:cNvSpPr/>
          <p:nvPr/>
        </p:nvSpPr>
        <p:spPr>
          <a:xfrm>
            <a:off x="4709160" y="4572000"/>
            <a:ext cx="1188720" cy="914"/>
          </a:xfrm>
          <a:prstGeom prst="line">
            <a:avLst/>
          </a:prstGeom>
          <a:noFill/>
          <a:ln w="25400">
            <a:solidFill>
              <a:schemeClr val="accent1"/>
            </a:solidFill>
            <a:prstDash val="solid"/>
            <a:tailEnd type="triangle"/>
          </a:ln>
        </p:spPr>
      </p:sp>
      <p:sp>
        <p:nvSpPr>
          <p:cNvPr id="24" name="arrow50"/>
          <p:cNvSpPr/>
          <p:nvPr/>
        </p:nvSpPr>
        <p:spPr>
          <a:xfrm>
            <a:off x="7315200" y="4572000"/>
            <a:ext cx="1188720" cy="914"/>
          </a:xfrm>
          <a:prstGeom prst="line">
            <a:avLst/>
          </a:prstGeom>
          <a:noFill/>
          <a:ln w="25400">
            <a:solidFill>
              <a:schemeClr val="accent1"/>
            </a:solidFill>
            <a:prstDash val="solid"/>
            <a:tailEnd type="triangle"/>
          </a:ln>
        </p:spPr>
      </p:sp>
      <p:sp>
        <p:nvSpPr>
          <p:cNvPr id="25" name="text51"/>
          <p:cNvSpPr txBox="1"/>
          <p:nvPr/>
        </p:nvSpPr>
        <p:spPr>
          <a:xfrm>
            <a:off x="2377440" y="4069080"/>
            <a:ext cx="960120" cy="274320"/>
          </a:xfrm>
          <a:prstGeom prst="rect">
            <a:avLst/>
          </a:prstGeom>
          <a:noFill/>
          <a:ln/>
        </p:spPr>
        <p:txBody>
          <a:bodyPr wrap="square" lIns="0" tIns="0" rIns="0" bIns="0" rtlCol="0" anchor="t"/>
          <a:lstStyle/>
          <a:p>
            <a:pPr algn="ctr" indent="0" marL="0">
              <a:buNone/>
            </a:pPr>
            <a:r>
              <a:rPr lang="en-US" sz="1300" i="1" dirty="0">
                <a:solidFill>
                  <a:schemeClr val="accent1"/>
                </a:solidFill>
              </a:rPr>
              <a:t>score</a:t>
            </a:r>
            <a:endParaRPr lang="en-US" sz="1300" dirty="0"/>
          </a:p>
        </p:txBody>
      </p:sp>
      <p:sp>
        <p:nvSpPr>
          <p:cNvPr id="26" name="text52"/>
          <p:cNvSpPr txBox="1"/>
          <p:nvPr/>
        </p:nvSpPr>
        <p:spPr>
          <a:xfrm>
            <a:off x="4617720" y="4069080"/>
            <a:ext cx="1371600" cy="274320"/>
          </a:xfrm>
          <a:prstGeom prst="rect">
            <a:avLst/>
          </a:prstGeom>
          <a:noFill/>
          <a:ln/>
        </p:spPr>
        <p:txBody>
          <a:bodyPr wrap="square" lIns="0" tIns="0" rIns="0" bIns="0" rtlCol="0" anchor="t"/>
          <a:lstStyle/>
          <a:p>
            <a:pPr algn="ctr" indent="0" marL="0">
              <a:buNone/>
            </a:pPr>
            <a:r>
              <a:rPr lang="en-US" sz="1300" i="1" dirty="0">
                <a:solidFill>
                  <a:schemeClr val="accent1"/>
                </a:solidFill>
              </a:rPr>
              <a:t>generated by</a:t>
            </a:r>
            <a:endParaRPr lang="en-US" sz="1300" dirty="0"/>
          </a:p>
        </p:txBody>
      </p:sp>
      <p:sp>
        <p:nvSpPr>
          <p:cNvPr id="27" name="text53"/>
          <p:cNvSpPr txBox="1"/>
          <p:nvPr/>
        </p:nvSpPr>
        <p:spPr>
          <a:xfrm>
            <a:off x="7178040" y="4069080"/>
            <a:ext cx="1463040" cy="274320"/>
          </a:xfrm>
          <a:prstGeom prst="rect">
            <a:avLst/>
          </a:prstGeom>
          <a:noFill/>
          <a:ln/>
        </p:spPr>
        <p:txBody>
          <a:bodyPr wrap="square" lIns="0" tIns="0" rIns="0" bIns="0" rtlCol="0" anchor="t"/>
          <a:lstStyle/>
          <a:p>
            <a:pPr algn="ctr" indent="0" marL="0">
              <a:buNone/>
            </a:pPr>
            <a:r>
              <a:rPr lang="en-US" sz="1300" i="1" dirty="0">
                <a:solidFill>
                  <a:schemeClr val="accent1"/>
                </a:solidFill>
              </a:rPr>
              <a:t>with participant</a:t>
            </a:r>
            <a:endParaRPr lang="en-US" sz="1300" dirty="0"/>
          </a:p>
        </p:txBody>
      </p:sp>
      <p:sp>
        <p:nvSpPr>
          <p:cNvPr id="28" name="text54"/>
          <p:cNvSpPr txBox="1"/>
          <p:nvPr/>
        </p:nvSpPr>
        <p:spPr>
          <a:xfrm>
            <a:off x="10287000" y="4206240"/>
            <a:ext cx="1600200" cy="731520"/>
          </a:xfrm>
          <a:prstGeom prst="rect">
            <a:avLst/>
          </a:prstGeom>
          <a:noFill/>
          <a:ln/>
        </p:spPr>
        <p:txBody>
          <a:bodyPr wrap="square" lIns="0" tIns="0" rIns="0" bIns="0" rtlCol="0" anchor="ctr"/>
          <a:lstStyle/>
          <a:p>
            <a:pPr indent="0" marL="0">
              <a:buNone/>
            </a:pPr>
            <a:r>
              <a:rPr lang="en-US" sz="1400" dirty="0">
                <a:solidFill>
                  <a:schemeClr val="tx1"/>
                </a:solidFill>
              </a:rPr>
              <a:t>→ 272 participants and their scores</a:t>
            </a:r>
            <a:endParaRPr lang="en-US" sz="1400" dirty="0"/>
          </a:p>
        </p:txBody>
      </p:sp>
      <p:sp>
        <p:nvSpPr>
          <p:cNvPr id="29" name="shape55"/>
          <p:cNvSpPr txBox="1"/>
          <p:nvPr/>
        </p:nvSpPr>
        <p:spPr>
          <a:xfrm>
            <a:off x="457200" y="5257800"/>
            <a:ext cx="2697480" cy="1051560"/>
          </a:xfrm>
          <a:prstGeom prst="roundRect">
            <a:avLst>
              <a:gd name="adj" fmla="val 17391"/>
            </a:avLst>
          </a:prstGeom>
          <a:solidFill>
            <a:schemeClr val="bg2"/>
          </a:solidFill>
          <a:ln w="19050">
            <a:solidFill>
              <a:srgbClr val="C9D3D7"/>
            </a:solidFill>
            <a:prstDash val="solid"/>
          </a:ln>
        </p:spPr>
        <p:txBody>
          <a:bodyPr wrap="square" lIns="101600" tIns="101600" rIns="101600" bIns="101600" rtlCol="0" anchor="ctr"/>
          <a:lstStyle/>
          <a:p>
            <a:pPr algn="l" indent="0" marL="0">
              <a:buNone/>
            </a:pPr>
            <a:r>
              <a:rPr lang="en-US" sz="1600" b="1" dirty="0">
                <a:solidFill>
                  <a:schemeClr val="tx2"/>
                </a:solidFill>
              </a:rPr>
              <a:t>Triple</a:t>
            </a:r>
            <a:endParaRPr lang="en-US" sz="1800" dirty="0"/>
          </a:p>
          <a:p>
            <a:pPr algn="l" indent="0" marL="0">
              <a:buNone/>
            </a:pPr>
            <a:r>
              <a:rPr lang="en-US" sz="1400" dirty="0">
                <a:solidFill>
                  <a:schemeClr val="tx1"/>
                </a:solidFill>
              </a:rPr>
              <a:t>one statement: subject, relation, object</a:t>
            </a:r>
            <a:endParaRPr lang="en-US" sz="1800" dirty="0"/>
          </a:p>
        </p:txBody>
      </p:sp>
      <p:sp>
        <p:nvSpPr>
          <p:cNvPr id="30" name="shape56"/>
          <p:cNvSpPr txBox="1"/>
          <p:nvPr/>
        </p:nvSpPr>
        <p:spPr>
          <a:xfrm>
            <a:off x="3291840" y="5257800"/>
            <a:ext cx="2697480" cy="1051560"/>
          </a:xfrm>
          <a:prstGeom prst="roundRect">
            <a:avLst>
              <a:gd name="adj" fmla="val 17391"/>
            </a:avLst>
          </a:prstGeom>
          <a:solidFill>
            <a:schemeClr val="bg2"/>
          </a:solidFill>
          <a:ln w="19050">
            <a:solidFill>
              <a:srgbClr val="C9D3D7"/>
            </a:solidFill>
            <a:prstDash val="solid"/>
          </a:ln>
        </p:spPr>
        <p:txBody>
          <a:bodyPr wrap="square" lIns="101600" tIns="101600" rIns="101600" bIns="101600" rtlCol="0" anchor="ctr"/>
          <a:lstStyle/>
          <a:p>
            <a:pPr algn="l" indent="0" marL="0">
              <a:buNone/>
            </a:pPr>
            <a:r>
              <a:rPr lang="en-US" sz="1600" b="1" dirty="0">
                <a:solidFill>
                  <a:schemeClr val="tx2"/>
                </a:solidFill>
              </a:rPr>
              <a:t>Identifier</a:t>
            </a:r>
            <a:endParaRPr lang="en-US" sz="1800" dirty="0"/>
          </a:p>
          <a:p>
            <a:pPr algn="l" indent="0" marL="0">
              <a:buNone/>
            </a:pPr>
            <a:r>
              <a:rPr lang="en-US" sz="1400" dirty="0">
                <a:solidFill>
                  <a:schemeClr val="tx1"/>
                </a:solidFill>
              </a:rPr>
              <a:t>a name that means one thing everywhere (sub-10159, a DOI)</a:t>
            </a:r>
            <a:endParaRPr lang="en-US" sz="1800" dirty="0"/>
          </a:p>
        </p:txBody>
      </p:sp>
      <p:sp>
        <p:nvSpPr>
          <p:cNvPr id="31" name="shape57"/>
          <p:cNvSpPr txBox="1"/>
          <p:nvPr/>
        </p:nvSpPr>
        <p:spPr>
          <a:xfrm>
            <a:off x="6126480" y="5257800"/>
            <a:ext cx="2697480" cy="1051560"/>
          </a:xfrm>
          <a:prstGeom prst="roundRect">
            <a:avLst>
              <a:gd name="adj" fmla="val 17391"/>
            </a:avLst>
          </a:prstGeom>
          <a:solidFill>
            <a:schemeClr val="bg2"/>
          </a:solidFill>
          <a:ln w="19050">
            <a:solidFill>
              <a:srgbClr val="C9D3D7"/>
            </a:solidFill>
            <a:prstDash val="solid"/>
          </a:ln>
        </p:spPr>
        <p:txBody>
          <a:bodyPr wrap="square" lIns="101600" tIns="101600" rIns="101600" bIns="101600" rtlCol="0" anchor="ctr"/>
          <a:lstStyle/>
          <a:p>
            <a:pPr algn="l" indent="0" marL="0">
              <a:buNone/>
            </a:pPr>
            <a:r>
              <a:rPr lang="en-US" sz="1600" b="1" dirty="0">
                <a:solidFill>
                  <a:schemeClr val="tx2"/>
                </a:solidFill>
              </a:rPr>
              <a:t>Vocabulary</a:t>
            </a:r>
            <a:endParaRPr lang="en-US" sz="1800" dirty="0"/>
          </a:p>
          <a:p>
            <a:pPr algn="l" indent="0" marL="0">
              <a:buNone/>
            </a:pPr>
            <a:r>
              <a:rPr lang="en-US" sz="1400" dirty="0">
                <a:solidFill>
                  <a:schemeClr val="tx1"/>
                </a:solidFill>
              </a:rPr>
              <a:t>agreed names for relations and types (NIDM, PROV)</a:t>
            </a:r>
            <a:endParaRPr lang="en-US" sz="1800" dirty="0"/>
          </a:p>
        </p:txBody>
      </p:sp>
      <p:sp>
        <p:nvSpPr>
          <p:cNvPr id="32" name="shape58"/>
          <p:cNvSpPr txBox="1"/>
          <p:nvPr/>
        </p:nvSpPr>
        <p:spPr>
          <a:xfrm>
            <a:off x="8961120" y="5257800"/>
            <a:ext cx="2697480" cy="1051560"/>
          </a:xfrm>
          <a:prstGeom prst="roundRect">
            <a:avLst>
              <a:gd name="adj" fmla="val 17391"/>
            </a:avLst>
          </a:prstGeom>
          <a:solidFill>
            <a:schemeClr val="bg2"/>
          </a:solidFill>
          <a:ln w="19050">
            <a:solidFill>
              <a:srgbClr val="C9D3D7"/>
            </a:solidFill>
            <a:prstDash val="solid"/>
          </a:ln>
        </p:spPr>
        <p:txBody>
          <a:bodyPr wrap="square" lIns="101600" tIns="101600" rIns="101600" bIns="101600" rtlCol="0" anchor="ctr"/>
          <a:lstStyle/>
          <a:p>
            <a:pPr algn="l" indent="0" marL="0">
              <a:buNone/>
            </a:pPr>
            <a:r>
              <a:rPr lang="en-US" sz="1600" b="1" dirty="0">
                <a:solidFill>
                  <a:schemeClr val="tx2"/>
                </a:solidFill>
              </a:rPr>
              <a:t>Query</a:t>
            </a:r>
            <a:endParaRPr lang="en-US" sz="1800" dirty="0"/>
          </a:p>
          <a:p>
            <a:pPr algn="l" indent="0" marL="0">
              <a:buNone/>
            </a:pPr>
            <a:r>
              <a:rPr lang="en-US" sz="1400" dirty="0">
                <a:solidFill>
                  <a:schemeClr val="tx1"/>
                </a:solidFill>
              </a:rPr>
              <a:t>a statement pattern with blanks (SPARQL)</a:t>
            </a:r>
            <a:endParaRPr lang="en-US" sz="1800" dirty="0"/>
          </a:p>
        </p:txBody>
      </p:sp>
      <p:pic>
        <p:nvPicPr>
          <p:cNvPr id="34" name="stripIcon3" descr="preencoded.png">    </p:cNvPr>
          <p:cNvPicPr>
            <a:picLocks noChangeAspect="1"/>
          </p:cNvPicPr>
          <p:nvPr/>
        </p:nvPicPr>
        <p:blipFill>
          <a:blip r:embed="rId1"/>
          <a:stretch>
            <a:fillRect/>
          </a:stretch>
        </p:blipFill>
        <p:spPr>
          <a:xfrm>
            <a:off x="548640" y="969264"/>
            <a:ext cx="182880" cy="182880"/>
          </a:xfrm>
          <a:prstGeom prst="rect">
            <a:avLst/>
          </a:prstGeom>
        </p:spPr>
      </p:pic>
      <p:sp>
        <p:nvSpPr>
          <p:cNvPr id="35" name="strip3"/>
          <p:cNvSpPr txBox="1"/>
          <p:nvPr/>
        </p:nvSpPr>
        <p:spPr>
          <a:xfrm>
            <a:off x="804672" y="914400"/>
            <a:ext cx="10972800" cy="292608"/>
          </a:xfrm>
          <a:prstGeom prst="rect">
            <a:avLst/>
          </a:prstGeom>
          <a:noFill/>
          <a:ln/>
        </p:spPr>
        <p:txBody>
          <a:bodyPr wrap="square" lIns="0" tIns="0" rIns="0" bIns="0" rtlCol="0" anchor="ctr"/>
          <a:lstStyle/>
          <a:p>
            <a:pPr indent="0" marL="0">
              <a:buNone/>
            </a:pPr>
            <a:r>
              <a:rPr lang="en-US" sz="1200" b="1" dirty="0">
                <a:solidFill>
                  <a:schemeClr val="accent1"/>
                </a:solidFill>
              </a:rPr>
              <a:t>In the graph: </a:t>
            </a:r>
            <a:pPr indent="0" marL="0">
              <a:buNone/>
            </a:pPr>
            <a:r>
              <a:rPr lang="en-US" sz="1200" dirty="0">
                <a:solidFill>
                  <a:schemeClr val="accent3"/>
                </a:solidFill>
              </a:rPr>
              <a:t>Path query over ds000030 nidm_phenotypes.ttl: record → bis_parcel1; wasGeneratedBy → session → qualifiedAssociation/agent → participant: 272 rows</a:t>
            </a:r>
            <a:endParaRPr lang="en-US" sz="1200" dirty="0"/>
          </a:p>
        </p:txBody>
      </p:sp>
      <p:sp>
        <p:nvSpPr>
          <p:cNvPr id="36" name="tagDot3"/>
          <p:cNvSpPr/>
          <p:nvPr/>
        </p:nvSpPr>
        <p:spPr>
          <a:xfrm>
            <a:off x="9326880" y="82296"/>
            <a:ext cx="128016" cy="128016"/>
          </a:xfrm>
          <a:prstGeom prst="ellipse">
            <a:avLst/>
          </a:prstGeom>
          <a:solidFill>
            <a:schemeClr val="accent1"/>
          </a:solidFill>
          <a:ln/>
        </p:spPr>
      </p:sp>
      <p:sp>
        <p:nvSpPr>
          <p:cNvPr id="37" name="tag3"/>
          <p:cNvSpPr txBox="1"/>
          <p:nvPr/>
        </p:nvSpPr>
        <p:spPr>
          <a:xfrm>
            <a:off x="9509760" y="18288"/>
            <a:ext cx="2286000" cy="256032"/>
          </a:xfrm>
          <a:prstGeom prst="rect">
            <a:avLst/>
          </a:prstGeom>
          <a:noFill/>
          <a:ln/>
        </p:spPr>
        <p:txBody>
          <a:bodyPr wrap="square" lIns="0" tIns="0" rIns="0" bIns="0" rtlCol="0" anchor="ctr"/>
          <a:lstStyle/>
          <a:p>
            <a:pPr indent="0" marL="0">
              <a:buNone/>
            </a:pPr>
            <a:r>
              <a:rPr lang="en-US" sz="1200" i="1" dirty="0">
                <a:solidFill>
                  <a:schemeClr val="accent3"/>
                </a:solidFill>
              </a:rPr>
              <a:t>Objective 1</a:t>
            </a:r>
            <a:endParaRPr lang="en-US" sz="1200" dirty="0"/>
          </a:p>
        </p:txBody>
      </p:sp>
      <p:sp>
        <p:nvSpPr>
          <p:cNvPr id="38" name="badge3_H"/>
          <p:cNvSpPr txBox="1"/>
          <p:nvPr/>
        </p:nvSpPr>
        <p:spPr>
          <a:xfrm>
            <a:off x="274320"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H</a:t>
            </a:r>
            <a:endParaRPr lang="en-US" sz="1100" dirty="0"/>
          </a:p>
        </p:txBody>
      </p:sp>
      <p:sp>
        <p:nvSpPr>
          <p:cNvPr id="39" name="badge3_L"/>
          <p:cNvSpPr txBox="1"/>
          <p:nvPr/>
        </p:nvSpPr>
        <p:spPr>
          <a:xfrm>
            <a:off x="576072"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L</a:t>
            </a:r>
            <a:endParaRPr lang="en-US" sz="1100" dirty="0"/>
          </a:p>
        </p:txBody>
      </p:sp>
      <p:sp>
        <p:nvSpPr>
          <p:cNvPr id="40" name="badge3_P"/>
          <p:cNvSpPr txBox="1"/>
          <p:nvPr/>
        </p:nvSpPr>
        <p:spPr>
          <a:xfrm>
            <a:off x="877824"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P</a:t>
            </a:r>
            <a:endParaRPr lang="en-US" sz="1100" dirty="0"/>
          </a:p>
        </p:txBody>
      </p:sp>
      <p:sp>
        <p:nvSpPr>
          <p:cNvPr id="41" name="data3"/>
          <p:cNvSpPr txBox="1"/>
          <p:nvPr/>
        </p:nvSpPr>
        <p:spPr>
          <a:xfrm>
            <a:off x="2706624" y="6473952"/>
            <a:ext cx="8449056" cy="301752"/>
          </a:xfrm>
          <a:prstGeom prst="rect">
            <a:avLst/>
          </a:prstGeom>
          <a:noFill/>
          <a:ln/>
        </p:spPr>
        <p:txBody>
          <a:bodyPr wrap="square" lIns="0" tIns="0" rIns="0" bIns="0" rtlCol="0" anchor="ctr"/>
          <a:lstStyle/>
          <a:p>
            <a:pPr indent="0" marL="0">
              <a:buNone/>
            </a:pPr>
            <a:r>
              <a:rPr lang="en-US" sz="1100" dirty="0">
                <a:solidFill>
                  <a:srgbClr val="5E7A88"/>
                </a:solidFill>
              </a:rPr>
              <a:t>Data: ds000030 (UCLA CNP), OpenNeuro, commit 4070b6e</a:t>
            </a:r>
            <a:endParaRPr lang="en-US" sz="1100" dirty="0"/>
          </a:p>
        </p:txBody>
      </p:sp>
      <p:sp>
        <p:nvSpPr>
          <p:cNvPr id="42" name="badge3_check"/>
          <p:cNvSpPr txBox="1"/>
          <p:nvPr/>
        </p:nvSpPr>
        <p:spPr>
          <a:xfrm>
            <a:off x="1234440" y="6473952"/>
            <a:ext cx="1335024" cy="301752"/>
          </a:xfrm>
          <a:prstGeom prst="rect">
            <a:avLst/>
          </a:prstGeom>
          <a:noFill/>
          <a:ln/>
        </p:spPr>
        <p:txBody>
          <a:bodyPr wrap="square" lIns="0" tIns="0" rIns="0" bIns="0" rtlCol="0" anchor="ctr"/>
          <a:lstStyle/>
          <a:p>
            <a:pPr indent="0" marL="0">
              <a:buNone/>
            </a:pPr>
            <a:r>
              <a:rPr lang="en-US" sz="1100" i="1" dirty="0">
                <a:solidFill>
                  <a:srgbClr val="5E7A88"/>
                </a:solidFill>
              </a:rPr>
              <a:t>re-run · reviewed</a:t>
            </a:r>
            <a:endParaRPr lang="en-US" sz="11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
            <a:ext cx="11064240" cy="713232"/>
          </a:xfrm>
          <a:prstGeom prst="rect">
            <a:avLst/>
          </a:prstGeom>
          <a:noFill/>
          <a:ln/>
        </p:spPr>
        <p:txBody>
          <a:bodyPr wrap="square" rtlCol="0" anchor="ctr"/>
          <a:lstStyle/>
          <a:p>
            <a:pPr algn="l" indent="0" marL="0">
              <a:buNone/>
            </a:pPr>
            <a:r>
              <a:rPr lang="en-US" sz="3200" b="1" dirty="0">
                <a:solidFill>
                  <a:schemeClr val="tx2"/>
                </a:solidFill>
              </a:rPr>
              <a:t>Components of a dataset and a publication</a:t>
            </a:r>
            <a:endParaRPr lang="en-US" sz="3200" dirty="0"/>
          </a:p>
        </p:txBody>
      </p:sp>
      <p:sp>
        <p:nvSpPr>
          <p:cNvPr id="3" name="text59"/>
          <p:cNvSpPr txBox="1"/>
          <p:nvPr/>
        </p:nvSpPr>
        <p:spPr>
          <a:xfrm>
            <a:off x="457200" y="1188720"/>
            <a:ext cx="4480560" cy="365760"/>
          </a:xfrm>
          <a:prstGeom prst="rect">
            <a:avLst/>
          </a:prstGeom>
          <a:noFill/>
          <a:ln/>
        </p:spPr>
        <p:txBody>
          <a:bodyPr wrap="square" lIns="0" tIns="0" rIns="0" bIns="0" rtlCol="0" anchor="t"/>
          <a:lstStyle/>
          <a:p>
            <a:pPr indent="0" marL="0">
              <a:buNone/>
            </a:pPr>
            <a:r>
              <a:rPr lang="en-US" sz="2000" b="1" dirty="0">
                <a:solidFill>
                  <a:schemeClr val="tx2"/>
                </a:solidFill>
              </a:rPr>
              <a:t>Dataset</a:t>
            </a:r>
            <a:endParaRPr lang="en-US" sz="2000" dirty="0"/>
          </a:p>
        </p:txBody>
      </p:sp>
      <p:sp>
        <p:nvSpPr>
          <p:cNvPr id="4" name="text60"/>
          <p:cNvSpPr txBox="1"/>
          <p:nvPr/>
        </p:nvSpPr>
        <p:spPr>
          <a:xfrm>
            <a:off x="7315200" y="1188720"/>
            <a:ext cx="4434840" cy="365760"/>
          </a:xfrm>
          <a:prstGeom prst="rect">
            <a:avLst/>
          </a:prstGeom>
          <a:noFill/>
          <a:ln/>
        </p:spPr>
        <p:txBody>
          <a:bodyPr wrap="square" lIns="0" tIns="0" rIns="0" bIns="0" rtlCol="0" anchor="t"/>
          <a:lstStyle/>
          <a:p>
            <a:pPr algn="r" indent="0" marL="0">
              <a:buNone/>
            </a:pPr>
            <a:r>
              <a:rPr lang="en-US" sz="2000" b="1" dirty="0">
                <a:solidFill>
                  <a:schemeClr val="accent2"/>
                </a:solidFill>
              </a:rPr>
              <a:t>Publication</a:t>
            </a:r>
            <a:endParaRPr lang="en-US" sz="2000" dirty="0"/>
          </a:p>
        </p:txBody>
      </p:sp>
      <p:sp>
        <p:nvSpPr>
          <p:cNvPr id="5" name="shape61"/>
          <p:cNvSpPr txBox="1"/>
          <p:nvPr/>
        </p:nvSpPr>
        <p:spPr>
          <a:xfrm>
            <a:off x="365760" y="1645920"/>
            <a:ext cx="4526280" cy="621792"/>
          </a:xfrm>
          <a:prstGeom prst="roundRect">
            <a:avLst>
              <a:gd name="adj" fmla="val 73529"/>
            </a:avLst>
          </a:prstGeom>
          <a:solidFill>
            <a:schemeClr val="accent4"/>
          </a:solidFill>
          <a:ln/>
        </p:spPr>
        <p:txBody>
          <a:bodyPr wrap="square" lIns="101600" tIns="101600" rIns="101600" bIns="101600" rtlCol="0" anchor="ctr"/>
          <a:lstStyle/>
          <a:p>
            <a:pPr algn="l" indent="0" marL="0">
              <a:buNone/>
            </a:pPr>
            <a:r>
              <a:rPr lang="en-US" sz="1600" b="1" dirty="0">
                <a:solidFill>
                  <a:schemeClr val="tx2"/>
                </a:solidFill>
              </a:rPr>
              <a:t>Participants and phenotypes</a:t>
            </a:r>
            <a:endParaRPr lang="en-US" sz="1800" dirty="0"/>
          </a:p>
          <a:p>
            <a:pPr algn="l" indent="0" marL="0">
              <a:buNone/>
            </a:pPr>
            <a:r>
              <a:rPr lang="en-US" sz="1400" dirty="0">
                <a:solidFill>
                  <a:schemeClr val="tx1"/>
                </a:solidFill>
              </a:rPr>
              <a:t>272 participants; 52 tables, 1,983 columns</a:t>
            </a:r>
            <a:endParaRPr lang="en-US" sz="1800" dirty="0"/>
          </a:p>
        </p:txBody>
      </p:sp>
      <p:sp>
        <p:nvSpPr>
          <p:cNvPr id="6" name="shape62"/>
          <p:cNvSpPr txBox="1"/>
          <p:nvPr/>
        </p:nvSpPr>
        <p:spPr>
          <a:xfrm>
            <a:off x="434340" y="2331720"/>
            <a:ext cx="4526280" cy="621792"/>
          </a:xfrm>
          <a:prstGeom prst="roundRect">
            <a:avLst>
              <a:gd name="adj" fmla="val 73529"/>
            </a:avLst>
          </a:prstGeom>
          <a:solidFill>
            <a:schemeClr val="accent4"/>
          </a:solidFill>
          <a:ln/>
        </p:spPr>
        <p:txBody>
          <a:bodyPr wrap="square" lIns="101600" tIns="101600" rIns="101600" bIns="101600" rtlCol="0" anchor="ctr"/>
          <a:lstStyle/>
          <a:p>
            <a:pPr algn="l" indent="0" marL="0">
              <a:buNone/>
            </a:pPr>
            <a:r>
              <a:rPr lang="en-US" sz="1600" b="1" dirty="0">
                <a:solidFill>
                  <a:schemeClr val="tx2"/>
                </a:solidFill>
              </a:rPr>
              <a:t>Data dictionary</a:t>
            </a:r>
            <a:endParaRPr lang="en-US" sz="1800" dirty="0"/>
          </a:p>
          <a:p>
            <a:pPr algn="l" indent="0" marL="0">
              <a:buNone/>
            </a:pPr>
            <a:r>
              <a:rPr lang="en-US" sz="1400" dirty="0">
                <a:solidFill>
                  <a:schemeClr val="tx1"/>
                </a:solidFill>
              </a:rPr>
              <a:t>'acts impulsively' = mean of Barratt items 17 and 19</a:t>
            </a:r>
            <a:endParaRPr lang="en-US" sz="1800" dirty="0"/>
          </a:p>
        </p:txBody>
      </p:sp>
      <p:sp>
        <p:nvSpPr>
          <p:cNvPr id="7" name="shape63"/>
          <p:cNvSpPr txBox="1"/>
          <p:nvPr/>
        </p:nvSpPr>
        <p:spPr>
          <a:xfrm>
            <a:off x="484544" y="3017520"/>
            <a:ext cx="4526280" cy="621792"/>
          </a:xfrm>
          <a:prstGeom prst="roundRect">
            <a:avLst>
              <a:gd name="adj" fmla="val 73529"/>
            </a:avLst>
          </a:prstGeom>
          <a:solidFill>
            <a:schemeClr val="accent4"/>
          </a:solidFill>
          <a:ln/>
        </p:spPr>
        <p:txBody>
          <a:bodyPr wrap="square" lIns="101600" tIns="101600" rIns="101600" bIns="101600" rtlCol="0" anchor="ctr"/>
          <a:lstStyle/>
          <a:p>
            <a:pPr algn="l" indent="0" marL="0">
              <a:buNone/>
            </a:pPr>
            <a:r>
              <a:rPr lang="en-US" sz="1600" b="1" dirty="0">
                <a:solidFill>
                  <a:schemeClr val="tx2"/>
                </a:solidFill>
              </a:rPr>
              <a:t>Scan sidecars</a:t>
            </a:r>
            <a:endParaRPr lang="en-US" sz="1800" dirty="0"/>
          </a:p>
          <a:p>
            <a:pPr algn="l" indent="0" marL="0">
              <a:buNone/>
            </a:pPr>
            <a:r>
              <a:rPr lang="en-US" sz="1400" dirty="0">
                <a:solidFill>
                  <a:schemeClr val="tx1"/>
                </a:solidFill>
              </a:rPr>
              <a:t>sub-10159 BOLD: TR 2 s, TE 0.03 s, 3 T, scanner 35343</a:t>
            </a:r>
            <a:endParaRPr lang="en-US" sz="1800" dirty="0"/>
          </a:p>
        </p:txBody>
      </p:sp>
      <p:sp>
        <p:nvSpPr>
          <p:cNvPr id="8" name="shape64"/>
          <p:cNvSpPr txBox="1"/>
          <p:nvPr/>
        </p:nvSpPr>
        <p:spPr>
          <a:xfrm>
            <a:off x="502920" y="3703320"/>
            <a:ext cx="4526280" cy="621792"/>
          </a:xfrm>
          <a:prstGeom prst="roundRect">
            <a:avLst>
              <a:gd name="adj" fmla="val 73529"/>
            </a:avLst>
          </a:prstGeom>
          <a:solidFill>
            <a:schemeClr val="accent4"/>
          </a:solidFill>
          <a:ln/>
        </p:spPr>
        <p:txBody>
          <a:bodyPr wrap="square" lIns="101600" tIns="101600" rIns="101600" bIns="101600" rtlCol="0" anchor="ctr"/>
          <a:lstStyle/>
          <a:p>
            <a:pPr algn="l" indent="0" marL="0">
              <a:buNone/>
            </a:pPr>
            <a:r>
              <a:rPr lang="en-US" sz="1600" b="1" dirty="0">
                <a:solidFill>
                  <a:schemeClr val="tx2"/>
                </a:solidFill>
              </a:rPr>
              <a:t>Task events</a:t>
            </a:r>
            <a:endParaRPr lang="en-US" sz="1800" dirty="0"/>
          </a:p>
          <a:p>
            <a:pPr algn="l" indent="0" marL="0">
              <a:buNone/>
            </a:pPr>
            <a:r>
              <a:rPr lang="en-US" sz="1400" dirty="0">
                <a:solidFill>
                  <a:schemeClr val="tx1"/>
                </a:solidFill>
              </a:rPr>
              <a:t>stop-signal task: 96 go, 32 stop trials, 128 rest intervals</a:t>
            </a:r>
            <a:endParaRPr lang="en-US" sz="1800" dirty="0"/>
          </a:p>
        </p:txBody>
      </p:sp>
      <p:sp>
        <p:nvSpPr>
          <p:cNvPr id="9" name="shape65"/>
          <p:cNvSpPr txBox="1"/>
          <p:nvPr/>
        </p:nvSpPr>
        <p:spPr>
          <a:xfrm>
            <a:off x="484544" y="4389120"/>
            <a:ext cx="4526280" cy="621792"/>
          </a:xfrm>
          <a:prstGeom prst="roundRect">
            <a:avLst>
              <a:gd name="adj" fmla="val 73529"/>
            </a:avLst>
          </a:prstGeom>
          <a:solidFill>
            <a:schemeClr val="accent4"/>
          </a:solidFill>
          <a:ln/>
        </p:spPr>
        <p:txBody>
          <a:bodyPr wrap="square" lIns="101600" tIns="101600" rIns="101600" bIns="101600" rtlCol="0" anchor="ctr"/>
          <a:lstStyle/>
          <a:p>
            <a:pPr algn="l" indent="0" marL="0">
              <a:buNone/>
            </a:pPr>
            <a:r>
              <a:rPr lang="en-US" sz="1600" b="1" dirty="0">
                <a:solidFill>
                  <a:schemeClr val="tx2"/>
                </a:solidFill>
              </a:rPr>
              <a:t>File inventory</a:t>
            </a:r>
            <a:endParaRPr lang="en-US" sz="1800" dirty="0"/>
          </a:p>
          <a:p>
            <a:pPr algn="l" indent="0" marL="0">
              <a:buNone/>
            </a:pPr>
            <a:r>
              <a:rPr lang="en-US" sz="1400" dirty="0">
                <a:solidFill>
                  <a:schemeClr val="tx1"/>
                </a:solidFill>
              </a:rPr>
              <a:t>2,531 file pointers</a:t>
            </a:r>
            <a:endParaRPr lang="en-US" sz="1800" dirty="0"/>
          </a:p>
        </p:txBody>
      </p:sp>
      <p:sp>
        <p:nvSpPr>
          <p:cNvPr id="10" name="shape66"/>
          <p:cNvSpPr txBox="1"/>
          <p:nvPr/>
        </p:nvSpPr>
        <p:spPr>
          <a:xfrm>
            <a:off x="434340" y="5074920"/>
            <a:ext cx="4526280" cy="621792"/>
          </a:xfrm>
          <a:prstGeom prst="roundRect">
            <a:avLst>
              <a:gd name="adj" fmla="val 73529"/>
            </a:avLst>
          </a:prstGeom>
          <a:solidFill>
            <a:schemeClr val="accent4"/>
          </a:solidFill>
          <a:ln/>
        </p:spPr>
        <p:txBody>
          <a:bodyPr wrap="square" lIns="101600" tIns="101600" rIns="101600" bIns="101600" rtlCol="0" anchor="ctr"/>
          <a:lstStyle/>
          <a:p>
            <a:pPr algn="l" indent="0" marL="0">
              <a:buNone/>
            </a:pPr>
            <a:r>
              <a:rPr lang="en-US" sz="1600" b="1" dirty="0">
                <a:solidFill>
                  <a:schemeClr val="tx2"/>
                </a:solidFill>
              </a:rPr>
              <a:t>Derivatives</a:t>
            </a:r>
            <a:endParaRPr lang="en-US" sz="1800" dirty="0"/>
          </a:p>
          <a:p>
            <a:pPr algn="l" indent="0" marL="0">
              <a:buNone/>
            </a:pPr>
            <a:r>
              <a:rPr lang="en-US" sz="1400" dirty="0">
                <a:solidFill>
                  <a:schemeClr val="tx1"/>
                </a:solidFill>
              </a:rPr>
              <a:t>questionnaire scores; 200-region time series (C-PAC)</a:t>
            </a:r>
            <a:endParaRPr lang="en-US" sz="1800" dirty="0"/>
          </a:p>
        </p:txBody>
      </p:sp>
      <p:sp>
        <p:nvSpPr>
          <p:cNvPr id="11" name="shape67"/>
          <p:cNvSpPr txBox="1"/>
          <p:nvPr/>
        </p:nvSpPr>
        <p:spPr>
          <a:xfrm>
            <a:off x="365760" y="5760720"/>
            <a:ext cx="4526280" cy="621792"/>
          </a:xfrm>
          <a:prstGeom prst="roundRect">
            <a:avLst>
              <a:gd name="adj" fmla="val 73529"/>
            </a:avLst>
          </a:prstGeom>
          <a:solidFill>
            <a:schemeClr val="accent4"/>
          </a:solidFill>
          <a:ln/>
        </p:spPr>
        <p:txBody>
          <a:bodyPr wrap="square" lIns="101600" tIns="101600" rIns="101600" bIns="101600" rtlCol="0" anchor="ctr"/>
          <a:lstStyle/>
          <a:p>
            <a:pPr algn="l" indent="0" marL="0">
              <a:buNone/>
            </a:pPr>
            <a:r>
              <a:rPr lang="en-US" sz="1600" b="1" dirty="0">
                <a:solidFill>
                  <a:schemeClr val="tx2"/>
                </a:solidFill>
              </a:rPr>
              <a:t>Release and version</a:t>
            </a:r>
            <a:endParaRPr lang="en-US" sz="1800" dirty="0"/>
          </a:p>
          <a:p>
            <a:pPr algn="l" indent="0" marL="0">
              <a:buNone/>
            </a:pPr>
            <a:r>
              <a:rPr lang="en-US" sz="1400" dirty="0">
                <a:solidFill>
                  <a:schemeClr val="tx1"/>
                </a:solidFill>
              </a:rPr>
              <a:t>ds000030 commit 4070b6e; ABIDE Preprocessed</a:t>
            </a:r>
            <a:endParaRPr lang="en-US" sz="1800" dirty="0"/>
          </a:p>
        </p:txBody>
      </p:sp>
      <p:sp>
        <p:nvSpPr>
          <p:cNvPr id="12" name="shape68"/>
          <p:cNvSpPr txBox="1"/>
          <p:nvPr/>
        </p:nvSpPr>
        <p:spPr>
          <a:xfrm>
            <a:off x="7223760" y="1645920"/>
            <a:ext cx="4617720" cy="713232"/>
          </a:xfrm>
          <a:prstGeom prst="roundRect">
            <a:avLst>
              <a:gd name="adj" fmla="val 64103"/>
            </a:avLst>
          </a:prstGeom>
          <a:solidFill>
            <a:schemeClr val="accent5"/>
          </a:solidFill>
          <a:ln/>
        </p:spPr>
        <p:txBody>
          <a:bodyPr wrap="square" lIns="101600" tIns="101600" rIns="101600" bIns="101600" rtlCol="0" anchor="ctr"/>
          <a:lstStyle/>
          <a:p>
            <a:pPr algn="l" indent="0" marL="0">
              <a:buNone/>
            </a:pPr>
            <a:r>
              <a:rPr lang="en-US" sz="1600" b="1" dirty="0">
                <a:solidFill>
                  <a:schemeClr val="tx2"/>
                </a:solidFill>
              </a:rPr>
              <a:t>Research question</a:t>
            </a:r>
            <a:endParaRPr lang="en-US" sz="1800" dirty="0"/>
          </a:p>
          <a:p>
            <a:pPr algn="l" indent="0" marL="0">
              <a:buNone/>
            </a:pPr>
            <a:r>
              <a:rPr lang="en-US" sz="1400" dirty="0">
                <a:solidFill>
                  <a:schemeClr val="tx1"/>
                </a:solidFill>
              </a:rPr>
              <a:t>Kim 2023: which direction of connectivity change is associated with schizophrenia?</a:t>
            </a:r>
            <a:endParaRPr lang="en-US" sz="1800" dirty="0"/>
          </a:p>
        </p:txBody>
      </p:sp>
      <p:sp>
        <p:nvSpPr>
          <p:cNvPr id="13" name="shape69"/>
          <p:cNvSpPr txBox="1"/>
          <p:nvPr/>
        </p:nvSpPr>
        <p:spPr>
          <a:xfrm>
            <a:off x="7143139" y="2446020"/>
            <a:ext cx="4617720" cy="713232"/>
          </a:xfrm>
          <a:prstGeom prst="roundRect">
            <a:avLst>
              <a:gd name="adj" fmla="val 64103"/>
            </a:avLst>
          </a:prstGeom>
          <a:solidFill>
            <a:schemeClr val="accent5"/>
          </a:solidFill>
          <a:ln/>
        </p:spPr>
        <p:txBody>
          <a:bodyPr wrap="square" lIns="101600" tIns="101600" rIns="101600" bIns="101600" rtlCol="0" anchor="ctr"/>
          <a:lstStyle/>
          <a:p>
            <a:pPr algn="l" indent="0" marL="0">
              <a:buNone/>
            </a:pPr>
            <a:r>
              <a:rPr lang="en-US" sz="1600" b="1" dirty="0">
                <a:solidFill>
                  <a:schemeClr val="tx2"/>
                </a:solidFill>
              </a:rPr>
              <a:t>Cohort and exclusions</a:t>
            </a:r>
            <a:endParaRPr lang="en-US" sz="1800" dirty="0"/>
          </a:p>
          <a:p>
            <a:pPr algn="l" indent="0" marL="0">
              <a:buNone/>
            </a:pPr>
            <a:r>
              <a:rPr lang="en-US" sz="1400" dirty="0">
                <a:solidFill>
                  <a:schemeClr val="tx1"/>
                </a:solidFill>
              </a:rPr>
              <a:t>Kim 2023: 47 patients + 47 controls; Abraham 2017: 871 of 1,112</a:t>
            </a:r>
            <a:endParaRPr lang="en-US" sz="1800" dirty="0"/>
          </a:p>
        </p:txBody>
      </p:sp>
      <p:sp>
        <p:nvSpPr>
          <p:cNvPr id="14" name="shape70"/>
          <p:cNvSpPr txBox="1"/>
          <p:nvPr/>
        </p:nvSpPr>
        <p:spPr>
          <a:xfrm>
            <a:off x="7093313" y="3246120"/>
            <a:ext cx="4617720" cy="713232"/>
          </a:xfrm>
          <a:prstGeom prst="roundRect">
            <a:avLst>
              <a:gd name="adj" fmla="val 64103"/>
            </a:avLst>
          </a:prstGeom>
          <a:solidFill>
            <a:schemeClr val="accent5"/>
          </a:solidFill>
          <a:ln/>
        </p:spPr>
        <p:txBody>
          <a:bodyPr wrap="square" lIns="101600" tIns="101600" rIns="101600" bIns="101600" rtlCol="0" anchor="ctr"/>
          <a:lstStyle/>
          <a:p>
            <a:pPr algn="l" indent="0" marL="0">
              <a:buNone/>
            </a:pPr>
            <a:r>
              <a:rPr lang="en-US" sz="1600" b="1" dirty="0">
                <a:solidFill>
                  <a:schemeClr val="tx2"/>
                </a:solidFill>
              </a:rPr>
              <a:t>Preprocessing and versions</a:t>
            </a:r>
            <a:endParaRPr lang="en-US" sz="1800" dirty="0"/>
          </a:p>
          <a:p>
            <a:pPr algn="l" indent="0" marL="0">
              <a:buNone/>
            </a:pPr>
            <a:r>
              <a:rPr lang="en-US" sz="1400" dirty="0">
                <a:solidFill>
                  <a:schemeClr val="tx1"/>
                </a:solidFill>
              </a:rPr>
              <a:t>fMRIPrep: fMRI to anatomy (FreeSurfer 6.0.0), anatomy to MNI template (ANTs 2.1.0)</a:t>
            </a:r>
            <a:endParaRPr lang="en-US" sz="1800" dirty="0"/>
          </a:p>
        </p:txBody>
      </p:sp>
      <p:sp>
        <p:nvSpPr>
          <p:cNvPr id="15" name="shape71"/>
          <p:cNvSpPr txBox="1"/>
          <p:nvPr/>
        </p:nvSpPr>
        <p:spPr>
          <a:xfrm>
            <a:off x="7093313" y="4046220"/>
            <a:ext cx="4617720" cy="713232"/>
          </a:xfrm>
          <a:prstGeom prst="roundRect">
            <a:avLst>
              <a:gd name="adj" fmla="val 64103"/>
            </a:avLst>
          </a:prstGeom>
          <a:solidFill>
            <a:schemeClr val="accent5"/>
          </a:solidFill>
          <a:ln/>
        </p:spPr>
        <p:txBody>
          <a:bodyPr wrap="square" lIns="101600" tIns="101600" rIns="101600" bIns="101600" rtlCol="0" anchor="ctr"/>
          <a:lstStyle/>
          <a:p>
            <a:pPr algn="l" indent="0" marL="0">
              <a:buNone/>
            </a:pPr>
            <a:r>
              <a:rPr lang="en-US" sz="1600" b="1" dirty="0">
                <a:solidFill>
                  <a:schemeClr val="tx2"/>
                </a:solidFill>
              </a:rPr>
              <a:t>Analysis and evaluation</a:t>
            </a:r>
            <a:endParaRPr lang="en-US" sz="1800" dirty="0"/>
          </a:p>
          <a:p>
            <a:pPr algn="l" indent="0" marL="0">
              <a:buNone/>
            </a:pPr>
            <a:r>
              <a:rPr lang="en-US" sz="1400" dirty="0">
                <a:solidFill>
                  <a:schemeClr val="tx1"/>
                </a:solidFill>
              </a:rPr>
              <a:t>linear classifier; leave-one-participant-out, leave-site-out</a:t>
            </a:r>
            <a:endParaRPr lang="en-US" sz="1800" dirty="0"/>
          </a:p>
        </p:txBody>
      </p:sp>
      <p:sp>
        <p:nvSpPr>
          <p:cNvPr id="16" name="shape72"/>
          <p:cNvSpPr txBox="1"/>
          <p:nvPr/>
        </p:nvSpPr>
        <p:spPr>
          <a:xfrm>
            <a:off x="7143139" y="4846320"/>
            <a:ext cx="4617720" cy="713232"/>
          </a:xfrm>
          <a:prstGeom prst="roundRect">
            <a:avLst>
              <a:gd name="adj" fmla="val 64103"/>
            </a:avLst>
          </a:prstGeom>
          <a:solidFill>
            <a:schemeClr val="accent5"/>
          </a:solidFill>
          <a:ln/>
        </p:spPr>
        <p:txBody>
          <a:bodyPr wrap="square" lIns="101600" tIns="101600" rIns="101600" bIns="101600" rtlCol="0" anchor="ctr"/>
          <a:lstStyle/>
          <a:p>
            <a:pPr algn="l" indent="0" marL="0">
              <a:buNone/>
            </a:pPr>
            <a:r>
              <a:rPr lang="en-US" sz="1600" b="1" dirty="0">
                <a:solidFill>
                  <a:schemeClr val="tx2"/>
                </a:solidFill>
              </a:rPr>
              <a:t>Results and claims, with scope</a:t>
            </a:r>
            <a:endParaRPr lang="en-US" sz="1800" dirty="0"/>
          </a:p>
          <a:p>
            <a:pPr algn="l" indent="0" marL="0">
              <a:buNone/>
            </a:pPr>
            <a:r>
              <a:rPr lang="en-US" sz="1400" dirty="0">
                <a:solidFill>
                  <a:schemeClr val="tx1"/>
                </a:solidFill>
              </a:rPr>
              <a:t>both directions altered; evidence 70.2% accuracy, UCLA, leave-one-out</a:t>
            </a:r>
            <a:endParaRPr lang="en-US" sz="1800" dirty="0"/>
          </a:p>
        </p:txBody>
      </p:sp>
      <p:sp>
        <p:nvSpPr>
          <p:cNvPr id="17" name="shape73"/>
          <p:cNvSpPr txBox="1"/>
          <p:nvPr/>
        </p:nvSpPr>
        <p:spPr>
          <a:xfrm>
            <a:off x="7223760" y="5646420"/>
            <a:ext cx="4617720" cy="713232"/>
          </a:xfrm>
          <a:prstGeom prst="roundRect">
            <a:avLst>
              <a:gd name="adj" fmla="val 64103"/>
            </a:avLst>
          </a:prstGeom>
          <a:solidFill>
            <a:schemeClr val="accent5"/>
          </a:solidFill>
          <a:ln/>
        </p:spPr>
        <p:txBody>
          <a:bodyPr wrap="square" lIns="101600" tIns="101600" rIns="101600" bIns="101600" rtlCol="0" anchor="ctr"/>
          <a:lstStyle/>
          <a:p>
            <a:pPr algn="l" indent="0" marL="0">
              <a:buNone/>
            </a:pPr>
            <a:r>
              <a:rPr lang="en-US" sz="1600" b="1" dirty="0">
                <a:solidFill>
                  <a:schemeClr val="tx2"/>
                </a:solidFill>
              </a:rPr>
              <a:t>Data and code availability</a:t>
            </a:r>
            <a:endParaRPr lang="en-US" sz="1800" dirty="0"/>
          </a:p>
          <a:p>
            <a:pPr algn="l" indent="0" marL="0">
              <a:buNone/>
            </a:pPr>
            <a:r>
              <a:rPr lang="en-US" sz="1400" dirty="0">
                <a:solidFill>
                  <a:schemeClr val="tx1"/>
                </a:solidFill>
              </a:rPr>
              <a:t>cohorts reconstructible for only 17 of 74 ABIDE studies</a:t>
            </a:r>
            <a:endParaRPr lang="en-US" sz="1800" dirty="0"/>
          </a:p>
        </p:txBody>
      </p:sp>
      <p:sp>
        <p:nvSpPr>
          <p:cNvPr id="18" name="shape74"/>
          <p:cNvSpPr/>
          <p:nvPr/>
        </p:nvSpPr>
        <p:spPr>
          <a:xfrm>
            <a:off x="5193792" y="2240280"/>
            <a:ext cx="1783080" cy="3566160"/>
          </a:xfrm>
          <a:prstGeom prst="ellipse">
            <a:avLst/>
          </a:prstGeom>
          <a:solidFill>
            <a:schemeClr val="tx2"/>
          </a:solidFill>
          <a:ln/>
        </p:spPr>
      </p:sp>
      <p:sp>
        <p:nvSpPr>
          <p:cNvPr id="19" name="text75"/>
          <p:cNvSpPr txBox="1"/>
          <p:nvPr/>
        </p:nvSpPr>
        <p:spPr>
          <a:xfrm>
            <a:off x="5193792" y="2560320"/>
            <a:ext cx="1783080" cy="365760"/>
          </a:xfrm>
          <a:prstGeom prst="rect">
            <a:avLst/>
          </a:prstGeom>
          <a:noFill/>
          <a:ln/>
        </p:spPr>
        <p:txBody>
          <a:bodyPr wrap="square" lIns="0" tIns="0" rIns="0" bIns="0" rtlCol="0" anchor="t"/>
          <a:lstStyle/>
          <a:p>
            <a:pPr algn="ctr" indent="0" marL="0">
              <a:buNone/>
            </a:pPr>
            <a:r>
              <a:rPr lang="en-US" sz="1600" b="1" dirty="0">
                <a:solidFill>
                  <a:schemeClr val="bg1"/>
                </a:solidFill>
              </a:rPr>
              <a:t>Linked by</a:t>
            </a:r>
            <a:endParaRPr lang="en-US" sz="1600" dirty="0"/>
          </a:p>
        </p:txBody>
      </p:sp>
      <p:sp>
        <p:nvSpPr>
          <p:cNvPr id="20" name="shape76"/>
          <p:cNvSpPr txBox="1"/>
          <p:nvPr/>
        </p:nvSpPr>
        <p:spPr>
          <a:xfrm>
            <a:off x="5321808" y="3017520"/>
            <a:ext cx="1527048" cy="585216"/>
          </a:xfrm>
          <a:prstGeom prst="roundRect">
            <a:avLst>
              <a:gd name="adj" fmla="val 78125"/>
            </a:avLst>
          </a:prstGeom>
          <a:solidFill>
            <a:schemeClr val="bg1"/>
          </a:solidFill>
          <a:ln/>
        </p:spPr>
        <p:txBody>
          <a:bodyPr wrap="square" lIns="50800" tIns="50800" rIns="50800" bIns="50800" rtlCol="0" anchor="ctr"/>
          <a:lstStyle/>
          <a:p>
            <a:pPr algn="ctr" indent="0" marL="0">
              <a:buNone/>
            </a:pPr>
            <a:r>
              <a:rPr lang="en-US" sz="1400" b="1" dirty="0">
                <a:solidFill>
                  <a:schemeClr val="tx2"/>
                </a:solidFill>
              </a:rPr>
              <a:t>participant IDs</a:t>
            </a:r>
            <a:endParaRPr lang="en-US" sz="1400" dirty="0"/>
          </a:p>
        </p:txBody>
      </p:sp>
      <p:sp>
        <p:nvSpPr>
          <p:cNvPr id="21" name="shape77"/>
          <p:cNvSpPr txBox="1"/>
          <p:nvPr/>
        </p:nvSpPr>
        <p:spPr>
          <a:xfrm>
            <a:off x="5321808" y="3730752"/>
            <a:ext cx="1527048" cy="585216"/>
          </a:xfrm>
          <a:prstGeom prst="roundRect">
            <a:avLst>
              <a:gd name="adj" fmla="val 78125"/>
            </a:avLst>
          </a:prstGeom>
          <a:solidFill>
            <a:schemeClr val="bg1"/>
          </a:solidFill>
          <a:ln/>
        </p:spPr>
        <p:txBody>
          <a:bodyPr wrap="square" lIns="50800" tIns="50800" rIns="50800" bIns="50800" rtlCol="0" anchor="ctr"/>
          <a:lstStyle/>
          <a:p>
            <a:pPr algn="ctr" indent="0" marL="0">
              <a:buNone/>
            </a:pPr>
            <a:r>
              <a:rPr lang="en-US" sz="1400" b="1" dirty="0">
                <a:solidFill>
                  <a:schemeClr val="tx2"/>
                </a:solidFill>
              </a:rPr>
              <a:t>accession and version</a:t>
            </a:r>
            <a:endParaRPr lang="en-US" sz="1400" dirty="0"/>
          </a:p>
        </p:txBody>
      </p:sp>
      <p:sp>
        <p:nvSpPr>
          <p:cNvPr id="22" name="shape78"/>
          <p:cNvSpPr txBox="1"/>
          <p:nvPr/>
        </p:nvSpPr>
        <p:spPr>
          <a:xfrm>
            <a:off x="5321808" y="4443984"/>
            <a:ext cx="1527048" cy="585216"/>
          </a:xfrm>
          <a:prstGeom prst="roundRect">
            <a:avLst>
              <a:gd name="adj" fmla="val 78125"/>
            </a:avLst>
          </a:prstGeom>
          <a:solidFill>
            <a:schemeClr val="bg1"/>
          </a:solidFill>
          <a:ln/>
        </p:spPr>
        <p:txBody>
          <a:bodyPr wrap="square" lIns="50800" tIns="50800" rIns="50800" bIns="50800" rtlCol="0" anchor="ctr"/>
          <a:lstStyle/>
          <a:p>
            <a:pPr algn="ctr" indent="0" marL="0">
              <a:buNone/>
            </a:pPr>
            <a:r>
              <a:rPr lang="en-US" sz="1400" b="1" dirty="0">
                <a:solidFill>
                  <a:schemeClr val="tx2"/>
                </a:solidFill>
              </a:rPr>
              <a:t>cohort definition</a:t>
            </a:r>
            <a:endParaRPr lang="en-US" sz="1400" dirty="0"/>
          </a:p>
        </p:txBody>
      </p:sp>
      <p:pic>
        <p:nvPicPr>
          <p:cNvPr id="24" name="stripIcon4" descr="preencoded.png">    </p:cNvPr>
          <p:cNvPicPr>
            <a:picLocks noChangeAspect="1"/>
          </p:cNvPicPr>
          <p:nvPr/>
        </p:nvPicPr>
        <p:blipFill>
          <a:blip r:embed="rId1"/>
          <a:stretch>
            <a:fillRect/>
          </a:stretch>
        </p:blipFill>
        <p:spPr>
          <a:xfrm>
            <a:off x="548640" y="969264"/>
            <a:ext cx="182880" cy="182880"/>
          </a:xfrm>
          <a:prstGeom prst="rect">
            <a:avLst/>
          </a:prstGeom>
        </p:spPr>
      </p:pic>
      <p:sp>
        <p:nvSpPr>
          <p:cNvPr id="25" name="strip4"/>
          <p:cNvSpPr txBox="1"/>
          <p:nvPr/>
        </p:nvSpPr>
        <p:spPr>
          <a:xfrm>
            <a:off x="804672" y="914400"/>
            <a:ext cx="10972800" cy="292608"/>
          </a:xfrm>
          <a:prstGeom prst="rect">
            <a:avLst/>
          </a:prstGeom>
          <a:noFill/>
          <a:ln/>
        </p:spPr>
        <p:txBody>
          <a:bodyPr wrap="square" lIns="0" tIns="0" rIns="0" bIns="0" rtlCol="0" anchor="ctr"/>
          <a:lstStyle/>
          <a:p>
            <a:pPr indent="0" marL="0">
              <a:buNone/>
            </a:pPr>
            <a:r>
              <a:rPr lang="en-US" sz="1200" b="1" dirty="0">
                <a:solidFill>
                  <a:schemeClr val="accent1"/>
                </a:solidFill>
              </a:rPr>
              <a:t>In the graph: </a:t>
            </a:r>
            <a:pPr indent="0" marL="0">
              <a:buNone/>
            </a:pPr>
            <a:r>
              <a:rPr lang="en-US" sz="1200" dirty="0">
                <a:solidFill>
                  <a:schemeClr val="accent3"/>
                </a:solidFill>
              </a:rPr>
              <a:t>Dataset side: ds000030 graph and ABIDE graph/core · publication side: claims_and_questions.ttl, literature_kg.ttl (17 / 74 reconstructible)</a:t>
            </a:r>
            <a:endParaRPr lang="en-US" sz="1200" dirty="0"/>
          </a:p>
        </p:txBody>
      </p:sp>
      <p:sp>
        <p:nvSpPr>
          <p:cNvPr id="26" name="tagDot4"/>
          <p:cNvSpPr/>
          <p:nvPr/>
        </p:nvSpPr>
        <p:spPr>
          <a:xfrm>
            <a:off x="9326880" y="82296"/>
            <a:ext cx="128016" cy="128016"/>
          </a:xfrm>
          <a:prstGeom prst="ellipse">
            <a:avLst/>
          </a:prstGeom>
          <a:solidFill>
            <a:schemeClr val="accent1"/>
          </a:solidFill>
          <a:ln/>
        </p:spPr>
      </p:sp>
      <p:sp>
        <p:nvSpPr>
          <p:cNvPr id="27" name="tag4"/>
          <p:cNvSpPr txBox="1"/>
          <p:nvPr/>
        </p:nvSpPr>
        <p:spPr>
          <a:xfrm>
            <a:off x="9509760" y="18288"/>
            <a:ext cx="2286000" cy="256032"/>
          </a:xfrm>
          <a:prstGeom prst="rect">
            <a:avLst/>
          </a:prstGeom>
          <a:noFill/>
          <a:ln/>
        </p:spPr>
        <p:txBody>
          <a:bodyPr wrap="square" lIns="0" tIns="0" rIns="0" bIns="0" rtlCol="0" anchor="ctr"/>
          <a:lstStyle/>
          <a:p>
            <a:pPr indent="0" marL="0">
              <a:buNone/>
            </a:pPr>
            <a:r>
              <a:rPr lang="en-US" sz="1200" i="1" dirty="0">
                <a:solidFill>
                  <a:schemeClr val="accent3"/>
                </a:solidFill>
              </a:rPr>
              <a:t>Objective 1</a:t>
            </a:r>
            <a:endParaRPr lang="en-US" sz="1200" dirty="0"/>
          </a:p>
        </p:txBody>
      </p:sp>
      <p:sp>
        <p:nvSpPr>
          <p:cNvPr id="28" name="badge4_P"/>
          <p:cNvSpPr txBox="1"/>
          <p:nvPr/>
        </p:nvSpPr>
        <p:spPr>
          <a:xfrm>
            <a:off x="274320"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P</a:t>
            </a:r>
            <a:endParaRPr lang="en-US" sz="1100" dirty="0"/>
          </a:p>
        </p:txBody>
      </p:sp>
      <p:sp>
        <p:nvSpPr>
          <p:cNvPr id="29" name="badge4_R"/>
          <p:cNvSpPr txBox="1"/>
          <p:nvPr/>
        </p:nvSpPr>
        <p:spPr>
          <a:xfrm>
            <a:off x="576072"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R</a:t>
            </a:r>
            <a:endParaRPr lang="en-US" sz="1100" dirty="0"/>
          </a:p>
        </p:txBody>
      </p:sp>
      <p:sp>
        <p:nvSpPr>
          <p:cNvPr id="30" name="badge4_A"/>
          <p:cNvSpPr txBox="1"/>
          <p:nvPr/>
        </p:nvSpPr>
        <p:spPr>
          <a:xfrm>
            <a:off x="877824"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A</a:t>
            </a:r>
            <a:endParaRPr lang="en-US" sz="1100" dirty="0"/>
          </a:p>
        </p:txBody>
      </p:sp>
      <p:sp>
        <p:nvSpPr>
          <p:cNvPr id="31" name="data4"/>
          <p:cNvSpPr txBox="1"/>
          <p:nvPr/>
        </p:nvSpPr>
        <p:spPr>
          <a:xfrm>
            <a:off x="2779776" y="6473952"/>
            <a:ext cx="8375904" cy="301752"/>
          </a:xfrm>
          <a:prstGeom prst="rect">
            <a:avLst/>
          </a:prstGeom>
          <a:noFill/>
          <a:ln/>
        </p:spPr>
        <p:txBody>
          <a:bodyPr wrap="square" lIns="0" tIns="0" rIns="0" bIns="0" rtlCol="0" anchor="ctr"/>
          <a:lstStyle/>
          <a:p>
            <a:pPr indent="0" marL="0">
              <a:buNone/>
            </a:pPr>
            <a:r>
              <a:rPr lang="en-US" sz="1100" dirty="0">
                <a:solidFill>
                  <a:srgbClr val="5E7A88"/>
                </a:solidFill>
              </a:rPr>
              <a:t>Data: ds000030 (UCLA CNP, commit 4070b6e); ABIDE I (ABIDE Preprocessed, C-PAC); 74-study review (2026-10-15)</a:t>
            </a:r>
            <a:endParaRPr lang="en-US" sz="1100" dirty="0"/>
          </a:p>
        </p:txBody>
      </p:sp>
      <p:sp>
        <p:nvSpPr>
          <p:cNvPr id="32" name="badge4_check"/>
          <p:cNvSpPr txBox="1"/>
          <p:nvPr/>
        </p:nvSpPr>
        <p:spPr>
          <a:xfrm>
            <a:off x="1234440" y="6473952"/>
            <a:ext cx="1408176" cy="301752"/>
          </a:xfrm>
          <a:prstGeom prst="rect">
            <a:avLst/>
          </a:prstGeom>
          <a:noFill/>
          <a:ln/>
        </p:spPr>
        <p:txBody>
          <a:bodyPr wrap="square" lIns="0" tIns="0" rIns="0" bIns="0" rtlCol="0" anchor="ctr"/>
          <a:lstStyle/>
          <a:p>
            <a:pPr indent="0" marL="0">
              <a:buNone/>
            </a:pPr>
            <a:r>
              <a:rPr lang="en-US" sz="1100" i="1" dirty="0">
                <a:solidFill>
                  <a:srgbClr val="5E7A88"/>
                </a:solidFill>
              </a:rPr>
              <a:t>re-run · validated</a:t>
            </a:r>
            <a:endParaRPr lang="en-US" sz="11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
            <a:ext cx="11064240" cy="713232"/>
          </a:xfrm>
          <a:prstGeom prst="rect">
            <a:avLst/>
          </a:prstGeom>
          <a:noFill/>
          <a:ln/>
        </p:spPr>
        <p:txBody>
          <a:bodyPr wrap="square" rtlCol="0" anchor="ctr"/>
          <a:lstStyle/>
          <a:p>
            <a:pPr algn="l" indent="0" marL="0">
              <a:buNone/>
            </a:pPr>
            <a:r>
              <a:rPr lang="en-US" sz="3200" b="1" dirty="0">
                <a:solidFill>
                  <a:schemeClr val="tx2"/>
                </a:solidFill>
              </a:rPr>
              <a:t>Entities in a neuroimaging knowledge graph</a:t>
            </a:r>
            <a:endParaRPr lang="en-US" sz="3200" dirty="0"/>
          </a:p>
        </p:txBody>
      </p:sp>
      <p:sp>
        <p:nvSpPr>
          <p:cNvPr id="3" name="shape79"/>
          <p:cNvSpPr/>
          <p:nvPr/>
        </p:nvSpPr>
        <p:spPr>
          <a:xfrm>
            <a:off x="4498848" y="2194560"/>
            <a:ext cx="3200400" cy="3200400"/>
          </a:xfrm>
          <a:prstGeom prst="blockArc">
            <a:avLst>
              <a:gd name="adj1" fmla="val 10920000"/>
              <a:gd name="adj2" fmla="val 16080000"/>
              <a:gd name="adj3" fmla="val 14000"/>
            </a:avLst>
          </a:prstGeom>
          <a:solidFill>
            <a:schemeClr val="tx2"/>
          </a:solidFill>
          <a:ln/>
        </p:spPr>
      </p:sp>
      <p:sp>
        <p:nvSpPr>
          <p:cNvPr id="4" name="shape80"/>
          <p:cNvSpPr/>
          <p:nvPr/>
        </p:nvSpPr>
        <p:spPr>
          <a:xfrm>
            <a:off x="4498848" y="2194560"/>
            <a:ext cx="3200400" cy="3200400"/>
          </a:xfrm>
          <a:prstGeom prst="blockArc">
            <a:avLst>
              <a:gd name="adj1" fmla="val 16320000"/>
              <a:gd name="adj2" fmla="val 21480000"/>
              <a:gd name="adj3" fmla="val 14000"/>
            </a:avLst>
          </a:prstGeom>
          <a:solidFill>
            <a:schemeClr val="accent3"/>
          </a:solidFill>
          <a:ln/>
        </p:spPr>
      </p:sp>
      <p:sp>
        <p:nvSpPr>
          <p:cNvPr id="5" name="shape81"/>
          <p:cNvSpPr/>
          <p:nvPr/>
        </p:nvSpPr>
        <p:spPr>
          <a:xfrm>
            <a:off x="4498848" y="2194560"/>
            <a:ext cx="3200400" cy="3200400"/>
          </a:xfrm>
          <a:prstGeom prst="blockArc">
            <a:avLst>
              <a:gd name="adj1" fmla="val 120000"/>
              <a:gd name="adj2" fmla="val 5280000"/>
              <a:gd name="adj3" fmla="val 14000"/>
            </a:avLst>
          </a:prstGeom>
          <a:solidFill>
            <a:schemeClr val="accent2"/>
          </a:solidFill>
          <a:ln/>
        </p:spPr>
      </p:sp>
      <p:sp>
        <p:nvSpPr>
          <p:cNvPr id="6" name="shape82"/>
          <p:cNvSpPr/>
          <p:nvPr/>
        </p:nvSpPr>
        <p:spPr>
          <a:xfrm>
            <a:off x="4498848" y="2194560"/>
            <a:ext cx="3200400" cy="3200400"/>
          </a:xfrm>
          <a:prstGeom prst="blockArc">
            <a:avLst>
              <a:gd name="adj1" fmla="val 5520000"/>
              <a:gd name="adj2" fmla="val 10680000"/>
              <a:gd name="adj3" fmla="val 14000"/>
            </a:avLst>
          </a:prstGeom>
          <a:solidFill>
            <a:srgbClr val="8EA4AE"/>
          </a:solidFill>
          <a:ln/>
        </p:spPr>
      </p:sp>
      <p:sp>
        <p:nvSpPr>
          <p:cNvPr id="7" name="shape83"/>
          <p:cNvSpPr txBox="1"/>
          <p:nvPr/>
        </p:nvSpPr>
        <p:spPr>
          <a:xfrm>
            <a:off x="5230368" y="2926080"/>
            <a:ext cx="1737360" cy="1737360"/>
          </a:xfrm>
          <a:prstGeom prst="ellipse">
            <a:avLst/>
          </a:prstGeom>
          <a:solidFill>
            <a:schemeClr val="bg2"/>
          </a:solidFill>
          <a:ln w="19050">
            <a:solidFill>
              <a:srgbClr val="C9D3D7"/>
            </a:solidFill>
            <a:prstDash val="solid"/>
          </a:ln>
        </p:spPr>
        <p:txBody>
          <a:bodyPr wrap="square" lIns="50800" tIns="50800" rIns="50800" bIns="50800" rtlCol="0" anchor="ctr"/>
          <a:lstStyle/>
          <a:p>
            <a:pPr algn="ctr" indent="0" marL="0">
              <a:buNone/>
            </a:pPr>
            <a:r>
              <a:rPr lang="en-US" sz="1800" b="1" dirty="0">
                <a:solidFill>
                  <a:schemeClr val="tx2"/>
                </a:solidFill>
              </a:rPr>
              <a:t>participant</a:t>
            </a:r>
            <a:endParaRPr lang="en-US" sz="1800" dirty="0"/>
          </a:p>
          <a:p>
            <a:pPr algn="ctr" indent="0" marL="0">
              <a:buNone/>
            </a:pPr>
            <a:r>
              <a:rPr lang="en-US" sz="1800" dirty="0">
                <a:solidFill>
                  <a:schemeClr val="tx2"/>
                </a:solidFill>
              </a:rPr>
              <a:t>·</a:t>
            </a:r>
            <a:endParaRPr lang="en-US" sz="1800" dirty="0"/>
          </a:p>
          <a:p>
            <a:pPr algn="ctr" indent="0" marL="0">
              <a:buNone/>
            </a:pPr>
            <a:r>
              <a:rPr lang="en-US" sz="1800" b="1" dirty="0">
                <a:solidFill>
                  <a:schemeClr val="tx2"/>
                </a:solidFill>
              </a:rPr>
              <a:t>dataset</a:t>
            </a:r>
            <a:endParaRPr lang="en-US" sz="1800" dirty="0"/>
          </a:p>
        </p:txBody>
      </p:sp>
      <p:sp>
        <p:nvSpPr>
          <p:cNvPr id="8" name="text84"/>
          <p:cNvSpPr txBox="1"/>
          <p:nvPr/>
        </p:nvSpPr>
        <p:spPr>
          <a:xfrm>
            <a:off x="457200" y="1188720"/>
            <a:ext cx="3931920" cy="365760"/>
          </a:xfrm>
          <a:prstGeom prst="rect">
            <a:avLst/>
          </a:prstGeom>
          <a:noFill/>
          <a:ln/>
        </p:spPr>
        <p:txBody>
          <a:bodyPr wrap="square" lIns="0" tIns="0" rIns="0" bIns="0" rtlCol="0" anchor="ctr"/>
          <a:lstStyle/>
          <a:p>
            <a:pPr indent="0" marL="0">
              <a:buNone/>
            </a:pPr>
            <a:r>
              <a:rPr lang="en-US" sz="1800" b="1" dirty="0">
                <a:solidFill>
                  <a:schemeClr val="tx2"/>
                </a:solidFill>
              </a:rPr>
              <a:t>What was studied</a:t>
            </a:r>
            <a:endParaRPr lang="en-US" sz="1800" dirty="0"/>
          </a:p>
        </p:txBody>
      </p:sp>
      <p:sp>
        <p:nvSpPr>
          <p:cNvPr id="9" name="shape85"/>
          <p:cNvSpPr txBox="1"/>
          <p:nvPr/>
        </p:nvSpPr>
        <p:spPr>
          <a:xfrm>
            <a:off x="457200" y="1600200"/>
            <a:ext cx="1938528" cy="420624"/>
          </a:xfrm>
          <a:prstGeom prst="roundRect">
            <a:avLst>
              <a:gd name="adj" fmla="val 108696"/>
            </a:avLst>
          </a:prstGeom>
          <a:solidFill>
            <a:schemeClr val="accent1"/>
          </a:solidFill>
          <a:ln/>
        </p:spPr>
        <p:txBody>
          <a:bodyPr wrap="square" lIns="25400" tIns="25400" rIns="25400" bIns="25400" rtlCol="0" anchor="ctr"/>
          <a:lstStyle/>
          <a:p>
            <a:pPr algn="ctr" indent="0" marL="0">
              <a:buNone/>
            </a:pPr>
            <a:r>
              <a:rPr lang="en-US" sz="1600" b="1" dirty="0">
                <a:solidFill>
                  <a:schemeClr val="bg1"/>
                </a:solidFill>
              </a:rPr>
              <a:t>Datasets, versions</a:t>
            </a:r>
            <a:endParaRPr lang="en-US" sz="1600" dirty="0"/>
          </a:p>
        </p:txBody>
      </p:sp>
      <p:sp>
        <p:nvSpPr>
          <p:cNvPr id="10" name="shape86"/>
          <p:cNvSpPr txBox="1"/>
          <p:nvPr/>
        </p:nvSpPr>
        <p:spPr>
          <a:xfrm>
            <a:off x="2468880" y="1600200"/>
            <a:ext cx="1938528" cy="420624"/>
          </a:xfrm>
          <a:prstGeom prst="roundRect">
            <a:avLst>
              <a:gd name="adj" fmla="val 108696"/>
            </a:avLst>
          </a:prstGeom>
          <a:solidFill>
            <a:schemeClr val="accent1"/>
          </a:solidFill>
          <a:ln/>
        </p:spPr>
        <p:txBody>
          <a:bodyPr wrap="square" lIns="25400" tIns="25400" rIns="25400" bIns="25400" rtlCol="0" anchor="ctr"/>
          <a:lstStyle/>
          <a:p>
            <a:pPr algn="ctr" indent="0" marL="0">
              <a:buNone/>
            </a:pPr>
            <a:r>
              <a:rPr lang="en-US" sz="1600" b="1" dirty="0">
                <a:solidFill>
                  <a:schemeClr val="bg1"/>
                </a:solidFill>
              </a:rPr>
              <a:t>Participants</a:t>
            </a:r>
            <a:endParaRPr lang="en-US" sz="1600" dirty="0"/>
          </a:p>
        </p:txBody>
      </p:sp>
      <p:sp>
        <p:nvSpPr>
          <p:cNvPr id="11" name="shape87"/>
          <p:cNvSpPr txBox="1"/>
          <p:nvPr/>
        </p:nvSpPr>
        <p:spPr>
          <a:xfrm>
            <a:off x="457200" y="2084832"/>
            <a:ext cx="1938528" cy="420624"/>
          </a:xfrm>
          <a:prstGeom prst="roundRect">
            <a:avLst>
              <a:gd name="adj" fmla="val 108696"/>
            </a:avLst>
          </a:prstGeom>
          <a:solidFill>
            <a:schemeClr val="accent1"/>
          </a:solidFill>
          <a:ln/>
        </p:spPr>
        <p:txBody>
          <a:bodyPr wrap="square" lIns="25400" tIns="25400" rIns="25400" bIns="25400" rtlCol="0" anchor="ctr"/>
          <a:lstStyle/>
          <a:p>
            <a:pPr algn="ctr" indent="0" marL="0">
              <a:buNone/>
            </a:pPr>
            <a:r>
              <a:rPr lang="en-US" sz="1600" b="1" dirty="0">
                <a:solidFill>
                  <a:schemeClr val="bg1"/>
                </a:solidFill>
              </a:rPr>
              <a:t>Acquisitions</a:t>
            </a:r>
            <a:endParaRPr lang="en-US" sz="1600" dirty="0"/>
          </a:p>
        </p:txBody>
      </p:sp>
      <p:sp>
        <p:nvSpPr>
          <p:cNvPr id="12" name="shape88"/>
          <p:cNvSpPr txBox="1"/>
          <p:nvPr/>
        </p:nvSpPr>
        <p:spPr>
          <a:xfrm>
            <a:off x="2468880" y="2084832"/>
            <a:ext cx="1938528" cy="420624"/>
          </a:xfrm>
          <a:prstGeom prst="roundRect">
            <a:avLst>
              <a:gd name="adj" fmla="val 108696"/>
            </a:avLst>
          </a:prstGeom>
          <a:solidFill>
            <a:schemeClr val="bg2"/>
          </a:solidFill>
          <a:ln w="19050">
            <a:solidFill>
              <a:srgbClr val="C9D3D7"/>
            </a:solidFill>
            <a:prstDash val="solid"/>
          </a:ln>
        </p:spPr>
        <p:txBody>
          <a:bodyPr wrap="square" lIns="25400" tIns="25400" rIns="25400" bIns="25400" rtlCol="0" anchor="ctr"/>
          <a:lstStyle/>
          <a:p>
            <a:pPr algn="ctr" indent="0" marL="0">
              <a:buNone/>
            </a:pPr>
            <a:r>
              <a:rPr lang="en-US" sz="1600" b="1" dirty="0">
                <a:solidFill>
                  <a:schemeClr val="tx2"/>
                </a:solidFill>
              </a:rPr>
              <a:t>Tasks, constructs</a:t>
            </a:r>
            <a:endParaRPr lang="en-US" sz="1600" dirty="0"/>
          </a:p>
        </p:txBody>
      </p:sp>
      <p:sp>
        <p:nvSpPr>
          <p:cNvPr id="13" name="text89"/>
          <p:cNvSpPr txBox="1"/>
          <p:nvPr/>
        </p:nvSpPr>
        <p:spPr>
          <a:xfrm>
            <a:off x="7818120" y="1188720"/>
            <a:ext cx="3931920" cy="365760"/>
          </a:xfrm>
          <a:prstGeom prst="rect">
            <a:avLst/>
          </a:prstGeom>
          <a:noFill/>
          <a:ln/>
        </p:spPr>
        <p:txBody>
          <a:bodyPr wrap="square" lIns="0" tIns="0" rIns="0" bIns="0" rtlCol="0" anchor="ctr"/>
          <a:lstStyle/>
          <a:p>
            <a:pPr indent="0" marL="0">
              <a:buNone/>
            </a:pPr>
            <a:r>
              <a:rPr lang="en-US" sz="1800" b="1" dirty="0">
                <a:solidFill>
                  <a:schemeClr val="accent3"/>
                </a:solidFill>
              </a:rPr>
              <a:t>How it was done</a:t>
            </a:r>
            <a:endParaRPr lang="en-US" sz="1800" dirty="0"/>
          </a:p>
        </p:txBody>
      </p:sp>
      <p:sp>
        <p:nvSpPr>
          <p:cNvPr id="14" name="shape90"/>
          <p:cNvSpPr txBox="1"/>
          <p:nvPr/>
        </p:nvSpPr>
        <p:spPr>
          <a:xfrm>
            <a:off x="7818120" y="1600200"/>
            <a:ext cx="1938528" cy="420624"/>
          </a:xfrm>
          <a:prstGeom prst="roundRect">
            <a:avLst>
              <a:gd name="adj" fmla="val 108696"/>
            </a:avLst>
          </a:prstGeom>
          <a:solidFill>
            <a:schemeClr val="accent1"/>
          </a:solidFill>
          <a:ln/>
        </p:spPr>
        <p:txBody>
          <a:bodyPr wrap="square" lIns="25400" tIns="25400" rIns="25400" bIns="25400" rtlCol="0" anchor="ctr"/>
          <a:lstStyle/>
          <a:p>
            <a:pPr algn="ctr" indent="0" marL="0">
              <a:buNone/>
            </a:pPr>
            <a:r>
              <a:rPr lang="en-US" sz="1600" b="1" dirty="0">
                <a:solidFill>
                  <a:schemeClr val="bg1"/>
                </a:solidFill>
              </a:rPr>
              <a:t>Methods, software</a:t>
            </a:r>
            <a:endParaRPr lang="en-US" sz="1600" dirty="0"/>
          </a:p>
        </p:txBody>
      </p:sp>
      <p:sp>
        <p:nvSpPr>
          <p:cNvPr id="15" name="shape91"/>
          <p:cNvSpPr txBox="1"/>
          <p:nvPr/>
        </p:nvSpPr>
        <p:spPr>
          <a:xfrm>
            <a:off x="9829800" y="1600200"/>
            <a:ext cx="1938528" cy="420624"/>
          </a:xfrm>
          <a:prstGeom prst="roundRect">
            <a:avLst>
              <a:gd name="adj" fmla="val 108696"/>
            </a:avLst>
          </a:prstGeom>
          <a:solidFill>
            <a:schemeClr val="accent1"/>
          </a:solidFill>
          <a:ln/>
        </p:spPr>
        <p:txBody>
          <a:bodyPr wrap="square" lIns="25400" tIns="25400" rIns="25400" bIns="25400" rtlCol="0" anchor="ctr"/>
          <a:lstStyle/>
          <a:p>
            <a:pPr algn="ctr" indent="0" marL="0">
              <a:buNone/>
            </a:pPr>
            <a:r>
              <a:rPr lang="en-US" sz="1600" b="1" dirty="0">
                <a:solidFill>
                  <a:schemeClr val="bg1"/>
                </a:solidFill>
              </a:rPr>
              <a:t>How to apply</a:t>
            </a:r>
            <a:endParaRPr lang="en-US" sz="1600" dirty="0"/>
          </a:p>
        </p:txBody>
      </p:sp>
      <p:sp>
        <p:nvSpPr>
          <p:cNvPr id="16" name="shape92"/>
          <p:cNvSpPr txBox="1"/>
          <p:nvPr/>
        </p:nvSpPr>
        <p:spPr>
          <a:xfrm>
            <a:off x="7818120" y="2084832"/>
            <a:ext cx="1938528" cy="420624"/>
          </a:xfrm>
          <a:prstGeom prst="roundRect">
            <a:avLst>
              <a:gd name="adj" fmla="val 108696"/>
            </a:avLst>
          </a:prstGeom>
          <a:solidFill>
            <a:schemeClr val="bg2"/>
          </a:solidFill>
          <a:ln w="19050">
            <a:solidFill>
              <a:srgbClr val="C9D3D7"/>
            </a:solidFill>
            <a:prstDash val="solid"/>
          </a:ln>
        </p:spPr>
        <p:txBody>
          <a:bodyPr wrap="square" lIns="25400" tIns="25400" rIns="25400" bIns="25400" rtlCol="0" anchor="ctr"/>
          <a:lstStyle/>
          <a:p>
            <a:pPr algn="ctr" indent="0" marL="0">
              <a:buNone/>
            </a:pPr>
            <a:r>
              <a:rPr lang="en-US" sz="1600" b="1" dirty="0">
                <a:solidFill>
                  <a:schemeClr val="tx2"/>
                </a:solidFill>
              </a:rPr>
              <a:t>Templates, spaces</a:t>
            </a:r>
            <a:endParaRPr lang="en-US" sz="1600" dirty="0"/>
          </a:p>
        </p:txBody>
      </p:sp>
      <p:sp>
        <p:nvSpPr>
          <p:cNvPr id="17" name="shape93"/>
          <p:cNvSpPr txBox="1"/>
          <p:nvPr/>
        </p:nvSpPr>
        <p:spPr>
          <a:xfrm>
            <a:off x="9829800" y="2084832"/>
            <a:ext cx="1938528" cy="420624"/>
          </a:xfrm>
          <a:prstGeom prst="roundRect">
            <a:avLst>
              <a:gd name="adj" fmla="val 108696"/>
            </a:avLst>
          </a:prstGeom>
          <a:solidFill>
            <a:schemeClr val="accent1"/>
          </a:solidFill>
          <a:ln/>
        </p:spPr>
        <p:txBody>
          <a:bodyPr wrap="square" lIns="25400" tIns="25400" rIns="25400" bIns="25400" rtlCol="0" anchor="ctr"/>
          <a:lstStyle/>
          <a:p>
            <a:pPr algn="ctr" indent="0" marL="0">
              <a:buNone/>
            </a:pPr>
            <a:r>
              <a:rPr lang="en-US" sz="1600" b="1" dirty="0">
                <a:solidFill>
                  <a:schemeClr val="bg1"/>
                </a:solidFill>
              </a:rPr>
              <a:t>Run provenance</a:t>
            </a:r>
            <a:endParaRPr lang="en-US" sz="1600" dirty="0"/>
          </a:p>
        </p:txBody>
      </p:sp>
      <p:sp>
        <p:nvSpPr>
          <p:cNvPr id="18" name="shape94"/>
          <p:cNvSpPr txBox="1"/>
          <p:nvPr/>
        </p:nvSpPr>
        <p:spPr>
          <a:xfrm>
            <a:off x="7818120" y="2569464"/>
            <a:ext cx="1938528" cy="420624"/>
          </a:xfrm>
          <a:prstGeom prst="roundRect">
            <a:avLst>
              <a:gd name="adj" fmla="val 108696"/>
            </a:avLst>
          </a:prstGeom>
          <a:solidFill>
            <a:schemeClr val="bg2"/>
          </a:solidFill>
          <a:ln w="19050">
            <a:solidFill>
              <a:srgbClr val="C9D3D7"/>
            </a:solidFill>
            <a:prstDash val="solid"/>
          </a:ln>
        </p:spPr>
        <p:txBody>
          <a:bodyPr wrap="square" lIns="25400" tIns="25400" rIns="25400" bIns="25400" rtlCol="0" anchor="ctr"/>
          <a:lstStyle/>
          <a:p>
            <a:pPr algn="ctr" indent="0" marL="0">
              <a:buNone/>
            </a:pPr>
            <a:r>
              <a:rPr lang="en-US" sz="1600" b="1" dirty="0">
                <a:solidFill>
                  <a:schemeClr val="tx2"/>
                </a:solidFill>
              </a:rPr>
              <a:t>Compute envs</a:t>
            </a:r>
            <a:endParaRPr lang="en-US" sz="1600" dirty="0"/>
          </a:p>
        </p:txBody>
      </p:sp>
      <p:sp>
        <p:nvSpPr>
          <p:cNvPr id="19" name="text95"/>
          <p:cNvSpPr txBox="1"/>
          <p:nvPr/>
        </p:nvSpPr>
        <p:spPr>
          <a:xfrm>
            <a:off x="7818120" y="4160520"/>
            <a:ext cx="3931920" cy="365760"/>
          </a:xfrm>
          <a:prstGeom prst="rect">
            <a:avLst/>
          </a:prstGeom>
          <a:noFill/>
          <a:ln/>
        </p:spPr>
        <p:txBody>
          <a:bodyPr wrap="square" lIns="0" tIns="0" rIns="0" bIns="0" rtlCol="0" anchor="ctr"/>
          <a:lstStyle/>
          <a:p>
            <a:pPr indent="0" marL="0">
              <a:buNone/>
            </a:pPr>
            <a:r>
              <a:rPr lang="en-US" sz="1800" b="1" dirty="0">
                <a:solidFill>
                  <a:schemeClr val="accent2"/>
                </a:solidFill>
              </a:rPr>
              <a:t>What was found</a:t>
            </a:r>
            <a:endParaRPr lang="en-US" sz="1800" dirty="0"/>
          </a:p>
        </p:txBody>
      </p:sp>
      <p:sp>
        <p:nvSpPr>
          <p:cNvPr id="20" name="shape96"/>
          <p:cNvSpPr txBox="1"/>
          <p:nvPr/>
        </p:nvSpPr>
        <p:spPr>
          <a:xfrm>
            <a:off x="7818120" y="4572000"/>
            <a:ext cx="1938528" cy="420624"/>
          </a:xfrm>
          <a:prstGeom prst="roundRect">
            <a:avLst>
              <a:gd name="adj" fmla="val 108696"/>
            </a:avLst>
          </a:prstGeom>
          <a:solidFill>
            <a:schemeClr val="accent1"/>
          </a:solidFill>
          <a:ln/>
        </p:spPr>
        <p:txBody>
          <a:bodyPr wrap="square" lIns="25400" tIns="25400" rIns="25400" bIns="25400" rtlCol="0" anchor="ctr"/>
          <a:lstStyle/>
          <a:p>
            <a:pPr algn="ctr" indent="0" marL="0">
              <a:buNone/>
            </a:pPr>
            <a:r>
              <a:rPr lang="en-US" sz="1600" b="1" dirty="0">
                <a:solidFill>
                  <a:schemeClr val="bg1"/>
                </a:solidFill>
              </a:rPr>
              <a:t>Derived measures</a:t>
            </a:r>
            <a:endParaRPr lang="en-US" sz="1600" dirty="0"/>
          </a:p>
        </p:txBody>
      </p:sp>
      <p:sp>
        <p:nvSpPr>
          <p:cNvPr id="21" name="shape97"/>
          <p:cNvSpPr txBox="1"/>
          <p:nvPr/>
        </p:nvSpPr>
        <p:spPr>
          <a:xfrm>
            <a:off x="9829800" y="4572000"/>
            <a:ext cx="1938528" cy="420624"/>
          </a:xfrm>
          <a:prstGeom prst="roundRect">
            <a:avLst>
              <a:gd name="adj" fmla="val 108696"/>
            </a:avLst>
          </a:prstGeom>
          <a:solidFill>
            <a:schemeClr val="bg2"/>
          </a:solidFill>
          <a:ln w="19050">
            <a:solidFill>
              <a:srgbClr val="C9D3D7"/>
            </a:solidFill>
            <a:prstDash val="solid"/>
          </a:ln>
        </p:spPr>
        <p:txBody>
          <a:bodyPr wrap="square" lIns="25400" tIns="25400" rIns="25400" bIns="25400" rtlCol="0" anchor="ctr"/>
          <a:lstStyle/>
          <a:p>
            <a:pPr algn="ctr" indent="0" marL="0">
              <a:buNone/>
            </a:pPr>
            <a:r>
              <a:rPr lang="en-US" sz="1600" b="1" dirty="0">
                <a:solidFill>
                  <a:schemeClr val="tx2"/>
                </a:solidFill>
              </a:rPr>
              <a:t>Statistical maps</a:t>
            </a:r>
            <a:endParaRPr lang="en-US" sz="1600" dirty="0"/>
          </a:p>
        </p:txBody>
      </p:sp>
      <p:sp>
        <p:nvSpPr>
          <p:cNvPr id="22" name="shape98"/>
          <p:cNvSpPr txBox="1"/>
          <p:nvPr/>
        </p:nvSpPr>
        <p:spPr>
          <a:xfrm>
            <a:off x="7818120" y="5056632"/>
            <a:ext cx="1938528" cy="420624"/>
          </a:xfrm>
          <a:prstGeom prst="roundRect">
            <a:avLst>
              <a:gd name="adj" fmla="val 108696"/>
            </a:avLst>
          </a:prstGeom>
          <a:solidFill>
            <a:schemeClr val="accent1"/>
          </a:solidFill>
          <a:ln/>
        </p:spPr>
        <p:txBody>
          <a:bodyPr wrap="square" lIns="25400" tIns="25400" rIns="25400" bIns="25400" rtlCol="0" anchor="ctr"/>
          <a:lstStyle/>
          <a:p>
            <a:pPr algn="ctr" indent="0" marL="0">
              <a:buNone/>
            </a:pPr>
            <a:r>
              <a:rPr lang="en-US" sz="1600" b="1" dirty="0">
                <a:solidFill>
                  <a:schemeClr val="bg1"/>
                </a:solidFill>
              </a:rPr>
              <a:t>Questions</a:t>
            </a:r>
            <a:endParaRPr lang="en-US" sz="1600" dirty="0"/>
          </a:p>
        </p:txBody>
      </p:sp>
      <p:sp>
        <p:nvSpPr>
          <p:cNvPr id="23" name="shape99"/>
          <p:cNvSpPr txBox="1"/>
          <p:nvPr/>
        </p:nvSpPr>
        <p:spPr>
          <a:xfrm>
            <a:off x="9829800" y="5056632"/>
            <a:ext cx="1938528" cy="420624"/>
          </a:xfrm>
          <a:prstGeom prst="roundRect">
            <a:avLst>
              <a:gd name="adj" fmla="val 108696"/>
            </a:avLst>
          </a:prstGeom>
          <a:solidFill>
            <a:schemeClr val="accent1"/>
          </a:solidFill>
          <a:ln/>
        </p:spPr>
        <p:txBody>
          <a:bodyPr wrap="square" lIns="25400" tIns="25400" rIns="25400" bIns="25400" rtlCol="0" anchor="ctr"/>
          <a:lstStyle/>
          <a:p>
            <a:pPr algn="ctr" indent="0" marL="0">
              <a:buNone/>
            </a:pPr>
            <a:r>
              <a:rPr lang="en-US" sz="1600" b="1" dirty="0">
                <a:solidFill>
                  <a:schemeClr val="bg1"/>
                </a:solidFill>
              </a:rPr>
              <a:t>Scoped claims</a:t>
            </a:r>
            <a:endParaRPr lang="en-US" sz="1600" dirty="0"/>
          </a:p>
        </p:txBody>
      </p:sp>
      <p:sp>
        <p:nvSpPr>
          <p:cNvPr id="24" name="text100"/>
          <p:cNvSpPr txBox="1"/>
          <p:nvPr/>
        </p:nvSpPr>
        <p:spPr>
          <a:xfrm>
            <a:off x="457200" y="4023360"/>
            <a:ext cx="3931920" cy="365760"/>
          </a:xfrm>
          <a:prstGeom prst="rect">
            <a:avLst/>
          </a:prstGeom>
          <a:noFill/>
          <a:ln/>
        </p:spPr>
        <p:txBody>
          <a:bodyPr wrap="square" lIns="0" tIns="0" rIns="0" bIns="0" rtlCol="0" anchor="ctr"/>
          <a:lstStyle/>
          <a:p>
            <a:pPr indent="0" marL="0">
              <a:buNone/>
            </a:pPr>
            <a:r>
              <a:rPr lang="en-US" sz="1800" b="1" dirty="0">
                <a:solidFill>
                  <a:schemeClr val="tx1"/>
                </a:solidFill>
              </a:rPr>
              <a:t>Who and in what context</a:t>
            </a:r>
            <a:endParaRPr lang="en-US" sz="1800" dirty="0"/>
          </a:p>
        </p:txBody>
      </p:sp>
      <p:sp>
        <p:nvSpPr>
          <p:cNvPr id="25" name="shape101"/>
          <p:cNvSpPr txBox="1"/>
          <p:nvPr/>
        </p:nvSpPr>
        <p:spPr>
          <a:xfrm>
            <a:off x="457200" y="4434840"/>
            <a:ext cx="1938528" cy="420624"/>
          </a:xfrm>
          <a:prstGeom prst="roundRect">
            <a:avLst>
              <a:gd name="adj" fmla="val 108696"/>
            </a:avLst>
          </a:prstGeom>
          <a:solidFill>
            <a:schemeClr val="accent1"/>
          </a:solidFill>
          <a:ln/>
        </p:spPr>
        <p:txBody>
          <a:bodyPr wrap="square" lIns="25400" tIns="25400" rIns="25400" bIns="25400" rtlCol="0" anchor="ctr"/>
          <a:lstStyle/>
          <a:p>
            <a:pPr algn="ctr" indent="0" marL="0">
              <a:buNone/>
            </a:pPr>
            <a:r>
              <a:rPr lang="en-US" sz="1600" b="1" dirty="0">
                <a:solidFill>
                  <a:schemeClr val="bg1"/>
                </a:solidFill>
              </a:rPr>
              <a:t>Publications</a:t>
            </a:r>
            <a:endParaRPr lang="en-US" sz="1600" dirty="0"/>
          </a:p>
        </p:txBody>
      </p:sp>
      <p:sp>
        <p:nvSpPr>
          <p:cNvPr id="26" name="shape102"/>
          <p:cNvSpPr txBox="1"/>
          <p:nvPr/>
        </p:nvSpPr>
        <p:spPr>
          <a:xfrm>
            <a:off x="2468880" y="4434840"/>
            <a:ext cx="1938528" cy="420624"/>
          </a:xfrm>
          <a:prstGeom prst="roundRect">
            <a:avLst>
              <a:gd name="adj" fmla="val 108696"/>
            </a:avLst>
          </a:prstGeom>
          <a:solidFill>
            <a:schemeClr val="accent1"/>
          </a:solidFill>
          <a:ln/>
        </p:spPr>
        <p:txBody>
          <a:bodyPr wrap="square" lIns="25400" tIns="25400" rIns="25400" bIns="25400" rtlCol="0" anchor="ctr"/>
          <a:lstStyle/>
          <a:p>
            <a:pPr algn="ctr" indent="0" marL="0">
              <a:buNone/>
            </a:pPr>
            <a:r>
              <a:rPr lang="en-US" sz="1600" b="1" dirty="0">
                <a:solidFill>
                  <a:schemeClr val="bg1"/>
                </a:solidFill>
              </a:rPr>
              <a:t>People, roles</a:t>
            </a:r>
            <a:endParaRPr lang="en-US" sz="1600" dirty="0"/>
          </a:p>
        </p:txBody>
      </p:sp>
      <p:sp>
        <p:nvSpPr>
          <p:cNvPr id="27" name="shape103"/>
          <p:cNvSpPr txBox="1"/>
          <p:nvPr/>
        </p:nvSpPr>
        <p:spPr>
          <a:xfrm>
            <a:off x="457200" y="4919472"/>
            <a:ext cx="1938528" cy="420624"/>
          </a:xfrm>
          <a:prstGeom prst="roundRect">
            <a:avLst>
              <a:gd name="adj" fmla="val 108696"/>
            </a:avLst>
          </a:prstGeom>
          <a:solidFill>
            <a:schemeClr val="bg2"/>
          </a:solidFill>
          <a:ln w="19050">
            <a:solidFill>
              <a:srgbClr val="C9D3D7"/>
            </a:solidFill>
            <a:prstDash val="solid"/>
          </a:ln>
        </p:spPr>
        <p:txBody>
          <a:bodyPr wrap="square" lIns="25400" tIns="25400" rIns="25400" bIns="25400" rtlCol="0" anchor="ctr"/>
          <a:lstStyle/>
          <a:p>
            <a:pPr algn="ctr" indent="0" marL="0">
              <a:buNone/>
            </a:pPr>
            <a:r>
              <a:rPr lang="en-US" sz="1600" b="1" dirty="0">
                <a:solidFill>
                  <a:schemeClr val="tx2"/>
                </a:solidFill>
              </a:rPr>
              <a:t>Projects, funding</a:t>
            </a:r>
            <a:endParaRPr lang="en-US" sz="1600" dirty="0"/>
          </a:p>
        </p:txBody>
      </p:sp>
      <p:sp>
        <p:nvSpPr>
          <p:cNvPr id="28" name="shape104"/>
          <p:cNvSpPr txBox="1"/>
          <p:nvPr/>
        </p:nvSpPr>
        <p:spPr>
          <a:xfrm>
            <a:off x="2468880" y="4919472"/>
            <a:ext cx="1938528" cy="420624"/>
          </a:xfrm>
          <a:prstGeom prst="roundRect">
            <a:avLst>
              <a:gd name="adj" fmla="val 108696"/>
            </a:avLst>
          </a:prstGeom>
          <a:solidFill>
            <a:schemeClr val="accent1"/>
          </a:solidFill>
          <a:ln/>
        </p:spPr>
        <p:txBody>
          <a:bodyPr wrap="square" lIns="25400" tIns="25400" rIns="25400" bIns="25400" rtlCol="0" anchor="ctr"/>
          <a:lstStyle/>
          <a:p>
            <a:pPr algn="ctr" indent="0" marL="0">
              <a:buNone/>
            </a:pPr>
            <a:r>
              <a:rPr lang="en-US" sz="1600" b="1" dirty="0">
                <a:solidFill>
                  <a:schemeClr val="bg1"/>
                </a:solidFill>
              </a:rPr>
              <a:t>Reviews, disputes</a:t>
            </a:r>
            <a:endParaRPr lang="en-US" sz="1600" dirty="0"/>
          </a:p>
        </p:txBody>
      </p:sp>
      <p:sp>
        <p:nvSpPr>
          <p:cNvPr id="29" name="shape105"/>
          <p:cNvSpPr txBox="1"/>
          <p:nvPr/>
        </p:nvSpPr>
        <p:spPr>
          <a:xfrm>
            <a:off x="457200" y="5404104"/>
            <a:ext cx="1938528" cy="420624"/>
          </a:xfrm>
          <a:prstGeom prst="roundRect">
            <a:avLst>
              <a:gd name="adj" fmla="val 108696"/>
            </a:avLst>
          </a:prstGeom>
          <a:solidFill>
            <a:schemeClr val="accent1"/>
          </a:solidFill>
          <a:ln/>
        </p:spPr>
        <p:txBody>
          <a:bodyPr wrap="square" lIns="25400" tIns="25400" rIns="25400" bIns="25400" rtlCol="0" anchor="ctr"/>
          <a:lstStyle/>
          <a:p>
            <a:pPr algn="ctr" indent="0" marL="0">
              <a:buNone/>
            </a:pPr>
            <a:r>
              <a:rPr lang="en-US" sz="1600" b="1" dirty="0">
                <a:solidFill>
                  <a:schemeClr val="bg1"/>
                </a:solidFill>
              </a:rPr>
              <a:t>Resource activity</a:t>
            </a:r>
            <a:endParaRPr lang="en-US" sz="1600" dirty="0"/>
          </a:p>
        </p:txBody>
      </p:sp>
      <p:sp>
        <p:nvSpPr>
          <p:cNvPr id="30" name="shape106"/>
          <p:cNvSpPr txBox="1"/>
          <p:nvPr/>
        </p:nvSpPr>
        <p:spPr>
          <a:xfrm>
            <a:off x="2468880" y="5404104"/>
            <a:ext cx="1938528" cy="420624"/>
          </a:xfrm>
          <a:prstGeom prst="roundRect">
            <a:avLst>
              <a:gd name="adj" fmla="val 108696"/>
            </a:avLst>
          </a:prstGeom>
          <a:solidFill>
            <a:schemeClr val="accent1"/>
          </a:solidFill>
          <a:ln/>
        </p:spPr>
        <p:txBody>
          <a:bodyPr wrap="square" lIns="25400" tIns="25400" rIns="25400" bIns="25400" rtlCol="0" anchor="ctr"/>
          <a:lstStyle/>
          <a:p>
            <a:pPr algn="ctr" indent="0" marL="0">
              <a:buNone/>
            </a:pPr>
            <a:r>
              <a:rPr lang="en-US" sz="1600" b="1" dirty="0">
                <a:solidFill>
                  <a:schemeClr val="bg1"/>
                </a:solidFill>
              </a:rPr>
              <a:t>Ontologies</a:t>
            </a:r>
            <a:endParaRPr lang="en-US" sz="1600" dirty="0"/>
          </a:p>
        </p:txBody>
      </p:sp>
      <p:sp>
        <p:nvSpPr>
          <p:cNvPr id="31" name="shape107"/>
          <p:cNvSpPr txBox="1"/>
          <p:nvPr/>
        </p:nvSpPr>
        <p:spPr>
          <a:xfrm>
            <a:off x="457200" y="5888736"/>
            <a:ext cx="1938528" cy="420624"/>
          </a:xfrm>
          <a:prstGeom prst="roundRect">
            <a:avLst>
              <a:gd name="adj" fmla="val 108696"/>
            </a:avLst>
          </a:prstGeom>
          <a:solidFill>
            <a:schemeClr val="bg2"/>
          </a:solidFill>
          <a:ln w="19050">
            <a:solidFill>
              <a:srgbClr val="C9D3D7"/>
            </a:solidFill>
            <a:prstDash val="solid"/>
          </a:ln>
        </p:spPr>
        <p:txBody>
          <a:bodyPr wrap="square" lIns="25400" tIns="25400" rIns="25400" bIns="25400" rtlCol="0" anchor="ctr"/>
          <a:lstStyle/>
          <a:p>
            <a:pPr algn="ctr" indent="0" marL="0">
              <a:buNone/>
            </a:pPr>
            <a:r>
              <a:rPr lang="en-US" sz="1600" b="1" dirty="0">
                <a:solidFill>
                  <a:schemeClr val="tx2"/>
                </a:solidFill>
              </a:rPr>
              <a:t>Consent, licences</a:t>
            </a:r>
            <a:endParaRPr lang="en-US" sz="1600" dirty="0"/>
          </a:p>
        </p:txBody>
      </p:sp>
      <p:sp>
        <p:nvSpPr>
          <p:cNvPr id="32" name="shape108"/>
          <p:cNvSpPr/>
          <p:nvPr/>
        </p:nvSpPr>
        <p:spPr>
          <a:xfrm>
            <a:off x="4617720" y="5833872"/>
            <a:ext cx="274320" cy="274320"/>
          </a:xfrm>
          <a:prstGeom prst="ellipse">
            <a:avLst/>
          </a:prstGeom>
          <a:solidFill>
            <a:schemeClr val="accent1"/>
          </a:solidFill>
          <a:ln/>
        </p:spPr>
      </p:sp>
      <p:sp>
        <p:nvSpPr>
          <p:cNvPr id="33" name="text109"/>
          <p:cNvSpPr txBox="1"/>
          <p:nvPr/>
        </p:nvSpPr>
        <p:spPr>
          <a:xfrm>
            <a:off x="4983480" y="5788152"/>
            <a:ext cx="2743200" cy="365760"/>
          </a:xfrm>
          <a:prstGeom prst="rect">
            <a:avLst/>
          </a:prstGeom>
          <a:noFill/>
          <a:ln/>
        </p:spPr>
        <p:txBody>
          <a:bodyPr wrap="square" lIns="0" tIns="0" rIns="0" bIns="0" rtlCol="0" anchor="ctr"/>
          <a:lstStyle/>
          <a:p>
            <a:pPr indent="0" marL="0">
              <a:buNone/>
            </a:pPr>
            <a:r>
              <a:rPr lang="en-US" sz="1600" dirty="0">
                <a:solidFill>
                  <a:schemeClr val="accent3"/>
                </a:solidFill>
              </a:rPr>
              <a:t>teal = in the worked examples</a:t>
            </a:r>
            <a:endParaRPr lang="en-US" sz="1600" dirty="0"/>
          </a:p>
        </p:txBody>
      </p:sp>
      <p:sp>
        <p:nvSpPr>
          <p:cNvPr id="34" name="text110"/>
          <p:cNvSpPr txBox="1"/>
          <p:nvPr/>
        </p:nvSpPr>
        <p:spPr>
          <a:xfrm>
            <a:off x="7818120" y="5715000"/>
            <a:ext cx="3931920" cy="731520"/>
          </a:xfrm>
          <a:prstGeom prst="rect">
            <a:avLst/>
          </a:prstGeom>
          <a:noFill/>
          <a:ln/>
        </p:spPr>
        <p:txBody>
          <a:bodyPr wrap="square" lIns="0" tIns="0" rIns="0" bIns="0" rtlCol="0" anchor="ctr"/>
          <a:lstStyle/>
          <a:p>
            <a:pPr indent="0" marL="0">
              <a:buNone/>
            </a:pPr>
            <a:r>
              <a:rPr lang="en-US" sz="1800" i="1" dirty="0">
                <a:solidFill>
                  <a:schemeClr val="accent2"/>
                </a:solidFill>
              </a:rPr>
              <a:t>Which of these does your lab already write down?</a:t>
            </a:r>
            <a:endParaRPr lang="en-US" sz="1800" dirty="0"/>
          </a:p>
        </p:txBody>
      </p:sp>
      <p:pic>
        <p:nvPicPr>
          <p:cNvPr id="36" name="stripIcon5" descr="preencoded.png">    </p:cNvPr>
          <p:cNvPicPr>
            <a:picLocks noChangeAspect="1"/>
          </p:cNvPicPr>
          <p:nvPr/>
        </p:nvPicPr>
        <p:blipFill>
          <a:blip r:embed="rId1"/>
          <a:stretch>
            <a:fillRect/>
          </a:stretch>
        </p:blipFill>
        <p:spPr>
          <a:xfrm>
            <a:off x="548640" y="969264"/>
            <a:ext cx="182880" cy="182880"/>
          </a:xfrm>
          <a:prstGeom prst="rect">
            <a:avLst/>
          </a:prstGeom>
        </p:spPr>
      </p:pic>
      <p:sp>
        <p:nvSpPr>
          <p:cNvPr id="37" name="strip5"/>
          <p:cNvSpPr txBox="1"/>
          <p:nvPr/>
        </p:nvSpPr>
        <p:spPr>
          <a:xfrm>
            <a:off x="804672" y="914400"/>
            <a:ext cx="10972800" cy="292608"/>
          </a:xfrm>
          <a:prstGeom prst="rect">
            <a:avLst/>
          </a:prstGeom>
          <a:noFill/>
          <a:ln/>
        </p:spPr>
        <p:txBody>
          <a:bodyPr wrap="square" lIns="0" tIns="0" rIns="0" bIns="0" rtlCol="0" anchor="ctr"/>
          <a:lstStyle/>
          <a:p>
            <a:pPr indent="0" marL="0">
              <a:buNone/>
            </a:pPr>
            <a:r>
              <a:rPr lang="en-US" sz="1200" b="1" dirty="0">
                <a:solidFill>
                  <a:schemeClr val="accent1"/>
                </a:solidFill>
              </a:rPr>
              <a:t>In the graph: </a:t>
            </a:r>
            <a:pPr indent="0" marL="0">
              <a:buNone/>
            </a:pPr>
            <a:r>
              <a:rPr lang="en-US" sz="1200" dirty="0">
                <a:solidFill>
                  <a:schemeClr val="accent3"/>
                </a:solidFill>
              </a:rPr>
              <a:t>Node and edge types; teal = types used in our ds000030 and ABIDE graphs (assigned in the plan, not computed by a query)</a:t>
            </a:r>
            <a:endParaRPr lang="en-US" sz="1200" dirty="0"/>
          </a:p>
        </p:txBody>
      </p:sp>
      <p:sp>
        <p:nvSpPr>
          <p:cNvPr id="38" name="tagDot5"/>
          <p:cNvSpPr/>
          <p:nvPr/>
        </p:nvSpPr>
        <p:spPr>
          <a:xfrm>
            <a:off x="9326880" y="82296"/>
            <a:ext cx="128016" cy="128016"/>
          </a:xfrm>
          <a:prstGeom prst="ellipse">
            <a:avLst/>
          </a:prstGeom>
          <a:solidFill>
            <a:schemeClr val="accent1"/>
          </a:solidFill>
          <a:ln/>
        </p:spPr>
      </p:sp>
      <p:sp>
        <p:nvSpPr>
          <p:cNvPr id="39" name="tag5"/>
          <p:cNvSpPr txBox="1"/>
          <p:nvPr/>
        </p:nvSpPr>
        <p:spPr>
          <a:xfrm>
            <a:off x="9509760" y="18288"/>
            <a:ext cx="2286000" cy="256032"/>
          </a:xfrm>
          <a:prstGeom prst="rect">
            <a:avLst/>
          </a:prstGeom>
          <a:noFill/>
          <a:ln/>
        </p:spPr>
        <p:txBody>
          <a:bodyPr wrap="square" lIns="0" tIns="0" rIns="0" bIns="0" rtlCol="0" anchor="ctr"/>
          <a:lstStyle/>
          <a:p>
            <a:pPr indent="0" marL="0">
              <a:buNone/>
            </a:pPr>
            <a:r>
              <a:rPr lang="en-US" sz="1200" i="1" dirty="0">
                <a:solidFill>
                  <a:schemeClr val="accent3"/>
                </a:solidFill>
              </a:rPr>
              <a:t>Objective 1</a:t>
            </a:r>
            <a:endParaRPr lang="en-US" sz="1200" dirty="0"/>
          </a:p>
        </p:txBody>
      </p:sp>
      <p:sp>
        <p:nvSpPr>
          <p:cNvPr id="40" name="badge5_H"/>
          <p:cNvSpPr txBox="1"/>
          <p:nvPr/>
        </p:nvSpPr>
        <p:spPr>
          <a:xfrm>
            <a:off x="274320"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H</a:t>
            </a:r>
            <a:endParaRPr lang="en-US" sz="1100" dirty="0"/>
          </a:p>
        </p:txBody>
      </p:sp>
      <p:sp>
        <p:nvSpPr>
          <p:cNvPr id="41" name="badge5_L"/>
          <p:cNvSpPr txBox="1"/>
          <p:nvPr/>
        </p:nvSpPr>
        <p:spPr>
          <a:xfrm>
            <a:off x="576072"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L</a:t>
            </a:r>
            <a:endParaRPr lang="en-US" sz="1100" dirty="0"/>
          </a:p>
        </p:txBody>
      </p:sp>
      <p:sp>
        <p:nvSpPr>
          <p:cNvPr id="42" name="badge5_R"/>
          <p:cNvSpPr txBox="1"/>
          <p:nvPr/>
        </p:nvSpPr>
        <p:spPr>
          <a:xfrm>
            <a:off x="877824"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R</a:t>
            </a:r>
            <a:endParaRPr lang="en-US" sz="1100" dirty="0"/>
          </a:p>
        </p:txBody>
      </p:sp>
      <p:sp>
        <p:nvSpPr>
          <p:cNvPr id="43" name="badge5_check"/>
          <p:cNvSpPr txBox="1"/>
          <p:nvPr/>
        </p:nvSpPr>
        <p:spPr>
          <a:xfrm>
            <a:off x="1234440" y="6473952"/>
            <a:ext cx="676656" cy="301752"/>
          </a:xfrm>
          <a:prstGeom prst="rect">
            <a:avLst/>
          </a:prstGeom>
          <a:noFill/>
          <a:ln/>
        </p:spPr>
        <p:txBody>
          <a:bodyPr wrap="square" lIns="0" tIns="0" rIns="0" bIns="0" rtlCol="0" anchor="ctr"/>
          <a:lstStyle/>
          <a:p>
            <a:pPr indent="0" marL="0">
              <a:buNone/>
            </a:pPr>
            <a:r>
              <a:rPr lang="en-US" sz="1100" i="1" dirty="0">
                <a:solidFill>
                  <a:srgbClr val="5E7A88"/>
                </a:solidFill>
              </a:rPr>
              <a:t>reviewed</a:t>
            </a:r>
            <a:endParaRPr lang="en-US" sz="11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
            <a:ext cx="11064240" cy="713232"/>
          </a:xfrm>
          <a:prstGeom prst="rect">
            <a:avLst/>
          </a:prstGeom>
          <a:noFill/>
          <a:ln/>
        </p:spPr>
        <p:txBody>
          <a:bodyPr wrap="square" rtlCol="0" anchor="ctr"/>
          <a:lstStyle/>
          <a:p>
            <a:pPr algn="l" indent="0" marL="0">
              <a:buNone/>
            </a:pPr>
            <a:r>
              <a:rPr lang="en-US" sz="3200" b="1" dirty="0">
                <a:solidFill>
                  <a:schemeClr val="tx2"/>
                </a:solidFill>
              </a:rPr>
              <a:t>Knowledge graph around a single participant</a:t>
            </a:r>
            <a:endParaRPr lang="en-US" sz="3200" dirty="0"/>
          </a:p>
        </p:txBody>
      </p:sp>
      <p:pic>
        <p:nvPicPr>
          <p:cNvPr id="3" name="fig111" descr="participant_ego_slide.png">    </p:cNvPr>
          <p:cNvPicPr>
            <a:picLocks noChangeAspect="1"/>
          </p:cNvPicPr>
          <p:nvPr/>
        </p:nvPicPr>
        <p:blipFill>
          <a:blip r:embed="rId1"/>
          <a:stretch>
            <a:fillRect/>
          </a:stretch>
        </p:blipFill>
        <p:spPr>
          <a:xfrm>
            <a:off x="1575231" y="1234440"/>
            <a:ext cx="5719218" cy="5166360"/>
          </a:xfrm>
          <a:prstGeom prst="rect">
            <a:avLst/>
          </a:prstGeom>
        </p:spPr>
      </p:pic>
      <p:sp>
        <p:nvSpPr>
          <p:cNvPr id="4" name="text112"/>
          <p:cNvSpPr txBox="1"/>
          <p:nvPr/>
        </p:nvSpPr>
        <p:spPr>
          <a:xfrm>
            <a:off x="8686800" y="1325880"/>
            <a:ext cx="3017520" cy="411480"/>
          </a:xfrm>
          <a:prstGeom prst="rect">
            <a:avLst/>
          </a:prstGeom>
          <a:noFill/>
          <a:ln/>
        </p:spPr>
        <p:txBody>
          <a:bodyPr wrap="square" lIns="0" tIns="0" rIns="0" bIns="0" rtlCol="0" anchor="t"/>
          <a:lstStyle/>
          <a:p>
            <a:pPr indent="0" marL="0">
              <a:buNone/>
            </a:pPr>
            <a:r>
              <a:rPr lang="en-US" sz="2000" b="1" dirty="0">
                <a:solidFill>
                  <a:schemeClr val="tx2"/>
                </a:solidFill>
              </a:rPr>
              <a:t>Layers</a:t>
            </a:r>
            <a:endParaRPr lang="en-US" sz="2000" dirty="0"/>
          </a:p>
        </p:txBody>
      </p:sp>
      <p:sp>
        <p:nvSpPr>
          <p:cNvPr id="5" name="shape113"/>
          <p:cNvSpPr/>
          <p:nvPr/>
        </p:nvSpPr>
        <p:spPr>
          <a:xfrm>
            <a:off x="8686800" y="1920240"/>
            <a:ext cx="310896" cy="310896"/>
          </a:xfrm>
          <a:prstGeom prst="ellipse">
            <a:avLst/>
          </a:prstGeom>
          <a:solidFill>
            <a:schemeClr val="accent1"/>
          </a:solidFill>
          <a:ln/>
        </p:spPr>
      </p:sp>
      <p:sp>
        <p:nvSpPr>
          <p:cNvPr id="6" name="text114"/>
          <p:cNvSpPr txBox="1"/>
          <p:nvPr/>
        </p:nvSpPr>
        <p:spPr>
          <a:xfrm>
            <a:off x="9098280" y="1828800"/>
            <a:ext cx="2743200" cy="502920"/>
          </a:xfrm>
          <a:prstGeom prst="rect">
            <a:avLst/>
          </a:prstGeom>
          <a:noFill/>
          <a:ln/>
        </p:spPr>
        <p:txBody>
          <a:bodyPr wrap="square" lIns="0" tIns="0" rIns="0" bIns="0" rtlCol="0" anchor="ctr"/>
          <a:lstStyle/>
          <a:p>
            <a:pPr indent="0" marL="0">
              <a:buNone/>
            </a:pPr>
            <a:r>
              <a:rPr lang="en-US" sz="1600" b="1" dirty="0">
                <a:solidFill>
                  <a:schemeClr val="tx2"/>
                </a:solidFill>
              </a:rPr>
              <a:t>Phenotype</a:t>
            </a:r>
            <a:pPr indent="0" marL="0">
              <a:buNone/>
            </a:pPr>
            <a:r>
              <a:rPr lang="en-US" sz="1600" dirty="0">
                <a:solidFill>
                  <a:schemeClr val="accent3"/>
                </a:solidFill>
              </a:rPr>
              <a:t>  38 values</a:t>
            </a:r>
            <a:endParaRPr lang="en-US" sz="1600" dirty="0"/>
          </a:p>
        </p:txBody>
      </p:sp>
      <p:sp>
        <p:nvSpPr>
          <p:cNvPr id="7" name="shape115"/>
          <p:cNvSpPr/>
          <p:nvPr/>
        </p:nvSpPr>
        <p:spPr>
          <a:xfrm>
            <a:off x="8686800" y="2487168"/>
            <a:ext cx="310896" cy="310896"/>
          </a:xfrm>
          <a:prstGeom prst="ellipse">
            <a:avLst/>
          </a:prstGeom>
          <a:solidFill>
            <a:schemeClr val="tx2"/>
          </a:solidFill>
          <a:ln/>
        </p:spPr>
      </p:sp>
      <p:sp>
        <p:nvSpPr>
          <p:cNvPr id="8" name="text116"/>
          <p:cNvSpPr txBox="1"/>
          <p:nvPr/>
        </p:nvSpPr>
        <p:spPr>
          <a:xfrm>
            <a:off x="9098280" y="2395728"/>
            <a:ext cx="2743200" cy="502920"/>
          </a:xfrm>
          <a:prstGeom prst="rect">
            <a:avLst/>
          </a:prstGeom>
          <a:noFill/>
          <a:ln/>
        </p:spPr>
        <p:txBody>
          <a:bodyPr wrap="square" lIns="0" tIns="0" rIns="0" bIns="0" rtlCol="0" anchor="ctr"/>
          <a:lstStyle/>
          <a:p>
            <a:pPr indent="0" marL="0">
              <a:buNone/>
            </a:pPr>
            <a:r>
              <a:rPr lang="en-US" sz="1600" b="1" dirty="0">
                <a:solidFill>
                  <a:schemeClr val="tx2"/>
                </a:solidFill>
              </a:rPr>
              <a:t>Scans and QC</a:t>
            </a:r>
            <a:pPr indent="0" marL="0">
              <a:buNone/>
            </a:pPr>
            <a:r>
              <a:rPr lang="en-US" sz="1600" dirty="0">
                <a:solidFill>
                  <a:schemeClr val="accent3"/>
                </a:solidFill>
              </a:rPr>
              <a:t>  2 scans; head motion 0.064 mm</a:t>
            </a:r>
            <a:endParaRPr lang="en-US" sz="1600" dirty="0"/>
          </a:p>
        </p:txBody>
      </p:sp>
      <p:sp>
        <p:nvSpPr>
          <p:cNvPr id="9" name="shape117"/>
          <p:cNvSpPr/>
          <p:nvPr/>
        </p:nvSpPr>
        <p:spPr>
          <a:xfrm>
            <a:off x="8686800" y="3054096"/>
            <a:ext cx="310896" cy="310896"/>
          </a:xfrm>
          <a:prstGeom prst="ellipse">
            <a:avLst/>
          </a:prstGeom>
          <a:solidFill>
            <a:schemeClr val="accent3"/>
          </a:solidFill>
          <a:ln/>
        </p:spPr>
      </p:sp>
      <p:sp>
        <p:nvSpPr>
          <p:cNvPr id="10" name="text118"/>
          <p:cNvSpPr txBox="1"/>
          <p:nvPr/>
        </p:nvSpPr>
        <p:spPr>
          <a:xfrm>
            <a:off x="9098280" y="2962656"/>
            <a:ext cx="2743200" cy="502920"/>
          </a:xfrm>
          <a:prstGeom prst="rect">
            <a:avLst/>
          </a:prstGeom>
          <a:noFill/>
          <a:ln/>
        </p:spPr>
        <p:txBody>
          <a:bodyPr wrap="square" lIns="0" tIns="0" rIns="0" bIns="0" rtlCol="0" anchor="ctr"/>
          <a:lstStyle/>
          <a:p>
            <a:pPr indent="0" marL="0">
              <a:buNone/>
            </a:pPr>
            <a:r>
              <a:rPr lang="en-US" sz="1600" b="1" dirty="0">
                <a:solidFill>
                  <a:schemeClr val="tx2"/>
                </a:solidFill>
              </a:rPr>
              <a:t>Derived data</a:t>
            </a:r>
            <a:pPr indent="0" marL="0">
              <a:buNone/>
            </a:pPr>
            <a:r>
              <a:rPr lang="en-US" sz="1600" dirty="0">
                <a:solidFill>
                  <a:schemeClr val="accent3"/>
                </a:solidFill>
              </a:rPr>
              <a:t>  regional time series, connectivity</a:t>
            </a:r>
            <a:endParaRPr lang="en-US" sz="1600" dirty="0"/>
          </a:p>
        </p:txBody>
      </p:sp>
      <p:sp>
        <p:nvSpPr>
          <p:cNvPr id="11" name="shape119"/>
          <p:cNvSpPr/>
          <p:nvPr/>
        </p:nvSpPr>
        <p:spPr>
          <a:xfrm>
            <a:off x="8686800" y="3621024"/>
            <a:ext cx="310896" cy="310896"/>
          </a:xfrm>
          <a:prstGeom prst="ellipse">
            <a:avLst/>
          </a:prstGeom>
          <a:solidFill>
            <a:schemeClr val="accent2"/>
          </a:solidFill>
          <a:ln/>
        </p:spPr>
      </p:sp>
      <p:sp>
        <p:nvSpPr>
          <p:cNvPr id="12" name="text120"/>
          <p:cNvSpPr txBox="1"/>
          <p:nvPr/>
        </p:nvSpPr>
        <p:spPr>
          <a:xfrm>
            <a:off x="9098280" y="3529584"/>
            <a:ext cx="2743200" cy="502920"/>
          </a:xfrm>
          <a:prstGeom prst="rect">
            <a:avLst/>
          </a:prstGeom>
          <a:noFill/>
          <a:ln/>
        </p:spPr>
        <p:txBody>
          <a:bodyPr wrap="square" lIns="0" tIns="0" rIns="0" bIns="0" rtlCol="0" anchor="ctr"/>
          <a:lstStyle/>
          <a:p>
            <a:pPr indent="0" marL="0">
              <a:buNone/>
            </a:pPr>
            <a:r>
              <a:rPr lang="en-US" sz="1600" b="1" dirty="0">
                <a:solidFill>
                  <a:schemeClr val="tx2"/>
                </a:solidFill>
              </a:rPr>
              <a:t>Brain volumes by tool</a:t>
            </a:r>
            <a:pPr indent="0" marL="0">
              <a:buNone/>
            </a:pPr>
            <a:r>
              <a:rPr lang="en-US" sz="1600" dirty="0">
                <a:solidFill>
                  <a:schemeClr val="accent3"/>
                </a:solidFill>
              </a:rPr>
              <a:t>  ANTs 101 · FSL 18 · FreeSurfer 62</a:t>
            </a:r>
            <a:endParaRPr lang="en-US" sz="1600" dirty="0"/>
          </a:p>
        </p:txBody>
      </p:sp>
      <p:sp>
        <p:nvSpPr>
          <p:cNvPr id="13" name="shape121"/>
          <p:cNvSpPr/>
          <p:nvPr/>
        </p:nvSpPr>
        <p:spPr>
          <a:xfrm>
            <a:off x="8686800" y="4187952"/>
            <a:ext cx="310896" cy="310896"/>
          </a:xfrm>
          <a:prstGeom prst="ellipse">
            <a:avLst/>
          </a:prstGeom>
          <a:solidFill>
            <a:srgbClr val="8EA4AE"/>
          </a:solidFill>
          <a:ln/>
        </p:spPr>
      </p:sp>
      <p:sp>
        <p:nvSpPr>
          <p:cNvPr id="14" name="text122"/>
          <p:cNvSpPr txBox="1"/>
          <p:nvPr/>
        </p:nvSpPr>
        <p:spPr>
          <a:xfrm>
            <a:off x="9098280" y="4096512"/>
            <a:ext cx="2743200" cy="502920"/>
          </a:xfrm>
          <a:prstGeom prst="rect">
            <a:avLst/>
          </a:prstGeom>
          <a:noFill/>
          <a:ln/>
        </p:spPr>
        <p:txBody>
          <a:bodyPr wrap="square" lIns="0" tIns="0" rIns="0" bIns="0" rtlCol="0" anchor="ctr"/>
          <a:lstStyle/>
          <a:p>
            <a:pPr indent="0" marL="0">
              <a:buNone/>
            </a:pPr>
            <a:r>
              <a:rPr lang="en-US" sz="1600" b="1" dirty="0">
                <a:solidFill>
                  <a:schemeClr val="tx2"/>
                </a:solidFill>
              </a:rPr>
              <a:t>Cohorts and folds</a:t>
            </a:r>
            <a:pPr indent="0" marL="0">
              <a:buNone/>
            </a:pPr>
            <a:r>
              <a:rPr lang="en-US" sz="1600" dirty="0">
                <a:solidFill>
                  <a:schemeClr val="accent3"/>
                </a:solidFill>
              </a:rPr>
              <a:t>  4 cohorts; dropped from one</a:t>
            </a:r>
            <a:endParaRPr lang="en-US" sz="1600" dirty="0"/>
          </a:p>
        </p:txBody>
      </p:sp>
      <p:sp>
        <p:nvSpPr>
          <p:cNvPr id="15" name="shape123"/>
          <p:cNvSpPr/>
          <p:nvPr/>
        </p:nvSpPr>
        <p:spPr>
          <a:xfrm>
            <a:off x="8686800" y="4754880"/>
            <a:ext cx="310896" cy="310896"/>
          </a:xfrm>
          <a:prstGeom prst="ellipse">
            <a:avLst/>
          </a:prstGeom>
          <a:solidFill>
            <a:srgbClr val="5FA8A9"/>
          </a:solidFill>
          <a:ln/>
        </p:spPr>
      </p:sp>
      <p:sp>
        <p:nvSpPr>
          <p:cNvPr id="16" name="text124"/>
          <p:cNvSpPr txBox="1"/>
          <p:nvPr/>
        </p:nvSpPr>
        <p:spPr>
          <a:xfrm>
            <a:off x="9098280" y="4663440"/>
            <a:ext cx="2743200" cy="502920"/>
          </a:xfrm>
          <a:prstGeom prst="rect">
            <a:avLst/>
          </a:prstGeom>
          <a:noFill/>
          <a:ln/>
        </p:spPr>
        <p:txBody>
          <a:bodyPr wrap="square" lIns="0" tIns="0" rIns="0" bIns="0" rtlCol="0" anchor="ctr"/>
          <a:lstStyle/>
          <a:p>
            <a:pPr indent="0" marL="0">
              <a:buNone/>
            </a:pPr>
            <a:r>
              <a:rPr lang="en-US" sz="1600" b="1" dirty="0">
                <a:solidFill>
                  <a:schemeClr val="tx2"/>
                </a:solidFill>
              </a:rPr>
              <a:t>Results</a:t>
            </a:r>
            <a:pPr indent="0" marL="0">
              <a:buNone/>
            </a:pPr>
            <a:r>
              <a:rPr lang="en-US" sz="1600" dirty="0">
                <a:solidFill>
                  <a:schemeClr val="accent3"/>
                </a:solidFill>
              </a:rPr>
              <a:t>  10 results</a:t>
            </a:r>
            <a:endParaRPr lang="en-US" sz="1600" dirty="0"/>
          </a:p>
        </p:txBody>
      </p:sp>
      <p:sp>
        <p:nvSpPr>
          <p:cNvPr id="17" name="shape125"/>
          <p:cNvSpPr/>
          <p:nvPr/>
        </p:nvSpPr>
        <p:spPr>
          <a:xfrm>
            <a:off x="8686800" y="5321808"/>
            <a:ext cx="310896" cy="310896"/>
          </a:xfrm>
          <a:prstGeom prst="ellipse">
            <a:avLst/>
          </a:prstGeom>
          <a:solidFill>
            <a:srgbClr val="D98C6A"/>
          </a:solidFill>
          <a:ln/>
        </p:spPr>
      </p:sp>
      <p:sp>
        <p:nvSpPr>
          <p:cNvPr id="18" name="text126"/>
          <p:cNvSpPr txBox="1"/>
          <p:nvPr/>
        </p:nvSpPr>
        <p:spPr>
          <a:xfrm>
            <a:off x="9098280" y="5230368"/>
            <a:ext cx="2743200" cy="502920"/>
          </a:xfrm>
          <a:prstGeom prst="rect">
            <a:avLst/>
          </a:prstGeom>
          <a:noFill/>
          <a:ln/>
        </p:spPr>
        <p:txBody>
          <a:bodyPr wrap="square" lIns="0" tIns="0" rIns="0" bIns="0" rtlCol="0" anchor="ctr"/>
          <a:lstStyle/>
          <a:p>
            <a:pPr indent="0" marL="0">
              <a:buNone/>
            </a:pPr>
            <a:r>
              <a:rPr lang="en-US" sz="1600" b="1" dirty="0">
                <a:solidFill>
                  <a:schemeClr val="tx2"/>
                </a:solidFill>
              </a:rPr>
              <a:t>Publication</a:t>
            </a:r>
            <a:pPr indent="0" marL="0">
              <a:buNone/>
            </a:pPr>
            <a:r>
              <a:rPr lang="en-US" sz="1600" dirty="0">
                <a:solidFill>
                  <a:schemeClr val="accent3"/>
                </a:solidFill>
              </a:rPr>
              <a:t>  Abraham 2017 cohort</a:t>
            </a:r>
            <a:endParaRPr lang="en-US" sz="1600" dirty="0"/>
          </a:p>
        </p:txBody>
      </p:sp>
      <p:sp>
        <p:nvSpPr>
          <p:cNvPr id="19" name="shape127"/>
          <p:cNvSpPr/>
          <p:nvPr/>
        </p:nvSpPr>
        <p:spPr>
          <a:xfrm>
            <a:off x="8686800" y="5888736"/>
            <a:ext cx="310896" cy="310896"/>
          </a:xfrm>
          <a:prstGeom prst="ellipse">
            <a:avLst/>
          </a:prstGeom>
          <a:solidFill>
            <a:srgbClr val="2F5D6E"/>
          </a:solidFill>
          <a:ln/>
        </p:spPr>
      </p:sp>
      <p:sp>
        <p:nvSpPr>
          <p:cNvPr id="20" name="text128"/>
          <p:cNvSpPr txBox="1"/>
          <p:nvPr/>
        </p:nvSpPr>
        <p:spPr>
          <a:xfrm>
            <a:off x="9098280" y="5797296"/>
            <a:ext cx="2743200" cy="502920"/>
          </a:xfrm>
          <a:prstGeom prst="rect">
            <a:avLst/>
          </a:prstGeom>
          <a:noFill/>
          <a:ln/>
        </p:spPr>
        <p:txBody>
          <a:bodyPr wrap="square" lIns="0" tIns="0" rIns="0" bIns="0" rtlCol="0" anchor="ctr"/>
          <a:lstStyle/>
          <a:p>
            <a:pPr indent="0" marL="0">
              <a:buNone/>
            </a:pPr>
            <a:r>
              <a:rPr lang="en-US" sz="1600" b="1" dirty="0">
                <a:solidFill>
                  <a:schemeClr val="tx2"/>
                </a:solidFill>
              </a:rPr>
              <a:t>Consent scope</a:t>
            </a:r>
            <a:pPr indent="0" marL="0">
              <a:buNone/>
            </a:pPr>
            <a:r>
              <a:rPr lang="en-US" sz="1600" dirty="0">
                <a:solidFill>
                  <a:schemeClr val="accent3"/>
                </a:solidFill>
              </a:rPr>
              <a:t>  broad sharing</a:t>
            </a:r>
            <a:endParaRPr lang="en-US" sz="1600" dirty="0"/>
          </a:p>
        </p:txBody>
      </p:sp>
      <p:pic>
        <p:nvPicPr>
          <p:cNvPr id="22" name="stripIcon6" descr="preencoded.png">    </p:cNvPr>
          <p:cNvPicPr>
            <a:picLocks noChangeAspect="1"/>
          </p:cNvPicPr>
          <p:nvPr/>
        </p:nvPicPr>
        <p:blipFill>
          <a:blip r:embed="rId2"/>
          <a:stretch>
            <a:fillRect/>
          </a:stretch>
        </p:blipFill>
        <p:spPr>
          <a:xfrm>
            <a:off x="548640" y="969264"/>
            <a:ext cx="182880" cy="182880"/>
          </a:xfrm>
          <a:prstGeom prst="rect">
            <a:avLst/>
          </a:prstGeom>
        </p:spPr>
      </p:pic>
      <p:sp>
        <p:nvSpPr>
          <p:cNvPr id="23" name="strip6"/>
          <p:cNvSpPr txBox="1"/>
          <p:nvPr/>
        </p:nvSpPr>
        <p:spPr>
          <a:xfrm>
            <a:off x="804672" y="914400"/>
            <a:ext cx="10972800" cy="292608"/>
          </a:xfrm>
          <a:prstGeom prst="rect">
            <a:avLst/>
          </a:prstGeom>
          <a:noFill/>
          <a:ln/>
        </p:spPr>
        <p:txBody>
          <a:bodyPr wrap="square" lIns="0" tIns="0" rIns="0" bIns="0" rtlCol="0" anchor="ctr"/>
          <a:lstStyle/>
          <a:p>
            <a:pPr indent="0" marL="0">
              <a:buNone/>
            </a:pPr>
            <a:r>
              <a:rPr lang="en-US" sz="1200" b="1" dirty="0">
                <a:solidFill>
                  <a:schemeClr val="accent1"/>
                </a:solidFill>
              </a:rPr>
              <a:t>In the graph: </a:t>
            </a:r>
            <a:pPr indent="0" marL="0">
              <a:buNone/>
            </a:pPr>
            <a:r>
              <a:rPr lang="en-US" sz="1200" dirty="0">
                <a:solidFill>
                  <a:schemeClr val="accent3"/>
                </a:solidFill>
              </a:rPr>
              <a:t>13 SPARQL queries (queries/Q13_*.rq) over graph/core, scope, view/volumes → 239 triples → figure: code/participant_ego.py</a:t>
            </a:r>
            <a:endParaRPr lang="en-US" sz="1200" dirty="0"/>
          </a:p>
        </p:txBody>
      </p:sp>
      <p:sp>
        <p:nvSpPr>
          <p:cNvPr id="24" name="tagDot6"/>
          <p:cNvSpPr/>
          <p:nvPr/>
        </p:nvSpPr>
        <p:spPr>
          <a:xfrm>
            <a:off x="9326880" y="82296"/>
            <a:ext cx="128016" cy="128016"/>
          </a:xfrm>
          <a:prstGeom prst="ellipse">
            <a:avLst/>
          </a:prstGeom>
          <a:solidFill>
            <a:schemeClr val="accent1"/>
          </a:solidFill>
          <a:ln/>
        </p:spPr>
      </p:sp>
      <p:sp>
        <p:nvSpPr>
          <p:cNvPr id="25" name="tag6"/>
          <p:cNvSpPr txBox="1"/>
          <p:nvPr/>
        </p:nvSpPr>
        <p:spPr>
          <a:xfrm>
            <a:off x="9509760" y="18288"/>
            <a:ext cx="2286000" cy="256032"/>
          </a:xfrm>
          <a:prstGeom prst="rect">
            <a:avLst/>
          </a:prstGeom>
          <a:noFill/>
          <a:ln/>
        </p:spPr>
        <p:txBody>
          <a:bodyPr wrap="square" lIns="0" tIns="0" rIns="0" bIns="0" rtlCol="0" anchor="ctr"/>
          <a:lstStyle/>
          <a:p>
            <a:pPr indent="0" marL="0">
              <a:buNone/>
            </a:pPr>
            <a:r>
              <a:rPr lang="en-US" sz="1200" i="1" dirty="0">
                <a:solidFill>
                  <a:schemeClr val="accent3"/>
                </a:solidFill>
              </a:rPr>
              <a:t>Objective 1</a:t>
            </a:r>
            <a:endParaRPr lang="en-US" sz="1200" dirty="0"/>
          </a:p>
        </p:txBody>
      </p:sp>
      <p:sp>
        <p:nvSpPr>
          <p:cNvPr id="26" name="badge6_A"/>
          <p:cNvSpPr txBox="1"/>
          <p:nvPr/>
        </p:nvSpPr>
        <p:spPr>
          <a:xfrm>
            <a:off x="274320"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A</a:t>
            </a:r>
            <a:endParaRPr lang="en-US" sz="1100" dirty="0"/>
          </a:p>
        </p:txBody>
      </p:sp>
      <p:sp>
        <p:nvSpPr>
          <p:cNvPr id="27" name="data6"/>
          <p:cNvSpPr txBox="1"/>
          <p:nvPr/>
        </p:nvSpPr>
        <p:spPr>
          <a:xfrm>
            <a:off x="2176272" y="6473952"/>
            <a:ext cx="8979408" cy="301752"/>
          </a:xfrm>
          <a:prstGeom prst="rect">
            <a:avLst/>
          </a:prstGeom>
          <a:noFill/>
          <a:ln/>
        </p:spPr>
        <p:txBody>
          <a:bodyPr wrap="square" lIns="0" tIns="0" rIns="0" bIns="0" rtlCol="0" anchor="ctr"/>
          <a:lstStyle/>
          <a:p>
            <a:pPr indent="0" marL="0">
              <a:buNone/>
            </a:pPr>
            <a:r>
              <a:rPr lang="en-US" sz="1100" dirty="0">
                <a:solidFill>
                  <a:srgbClr val="5E7A88"/>
                </a:solidFill>
              </a:rPr>
              <a:t>Data: ABIDE I (ABIDE Preprocessed, C-PAC); ReproNim simple2 NIDM (commit e0dff17)</a:t>
            </a:r>
            <a:endParaRPr lang="en-US" sz="1100" dirty="0"/>
          </a:p>
        </p:txBody>
      </p:sp>
      <p:sp>
        <p:nvSpPr>
          <p:cNvPr id="28" name="badge6_check"/>
          <p:cNvSpPr txBox="1"/>
          <p:nvPr/>
        </p:nvSpPr>
        <p:spPr>
          <a:xfrm>
            <a:off x="630936" y="6473952"/>
            <a:ext cx="1408176" cy="301752"/>
          </a:xfrm>
          <a:prstGeom prst="rect">
            <a:avLst/>
          </a:prstGeom>
          <a:noFill/>
          <a:ln/>
        </p:spPr>
        <p:txBody>
          <a:bodyPr wrap="square" lIns="0" tIns="0" rIns="0" bIns="0" rtlCol="0" anchor="ctr"/>
          <a:lstStyle/>
          <a:p>
            <a:pPr indent="0" marL="0">
              <a:buNone/>
            </a:pPr>
            <a:r>
              <a:rPr lang="en-US" sz="1100" i="1" dirty="0">
                <a:solidFill>
                  <a:srgbClr val="5E7A88"/>
                </a:solidFill>
              </a:rPr>
              <a:t>re-run · validated</a:t>
            </a:r>
            <a:endParaRPr lang="en-US" sz="11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
            <a:ext cx="11064240" cy="713232"/>
          </a:xfrm>
          <a:prstGeom prst="rect">
            <a:avLst/>
          </a:prstGeom>
          <a:noFill/>
          <a:ln/>
        </p:spPr>
        <p:txBody>
          <a:bodyPr wrap="square" rtlCol="0" anchor="ctr"/>
          <a:lstStyle/>
          <a:p>
            <a:pPr algn="l" indent="0" marL="0">
              <a:buNone/>
            </a:pPr>
            <a:r>
              <a:rPr lang="en-US" sz="3200" b="1" dirty="0">
                <a:solidFill>
                  <a:schemeClr val="tx2"/>
                </a:solidFill>
              </a:rPr>
              <a:t>Linking a claim to its evaluation and cohort</a:t>
            </a:r>
            <a:endParaRPr lang="en-US" sz="3200" dirty="0"/>
          </a:p>
        </p:txBody>
      </p:sp>
      <p:sp>
        <p:nvSpPr>
          <p:cNvPr id="3" name="shape129"/>
          <p:cNvSpPr txBox="1"/>
          <p:nvPr/>
        </p:nvSpPr>
        <p:spPr>
          <a:xfrm>
            <a:off x="411480" y="1371600"/>
            <a:ext cx="2560320" cy="1691640"/>
          </a:xfrm>
          <a:prstGeom prst="ellipse">
            <a:avLst/>
          </a:prstGeom>
          <a:solidFill>
            <a:schemeClr val="accent4"/>
          </a:solidFill>
          <a:ln/>
        </p:spPr>
        <p:txBody>
          <a:bodyPr wrap="square" lIns="50800" tIns="50800" rIns="50800" bIns="50800" rtlCol="0" anchor="ctr"/>
          <a:lstStyle/>
          <a:p>
            <a:pPr algn="ctr" indent="0" marL="0">
              <a:buNone/>
            </a:pPr>
            <a:r>
              <a:rPr lang="en-US" sz="1600" b="1" dirty="0">
                <a:solidFill>
                  <a:schemeClr val="accent3"/>
                </a:solidFill>
              </a:rPr>
              <a:t>Question · Kim 2023</a:t>
            </a:r>
            <a:endParaRPr lang="en-US" sz="1800" dirty="0"/>
          </a:p>
          <a:p>
            <a:pPr algn="ctr" indent="0" marL="0">
              <a:buNone/>
            </a:pPr>
            <a:r>
              <a:rPr lang="en-US" sz="1800" dirty="0">
                <a:solidFill>
                  <a:schemeClr val="tx1"/>
                </a:solidFill>
              </a:rPr>
              <a:t>Which direction of connectivity change is associated with schizophrenia?</a:t>
            </a:r>
            <a:endParaRPr lang="en-US" sz="1800" dirty="0"/>
          </a:p>
        </p:txBody>
      </p:sp>
      <p:sp>
        <p:nvSpPr>
          <p:cNvPr id="4" name="shape130"/>
          <p:cNvSpPr txBox="1"/>
          <p:nvPr/>
        </p:nvSpPr>
        <p:spPr>
          <a:xfrm>
            <a:off x="3246120" y="2240280"/>
            <a:ext cx="2560320" cy="1691640"/>
          </a:xfrm>
          <a:prstGeom prst="ellipse">
            <a:avLst/>
          </a:prstGeom>
          <a:solidFill>
            <a:schemeClr val="accent1"/>
          </a:solidFill>
          <a:ln/>
        </p:spPr>
        <p:txBody>
          <a:bodyPr wrap="square" lIns="50800" tIns="50800" rIns="50800" bIns="50800" rtlCol="0" anchor="ctr"/>
          <a:lstStyle/>
          <a:p>
            <a:pPr algn="ctr" indent="0" marL="0">
              <a:buNone/>
            </a:pPr>
            <a:r>
              <a:rPr lang="en-US" sz="1600" b="1" dirty="0">
                <a:solidFill>
                  <a:schemeClr val="accent4"/>
                </a:solidFill>
              </a:rPr>
              <a:t>Claim</a:t>
            </a:r>
            <a:endParaRPr lang="en-US" sz="1800" dirty="0"/>
          </a:p>
          <a:p>
            <a:pPr algn="ctr" indent="0" marL="0">
              <a:buNone/>
            </a:pPr>
            <a:r>
              <a:rPr lang="en-US" sz="1800" b="1" dirty="0">
                <a:solidFill>
                  <a:schemeClr val="bg1"/>
                </a:solidFill>
              </a:rPr>
              <a:t>Both directions are altered; combining them predicts best</a:t>
            </a:r>
            <a:endParaRPr lang="en-US" sz="1800" dirty="0"/>
          </a:p>
        </p:txBody>
      </p:sp>
      <p:sp>
        <p:nvSpPr>
          <p:cNvPr id="5" name="shape131"/>
          <p:cNvSpPr txBox="1"/>
          <p:nvPr/>
        </p:nvSpPr>
        <p:spPr>
          <a:xfrm>
            <a:off x="6080760" y="1371600"/>
            <a:ext cx="2560320" cy="1691640"/>
          </a:xfrm>
          <a:prstGeom prst="ellipse">
            <a:avLst/>
          </a:prstGeom>
          <a:solidFill>
            <a:schemeClr val="accent4"/>
          </a:solidFill>
          <a:ln/>
        </p:spPr>
        <p:txBody>
          <a:bodyPr wrap="square" lIns="50800" tIns="50800" rIns="50800" bIns="50800" rtlCol="0" anchor="ctr"/>
          <a:lstStyle/>
          <a:p>
            <a:pPr algn="ctr" indent="0" marL="0">
              <a:buNone/>
            </a:pPr>
            <a:r>
              <a:rPr lang="en-US" sz="1600" b="1" dirty="0">
                <a:solidFill>
                  <a:schemeClr val="accent3"/>
                </a:solidFill>
              </a:rPr>
              <a:t>Evidence</a:t>
            </a:r>
            <a:endParaRPr lang="en-US" sz="1800" dirty="0"/>
          </a:p>
          <a:p>
            <a:pPr algn="ctr" indent="0" marL="0">
              <a:buNone/>
            </a:pPr>
            <a:r>
              <a:rPr lang="en-US" sz="1800" dirty="0">
                <a:solidFill>
                  <a:schemeClr val="tx1"/>
                </a:solidFill>
              </a:rPr>
              <a:t>70.2% accuracy: UCLA, leave one participant out, both directions</a:t>
            </a:r>
            <a:endParaRPr lang="en-US" sz="1800" dirty="0"/>
          </a:p>
        </p:txBody>
      </p:sp>
      <p:sp>
        <p:nvSpPr>
          <p:cNvPr id="6" name="shape132"/>
          <p:cNvSpPr txBox="1"/>
          <p:nvPr/>
        </p:nvSpPr>
        <p:spPr>
          <a:xfrm>
            <a:off x="8915400" y="2240280"/>
            <a:ext cx="2560320" cy="1691640"/>
          </a:xfrm>
          <a:prstGeom prst="ellipse">
            <a:avLst/>
          </a:prstGeom>
          <a:solidFill>
            <a:schemeClr val="accent4"/>
          </a:solidFill>
          <a:ln/>
        </p:spPr>
        <p:txBody>
          <a:bodyPr wrap="square" lIns="50800" tIns="50800" rIns="50800" bIns="50800" rtlCol="0" anchor="ctr"/>
          <a:lstStyle/>
          <a:p>
            <a:pPr algn="ctr" indent="0" marL="0">
              <a:buNone/>
            </a:pPr>
            <a:r>
              <a:rPr lang="en-US" sz="1600" b="1" dirty="0">
                <a:solidFill>
                  <a:schemeClr val="accent3"/>
                </a:solidFill>
              </a:rPr>
              <a:t>Cohort</a:t>
            </a:r>
            <a:endParaRPr lang="en-US" sz="1800" dirty="0"/>
          </a:p>
          <a:p>
            <a:pPr algn="ctr" indent="0" marL="0">
              <a:buNone/>
            </a:pPr>
            <a:r>
              <a:rPr lang="en-US" sz="1800" dirty="0">
                <a:solidFill>
                  <a:schemeClr val="tx1"/>
                </a:solidFill>
              </a:rPr>
              <a:t>47 + 47 people, as reported</a:t>
            </a:r>
            <a:endParaRPr lang="en-US" sz="1800" dirty="0"/>
          </a:p>
        </p:txBody>
      </p:sp>
      <p:sp>
        <p:nvSpPr>
          <p:cNvPr id="7" name="curve133"/>
          <p:cNvSpPr/>
          <p:nvPr/>
        </p:nvSpPr>
        <p:spPr>
          <a:xfrm>
            <a:off x="2926080" y="2420417"/>
            <a:ext cx="411480" cy="530352"/>
          </a:xfrm>
          <a:custGeom>
            <a:avLst/>
            <a:gdLst/>
            <a:ahLst/>
            <a:cxnLst/>
            <a:rect l="l" t="t" r="r" b="b"/>
            <a:pathLst>
              <a:path w="411480" h="530352">
                <a:moveTo>
                  <a:pt x="0" y="0"/>
                </a:moveTo>
                <a:cubicBezTo>
                  <a:pt x="205740" y="0"/>
                  <a:pt x="205740" y="530352"/>
                  <a:pt x="411480" y="530352"/>
                </a:cubicBezTo>
              </a:path>
            </a:pathLst>
          </a:custGeom>
          <a:ln w="31750">
            <a:solidFill>
              <a:schemeClr val="accent3"/>
            </a:solidFill>
            <a:prstDash val="solid"/>
            <a:tailEnd type="triangle"/>
          </a:ln>
        </p:spPr>
      </p:sp>
      <p:sp>
        <p:nvSpPr>
          <p:cNvPr id="8" name="curve134"/>
          <p:cNvSpPr/>
          <p:nvPr/>
        </p:nvSpPr>
        <p:spPr>
          <a:xfrm>
            <a:off x="5760720" y="2082089"/>
            <a:ext cx="411480" cy="1207008"/>
          </a:xfrm>
          <a:custGeom>
            <a:avLst/>
            <a:gdLst/>
            <a:ahLst/>
            <a:cxnLst/>
            <a:rect l="l" t="t" r="r" b="b"/>
            <a:pathLst>
              <a:path w="411480" h="1207008">
                <a:moveTo>
                  <a:pt x="0" y="1207008"/>
                </a:moveTo>
                <a:cubicBezTo>
                  <a:pt x="205740" y="1207008"/>
                  <a:pt x="205740" y="0"/>
                  <a:pt x="411480" y="0"/>
                </a:cubicBezTo>
              </a:path>
            </a:pathLst>
          </a:custGeom>
          <a:ln w="31750">
            <a:solidFill>
              <a:schemeClr val="accent3"/>
            </a:solidFill>
            <a:prstDash val="solid"/>
            <a:tailEnd type="triangle"/>
          </a:ln>
        </p:spPr>
      </p:sp>
      <p:sp>
        <p:nvSpPr>
          <p:cNvPr id="9" name="curve135"/>
          <p:cNvSpPr/>
          <p:nvPr/>
        </p:nvSpPr>
        <p:spPr>
          <a:xfrm>
            <a:off x="8595360" y="2420417"/>
            <a:ext cx="411480" cy="530352"/>
          </a:xfrm>
          <a:custGeom>
            <a:avLst/>
            <a:gdLst/>
            <a:ahLst/>
            <a:cxnLst/>
            <a:rect l="l" t="t" r="r" b="b"/>
            <a:pathLst>
              <a:path w="411480" h="530352">
                <a:moveTo>
                  <a:pt x="0" y="0"/>
                </a:moveTo>
                <a:cubicBezTo>
                  <a:pt x="205740" y="0"/>
                  <a:pt x="205740" y="530352"/>
                  <a:pt x="411480" y="530352"/>
                </a:cubicBezTo>
              </a:path>
            </a:pathLst>
          </a:custGeom>
          <a:ln w="31750">
            <a:solidFill>
              <a:schemeClr val="accent3"/>
            </a:solidFill>
            <a:prstDash val="solid"/>
            <a:tailEnd type="triangle"/>
          </a:ln>
        </p:spPr>
      </p:sp>
      <p:sp>
        <p:nvSpPr>
          <p:cNvPr id="10" name="shape136"/>
          <p:cNvSpPr txBox="1"/>
          <p:nvPr/>
        </p:nvSpPr>
        <p:spPr>
          <a:xfrm>
            <a:off x="3246120" y="4526280"/>
            <a:ext cx="2560320" cy="1691640"/>
          </a:xfrm>
          <a:prstGeom prst="ellipse">
            <a:avLst/>
          </a:prstGeom>
          <a:solidFill>
            <a:schemeClr val="accent4"/>
          </a:solidFill>
          <a:ln/>
        </p:spPr>
        <p:txBody>
          <a:bodyPr wrap="square" lIns="50800" tIns="50800" rIns="50800" bIns="50800" rtlCol="0" anchor="ctr"/>
          <a:lstStyle/>
          <a:p>
            <a:pPr algn="ctr" indent="0" marL="0">
              <a:buNone/>
            </a:pPr>
            <a:r>
              <a:rPr lang="en-US" sz="1600" b="1" dirty="0">
                <a:solidFill>
                  <a:schemeClr val="accent3"/>
                </a:solidFill>
              </a:rPr>
              <a:t>Data</a:t>
            </a:r>
            <a:endParaRPr lang="en-US" sz="1800" dirty="0"/>
          </a:p>
          <a:p>
            <a:pPr algn="ctr" indent="0" marL="0">
              <a:buNone/>
            </a:pPr>
            <a:r>
              <a:rPr lang="en-US" sz="1800" dirty="0">
                <a:solidFill>
                  <a:schemeClr val="tx1"/>
                </a:solidFill>
              </a:rPr>
              <a:t>ds000030 (UCLA CNP), versioned</a:t>
            </a:r>
            <a:endParaRPr lang="en-US" sz="1800" dirty="0"/>
          </a:p>
        </p:txBody>
      </p:sp>
      <p:sp>
        <p:nvSpPr>
          <p:cNvPr id="11" name="curve137"/>
          <p:cNvSpPr/>
          <p:nvPr/>
        </p:nvSpPr>
        <p:spPr>
          <a:xfrm>
            <a:off x="8778240" y="3931920"/>
            <a:ext cx="1097280" cy="868680"/>
          </a:xfrm>
          <a:custGeom>
            <a:avLst/>
            <a:gdLst/>
            <a:ahLst/>
            <a:cxnLst/>
            <a:rect l="l" t="t" r="r" b="b"/>
            <a:pathLst>
              <a:path w="1097280" h="868680">
                <a:moveTo>
                  <a:pt x="1097280" y="0"/>
                </a:moveTo>
                <a:cubicBezTo>
                  <a:pt x="548640" y="0"/>
                  <a:pt x="548640" y="868680"/>
                  <a:pt x="0" y="868680"/>
                </a:cubicBezTo>
              </a:path>
            </a:pathLst>
          </a:custGeom>
          <a:ln w="31750">
            <a:solidFill>
              <a:schemeClr val="accent2"/>
            </a:solidFill>
            <a:prstDash val="dash"/>
          </a:ln>
        </p:spPr>
      </p:sp>
      <p:sp>
        <p:nvSpPr>
          <p:cNvPr id="12" name="curve138"/>
          <p:cNvSpPr/>
          <p:nvPr/>
        </p:nvSpPr>
        <p:spPr>
          <a:xfrm>
            <a:off x="5852160" y="5074920"/>
            <a:ext cx="1920240" cy="274320"/>
          </a:xfrm>
          <a:custGeom>
            <a:avLst/>
            <a:gdLst/>
            <a:ahLst/>
            <a:cxnLst/>
            <a:rect l="l" t="t" r="r" b="b"/>
            <a:pathLst>
              <a:path w="1920240" h="274320">
                <a:moveTo>
                  <a:pt x="1920240" y="0"/>
                </a:moveTo>
                <a:cubicBezTo>
                  <a:pt x="960120" y="0"/>
                  <a:pt x="960120" y="274320"/>
                  <a:pt x="0" y="274320"/>
                </a:cubicBezTo>
              </a:path>
            </a:pathLst>
          </a:custGeom>
          <a:ln w="31750">
            <a:solidFill>
              <a:schemeClr val="accent2"/>
            </a:solidFill>
            <a:prstDash val="dash"/>
            <a:tailEnd type="triangle"/>
          </a:ln>
        </p:spPr>
      </p:sp>
      <p:sp>
        <p:nvSpPr>
          <p:cNvPr id="13" name="shape139"/>
          <p:cNvSpPr txBox="1"/>
          <p:nvPr/>
        </p:nvSpPr>
        <p:spPr>
          <a:xfrm>
            <a:off x="8001000" y="4617720"/>
            <a:ext cx="640080" cy="640080"/>
          </a:xfrm>
          <a:prstGeom prst="ellipse">
            <a:avLst/>
          </a:prstGeom>
          <a:solidFill>
            <a:schemeClr val="accent2"/>
          </a:solidFill>
          <a:ln/>
        </p:spPr>
        <p:txBody>
          <a:bodyPr wrap="square" lIns="50800" tIns="50800" rIns="50800" bIns="50800" rtlCol="0" anchor="ctr"/>
          <a:lstStyle/>
          <a:p>
            <a:pPr algn="ctr" indent="0" marL="0">
              <a:buNone/>
            </a:pPr>
            <a:r>
              <a:rPr lang="en-US" sz="2800" b="1" dirty="0">
                <a:solidFill>
                  <a:schemeClr val="bg1"/>
                </a:solidFill>
              </a:rPr>
              <a:t>?</a:t>
            </a:r>
            <a:endParaRPr lang="en-US" sz="2800" dirty="0"/>
          </a:p>
        </p:txBody>
      </p:sp>
      <p:sp>
        <p:nvSpPr>
          <p:cNvPr id="14" name="text140"/>
          <p:cNvSpPr txBox="1"/>
          <p:nvPr/>
        </p:nvSpPr>
        <p:spPr>
          <a:xfrm>
            <a:off x="8869680" y="4709160"/>
            <a:ext cx="2926080" cy="1280160"/>
          </a:xfrm>
          <a:prstGeom prst="rect">
            <a:avLst/>
          </a:prstGeom>
          <a:noFill/>
          <a:ln/>
        </p:spPr>
        <p:txBody>
          <a:bodyPr wrap="square" lIns="0" tIns="0" rIns="0" bIns="0" rtlCol="0" anchor="ctr"/>
          <a:lstStyle/>
          <a:p>
            <a:pPr indent="0" marL="0">
              <a:buNone/>
            </a:pPr>
            <a:r>
              <a:rPr lang="en-US" sz="1800" b="1" dirty="0">
                <a:solidFill>
                  <a:schemeClr val="accent2"/>
                </a:solidFill>
              </a:rPr>
              <a:t>Missing link: </a:t>
            </a:r>
            <a:pPr indent="0" marL="0">
              <a:buNone/>
            </a:pPr>
            <a:r>
              <a:rPr lang="en-US" sz="1800" dirty="0">
                <a:solidFill>
                  <a:schemeClr val="tx1"/>
                </a:solidFill>
              </a:rPr>
              <a:t>which 94 participants, and how each file was processed</a:t>
            </a:r>
            <a:endParaRPr lang="en-US" sz="1800" dirty="0"/>
          </a:p>
        </p:txBody>
      </p:sp>
      <p:pic>
        <p:nvPicPr>
          <p:cNvPr id="16" name="stripIcon7" descr="preencoded.png">    </p:cNvPr>
          <p:cNvPicPr>
            <a:picLocks noChangeAspect="1"/>
          </p:cNvPicPr>
          <p:nvPr/>
        </p:nvPicPr>
        <p:blipFill>
          <a:blip r:embed="rId1"/>
          <a:stretch>
            <a:fillRect/>
          </a:stretch>
        </p:blipFill>
        <p:spPr>
          <a:xfrm>
            <a:off x="548640" y="969264"/>
            <a:ext cx="182880" cy="182880"/>
          </a:xfrm>
          <a:prstGeom prst="rect">
            <a:avLst/>
          </a:prstGeom>
        </p:spPr>
      </p:pic>
      <p:sp>
        <p:nvSpPr>
          <p:cNvPr id="17" name="strip7"/>
          <p:cNvSpPr txBox="1"/>
          <p:nvPr/>
        </p:nvSpPr>
        <p:spPr>
          <a:xfrm>
            <a:off x="804672" y="914400"/>
            <a:ext cx="10972800" cy="292608"/>
          </a:xfrm>
          <a:prstGeom prst="rect">
            <a:avLst/>
          </a:prstGeom>
          <a:noFill/>
          <a:ln/>
        </p:spPr>
        <p:txBody>
          <a:bodyPr wrap="square" lIns="0" tIns="0" rIns="0" bIns="0" rtlCol="0" anchor="ctr"/>
          <a:lstStyle/>
          <a:p>
            <a:pPr indent="0" marL="0">
              <a:buNone/>
            </a:pPr>
            <a:r>
              <a:rPr lang="en-US" sz="1200" b="1" dirty="0">
                <a:solidFill>
                  <a:schemeClr val="accent1"/>
                </a:solidFill>
              </a:rPr>
              <a:t>In the graph: </a:t>
            </a:r>
            <a:pPr indent="0" marL="0">
              <a:buNone/>
            </a:pPr>
            <a:r>
              <a:rPr lang="en-US" sz="1200" dirty="0">
                <a:solidFill>
                  <a:schemeClr val="accent3"/>
                </a:solidFill>
              </a:rPr>
              <a:t>ds000030 claims_and_questions.ttl: question → claim → evaluation → cohort; the cohort's membershipStatus is recorded as “not reconstructed”</a:t>
            </a:r>
            <a:endParaRPr lang="en-US" sz="1200" dirty="0"/>
          </a:p>
        </p:txBody>
      </p:sp>
      <p:sp>
        <p:nvSpPr>
          <p:cNvPr id="18" name="tagDot7"/>
          <p:cNvSpPr/>
          <p:nvPr/>
        </p:nvSpPr>
        <p:spPr>
          <a:xfrm>
            <a:off x="9326880" y="82296"/>
            <a:ext cx="128016" cy="128016"/>
          </a:xfrm>
          <a:prstGeom prst="ellipse">
            <a:avLst/>
          </a:prstGeom>
          <a:solidFill>
            <a:schemeClr val="accent1"/>
          </a:solidFill>
          <a:ln/>
        </p:spPr>
      </p:sp>
      <p:sp>
        <p:nvSpPr>
          <p:cNvPr id="19" name="tag7"/>
          <p:cNvSpPr txBox="1"/>
          <p:nvPr/>
        </p:nvSpPr>
        <p:spPr>
          <a:xfrm>
            <a:off x="9509760" y="18288"/>
            <a:ext cx="2286000" cy="256032"/>
          </a:xfrm>
          <a:prstGeom prst="rect">
            <a:avLst/>
          </a:prstGeom>
          <a:noFill/>
          <a:ln/>
        </p:spPr>
        <p:txBody>
          <a:bodyPr wrap="square" lIns="0" tIns="0" rIns="0" bIns="0" rtlCol="0" anchor="ctr"/>
          <a:lstStyle/>
          <a:p>
            <a:pPr indent="0" marL="0">
              <a:buNone/>
            </a:pPr>
            <a:r>
              <a:rPr lang="en-US" sz="1200" i="1" dirty="0">
                <a:solidFill>
                  <a:schemeClr val="accent3"/>
                </a:solidFill>
              </a:rPr>
              <a:t>Objective 1</a:t>
            </a:r>
            <a:endParaRPr lang="en-US" sz="1200" dirty="0"/>
          </a:p>
        </p:txBody>
      </p:sp>
      <p:sp>
        <p:nvSpPr>
          <p:cNvPr id="20" name="badge7_P"/>
          <p:cNvSpPr txBox="1"/>
          <p:nvPr/>
        </p:nvSpPr>
        <p:spPr>
          <a:xfrm>
            <a:off x="274320"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P</a:t>
            </a:r>
            <a:endParaRPr lang="en-US" sz="1100" dirty="0"/>
          </a:p>
        </p:txBody>
      </p:sp>
      <p:sp>
        <p:nvSpPr>
          <p:cNvPr id="21" name="badge7_R"/>
          <p:cNvSpPr txBox="1"/>
          <p:nvPr/>
        </p:nvSpPr>
        <p:spPr>
          <a:xfrm>
            <a:off x="576072"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R</a:t>
            </a:r>
            <a:endParaRPr lang="en-US" sz="1100" dirty="0"/>
          </a:p>
        </p:txBody>
      </p:sp>
      <p:sp>
        <p:nvSpPr>
          <p:cNvPr id="22" name="data7"/>
          <p:cNvSpPr txBox="1"/>
          <p:nvPr/>
        </p:nvSpPr>
        <p:spPr>
          <a:xfrm>
            <a:off x="1819656" y="6473952"/>
            <a:ext cx="9336024" cy="301752"/>
          </a:xfrm>
          <a:prstGeom prst="rect">
            <a:avLst/>
          </a:prstGeom>
          <a:noFill/>
          <a:ln/>
        </p:spPr>
        <p:txBody>
          <a:bodyPr wrap="square" lIns="0" tIns="0" rIns="0" bIns="0" rtlCol="0" anchor="ctr"/>
          <a:lstStyle/>
          <a:p>
            <a:pPr indent="0" marL="0">
              <a:buNone/>
            </a:pPr>
            <a:r>
              <a:rPr lang="en-US" sz="1100" dirty="0">
                <a:solidFill>
                  <a:srgbClr val="5E7A88"/>
                </a:solidFill>
              </a:rPr>
              <a:t>Data: ds000030 (UCLA CNP, commit 4070b6e); Kim et al. 2023 (UCLA cohort from ds000030)</a:t>
            </a:r>
            <a:endParaRPr lang="en-US" sz="1100" dirty="0"/>
          </a:p>
        </p:txBody>
      </p:sp>
      <p:sp>
        <p:nvSpPr>
          <p:cNvPr id="23" name="badge7_check"/>
          <p:cNvSpPr txBox="1"/>
          <p:nvPr/>
        </p:nvSpPr>
        <p:spPr>
          <a:xfrm>
            <a:off x="932688" y="6473952"/>
            <a:ext cx="749808" cy="301752"/>
          </a:xfrm>
          <a:prstGeom prst="rect">
            <a:avLst/>
          </a:prstGeom>
          <a:noFill/>
          <a:ln/>
        </p:spPr>
        <p:txBody>
          <a:bodyPr wrap="square" lIns="0" tIns="0" rIns="0" bIns="0" rtlCol="0" anchor="ctr"/>
          <a:lstStyle/>
          <a:p>
            <a:pPr indent="0" marL="0">
              <a:buNone/>
            </a:pPr>
            <a:r>
              <a:rPr lang="en-US" sz="1100" i="1" dirty="0">
                <a:solidFill>
                  <a:srgbClr val="5E7A88"/>
                </a:solidFill>
              </a:rPr>
              <a:t>validated</a:t>
            </a:r>
            <a:endParaRPr lang="en-US" sz="11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
            <a:ext cx="11064240" cy="713232"/>
          </a:xfrm>
          <a:prstGeom prst="rect">
            <a:avLst/>
          </a:prstGeom>
          <a:noFill/>
          <a:ln/>
        </p:spPr>
        <p:txBody>
          <a:bodyPr wrap="square" rtlCol="0" anchor="ctr"/>
          <a:lstStyle/>
          <a:p>
            <a:pPr algn="l" indent="0" marL="0">
              <a:buNone/>
            </a:pPr>
            <a:r>
              <a:rPr lang="en-US" sz="3200" b="1" dirty="0">
                <a:solidFill>
                  <a:schemeClr val="tx2"/>
                </a:solidFill>
              </a:rPr>
              <a:t>Exercise: evaluating claims against a source</a:t>
            </a:r>
            <a:endParaRPr lang="en-US" sz="3200" dirty="0"/>
          </a:p>
        </p:txBody>
      </p:sp>
      <p:sp>
        <p:nvSpPr>
          <p:cNvPr id="3" name="shape141"/>
          <p:cNvSpPr txBox="1"/>
          <p:nvPr/>
        </p:nvSpPr>
        <p:spPr>
          <a:xfrm>
            <a:off x="548640" y="1417320"/>
            <a:ext cx="1188720" cy="1188720"/>
          </a:xfrm>
          <a:prstGeom prst="ellipse">
            <a:avLst/>
          </a:prstGeom>
          <a:solidFill>
            <a:schemeClr val="tx2"/>
          </a:solidFill>
          <a:ln/>
        </p:spPr>
        <p:txBody>
          <a:bodyPr wrap="square" lIns="50800" tIns="50800" rIns="50800" bIns="50800" rtlCol="0" anchor="ctr"/>
          <a:lstStyle/>
          <a:p>
            <a:pPr algn="ctr" indent="0" marL="0">
              <a:buNone/>
            </a:pPr>
            <a:r>
              <a:rPr lang="en-US" sz="3600" b="1" dirty="0">
                <a:solidFill>
                  <a:schemeClr val="bg1"/>
                </a:solidFill>
              </a:rPr>
              <a:t>A</a:t>
            </a:r>
            <a:endParaRPr lang="en-US" sz="3600" dirty="0"/>
          </a:p>
        </p:txBody>
      </p:sp>
      <p:sp>
        <p:nvSpPr>
          <p:cNvPr id="4" name="shape142"/>
          <p:cNvSpPr txBox="1"/>
          <p:nvPr/>
        </p:nvSpPr>
        <p:spPr>
          <a:xfrm>
            <a:off x="2057400" y="1371600"/>
            <a:ext cx="9555480" cy="1234440"/>
          </a:xfrm>
          <a:prstGeom prst="wedgeRoundRectCallout">
            <a:avLst/>
          </a:prstGeom>
          <a:solidFill>
            <a:schemeClr val="bg2"/>
          </a:solidFill>
          <a:ln w="19050">
            <a:solidFill>
              <a:srgbClr val="C9D3D7"/>
            </a:solidFill>
            <a:prstDash val="solid"/>
          </a:ln>
        </p:spPr>
        <p:txBody>
          <a:bodyPr wrap="square" lIns="152400" tIns="152400" rIns="152400" bIns="152400" rtlCol="0" anchor="ctr"/>
          <a:lstStyle/>
          <a:p>
            <a:pPr algn="l" indent="0" marL="0">
              <a:buNone/>
            </a:pPr>
            <a:r>
              <a:rPr lang="en-US" sz="2400" dirty="0">
                <a:solidFill>
                  <a:schemeClr val="tx1"/>
                </a:solidFill>
              </a:rPr>
              <a:t>“UCLA leave-one-out accuracy was 70.2%.”</a:t>
            </a:r>
            <a:endParaRPr lang="en-US" sz="2400" dirty="0"/>
          </a:p>
        </p:txBody>
      </p:sp>
      <p:sp>
        <p:nvSpPr>
          <p:cNvPr id="5" name="shape143"/>
          <p:cNvSpPr txBox="1"/>
          <p:nvPr/>
        </p:nvSpPr>
        <p:spPr>
          <a:xfrm>
            <a:off x="548640" y="2971800"/>
            <a:ext cx="1188720" cy="1188720"/>
          </a:xfrm>
          <a:prstGeom prst="ellipse">
            <a:avLst/>
          </a:prstGeom>
          <a:solidFill>
            <a:schemeClr val="tx2"/>
          </a:solidFill>
          <a:ln/>
        </p:spPr>
        <p:txBody>
          <a:bodyPr wrap="square" lIns="50800" tIns="50800" rIns="50800" bIns="50800" rtlCol="0" anchor="ctr"/>
          <a:lstStyle/>
          <a:p>
            <a:pPr algn="ctr" indent="0" marL="0">
              <a:buNone/>
            </a:pPr>
            <a:r>
              <a:rPr lang="en-US" sz="3600" b="1" dirty="0">
                <a:solidFill>
                  <a:schemeClr val="bg1"/>
                </a:solidFill>
              </a:rPr>
              <a:t>B</a:t>
            </a:r>
            <a:endParaRPr lang="en-US" sz="3600" dirty="0"/>
          </a:p>
        </p:txBody>
      </p:sp>
      <p:sp>
        <p:nvSpPr>
          <p:cNvPr id="6" name="shape144"/>
          <p:cNvSpPr txBox="1"/>
          <p:nvPr/>
        </p:nvSpPr>
        <p:spPr>
          <a:xfrm>
            <a:off x="2057400" y="2926080"/>
            <a:ext cx="9555480" cy="1234440"/>
          </a:xfrm>
          <a:prstGeom prst="wedgeRoundRectCallout">
            <a:avLst/>
          </a:prstGeom>
          <a:solidFill>
            <a:schemeClr val="bg2"/>
          </a:solidFill>
          <a:ln w="19050">
            <a:solidFill>
              <a:srgbClr val="C9D3D7"/>
            </a:solidFill>
            <a:prstDash val="solid"/>
          </a:ln>
        </p:spPr>
        <p:txBody>
          <a:bodyPr wrap="square" lIns="152400" tIns="152400" rIns="152400" bIns="152400" rtlCol="0" anchor="ctr"/>
          <a:lstStyle/>
          <a:p>
            <a:pPr algn="l" indent="0" marL="0">
              <a:buNone/>
            </a:pPr>
            <a:r>
              <a:rPr lang="en-US" sz="2400" dirty="0">
                <a:solidFill>
                  <a:schemeClr val="tx1"/>
                </a:solidFill>
              </a:rPr>
              <a:t>“Connectivity predicts schizophrenia with 70.2% accuracy in any cohort.”</a:t>
            </a:r>
            <a:endParaRPr lang="en-US" sz="2400" dirty="0"/>
          </a:p>
        </p:txBody>
      </p:sp>
      <p:sp>
        <p:nvSpPr>
          <p:cNvPr id="7" name="shape145"/>
          <p:cNvSpPr txBox="1"/>
          <p:nvPr/>
        </p:nvSpPr>
        <p:spPr>
          <a:xfrm>
            <a:off x="548640" y="4526280"/>
            <a:ext cx="1188720" cy="1188720"/>
          </a:xfrm>
          <a:prstGeom prst="ellipse">
            <a:avLst/>
          </a:prstGeom>
          <a:solidFill>
            <a:schemeClr val="tx2"/>
          </a:solidFill>
          <a:ln/>
        </p:spPr>
        <p:txBody>
          <a:bodyPr wrap="square" lIns="50800" tIns="50800" rIns="50800" bIns="50800" rtlCol="0" anchor="ctr"/>
          <a:lstStyle/>
          <a:p>
            <a:pPr algn="ctr" indent="0" marL="0">
              <a:buNone/>
            </a:pPr>
            <a:r>
              <a:rPr lang="en-US" sz="3600" b="1" dirty="0">
                <a:solidFill>
                  <a:schemeClr val="bg1"/>
                </a:solidFill>
              </a:rPr>
              <a:t>C</a:t>
            </a:r>
            <a:endParaRPr lang="en-US" sz="3600" dirty="0"/>
          </a:p>
        </p:txBody>
      </p:sp>
      <p:sp>
        <p:nvSpPr>
          <p:cNvPr id="8" name="shape146"/>
          <p:cNvSpPr txBox="1"/>
          <p:nvPr/>
        </p:nvSpPr>
        <p:spPr>
          <a:xfrm>
            <a:off x="2057400" y="4480560"/>
            <a:ext cx="9555480" cy="1234440"/>
          </a:xfrm>
          <a:prstGeom prst="wedgeRoundRectCallout">
            <a:avLst/>
          </a:prstGeom>
          <a:solidFill>
            <a:schemeClr val="bg2"/>
          </a:solidFill>
          <a:ln w="19050">
            <a:solidFill>
              <a:srgbClr val="C9D3D7"/>
            </a:solidFill>
            <a:prstDash val="solid"/>
          </a:ln>
        </p:spPr>
        <p:txBody>
          <a:bodyPr wrap="square" lIns="152400" tIns="152400" rIns="152400" bIns="152400" rtlCol="0" anchor="ctr"/>
          <a:lstStyle/>
          <a:p>
            <a:pPr algn="l" indent="0" marL="0">
              <a:buNone/>
            </a:pPr>
            <a:r>
              <a:rPr lang="en-US" sz="2400" dirty="0">
                <a:solidFill>
                  <a:schemeClr val="tx1"/>
                </a:solidFill>
              </a:rPr>
              <a:t>“70.2% proves a causal disease mechanism.”</a:t>
            </a:r>
            <a:endParaRPr lang="en-US" sz="2400" dirty="0"/>
          </a:p>
        </p:txBody>
      </p:sp>
      <p:sp>
        <p:nvSpPr>
          <p:cNvPr id="9" name="text147"/>
          <p:cNvSpPr txBox="1"/>
          <p:nvPr/>
        </p:nvSpPr>
        <p:spPr>
          <a:xfrm>
            <a:off x="640080" y="6035040"/>
            <a:ext cx="10972800" cy="457200"/>
          </a:xfrm>
          <a:prstGeom prst="rect">
            <a:avLst/>
          </a:prstGeom>
          <a:noFill/>
          <a:ln/>
        </p:spPr>
        <p:txBody>
          <a:bodyPr wrap="square" lIns="0" tIns="0" rIns="0" bIns="0" rtlCol="0" anchor="t"/>
          <a:lstStyle/>
          <a:p>
            <a:pPr indent="0" marL="0">
              <a:buNone/>
            </a:pPr>
            <a:r>
              <a:rPr lang="en-US" sz="2200" i="1" dirty="0">
                <a:solidFill>
                  <a:schemeClr val="accent2"/>
                </a:solidFill>
              </a:rPr>
              <a:t>All three cite the same quote from Kim 2023. Which would you accept?</a:t>
            </a:r>
            <a:endParaRPr lang="en-US" sz="2200" dirty="0"/>
          </a:p>
        </p:txBody>
      </p:sp>
      <p:pic>
        <p:nvPicPr>
          <p:cNvPr id="11" name="stripIcon8" descr="preencoded.png">    </p:cNvPr>
          <p:cNvPicPr>
            <a:picLocks noChangeAspect="1"/>
          </p:cNvPicPr>
          <p:nvPr/>
        </p:nvPicPr>
        <p:blipFill>
          <a:blip r:embed="rId1"/>
          <a:stretch>
            <a:fillRect/>
          </a:stretch>
        </p:blipFill>
        <p:spPr>
          <a:xfrm>
            <a:off x="548640" y="969264"/>
            <a:ext cx="182880" cy="182880"/>
          </a:xfrm>
          <a:prstGeom prst="rect">
            <a:avLst/>
          </a:prstGeom>
        </p:spPr>
      </p:pic>
      <p:sp>
        <p:nvSpPr>
          <p:cNvPr id="12" name="strip8"/>
          <p:cNvSpPr txBox="1"/>
          <p:nvPr/>
        </p:nvSpPr>
        <p:spPr>
          <a:xfrm>
            <a:off x="804672" y="914400"/>
            <a:ext cx="10972800" cy="292608"/>
          </a:xfrm>
          <a:prstGeom prst="rect">
            <a:avLst/>
          </a:prstGeom>
          <a:noFill/>
          <a:ln/>
        </p:spPr>
        <p:txBody>
          <a:bodyPr wrap="square" lIns="0" tIns="0" rIns="0" bIns="0" rtlCol="0" anchor="ctr"/>
          <a:lstStyle/>
          <a:p>
            <a:pPr indent="0" marL="0">
              <a:buNone/>
            </a:pPr>
            <a:r>
              <a:rPr lang="en-US" sz="1200" b="1" dirty="0">
                <a:solidFill>
                  <a:schemeClr val="accent1"/>
                </a:solidFill>
              </a:rPr>
              <a:t>In the graph: </a:t>
            </a:r>
            <a:pPr indent="0" marL="0">
              <a:buNone/>
            </a:pPr>
            <a:r>
              <a:rPr lang="en-US" sz="1200" dirty="0">
                <a:solidFill>
                  <a:schemeClr val="accent3"/>
                </a:solidFill>
              </a:rPr>
              <a:t>Statement A is a claim record with its evidence span (claims_and_questions.ttl); B and C were written for this exercise and are not in the graph</a:t>
            </a:r>
            <a:endParaRPr lang="en-US" sz="1200" dirty="0"/>
          </a:p>
        </p:txBody>
      </p:sp>
      <p:sp>
        <p:nvSpPr>
          <p:cNvPr id="13" name="tagDot8"/>
          <p:cNvSpPr/>
          <p:nvPr/>
        </p:nvSpPr>
        <p:spPr>
          <a:xfrm>
            <a:off x="9326880" y="82296"/>
            <a:ext cx="128016" cy="128016"/>
          </a:xfrm>
          <a:prstGeom prst="ellipse">
            <a:avLst/>
          </a:prstGeom>
          <a:solidFill>
            <a:schemeClr val="accent1"/>
          </a:solidFill>
          <a:ln/>
        </p:spPr>
      </p:sp>
      <p:sp>
        <p:nvSpPr>
          <p:cNvPr id="14" name="tag8"/>
          <p:cNvSpPr txBox="1"/>
          <p:nvPr/>
        </p:nvSpPr>
        <p:spPr>
          <a:xfrm>
            <a:off x="9509760" y="18288"/>
            <a:ext cx="2286000" cy="256032"/>
          </a:xfrm>
          <a:prstGeom prst="rect">
            <a:avLst/>
          </a:prstGeom>
          <a:noFill/>
          <a:ln/>
        </p:spPr>
        <p:txBody>
          <a:bodyPr wrap="square" lIns="0" tIns="0" rIns="0" bIns="0" rtlCol="0" anchor="ctr"/>
          <a:lstStyle/>
          <a:p>
            <a:pPr indent="0" marL="0">
              <a:buNone/>
            </a:pPr>
            <a:r>
              <a:rPr lang="en-US" sz="1200" i="1" dirty="0">
                <a:solidFill>
                  <a:schemeClr val="accent3"/>
                </a:solidFill>
              </a:rPr>
              <a:t>Objective 1</a:t>
            </a:r>
            <a:endParaRPr lang="en-US" sz="1200" dirty="0"/>
          </a:p>
        </p:txBody>
      </p:sp>
      <p:sp>
        <p:nvSpPr>
          <p:cNvPr id="15" name="badge8_P"/>
          <p:cNvSpPr txBox="1"/>
          <p:nvPr/>
        </p:nvSpPr>
        <p:spPr>
          <a:xfrm>
            <a:off x="274320"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P</a:t>
            </a:r>
            <a:endParaRPr lang="en-US" sz="1100" dirty="0"/>
          </a:p>
        </p:txBody>
      </p:sp>
      <p:sp>
        <p:nvSpPr>
          <p:cNvPr id="16" name="badge8_R"/>
          <p:cNvSpPr txBox="1"/>
          <p:nvPr/>
        </p:nvSpPr>
        <p:spPr>
          <a:xfrm>
            <a:off x="576072"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R</a:t>
            </a:r>
            <a:endParaRPr lang="en-US" sz="1100" dirty="0"/>
          </a:p>
        </p:txBody>
      </p:sp>
      <p:sp>
        <p:nvSpPr>
          <p:cNvPr id="17" name="badge8_L"/>
          <p:cNvSpPr txBox="1"/>
          <p:nvPr/>
        </p:nvSpPr>
        <p:spPr>
          <a:xfrm>
            <a:off x="877824"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L</a:t>
            </a:r>
            <a:endParaRPr lang="en-US" sz="1100" dirty="0"/>
          </a:p>
        </p:txBody>
      </p:sp>
      <p:sp>
        <p:nvSpPr>
          <p:cNvPr id="18" name="data8"/>
          <p:cNvSpPr txBox="1"/>
          <p:nvPr/>
        </p:nvSpPr>
        <p:spPr>
          <a:xfrm>
            <a:off x="2121408" y="6473952"/>
            <a:ext cx="9034272" cy="301752"/>
          </a:xfrm>
          <a:prstGeom prst="rect">
            <a:avLst/>
          </a:prstGeom>
          <a:noFill/>
          <a:ln/>
        </p:spPr>
        <p:txBody>
          <a:bodyPr wrap="square" lIns="0" tIns="0" rIns="0" bIns="0" rtlCol="0" anchor="ctr"/>
          <a:lstStyle/>
          <a:p>
            <a:pPr indent="0" marL="0">
              <a:buNone/>
            </a:pPr>
            <a:r>
              <a:rPr lang="en-US" sz="1100" dirty="0">
                <a:solidFill>
                  <a:srgbClr val="5E7A88"/>
                </a:solidFill>
              </a:rPr>
              <a:t>Data: Kim et al. 2023 (UCLA cohort from ds000030)</a:t>
            </a:r>
            <a:endParaRPr lang="en-US" sz="1100" dirty="0"/>
          </a:p>
        </p:txBody>
      </p:sp>
      <p:sp>
        <p:nvSpPr>
          <p:cNvPr id="19" name="badge8_check"/>
          <p:cNvSpPr txBox="1"/>
          <p:nvPr/>
        </p:nvSpPr>
        <p:spPr>
          <a:xfrm>
            <a:off x="1234440" y="6473952"/>
            <a:ext cx="749808" cy="301752"/>
          </a:xfrm>
          <a:prstGeom prst="rect">
            <a:avLst/>
          </a:prstGeom>
          <a:noFill/>
          <a:ln/>
        </p:spPr>
        <p:txBody>
          <a:bodyPr wrap="square" lIns="0" tIns="0" rIns="0" bIns="0" rtlCol="0" anchor="ctr"/>
          <a:lstStyle/>
          <a:p>
            <a:pPr indent="0" marL="0">
              <a:buNone/>
            </a:pPr>
            <a:r>
              <a:rPr lang="en-US" sz="1100" i="1" dirty="0">
                <a:solidFill>
                  <a:srgbClr val="5E7A88"/>
                </a:solidFill>
              </a:rPr>
              <a:t>validated</a:t>
            </a:r>
            <a:endParaRPr lang="en-US" sz="11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
            <a:ext cx="11064240" cy="713232"/>
          </a:xfrm>
          <a:prstGeom prst="rect">
            <a:avLst/>
          </a:prstGeom>
          <a:noFill/>
          <a:ln/>
        </p:spPr>
        <p:txBody>
          <a:bodyPr wrap="square" rtlCol="0" anchor="ctr"/>
          <a:lstStyle/>
          <a:p>
            <a:pPr algn="l" indent="0" marL="0">
              <a:buNone/>
            </a:pPr>
            <a:r>
              <a:rPr lang="en-US" sz="3200" b="1" dirty="0">
                <a:solidFill>
                  <a:schemeClr val="tx2"/>
                </a:solidFill>
              </a:rPr>
              <a:t>Quotation checks and scientific entailment</a:t>
            </a:r>
            <a:endParaRPr lang="en-US" sz="3200" dirty="0"/>
          </a:p>
        </p:txBody>
      </p:sp>
      <p:sp>
        <p:nvSpPr>
          <p:cNvPr id="3" name="shape148"/>
          <p:cNvSpPr txBox="1"/>
          <p:nvPr/>
        </p:nvSpPr>
        <p:spPr>
          <a:xfrm>
            <a:off x="548640" y="1417320"/>
            <a:ext cx="1188720" cy="1188720"/>
          </a:xfrm>
          <a:prstGeom prst="ellipse">
            <a:avLst/>
          </a:prstGeom>
          <a:solidFill>
            <a:schemeClr val="accent1"/>
          </a:solidFill>
          <a:ln/>
        </p:spPr>
        <p:txBody>
          <a:bodyPr wrap="square" lIns="50800" tIns="50800" rIns="50800" bIns="50800" rtlCol="0" anchor="ctr"/>
          <a:lstStyle/>
          <a:p>
            <a:pPr algn="ctr" indent="0" marL="0">
              <a:buNone/>
            </a:pPr>
            <a:r>
              <a:rPr lang="en-US" sz="3600" b="1" dirty="0">
                <a:solidFill>
                  <a:schemeClr val="bg1"/>
                </a:solidFill>
              </a:rPr>
              <a:t>A</a:t>
            </a:r>
            <a:endParaRPr lang="en-US" sz="3600" dirty="0"/>
          </a:p>
        </p:txBody>
      </p:sp>
      <p:sp>
        <p:nvSpPr>
          <p:cNvPr id="4" name="shape149"/>
          <p:cNvSpPr txBox="1"/>
          <p:nvPr/>
        </p:nvSpPr>
        <p:spPr>
          <a:xfrm>
            <a:off x="2057400" y="1371600"/>
            <a:ext cx="6949440" cy="1234440"/>
          </a:xfrm>
          <a:prstGeom prst="wedgeRoundRectCallout">
            <a:avLst/>
          </a:prstGeom>
          <a:solidFill>
            <a:schemeClr val="bg2"/>
          </a:solidFill>
          <a:ln w="19050">
            <a:solidFill>
              <a:srgbClr val="C9D3D7"/>
            </a:solidFill>
            <a:prstDash val="solid"/>
          </a:ln>
        </p:spPr>
        <p:txBody>
          <a:bodyPr wrap="square" lIns="152400" tIns="152400" rIns="152400" bIns="152400" rtlCol="0" anchor="ctr"/>
          <a:lstStyle/>
          <a:p>
            <a:pPr algn="l" indent="0" marL="0">
              <a:buNone/>
            </a:pPr>
            <a:r>
              <a:rPr lang="en-US" sz="2400" dirty="0">
                <a:solidFill>
                  <a:schemeClr val="tx1"/>
                </a:solidFill>
              </a:rPr>
              <a:t>“UCLA leave-one-out accuracy was 70.2%.”</a:t>
            </a:r>
            <a:endParaRPr lang="en-US" sz="2400" dirty="0"/>
          </a:p>
        </p:txBody>
      </p:sp>
      <p:sp>
        <p:nvSpPr>
          <p:cNvPr id="5" name="shape150"/>
          <p:cNvSpPr txBox="1"/>
          <p:nvPr/>
        </p:nvSpPr>
        <p:spPr>
          <a:xfrm rot="-480000">
            <a:off x="9418320" y="1261872"/>
            <a:ext cx="2148840" cy="1463040"/>
          </a:xfrm>
          <a:prstGeom prst="ellipse">
            <a:avLst/>
          </a:prstGeom>
          <a:solidFill>
            <a:schemeClr val="bg1"/>
          </a:solidFill>
          <a:ln w="38100">
            <a:solidFill>
              <a:schemeClr val="accent1"/>
            </a:solidFill>
            <a:prstDash val="solid"/>
          </a:ln>
        </p:spPr>
        <p:txBody>
          <a:bodyPr wrap="square" lIns="101600" tIns="101600" rIns="101600" bIns="101600" rtlCol="0" anchor="ctr"/>
          <a:lstStyle/>
          <a:p>
            <a:pPr algn="ctr" indent="0" marL="0">
              <a:buNone/>
            </a:pPr>
            <a:r>
              <a:rPr lang="en-US" sz="1800" b="1" dirty="0">
                <a:solidFill>
                  <a:schemeClr val="accent1"/>
                </a:solidFill>
              </a:rPr>
              <a:t>Supported, in scope</a:t>
            </a:r>
            <a:endParaRPr lang="en-US" sz="1800" dirty="0"/>
          </a:p>
        </p:txBody>
      </p:sp>
      <p:sp>
        <p:nvSpPr>
          <p:cNvPr id="6" name="shape151"/>
          <p:cNvSpPr txBox="1"/>
          <p:nvPr/>
        </p:nvSpPr>
        <p:spPr>
          <a:xfrm>
            <a:off x="548640" y="2971800"/>
            <a:ext cx="1188720" cy="1188720"/>
          </a:xfrm>
          <a:prstGeom prst="ellipse">
            <a:avLst/>
          </a:prstGeom>
          <a:solidFill>
            <a:schemeClr val="accent2"/>
          </a:solidFill>
          <a:ln/>
        </p:spPr>
        <p:txBody>
          <a:bodyPr wrap="square" lIns="50800" tIns="50800" rIns="50800" bIns="50800" rtlCol="0" anchor="ctr"/>
          <a:lstStyle/>
          <a:p>
            <a:pPr algn="ctr" indent="0" marL="0">
              <a:buNone/>
            </a:pPr>
            <a:r>
              <a:rPr lang="en-US" sz="3600" b="1" dirty="0">
                <a:solidFill>
                  <a:schemeClr val="bg1"/>
                </a:solidFill>
              </a:rPr>
              <a:t>B</a:t>
            </a:r>
            <a:endParaRPr lang="en-US" sz="3600" dirty="0"/>
          </a:p>
        </p:txBody>
      </p:sp>
      <p:sp>
        <p:nvSpPr>
          <p:cNvPr id="7" name="shape152"/>
          <p:cNvSpPr txBox="1"/>
          <p:nvPr/>
        </p:nvSpPr>
        <p:spPr>
          <a:xfrm>
            <a:off x="2057400" y="2926080"/>
            <a:ext cx="6949440" cy="1234440"/>
          </a:xfrm>
          <a:prstGeom prst="wedgeRoundRectCallout">
            <a:avLst/>
          </a:prstGeom>
          <a:solidFill>
            <a:schemeClr val="bg2"/>
          </a:solidFill>
          <a:ln w="19050">
            <a:solidFill>
              <a:srgbClr val="C9D3D7"/>
            </a:solidFill>
            <a:prstDash val="solid"/>
          </a:ln>
        </p:spPr>
        <p:txBody>
          <a:bodyPr wrap="square" lIns="152400" tIns="152400" rIns="152400" bIns="152400" rtlCol="0" anchor="ctr"/>
          <a:lstStyle/>
          <a:p>
            <a:pPr algn="l" indent="0" marL="0">
              <a:buNone/>
            </a:pPr>
            <a:r>
              <a:rPr lang="en-US" sz="2400" dirty="0">
                <a:solidFill>
                  <a:schemeClr val="tx1"/>
                </a:solidFill>
              </a:rPr>
              <a:t>“Connectivity predicts schizophrenia with 70.2% accuracy in any cohort.”</a:t>
            </a:r>
            <a:endParaRPr lang="en-US" sz="2400" dirty="0"/>
          </a:p>
        </p:txBody>
      </p:sp>
      <p:sp>
        <p:nvSpPr>
          <p:cNvPr id="8" name="shape153"/>
          <p:cNvSpPr txBox="1"/>
          <p:nvPr/>
        </p:nvSpPr>
        <p:spPr>
          <a:xfrm rot="-480000">
            <a:off x="9418320" y="2816352"/>
            <a:ext cx="2148840" cy="1463040"/>
          </a:xfrm>
          <a:prstGeom prst="ellipse">
            <a:avLst/>
          </a:prstGeom>
          <a:solidFill>
            <a:schemeClr val="bg1"/>
          </a:solidFill>
          <a:ln w="38100">
            <a:solidFill>
              <a:schemeClr val="accent2"/>
            </a:solidFill>
            <a:prstDash val="solid"/>
          </a:ln>
        </p:spPr>
        <p:txBody>
          <a:bodyPr wrap="square" lIns="101600" tIns="101600" rIns="101600" bIns="101600" rtlCol="0" anchor="ctr"/>
          <a:lstStyle/>
          <a:p>
            <a:pPr algn="ctr" indent="0" marL="0">
              <a:buNone/>
            </a:pPr>
            <a:r>
              <a:rPr lang="en-US" sz="1800" b="1" dirty="0">
                <a:solidFill>
                  <a:schemeClr val="accent2"/>
                </a:solidFill>
              </a:rPr>
              <a:t>Scope dropped</a:t>
            </a:r>
            <a:endParaRPr lang="en-US" sz="1800" dirty="0"/>
          </a:p>
        </p:txBody>
      </p:sp>
      <p:sp>
        <p:nvSpPr>
          <p:cNvPr id="9" name="shape154"/>
          <p:cNvSpPr txBox="1"/>
          <p:nvPr/>
        </p:nvSpPr>
        <p:spPr>
          <a:xfrm>
            <a:off x="548640" y="4526280"/>
            <a:ext cx="1188720" cy="1188720"/>
          </a:xfrm>
          <a:prstGeom prst="ellipse">
            <a:avLst/>
          </a:prstGeom>
          <a:solidFill>
            <a:schemeClr val="accent2"/>
          </a:solidFill>
          <a:ln/>
        </p:spPr>
        <p:txBody>
          <a:bodyPr wrap="square" lIns="50800" tIns="50800" rIns="50800" bIns="50800" rtlCol="0" anchor="ctr"/>
          <a:lstStyle/>
          <a:p>
            <a:pPr algn="ctr" indent="0" marL="0">
              <a:buNone/>
            </a:pPr>
            <a:r>
              <a:rPr lang="en-US" sz="3600" b="1" dirty="0">
                <a:solidFill>
                  <a:schemeClr val="bg1"/>
                </a:solidFill>
              </a:rPr>
              <a:t>C</a:t>
            </a:r>
            <a:endParaRPr lang="en-US" sz="3600" dirty="0"/>
          </a:p>
        </p:txBody>
      </p:sp>
      <p:sp>
        <p:nvSpPr>
          <p:cNvPr id="10" name="shape155"/>
          <p:cNvSpPr txBox="1"/>
          <p:nvPr/>
        </p:nvSpPr>
        <p:spPr>
          <a:xfrm>
            <a:off x="2057400" y="4480560"/>
            <a:ext cx="6949440" cy="1234440"/>
          </a:xfrm>
          <a:prstGeom prst="wedgeRoundRectCallout">
            <a:avLst/>
          </a:prstGeom>
          <a:solidFill>
            <a:schemeClr val="bg2"/>
          </a:solidFill>
          <a:ln w="19050">
            <a:solidFill>
              <a:srgbClr val="C9D3D7"/>
            </a:solidFill>
            <a:prstDash val="solid"/>
          </a:ln>
        </p:spPr>
        <p:txBody>
          <a:bodyPr wrap="square" lIns="152400" tIns="152400" rIns="152400" bIns="152400" rtlCol="0" anchor="ctr"/>
          <a:lstStyle/>
          <a:p>
            <a:pPr algn="l" indent="0" marL="0">
              <a:buNone/>
            </a:pPr>
            <a:r>
              <a:rPr lang="en-US" sz="2400" dirty="0">
                <a:solidFill>
                  <a:schemeClr val="tx1"/>
                </a:solidFill>
              </a:rPr>
              <a:t>“70.2% proves a causal disease mechanism.”</a:t>
            </a:r>
            <a:endParaRPr lang="en-US" sz="2400" dirty="0"/>
          </a:p>
        </p:txBody>
      </p:sp>
      <p:sp>
        <p:nvSpPr>
          <p:cNvPr id="11" name="shape156"/>
          <p:cNvSpPr txBox="1"/>
          <p:nvPr/>
        </p:nvSpPr>
        <p:spPr>
          <a:xfrm rot="-480000">
            <a:off x="9418320" y="4370832"/>
            <a:ext cx="2148840" cy="1463040"/>
          </a:xfrm>
          <a:prstGeom prst="ellipse">
            <a:avLst/>
          </a:prstGeom>
          <a:solidFill>
            <a:schemeClr val="bg1"/>
          </a:solidFill>
          <a:ln w="38100">
            <a:solidFill>
              <a:schemeClr val="accent2"/>
            </a:solidFill>
            <a:prstDash val="solid"/>
          </a:ln>
        </p:spPr>
        <p:txBody>
          <a:bodyPr wrap="square" lIns="101600" tIns="101600" rIns="101600" bIns="101600" rtlCol="0" anchor="ctr"/>
          <a:lstStyle/>
          <a:p>
            <a:pPr algn="ctr" indent="0" marL="0">
              <a:buNone/>
            </a:pPr>
            <a:r>
              <a:rPr lang="en-US" sz="1800" b="1" dirty="0">
                <a:solidFill>
                  <a:schemeClr val="accent2"/>
                </a:solidFill>
              </a:rPr>
              <a:t>Not in the source</a:t>
            </a:r>
            <a:endParaRPr lang="en-US" sz="1800" dirty="0"/>
          </a:p>
        </p:txBody>
      </p:sp>
      <p:pic>
        <p:nvPicPr>
          <p:cNvPr id="13" name="stripIcon9" descr="preencoded.png">    </p:cNvPr>
          <p:cNvPicPr>
            <a:picLocks noChangeAspect="1"/>
          </p:cNvPicPr>
          <p:nvPr/>
        </p:nvPicPr>
        <p:blipFill>
          <a:blip r:embed="rId1"/>
          <a:stretch>
            <a:fillRect/>
          </a:stretch>
        </p:blipFill>
        <p:spPr>
          <a:xfrm>
            <a:off x="548640" y="969264"/>
            <a:ext cx="182880" cy="182880"/>
          </a:xfrm>
          <a:prstGeom prst="rect">
            <a:avLst/>
          </a:prstGeom>
        </p:spPr>
      </p:pic>
      <p:sp>
        <p:nvSpPr>
          <p:cNvPr id="14" name="strip9"/>
          <p:cNvSpPr txBox="1"/>
          <p:nvPr/>
        </p:nvSpPr>
        <p:spPr>
          <a:xfrm>
            <a:off x="804672" y="914400"/>
            <a:ext cx="10972800" cy="292608"/>
          </a:xfrm>
          <a:prstGeom prst="rect">
            <a:avLst/>
          </a:prstGeom>
          <a:noFill/>
          <a:ln/>
        </p:spPr>
        <p:txBody>
          <a:bodyPr wrap="square" lIns="0" tIns="0" rIns="0" bIns="0" rtlCol="0" anchor="ctr"/>
          <a:lstStyle/>
          <a:p>
            <a:pPr indent="0" marL="0">
              <a:buNone/>
            </a:pPr>
            <a:r>
              <a:rPr lang="en-US" sz="1200" b="1" dirty="0">
                <a:solidFill>
                  <a:schemeClr val="accent1"/>
                </a:solidFill>
              </a:rPr>
              <a:t>In the graph: </a:t>
            </a:r>
            <a:pPr indent="0" marL="0">
              <a:buNone/>
            </a:pPr>
            <a:r>
              <a:rPr lang="en-US" sz="1200" dirty="0">
                <a:solidFill>
                  <a:schemeClr val="accent3"/>
                </a:solidFill>
              </a:rPr>
              <a:t>Span and schema checks ran on the extracted records (results/skill/pilot_report.json); entailment is a human judgement, not in the graph</a:t>
            </a:r>
            <a:endParaRPr lang="en-US" sz="1200" dirty="0"/>
          </a:p>
        </p:txBody>
      </p:sp>
      <p:sp>
        <p:nvSpPr>
          <p:cNvPr id="15" name="tagDot9"/>
          <p:cNvSpPr/>
          <p:nvPr/>
        </p:nvSpPr>
        <p:spPr>
          <a:xfrm>
            <a:off x="9326880" y="82296"/>
            <a:ext cx="128016" cy="128016"/>
          </a:xfrm>
          <a:prstGeom prst="ellipse">
            <a:avLst/>
          </a:prstGeom>
          <a:solidFill>
            <a:schemeClr val="accent1"/>
          </a:solidFill>
          <a:ln/>
        </p:spPr>
      </p:sp>
      <p:sp>
        <p:nvSpPr>
          <p:cNvPr id="16" name="tag9"/>
          <p:cNvSpPr txBox="1"/>
          <p:nvPr/>
        </p:nvSpPr>
        <p:spPr>
          <a:xfrm>
            <a:off x="9509760" y="18288"/>
            <a:ext cx="2286000" cy="256032"/>
          </a:xfrm>
          <a:prstGeom prst="rect">
            <a:avLst/>
          </a:prstGeom>
          <a:noFill/>
          <a:ln/>
        </p:spPr>
        <p:txBody>
          <a:bodyPr wrap="square" lIns="0" tIns="0" rIns="0" bIns="0" rtlCol="0" anchor="ctr"/>
          <a:lstStyle/>
          <a:p>
            <a:pPr indent="0" marL="0">
              <a:buNone/>
            </a:pPr>
            <a:r>
              <a:rPr lang="en-US" sz="1200" i="1" dirty="0">
                <a:solidFill>
                  <a:schemeClr val="accent3"/>
                </a:solidFill>
              </a:rPr>
              <a:t>Objective 1</a:t>
            </a:r>
            <a:endParaRPr lang="en-US" sz="1200" dirty="0"/>
          </a:p>
        </p:txBody>
      </p:sp>
      <p:sp>
        <p:nvSpPr>
          <p:cNvPr id="17" name="badge9_P"/>
          <p:cNvSpPr txBox="1"/>
          <p:nvPr/>
        </p:nvSpPr>
        <p:spPr>
          <a:xfrm>
            <a:off x="274320"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P</a:t>
            </a:r>
            <a:endParaRPr lang="en-US" sz="1100" dirty="0"/>
          </a:p>
        </p:txBody>
      </p:sp>
      <p:sp>
        <p:nvSpPr>
          <p:cNvPr id="18" name="badge9_R"/>
          <p:cNvSpPr txBox="1"/>
          <p:nvPr/>
        </p:nvSpPr>
        <p:spPr>
          <a:xfrm>
            <a:off x="576072"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R</a:t>
            </a:r>
            <a:endParaRPr lang="en-US" sz="1100" dirty="0"/>
          </a:p>
        </p:txBody>
      </p:sp>
      <p:sp>
        <p:nvSpPr>
          <p:cNvPr id="19" name="data9"/>
          <p:cNvSpPr txBox="1"/>
          <p:nvPr/>
        </p:nvSpPr>
        <p:spPr>
          <a:xfrm>
            <a:off x="1819656" y="6473952"/>
            <a:ext cx="9336024" cy="301752"/>
          </a:xfrm>
          <a:prstGeom prst="rect">
            <a:avLst/>
          </a:prstGeom>
          <a:noFill/>
          <a:ln/>
        </p:spPr>
        <p:txBody>
          <a:bodyPr wrap="square" lIns="0" tIns="0" rIns="0" bIns="0" rtlCol="0" anchor="ctr"/>
          <a:lstStyle/>
          <a:p>
            <a:pPr indent="0" marL="0">
              <a:buNone/>
            </a:pPr>
            <a:r>
              <a:rPr lang="en-US" sz="1100" dirty="0">
                <a:solidFill>
                  <a:srgbClr val="5E7A88"/>
                </a:solidFill>
              </a:rPr>
              <a:t>Data: Kim et al. 2023 (UCLA cohort from ds000030)</a:t>
            </a:r>
            <a:endParaRPr lang="en-US" sz="1100" dirty="0"/>
          </a:p>
        </p:txBody>
      </p:sp>
      <p:sp>
        <p:nvSpPr>
          <p:cNvPr id="20" name="badge9_check"/>
          <p:cNvSpPr txBox="1"/>
          <p:nvPr/>
        </p:nvSpPr>
        <p:spPr>
          <a:xfrm>
            <a:off x="932688" y="6473952"/>
            <a:ext cx="749808" cy="301752"/>
          </a:xfrm>
          <a:prstGeom prst="rect">
            <a:avLst/>
          </a:prstGeom>
          <a:noFill/>
          <a:ln/>
        </p:spPr>
        <p:txBody>
          <a:bodyPr wrap="square" lIns="0" tIns="0" rIns="0" bIns="0" rtlCol="0" anchor="ctr"/>
          <a:lstStyle/>
          <a:p>
            <a:pPr indent="0" marL="0">
              <a:buNone/>
            </a:pPr>
            <a:r>
              <a:rPr lang="en-US" sz="1100" i="1" dirty="0">
                <a:solidFill>
                  <a:srgbClr val="5E7A88"/>
                </a:solidFill>
              </a:rPr>
              <a:t>validated</a:t>
            </a:r>
            <a:endParaRPr lang="en-US" sz="11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
            <a:ext cx="11064240" cy="713232"/>
          </a:xfrm>
          <a:prstGeom prst="rect">
            <a:avLst/>
          </a:prstGeom>
          <a:noFill/>
          <a:ln/>
        </p:spPr>
        <p:txBody>
          <a:bodyPr wrap="square" rtlCol="0" anchor="ctr"/>
          <a:lstStyle/>
          <a:p>
            <a:pPr algn="l" indent="0" marL="0">
              <a:buNone/>
            </a:pPr>
            <a:r>
              <a:rPr lang="en-US" sz="3200" b="1" dirty="0">
                <a:solidFill>
                  <a:schemeClr val="tx2"/>
                </a:solidFill>
              </a:rPr>
              <a:t>Joining graphs through shared identifiers</a:t>
            </a:r>
            <a:endParaRPr lang="en-US" sz="3200" dirty="0"/>
          </a:p>
        </p:txBody>
      </p:sp>
      <p:sp>
        <p:nvSpPr>
          <p:cNvPr id="3" name="shape157"/>
          <p:cNvSpPr txBox="1"/>
          <p:nvPr/>
        </p:nvSpPr>
        <p:spPr>
          <a:xfrm>
            <a:off x="502920" y="1371600"/>
            <a:ext cx="2103120" cy="2103120"/>
          </a:xfrm>
          <a:prstGeom prst="ellipse">
            <a:avLst/>
          </a:prstGeom>
          <a:solidFill>
            <a:schemeClr val="accent1"/>
          </a:solidFill>
          <a:ln/>
        </p:spPr>
        <p:txBody>
          <a:bodyPr wrap="square" lIns="127000" tIns="127000" rIns="127000" bIns="127000" rtlCol="0" anchor="ctr"/>
          <a:lstStyle/>
          <a:p>
            <a:pPr algn="ctr" indent="0" marL="0">
              <a:buNone/>
            </a:pPr>
            <a:r>
              <a:rPr lang="en-US" sz="2000" b="1" dirty="0">
                <a:solidFill>
                  <a:schemeClr val="bg1"/>
                </a:solidFill>
              </a:rPr>
              <a:t>Our ABIDE graph</a:t>
            </a:r>
            <a:endParaRPr lang="en-US" sz="1800" dirty="0"/>
          </a:p>
          <a:p>
            <a:pPr algn="ctr" indent="0" marL="0">
              <a:buNone/>
            </a:pPr>
            <a:r>
              <a:rPr lang="en-US" sz="1500" dirty="0">
                <a:solidFill>
                  <a:schemeClr val="bg1"/>
                </a:solidFill>
              </a:rPr>
              <a:t>cohorts, derivatives, results</a:t>
            </a:r>
            <a:endParaRPr lang="en-US" sz="1800" dirty="0"/>
          </a:p>
        </p:txBody>
      </p:sp>
      <p:sp>
        <p:nvSpPr>
          <p:cNvPr id="4" name="curve158"/>
          <p:cNvSpPr/>
          <p:nvPr/>
        </p:nvSpPr>
        <p:spPr>
          <a:xfrm>
            <a:off x="2587752" y="1737360"/>
            <a:ext cx="1527048" cy="685800"/>
          </a:xfrm>
          <a:custGeom>
            <a:avLst/>
            <a:gdLst/>
            <a:ahLst/>
            <a:cxnLst/>
            <a:rect l="l" t="t" r="r" b="b"/>
            <a:pathLst>
              <a:path w="1527048" h="685800">
                <a:moveTo>
                  <a:pt x="0" y="685800"/>
                </a:moveTo>
                <a:cubicBezTo>
                  <a:pt x="763524" y="685800"/>
                  <a:pt x="763524" y="0"/>
                  <a:pt x="1527048" y="0"/>
                </a:cubicBezTo>
              </a:path>
            </a:pathLst>
          </a:custGeom>
          <a:ln w="25400">
            <a:solidFill>
              <a:schemeClr val="accent3"/>
            </a:solidFill>
            <a:prstDash val="solid"/>
          </a:ln>
        </p:spPr>
      </p:sp>
      <p:sp>
        <p:nvSpPr>
          <p:cNvPr id="5" name="shape159"/>
          <p:cNvSpPr/>
          <p:nvPr/>
        </p:nvSpPr>
        <p:spPr>
          <a:xfrm>
            <a:off x="4114800" y="1325880"/>
            <a:ext cx="822960" cy="822960"/>
          </a:xfrm>
          <a:prstGeom prst="ellipse">
            <a:avLst/>
          </a:prstGeom>
          <a:solidFill>
            <a:schemeClr val="tx2"/>
          </a:solidFill>
          <a:ln/>
        </p:spPr>
      </p:sp>
      <p:pic>
        <p:nvPicPr>
          <p:cNvPr id="6" name="join160" descr="preencoded.png">    </p:cNvPr>
          <p:cNvPicPr>
            <a:picLocks noChangeAspect="1"/>
          </p:cNvPicPr>
          <p:nvPr/>
        </p:nvPicPr>
        <p:blipFill>
          <a:blip r:embed="rId1"/>
          <a:stretch>
            <a:fillRect/>
          </a:stretch>
        </p:blipFill>
        <p:spPr>
          <a:xfrm>
            <a:off x="4315968" y="1527048"/>
            <a:ext cx="420624" cy="420624"/>
          </a:xfrm>
          <a:prstGeom prst="rect">
            <a:avLst/>
          </a:prstGeom>
        </p:spPr>
      </p:pic>
      <p:sp>
        <p:nvSpPr>
          <p:cNvPr id="7" name="text161"/>
          <p:cNvSpPr txBox="1"/>
          <p:nvPr/>
        </p:nvSpPr>
        <p:spPr>
          <a:xfrm>
            <a:off x="5074920" y="1261872"/>
            <a:ext cx="6720840" cy="987552"/>
          </a:xfrm>
          <a:prstGeom prst="rect">
            <a:avLst/>
          </a:prstGeom>
          <a:noFill/>
          <a:ln/>
        </p:spPr>
        <p:txBody>
          <a:bodyPr wrap="square" lIns="0" tIns="0" rIns="0" bIns="0" rtlCol="0" anchor="ctr"/>
          <a:lstStyle/>
          <a:p>
            <a:pPr indent="0" marL="0">
              <a:buNone/>
            </a:pPr>
            <a:r>
              <a:rPr lang="en-US" sz="1800" b="1" dirty="0">
                <a:solidFill>
                  <a:schemeClr val="tx2"/>
                </a:solidFill>
              </a:rPr>
              <a:t>ReproNim simple2 NIDM</a:t>
            </a:r>
            <a:pPr indent="0" marL="0">
              <a:buNone/>
            </a:pPr>
            <a:r>
              <a:rPr lang="en-US" sz="1400" dirty="0">
                <a:solidFill>
                  <a:schemeClr val="accent3"/>
                </a:solidFill>
              </a:rPr>
              <a:t>  ReproNim's ABIDE records, 27 sites</a:t>
            </a:r>
            <a:pPr indent="0" marL="0">
              <a:buNone/>
            </a:pPr>
            <a:r>
              <a:rPr lang="en-US" sz="1400" i="1" dirty="0">
                <a:solidFill>
                  <a:schemeClr val="accent1"/>
                </a:solidFill>
              </a:rPr>
              <a:t>   key: participant ID</a:t>
            </a:r>
            <a:endParaRPr lang="en-US" sz="1800" dirty="0"/>
          </a:p>
          <a:p>
            <a:pPr indent="0" marL="0">
              <a:buNone/>
            </a:pPr>
            <a:r>
              <a:rPr lang="en-US" sz="1600" dirty="0">
                <a:solidFill>
                  <a:schemeClr val="tx1"/>
                </a:solidFill>
              </a:rPr>
              <a:t>1,112 / 1,112 matched, none left over · 1,035 with time series · 767 in B's cohort (reviewed link, not declared identical)</a:t>
            </a:r>
            <a:endParaRPr lang="en-US" sz="1800" dirty="0"/>
          </a:p>
        </p:txBody>
      </p:sp>
      <p:sp>
        <p:nvSpPr>
          <p:cNvPr id="8" name="curve162"/>
          <p:cNvSpPr/>
          <p:nvPr/>
        </p:nvSpPr>
        <p:spPr>
          <a:xfrm>
            <a:off x="2587752" y="2423160"/>
            <a:ext cx="1527048" cy="347472"/>
          </a:xfrm>
          <a:custGeom>
            <a:avLst/>
            <a:gdLst/>
            <a:ahLst/>
            <a:cxnLst/>
            <a:rect l="l" t="t" r="r" b="b"/>
            <a:pathLst>
              <a:path w="1527048" h="347472">
                <a:moveTo>
                  <a:pt x="0" y="0"/>
                </a:moveTo>
                <a:cubicBezTo>
                  <a:pt x="763524" y="0"/>
                  <a:pt x="763524" y="347472"/>
                  <a:pt x="1527048" y="347472"/>
                </a:cubicBezTo>
              </a:path>
            </a:pathLst>
          </a:custGeom>
          <a:ln w="25400">
            <a:solidFill>
              <a:schemeClr val="accent3"/>
            </a:solidFill>
            <a:prstDash val="solid"/>
          </a:ln>
        </p:spPr>
      </p:sp>
      <p:sp>
        <p:nvSpPr>
          <p:cNvPr id="9" name="shape163"/>
          <p:cNvSpPr/>
          <p:nvPr/>
        </p:nvSpPr>
        <p:spPr>
          <a:xfrm>
            <a:off x="4114800" y="2359152"/>
            <a:ext cx="822960" cy="822960"/>
          </a:xfrm>
          <a:prstGeom prst="ellipse">
            <a:avLst/>
          </a:prstGeom>
          <a:solidFill>
            <a:schemeClr val="tx2"/>
          </a:solidFill>
          <a:ln/>
        </p:spPr>
      </p:sp>
      <p:pic>
        <p:nvPicPr>
          <p:cNvPr id="10" name="join164" descr="preencoded.png">    </p:cNvPr>
          <p:cNvPicPr>
            <a:picLocks noChangeAspect="1"/>
          </p:cNvPicPr>
          <p:nvPr/>
        </p:nvPicPr>
        <p:blipFill>
          <a:blip r:embed="rId2"/>
          <a:stretch>
            <a:fillRect/>
          </a:stretch>
        </p:blipFill>
        <p:spPr>
          <a:xfrm>
            <a:off x="4315968" y="2560320"/>
            <a:ext cx="420624" cy="420624"/>
          </a:xfrm>
          <a:prstGeom prst="rect">
            <a:avLst/>
          </a:prstGeom>
        </p:spPr>
      </p:pic>
      <p:sp>
        <p:nvSpPr>
          <p:cNvPr id="11" name="text165"/>
          <p:cNvSpPr txBox="1"/>
          <p:nvPr/>
        </p:nvSpPr>
        <p:spPr>
          <a:xfrm>
            <a:off x="5074920" y="2295144"/>
            <a:ext cx="6720840" cy="987552"/>
          </a:xfrm>
          <a:prstGeom prst="rect">
            <a:avLst/>
          </a:prstGeom>
          <a:noFill/>
          <a:ln/>
        </p:spPr>
        <p:txBody>
          <a:bodyPr wrap="square" lIns="0" tIns="0" rIns="0" bIns="0" rtlCol="0" anchor="ctr"/>
          <a:lstStyle/>
          <a:p>
            <a:pPr indent="0" marL="0">
              <a:buNone/>
            </a:pPr>
            <a:r>
              <a:rPr lang="en-US" sz="1800" b="1" dirty="0">
                <a:solidFill>
                  <a:schemeClr val="tx2"/>
                </a:solidFill>
              </a:rPr>
              <a:t>AbstractAtlas</a:t>
            </a:r>
            <a:pPr indent="0" marL="0">
              <a:buNone/>
            </a:pPr>
            <a:r>
              <a:rPr lang="en-US" sz="1400" dirty="0">
                <a:solidFill>
                  <a:schemeClr val="accent3"/>
                </a:solidFill>
              </a:rPr>
              <a:t>  OHBM 2026 abstracts</a:t>
            </a:r>
            <a:pPr indent="0" marL="0">
              <a:buNone/>
            </a:pPr>
            <a:r>
              <a:rPr lang="en-US" sz="1400" i="1" dirty="0">
                <a:solidFill>
                  <a:schemeClr val="accent1"/>
                </a:solidFill>
              </a:rPr>
              <a:t>   key: dataset name in abstract text</a:t>
            </a:r>
            <a:endParaRPr lang="en-US" sz="1800" dirty="0"/>
          </a:p>
          <a:p>
            <a:pPr indent="0" marL="0">
              <a:buNone/>
            </a:pPr>
            <a:r>
              <a:rPr lang="en-US" sz="1600" dirty="0">
                <a:solidFill>
                  <a:schemeClr val="tx1"/>
                </a:solidFill>
              </a:rPr>
              <a:t>35 abstracts · 17 state data use · 15 / 17 correct on hand check</a:t>
            </a:r>
            <a:endParaRPr lang="en-US" sz="1800" dirty="0"/>
          </a:p>
        </p:txBody>
      </p:sp>
      <p:sp>
        <p:nvSpPr>
          <p:cNvPr id="12" name="curve166"/>
          <p:cNvSpPr/>
          <p:nvPr/>
        </p:nvSpPr>
        <p:spPr>
          <a:xfrm>
            <a:off x="2587752" y="2423160"/>
            <a:ext cx="1527048" cy="1380744"/>
          </a:xfrm>
          <a:custGeom>
            <a:avLst/>
            <a:gdLst/>
            <a:ahLst/>
            <a:cxnLst/>
            <a:rect l="l" t="t" r="r" b="b"/>
            <a:pathLst>
              <a:path w="1527048" h="1380744">
                <a:moveTo>
                  <a:pt x="0" y="0"/>
                </a:moveTo>
                <a:cubicBezTo>
                  <a:pt x="763524" y="0"/>
                  <a:pt x="763524" y="1380744"/>
                  <a:pt x="1527048" y="1380744"/>
                </a:cubicBezTo>
              </a:path>
            </a:pathLst>
          </a:custGeom>
          <a:ln w="25400">
            <a:solidFill>
              <a:schemeClr val="accent3"/>
            </a:solidFill>
            <a:prstDash val="solid"/>
          </a:ln>
        </p:spPr>
      </p:sp>
      <p:sp>
        <p:nvSpPr>
          <p:cNvPr id="13" name="shape167"/>
          <p:cNvSpPr/>
          <p:nvPr/>
        </p:nvSpPr>
        <p:spPr>
          <a:xfrm>
            <a:off x="4114800" y="3392424"/>
            <a:ext cx="822960" cy="822960"/>
          </a:xfrm>
          <a:prstGeom prst="ellipse">
            <a:avLst/>
          </a:prstGeom>
          <a:solidFill>
            <a:schemeClr val="tx2"/>
          </a:solidFill>
          <a:ln/>
        </p:spPr>
      </p:sp>
      <p:pic>
        <p:nvPicPr>
          <p:cNvPr id="14" name="join168" descr="preencoded.png">    </p:cNvPr>
          <p:cNvPicPr>
            <a:picLocks noChangeAspect="1"/>
          </p:cNvPicPr>
          <p:nvPr/>
        </p:nvPicPr>
        <p:blipFill>
          <a:blip r:embed="rId3"/>
          <a:stretch>
            <a:fillRect/>
          </a:stretch>
        </p:blipFill>
        <p:spPr>
          <a:xfrm>
            <a:off x="4315968" y="3593592"/>
            <a:ext cx="420624" cy="420624"/>
          </a:xfrm>
          <a:prstGeom prst="rect">
            <a:avLst/>
          </a:prstGeom>
        </p:spPr>
      </p:pic>
      <p:sp>
        <p:nvSpPr>
          <p:cNvPr id="15" name="text169"/>
          <p:cNvSpPr txBox="1"/>
          <p:nvPr/>
        </p:nvSpPr>
        <p:spPr>
          <a:xfrm>
            <a:off x="5074920" y="3328416"/>
            <a:ext cx="6720840" cy="987552"/>
          </a:xfrm>
          <a:prstGeom prst="rect">
            <a:avLst/>
          </a:prstGeom>
          <a:noFill/>
          <a:ln/>
        </p:spPr>
        <p:txBody>
          <a:bodyPr wrap="square" lIns="0" tIns="0" rIns="0" bIns="0" rtlCol="0" anchor="ctr"/>
          <a:lstStyle/>
          <a:p>
            <a:pPr indent="0" marL="0">
              <a:buNone/>
            </a:pPr>
            <a:r>
              <a:rPr lang="en-US" sz="1800" b="1" dirty="0">
                <a:solidFill>
                  <a:schemeClr val="tx2"/>
                </a:solidFill>
              </a:rPr>
              <a:t>OpenAlex</a:t>
            </a:r>
            <a:pPr indent="0" marL="0">
              <a:buNone/>
            </a:pPr>
            <a:r>
              <a:rPr lang="en-US" sz="1400" dirty="0">
                <a:solidFill>
                  <a:schemeClr val="accent3"/>
                </a:solidFill>
              </a:rPr>
              <a:t>  open catalogue of papers</a:t>
            </a:r>
            <a:pPr indent="0" marL="0">
              <a:buNone/>
            </a:pPr>
            <a:r>
              <a:rPr lang="en-US" sz="1400" i="1" dirty="0">
                <a:solidFill>
                  <a:schemeClr val="accent1"/>
                </a:solidFill>
              </a:rPr>
              <a:t>   key: DOI and citation</a:t>
            </a:r>
            <a:endParaRPr lang="en-US" sz="1800" dirty="0"/>
          </a:p>
          <a:p>
            <a:pPr indent="0" marL="0">
              <a:buNone/>
            </a:pPr>
            <a:r>
              <a:rPr lang="en-US" sz="1600" dirty="0">
                <a:solidFill>
                  <a:schemeClr val="tx1"/>
                </a:solidFill>
              </a:rPr>
              <a:t>598 works cite Di Martino 2014 and name ABIDE</a:t>
            </a:r>
            <a:endParaRPr lang="en-US" sz="1800" dirty="0"/>
          </a:p>
        </p:txBody>
      </p:sp>
      <p:sp>
        <p:nvSpPr>
          <p:cNvPr id="16" name="curve170"/>
          <p:cNvSpPr/>
          <p:nvPr/>
        </p:nvSpPr>
        <p:spPr>
          <a:xfrm>
            <a:off x="2587752" y="2423160"/>
            <a:ext cx="1527048" cy="2414016"/>
          </a:xfrm>
          <a:custGeom>
            <a:avLst/>
            <a:gdLst/>
            <a:ahLst/>
            <a:cxnLst/>
            <a:rect l="l" t="t" r="r" b="b"/>
            <a:pathLst>
              <a:path w="1527048" h="2414016">
                <a:moveTo>
                  <a:pt x="0" y="0"/>
                </a:moveTo>
                <a:cubicBezTo>
                  <a:pt x="763524" y="0"/>
                  <a:pt x="763524" y="2414016"/>
                  <a:pt x="1527048" y="2414016"/>
                </a:cubicBezTo>
              </a:path>
            </a:pathLst>
          </a:custGeom>
          <a:ln w="25400">
            <a:solidFill>
              <a:schemeClr val="accent3"/>
            </a:solidFill>
            <a:prstDash val="solid"/>
          </a:ln>
        </p:spPr>
      </p:sp>
      <p:sp>
        <p:nvSpPr>
          <p:cNvPr id="17" name="shape171"/>
          <p:cNvSpPr/>
          <p:nvPr/>
        </p:nvSpPr>
        <p:spPr>
          <a:xfrm>
            <a:off x="4114800" y="4425696"/>
            <a:ext cx="822960" cy="822960"/>
          </a:xfrm>
          <a:prstGeom prst="ellipse">
            <a:avLst/>
          </a:prstGeom>
          <a:solidFill>
            <a:schemeClr val="accent2"/>
          </a:solidFill>
          <a:ln/>
        </p:spPr>
      </p:sp>
      <p:pic>
        <p:nvPicPr>
          <p:cNvPr id="18" name="join172" descr="preencoded.png">    </p:cNvPr>
          <p:cNvPicPr>
            <a:picLocks noChangeAspect="1"/>
          </p:cNvPicPr>
          <p:nvPr/>
        </p:nvPicPr>
        <p:blipFill>
          <a:blip r:embed="rId4"/>
          <a:stretch>
            <a:fillRect/>
          </a:stretch>
        </p:blipFill>
        <p:spPr>
          <a:xfrm>
            <a:off x="4315968" y="4626864"/>
            <a:ext cx="420624" cy="420624"/>
          </a:xfrm>
          <a:prstGeom prst="rect">
            <a:avLst/>
          </a:prstGeom>
        </p:spPr>
      </p:pic>
      <p:sp>
        <p:nvSpPr>
          <p:cNvPr id="19" name="text173"/>
          <p:cNvSpPr txBox="1"/>
          <p:nvPr/>
        </p:nvSpPr>
        <p:spPr>
          <a:xfrm>
            <a:off x="5074920" y="4361688"/>
            <a:ext cx="6720840" cy="987552"/>
          </a:xfrm>
          <a:prstGeom prst="rect">
            <a:avLst/>
          </a:prstGeom>
          <a:noFill/>
          <a:ln/>
        </p:spPr>
        <p:txBody>
          <a:bodyPr wrap="square" lIns="0" tIns="0" rIns="0" bIns="0" rtlCol="0" anchor="ctr"/>
          <a:lstStyle/>
          <a:p>
            <a:pPr indent="0" marL="0">
              <a:buNone/>
            </a:pPr>
            <a:r>
              <a:rPr lang="en-US" sz="1800" b="1" dirty="0">
                <a:solidFill>
                  <a:schemeClr val="tx2"/>
                </a:solidFill>
              </a:rPr>
              <a:t>Brain Researcher KG</a:t>
            </a:r>
            <a:pPr indent="0" marL="0">
              <a:buNone/>
            </a:pPr>
            <a:r>
              <a:rPr lang="en-US" sz="1400" dirty="0">
                <a:solidFill>
                  <a:schemeClr val="accent3"/>
                </a:solidFill>
              </a:rPr>
              <a:t>  an external AI assistant's graph</a:t>
            </a:r>
            <a:pPr indent="0" marL="0">
              <a:buNone/>
            </a:pPr>
            <a:r>
              <a:rPr lang="en-US" sz="1400" i="1" dirty="0">
                <a:solidFill>
                  <a:schemeClr val="accent1"/>
                </a:solidFill>
              </a:rPr>
              <a:t>   key: dataset node</a:t>
            </a:r>
            <a:endParaRPr lang="en-US" sz="1800" dirty="0"/>
          </a:p>
          <a:p>
            <a:pPr indent="0" marL="0">
              <a:buNone/>
            </a:pPr>
            <a:r>
              <a:rPr lang="en-US" sz="1600" dirty="0">
                <a:solidFill>
                  <a:schemeClr val="tx1"/>
                </a:solidFill>
              </a:rPr>
              <a:t>one aggregate ABIDE node (2,226 subjects); neither paper present</a:t>
            </a:r>
            <a:endParaRPr lang="en-US" sz="1800" dirty="0"/>
          </a:p>
        </p:txBody>
      </p:sp>
      <p:sp>
        <p:nvSpPr>
          <p:cNvPr id="20" name="curve174"/>
          <p:cNvSpPr/>
          <p:nvPr/>
        </p:nvSpPr>
        <p:spPr>
          <a:xfrm>
            <a:off x="2587752" y="2423160"/>
            <a:ext cx="1527048" cy="3447288"/>
          </a:xfrm>
          <a:custGeom>
            <a:avLst/>
            <a:gdLst/>
            <a:ahLst/>
            <a:cxnLst/>
            <a:rect l="l" t="t" r="r" b="b"/>
            <a:pathLst>
              <a:path w="1527048" h="3447288">
                <a:moveTo>
                  <a:pt x="0" y="0"/>
                </a:moveTo>
                <a:cubicBezTo>
                  <a:pt x="763524" y="0"/>
                  <a:pt x="763524" y="3447288"/>
                  <a:pt x="1527048" y="3447288"/>
                </a:cubicBezTo>
              </a:path>
            </a:pathLst>
          </a:custGeom>
          <a:ln w="25400">
            <a:solidFill>
              <a:schemeClr val="accent3"/>
            </a:solidFill>
            <a:prstDash val="solid"/>
          </a:ln>
        </p:spPr>
      </p:sp>
      <p:sp>
        <p:nvSpPr>
          <p:cNvPr id="21" name="shape175"/>
          <p:cNvSpPr/>
          <p:nvPr/>
        </p:nvSpPr>
        <p:spPr>
          <a:xfrm>
            <a:off x="4114800" y="5458968"/>
            <a:ext cx="822960" cy="822960"/>
          </a:xfrm>
          <a:prstGeom prst="ellipse">
            <a:avLst/>
          </a:prstGeom>
          <a:solidFill>
            <a:schemeClr val="tx2"/>
          </a:solidFill>
          <a:ln/>
        </p:spPr>
      </p:sp>
      <p:pic>
        <p:nvPicPr>
          <p:cNvPr id="22" name="join176" descr="preencoded.png">    </p:cNvPr>
          <p:cNvPicPr>
            <a:picLocks noChangeAspect="1"/>
          </p:cNvPicPr>
          <p:nvPr/>
        </p:nvPicPr>
        <p:blipFill>
          <a:blip r:embed="rId5"/>
          <a:stretch>
            <a:fillRect/>
          </a:stretch>
        </p:blipFill>
        <p:spPr>
          <a:xfrm>
            <a:off x="4315968" y="5660136"/>
            <a:ext cx="420624" cy="420624"/>
          </a:xfrm>
          <a:prstGeom prst="rect">
            <a:avLst/>
          </a:prstGeom>
        </p:spPr>
      </p:pic>
      <p:sp>
        <p:nvSpPr>
          <p:cNvPr id="23" name="text177"/>
          <p:cNvSpPr txBox="1"/>
          <p:nvPr/>
        </p:nvSpPr>
        <p:spPr>
          <a:xfrm>
            <a:off x="5074920" y="5394960"/>
            <a:ext cx="6720840" cy="987552"/>
          </a:xfrm>
          <a:prstGeom prst="rect">
            <a:avLst/>
          </a:prstGeom>
          <a:noFill/>
          <a:ln/>
        </p:spPr>
        <p:txBody>
          <a:bodyPr wrap="square" lIns="0" tIns="0" rIns="0" bIns="0" rtlCol="0" anchor="ctr"/>
          <a:lstStyle/>
          <a:p>
            <a:pPr indent="0" marL="0">
              <a:buNone/>
            </a:pPr>
            <a:r>
              <a:rPr lang="en-US" sz="1800" b="1" dirty="0">
                <a:solidFill>
                  <a:schemeClr val="tx2"/>
                </a:solidFill>
              </a:rPr>
              <a:t>Literature review</a:t>
            </a:r>
            <a:pPr indent="0" marL="0">
              <a:buNone/>
            </a:pPr>
            <a:r>
              <a:rPr lang="en-US" sz="1400" dirty="0">
                <a:solidFill>
                  <a:schemeClr val="accent3"/>
                </a:solidFill>
              </a:rPr>
              <a:t>  systematic review (SynthScholar)</a:t>
            </a:r>
            <a:pPr indent="0" marL="0">
              <a:buNone/>
            </a:pPr>
            <a:r>
              <a:rPr lang="en-US" sz="1400" i="1" dirty="0">
                <a:solidFill>
                  <a:schemeClr val="accent1"/>
                </a:solidFill>
              </a:rPr>
              <a:t>   key: DOI and cohort description</a:t>
            </a:r>
            <a:endParaRPr lang="en-US" sz="1800" dirty="0"/>
          </a:p>
          <a:p>
            <a:pPr indent="0" marL="0">
              <a:buNone/>
            </a:pPr>
            <a:r>
              <a:rPr lang="en-US" sz="1600" dirty="0">
                <a:solidFill>
                  <a:schemeClr val="tx1"/>
                </a:solidFill>
              </a:rPr>
              <a:t>9 of 74 reviewed studies reuse the 871-participant ABIDE I subset, incl. Abraham 2017, Parisot 2018, Ktena 2017</a:t>
            </a:r>
            <a:endParaRPr lang="en-US" sz="1800" dirty="0"/>
          </a:p>
        </p:txBody>
      </p:sp>
      <p:sp>
        <p:nvSpPr>
          <p:cNvPr id="24" name="shape178"/>
          <p:cNvSpPr/>
          <p:nvPr/>
        </p:nvSpPr>
        <p:spPr>
          <a:xfrm>
            <a:off x="320040" y="3657600"/>
            <a:ext cx="2743200" cy="2697480"/>
          </a:xfrm>
          <a:prstGeom prst="roundRect">
            <a:avLst>
              <a:gd name="adj" fmla="val 3390"/>
            </a:avLst>
          </a:prstGeom>
          <a:solidFill>
            <a:schemeClr val="accent5"/>
          </a:solidFill>
          <a:ln w="19050">
            <a:solidFill>
              <a:schemeClr val="accent2"/>
            </a:solidFill>
            <a:prstDash val="solid"/>
          </a:ln>
        </p:spPr>
      </p:sp>
      <p:sp>
        <p:nvSpPr>
          <p:cNvPr id="25" name="text179"/>
          <p:cNvSpPr txBox="1"/>
          <p:nvPr/>
        </p:nvSpPr>
        <p:spPr>
          <a:xfrm>
            <a:off x="457200" y="3749040"/>
            <a:ext cx="2514600" cy="2514600"/>
          </a:xfrm>
          <a:prstGeom prst="rect">
            <a:avLst/>
          </a:prstGeom>
          <a:noFill/>
          <a:ln/>
        </p:spPr>
        <p:txBody>
          <a:bodyPr wrap="square" lIns="0" tIns="0" rIns="0" bIns="0" rtlCol="0" anchor="t"/>
          <a:lstStyle/>
          <a:p>
            <a:pPr indent="0" marL="0">
              <a:spcAft>
                <a:spcPts val="200"/>
              </a:spcAft>
              <a:buNone/>
            </a:pPr>
            <a:r>
              <a:rPr lang="en-US" sz="1600" b="1" dirty="0">
                <a:solidFill>
                  <a:schemeClr val="accent2"/>
                </a:solidFill>
              </a:rPr>
              <a:t>Same term, different measure</a:t>
            </a:r>
            <a:endParaRPr lang="en-US" sz="1800" dirty="0"/>
          </a:p>
          <a:p>
            <a:pPr indent="0" marL="0">
              <a:spcAft>
                <a:spcPts val="200"/>
              </a:spcAft>
              <a:buNone/>
            </a:pPr>
            <a:r>
              <a:rPr lang="en-US" sz="1400" b="1" dirty="0">
                <a:solidFill>
                  <a:schemeClr val="tx1"/>
                </a:solidFill>
              </a:rPr>
              <a:t>Cortical grey matter (UBERON:0000956; UBERON = anatomy vocabulary)</a:t>
            </a:r>
            <a:endParaRPr lang="en-US" sz="1800" dirty="0"/>
          </a:p>
          <a:p>
            <a:pPr indent="0" marL="0">
              <a:spcAft>
                <a:spcPts val="200"/>
              </a:spcAft>
              <a:buNone/>
            </a:pPr>
            <a:r>
              <a:rPr lang="en-US" sz="1400" dirty="0">
                <a:solidFill>
                  <a:schemeClr val="tx1"/>
                </a:solidFill>
              </a:rPr>
              <a:t>ANTs vs FreeSurfer: r 0.85, ratio 1.01</a:t>
            </a:r>
            <a:endParaRPr lang="en-US" sz="1800" dirty="0"/>
          </a:p>
          <a:p>
            <a:pPr indent="0" marL="0">
              <a:spcAft>
                <a:spcPts val="200"/>
              </a:spcAft>
              <a:buNone/>
            </a:pPr>
            <a:r>
              <a:rPr lang="en-US" sz="1400" dirty="0">
                <a:solidFill>
                  <a:schemeClr val="tx1"/>
                </a:solidFill>
              </a:rPr>
              <a:t>ANTs vs FSL: r 0.72, ratio 0.84</a:t>
            </a:r>
            <a:endParaRPr lang="en-US" sz="1800" dirty="0"/>
          </a:p>
          <a:p>
            <a:pPr indent="0" marL="0">
              <a:spcAft>
                <a:spcPts val="200"/>
              </a:spcAft>
              <a:buNone/>
            </a:pPr>
            <a:r>
              <a:rPr lang="en-US" sz="1400" b="1" dirty="0">
                <a:solidFill>
                  <a:schemeClr val="tx1"/>
                </a:solidFill>
              </a:rPr>
              <a:t>CSF (UBERON:0001359)</a:t>
            </a:r>
            <a:endParaRPr lang="en-US" sz="1800" dirty="0"/>
          </a:p>
          <a:p>
            <a:pPr indent="0" marL="0">
              <a:spcAft>
                <a:spcPts val="200"/>
              </a:spcAft>
              <a:buNone/>
            </a:pPr>
            <a:r>
              <a:rPr lang="en-US" sz="1400" dirty="0">
                <a:solidFill>
                  <a:schemeClr val="tx1"/>
                </a:solidFill>
              </a:rPr>
              <a:t>FSL total CSF vs ANTs ventricles: ~200× apart, r 0.23</a:t>
            </a:r>
            <a:endParaRPr lang="en-US" sz="1800" dirty="0"/>
          </a:p>
        </p:txBody>
      </p:sp>
      <p:pic>
        <p:nvPicPr>
          <p:cNvPr id="27" name="stripIcon10" descr="preencoded.png">    </p:cNvPr>
          <p:cNvPicPr>
            <a:picLocks noChangeAspect="1"/>
          </p:cNvPicPr>
          <p:nvPr/>
        </p:nvPicPr>
        <p:blipFill>
          <a:blip r:embed="rId6"/>
          <a:stretch>
            <a:fillRect/>
          </a:stretch>
        </p:blipFill>
        <p:spPr>
          <a:xfrm>
            <a:off x="548640" y="969264"/>
            <a:ext cx="182880" cy="182880"/>
          </a:xfrm>
          <a:prstGeom prst="rect">
            <a:avLst/>
          </a:prstGeom>
        </p:spPr>
      </p:pic>
      <p:sp>
        <p:nvSpPr>
          <p:cNvPr id="28" name="strip10"/>
          <p:cNvSpPr txBox="1"/>
          <p:nvPr/>
        </p:nvSpPr>
        <p:spPr>
          <a:xfrm>
            <a:off x="804672" y="914400"/>
            <a:ext cx="10972800" cy="292608"/>
          </a:xfrm>
          <a:prstGeom prst="rect">
            <a:avLst/>
          </a:prstGeom>
          <a:noFill/>
          <a:ln/>
        </p:spPr>
        <p:txBody>
          <a:bodyPr wrap="square" lIns="0" tIns="0" rIns="0" bIns="0" rtlCol="0" anchor="ctr"/>
          <a:lstStyle/>
          <a:p>
            <a:pPr indent="0" marL="0">
              <a:buNone/>
            </a:pPr>
            <a:r>
              <a:rPr lang="en-US" sz="1200" b="1" dirty="0">
                <a:solidFill>
                  <a:schemeClr val="accent1"/>
                </a:solidFill>
              </a:rPr>
              <a:t>In the graph: </a:t>
            </a:r>
            <a:pPr indent="0" marL="0">
              <a:buNone/>
            </a:pPr>
            <a:r>
              <a:rPr lang="en-US" sz="1200" dirty="0">
                <a:solidFill>
                  <a:schemeClr val="accent3"/>
                </a:solidFill>
              </a:rPr>
              <a:t>queries/simple2_identity.rq over graph/link + 27 simple2 site graphs; graph/publications.ttl (Q15.rq); literature_kg.ttl; Brain Researcher via MCP, not in our store</a:t>
            </a:r>
            <a:endParaRPr lang="en-US" sz="1200" dirty="0"/>
          </a:p>
        </p:txBody>
      </p:sp>
      <p:sp>
        <p:nvSpPr>
          <p:cNvPr id="29" name="tagDot10"/>
          <p:cNvSpPr/>
          <p:nvPr/>
        </p:nvSpPr>
        <p:spPr>
          <a:xfrm>
            <a:off x="9326880" y="82296"/>
            <a:ext cx="128016" cy="128016"/>
          </a:xfrm>
          <a:prstGeom prst="ellipse">
            <a:avLst/>
          </a:prstGeom>
          <a:solidFill>
            <a:schemeClr val="tx2"/>
          </a:solidFill>
          <a:ln/>
        </p:spPr>
      </p:sp>
      <p:sp>
        <p:nvSpPr>
          <p:cNvPr id="30" name="tag10"/>
          <p:cNvSpPr txBox="1"/>
          <p:nvPr/>
        </p:nvSpPr>
        <p:spPr>
          <a:xfrm>
            <a:off x="9509760" y="18288"/>
            <a:ext cx="2286000" cy="256032"/>
          </a:xfrm>
          <a:prstGeom prst="rect">
            <a:avLst/>
          </a:prstGeom>
          <a:noFill/>
          <a:ln/>
        </p:spPr>
        <p:txBody>
          <a:bodyPr wrap="square" lIns="0" tIns="0" rIns="0" bIns="0" rtlCol="0" anchor="ctr"/>
          <a:lstStyle/>
          <a:p>
            <a:pPr indent="0" marL="0">
              <a:buNone/>
            </a:pPr>
            <a:r>
              <a:rPr lang="en-US" sz="1200" i="1" dirty="0">
                <a:solidFill>
                  <a:schemeClr val="accent3"/>
                </a:solidFill>
              </a:rPr>
              <a:t>Objective 2</a:t>
            </a:r>
            <a:endParaRPr lang="en-US" sz="1200" dirty="0"/>
          </a:p>
        </p:txBody>
      </p:sp>
      <p:sp>
        <p:nvSpPr>
          <p:cNvPr id="31" name="badge10_A"/>
          <p:cNvSpPr txBox="1"/>
          <p:nvPr/>
        </p:nvSpPr>
        <p:spPr>
          <a:xfrm>
            <a:off x="274320"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A</a:t>
            </a:r>
            <a:endParaRPr lang="en-US" sz="1100" dirty="0"/>
          </a:p>
        </p:txBody>
      </p:sp>
      <p:sp>
        <p:nvSpPr>
          <p:cNvPr id="32" name="badge10_R"/>
          <p:cNvSpPr txBox="1"/>
          <p:nvPr/>
        </p:nvSpPr>
        <p:spPr>
          <a:xfrm>
            <a:off x="576072"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R</a:t>
            </a:r>
            <a:endParaRPr lang="en-US" sz="1100" dirty="0"/>
          </a:p>
        </p:txBody>
      </p:sp>
      <p:sp>
        <p:nvSpPr>
          <p:cNvPr id="33" name="data10"/>
          <p:cNvSpPr txBox="1"/>
          <p:nvPr/>
        </p:nvSpPr>
        <p:spPr>
          <a:xfrm>
            <a:off x="2478024" y="6473952"/>
            <a:ext cx="8677656" cy="301752"/>
          </a:xfrm>
          <a:prstGeom prst="rect">
            <a:avLst/>
          </a:prstGeom>
          <a:noFill/>
          <a:ln/>
        </p:spPr>
        <p:txBody>
          <a:bodyPr wrap="square" lIns="0" tIns="0" rIns="0" bIns="0" rtlCol="0" anchor="ctr"/>
          <a:lstStyle/>
          <a:p>
            <a:pPr indent="0" marL="0">
              <a:buNone/>
            </a:pPr>
            <a:r>
              <a:rPr lang="en-US" sz="1100" dirty="0">
                <a:solidFill>
                  <a:srgbClr val="5E7A88"/>
                </a:solidFill>
              </a:rPr>
              <a:t>Data: ABIDE I; simple2 NIDM (e0dff17); AbstractAtlas (OHBM 2026); OpenAlex; Brain Researcher KG; 74-study review (2026-10-15)</a:t>
            </a:r>
            <a:endParaRPr lang="en-US" sz="1100" dirty="0"/>
          </a:p>
        </p:txBody>
      </p:sp>
      <p:sp>
        <p:nvSpPr>
          <p:cNvPr id="34" name="badge10_check"/>
          <p:cNvSpPr txBox="1"/>
          <p:nvPr/>
        </p:nvSpPr>
        <p:spPr>
          <a:xfrm>
            <a:off x="932688" y="6473952"/>
            <a:ext cx="1408176" cy="301752"/>
          </a:xfrm>
          <a:prstGeom prst="rect">
            <a:avLst/>
          </a:prstGeom>
          <a:noFill/>
          <a:ln/>
        </p:spPr>
        <p:txBody>
          <a:bodyPr wrap="square" lIns="0" tIns="0" rIns="0" bIns="0" rtlCol="0" anchor="ctr"/>
          <a:lstStyle/>
          <a:p>
            <a:pPr indent="0" marL="0">
              <a:buNone/>
            </a:pPr>
            <a:r>
              <a:rPr lang="en-US" sz="1100" i="1" dirty="0">
                <a:solidFill>
                  <a:srgbClr val="5E7A88"/>
                </a:solidFill>
              </a:rPr>
              <a:t>re-run · validated</a:t>
            </a:r>
            <a:endParaRPr lang="en-US" sz="11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
            <a:ext cx="11064240" cy="713232"/>
          </a:xfrm>
          <a:prstGeom prst="rect">
            <a:avLst/>
          </a:prstGeom>
          <a:noFill/>
          <a:ln/>
        </p:spPr>
        <p:txBody>
          <a:bodyPr wrap="square" rtlCol="0" anchor="ctr"/>
          <a:lstStyle/>
          <a:p>
            <a:pPr algn="l" indent="0" marL="0">
              <a:buNone/>
            </a:pPr>
            <a:r>
              <a:rPr lang="en-US" sz="3200" b="1" dirty="0">
                <a:solidFill>
                  <a:schemeClr val="tx2"/>
                </a:solidFill>
              </a:rPr>
              <a:t>Harmonising graphs built by different people</a:t>
            </a:r>
            <a:endParaRPr lang="en-US" sz="3200" dirty="0"/>
          </a:p>
        </p:txBody>
      </p:sp>
      <p:sp>
        <p:nvSpPr>
          <p:cNvPr id="3" name="shape180"/>
          <p:cNvSpPr/>
          <p:nvPr/>
        </p:nvSpPr>
        <p:spPr>
          <a:xfrm>
            <a:off x="320040" y="1554480"/>
            <a:ext cx="2011680" cy="4480560"/>
          </a:xfrm>
          <a:custGeom>
            <a:avLst/>
            <a:gdLst/>
            <a:ahLst/>
            <a:cxnLst/>
            <a:rect l="l" t="t" r="r" b="b"/>
            <a:pathLst>
              <a:path w="2011680" h="4480560">
                <a:moveTo>
                  <a:pt x="1878334" y="2240280"/>
                </a:moveTo>
                <a:cubicBezTo>
                  <a:pt x="1883082" y="2693196"/>
                  <a:pt x="1865053" y="3278588"/>
                  <a:pt x="1747113" y="3625647"/>
                </a:cubicBezTo>
                <a:cubicBezTo>
                  <a:pt x="1629173" y="3972707"/>
                  <a:pt x="1373418" y="4248080"/>
                  <a:pt x="1170694" y="4322636"/>
                </a:cubicBezTo>
                <a:cubicBezTo>
                  <a:pt x="967970" y="4397193"/>
                  <a:pt x="700702" y="4304559"/>
                  <a:pt x="530769" y="4072984"/>
                </a:cubicBezTo>
                <a:cubicBezTo>
                  <a:pt x="360836" y="3841409"/>
                  <a:pt x="218230" y="3357247"/>
                  <a:pt x="151097" y="2933187"/>
                </a:cubicBezTo>
                <a:cubicBezTo>
                  <a:pt x="83963" y="2509127"/>
                  <a:pt x="61026" y="1935432"/>
                  <a:pt x="127966" y="1528622"/>
                </a:cubicBezTo>
                <a:cubicBezTo>
                  <a:pt x="194907" y="1121812"/>
                  <a:pt x="380659" y="699197"/>
                  <a:pt x="552739" y="492328"/>
                </a:cubicBezTo>
                <a:cubicBezTo>
                  <a:pt x="724818" y="285459"/>
                  <a:pt x="966129" y="218106"/>
                  <a:pt x="1160443" y="287409"/>
                </a:cubicBezTo>
                <a:cubicBezTo>
                  <a:pt x="1354758" y="356713"/>
                  <a:pt x="1598979" y="582671"/>
                  <a:pt x="1718627" y="908149"/>
                </a:cubicBezTo>
                <a:cubicBezTo>
                  <a:pt x="1838276" y="1233628"/>
                  <a:pt x="1873587" y="1787364"/>
                  <a:pt x="1878334" y="2240280"/>
                </a:cubicBezTo>
                <a:close/>
              </a:path>
            </a:pathLst>
          </a:custGeom>
          <a:solidFill>
            <a:srgbClr val="BFE0E0"/>
          </a:solidFill>
          <a:ln/>
        </p:spPr>
      </p:sp>
      <p:sp>
        <p:nvSpPr>
          <p:cNvPr id="4" name="text181"/>
          <p:cNvSpPr txBox="1"/>
          <p:nvPr/>
        </p:nvSpPr>
        <p:spPr>
          <a:xfrm>
            <a:off x="411480" y="3291840"/>
            <a:ext cx="1828800" cy="822960"/>
          </a:xfrm>
          <a:prstGeom prst="rect">
            <a:avLst/>
          </a:prstGeom>
          <a:noFill/>
          <a:ln/>
        </p:spPr>
        <p:txBody>
          <a:bodyPr wrap="square" lIns="0" tIns="0" rIns="0" bIns="0" rtlCol="0" anchor="ctr"/>
          <a:lstStyle/>
          <a:p>
            <a:pPr algn="ctr" indent="0" marL="0">
              <a:buNone/>
            </a:pPr>
            <a:r>
              <a:rPr lang="en-US" sz="1800" b="1" dirty="0">
                <a:solidFill>
                  <a:schemeClr val="tx2"/>
                </a:solidFill>
              </a:rPr>
              <a:t>Our ABIDE graph</a:t>
            </a:r>
            <a:endParaRPr lang="en-US" sz="1800" dirty="0"/>
          </a:p>
          <a:p>
            <a:pPr algn="ctr" indent="0" marL="0">
              <a:buNone/>
            </a:pPr>
            <a:r>
              <a:rPr lang="en-US" sz="1400" dirty="0">
                <a:solidFill>
                  <a:schemeClr val="accent3"/>
                </a:solidFill>
              </a:rPr>
              <a:t>contributor A</a:t>
            </a:r>
            <a:endParaRPr lang="en-US" sz="1800" dirty="0"/>
          </a:p>
        </p:txBody>
      </p:sp>
      <p:sp>
        <p:nvSpPr>
          <p:cNvPr id="5" name="shape182"/>
          <p:cNvSpPr/>
          <p:nvPr/>
        </p:nvSpPr>
        <p:spPr>
          <a:xfrm>
            <a:off x="9875520" y="1554480"/>
            <a:ext cx="2011680" cy="4480560"/>
          </a:xfrm>
          <a:custGeom>
            <a:avLst/>
            <a:gdLst/>
            <a:ahLst/>
            <a:cxnLst/>
            <a:rect l="l" t="t" r="r" b="b"/>
            <a:pathLst>
              <a:path w="2011680" h="4480560">
                <a:moveTo>
                  <a:pt x="1903618" y="2240280"/>
                </a:moveTo>
                <a:cubicBezTo>
                  <a:pt x="1909582" y="2689421"/>
                  <a:pt x="1866549" y="3270214"/>
                  <a:pt x="1744701" y="3621140"/>
                </a:cubicBezTo>
                <a:cubicBezTo>
                  <a:pt x="1622853" y="3972067"/>
                  <a:pt x="1371700" y="4282700"/>
                  <a:pt x="1172531" y="4345840"/>
                </a:cubicBezTo>
                <a:cubicBezTo>
                  <a:pt x="973363" y="4408981"/>
                  <a:pt x="726909" y="4229771"/>
                  <a:pt x="549692" y="3999985"/>
                </a:cubicBezTo>
                <a:cubicBezTo>
                  <a:pt x="372475" y="3770199"/>
                  <a:pt x="171697" y="3372678"/>
                  <a:pt x="109232" y="2967125"/>
                </a:cubicBezTo>
                <a:cubicBezTo>
                  <a:pt x="46766" y="2561572"/>
                  <a:pt x="104625" y="1993199"/>
                  <a:pt x="174897" y="1566667"/>
                </a:cubicBezTo>
                <a:cubicBezTo>
                  <a:pt x="245168" y="1140134"/>
                  <a:pt x="366537" y="621975"/>
                  <a:pt x="530861" y="407930"/>
                </a:cubicBezTo>
                <a:cubicBezTo>
                  <a:pt x="695185" y="193885"/>
                  <a:pt x="964497" y="196004"/>
                  <a:pt x="1160840" y="282397"/>
                </a:cubicBezTo>
                <a:cubicBezTo>
                  <a:pt x="1357183" y="368791"/>
                  <a:pt x="1585123" y="599980"/>
                  <a:pt x="1708919" y="926293"/>
                </a:cubicBezTo>
                <a:cubicBezTo>
                  <a:pt x="1832715" y="1252607"/>
                  <a:pt x="1897654" y="1791139"/>
                  <a:pt x="1903618" y="2240280"/>
                </a:cubicBezTo>
                <a:close/>
              </a:path>
            </a:pathLst>
          </a:custGeom>
          <a:solidFill>
            <a:srgbClr val="F2D4C5"/>
          </a:solidFill>
          <a:ln/>
        </p:spPr>
      </p:sp>
      <p:sp>
        <p:nvSpPr>
          <p:cNvPr id="6" name="text183"/>
          <p:cNvSpPr txBox="1"/>
          <p:nvPr/>
        </p:nvSpPr>
        <p:spPr>
          <a:xfrm>
            <a:off x="9966960" y="3291840"/>
            <a:ext cx="1828800" cy="822960"/>
          </a:xfrm>
          <a:prstGeom prst="rect">
            <a:avLst/>
          </a:prstGeom>
          <a:noFill/>
          <a:ln/>
        </p:spPr>
        <p:txBody>
          <a:bodyPr wrap="square" lIns="0" tIns="0" rIns="0" bIns="0" rtlCol="0" anchor="ctr"/>
          <a:lstStyle/>
          <a:p>
            <a:pPr algn="ctr" indent="0" marL="0">
              <a:buNone/>
            </a:pPr>
            <a:r>
              <a:rPr lang="en-US" sz="1800" b="1" dirty="0">
                <a:solidFill>
                  <a:schemeClr val="tx2"/>
                </a:solidFill>
              </a:rPr>
              <a:t>ReproNim simple2</a:t>
            </a:r>
            <a:endParaRPr lang="en-US" sz="1800" dirty="0"/>
          </a:p>
          <a:p>
            <a:pPr algn="ctr" indent="0" marL="0">
              <a:buNone/>
            </a:pPr>
            <a:r>
              <a:rPr lang="en-US" sz="1400" dirty="0">
                <a:solidFill>
                  <a:schemeClr val="accent3"/>
                </a:solidFill>
              </a:rPr>
              <a:t>contributor B</a:t>
            </a:r>
            <a:endParaRPr lang="en-US" sz="1800" dirty="0"/>
          </a:p>
        </p:txBody>
      </p:sp>
      <p:sp>
        <p:nvSpPr>
          <p:cNvPr id="7" name="curve184"/>
          <p:cNvSpPr/>
          <p:nvPr/>
        </p:nvSpPr>
        <p:spPr>
          <a:xfrm>
            <a:off x="2286000" y="1691640"/>
            <a:ext cx="320040" cy="2103120"/>
          </a:xfrm>
          <a:custGeom>
            <a:avLst/>
            <a:gdLst/>
            <a:ahLst/>
            <a:cxnLst/>
            <a:rect l="l" t="t" r="r" b="b"/>
            <a:pathLst>
              <a:path w="320040" h="2103120">
                <a:moveTo>
                  <a:pt x="0" y="2103120"/>
                </a:moveTo>
                <a:cubicBezTo>
                  <a:pt x="160020" y="2103120"/>
                  <a:pt x="160020" y="0"/>
                  <a:pt x="320040" y="0"/>
                </a:cubicBezTo>
              </a:path>
            </a:pathLst>
          </a:custGeom>
          <a:ln w="19050">
            <a:solidFill>
              <a:schemeClr val="accent1"/>
            </a:solidFill>
            <a:prstDash val="solid"/>
          </a:ln>
        </p:spPr>
      </p:sp>
      <p:sp>
        <p:nvSpPr>
          <p:cNvPr id="8" name="curve185"/>
          <p:cNvSpPr/>
          <p:nvPr/>
        </p:nvSpPr>
        <p:spPr>
          <a:xfrm>
            <a:off x="9555480" y="1691640"/>
            <a:ext cx="365760" cy="2103120"/>
          </a:xfrm>
          <a:custGeom>
            <a:avLst/>
            <a:gdLst/>
            <a:ahLst/>
            <a:cxnLst/>
            <a:rect l="l" t="t" r="r" b="b"/>
            <a:pathLst>
              <a:path w="365760" h="2103120">
                <a:moveTo>
                  <a:pt x="0" y="0"/>
                </a:moveTo>
                <a:cubicBezTo>
                  <a:pt x="182880" y="0"/>
                  <a:pt x="182880" y="2103120"/>
                  <a:pt x="365760" y="2103120"/>
                </a:cubicBezTo>
              </a:path>
            </a:pathLst>
          </a:custGeom>
          <a:ln w="19050">
            <a:solidFill>
              <a:schemeClr val="accent2"/>
            </a:solidFill>
            <a:prstDash val="solid"/>
          </a:ln>
        </p:spPr>
      </p:sp>
      <p:sp>
        <p:nvSpPr>
          <p:cNvPr id="9" name="shape186"/>
          <p:cNvSpPr txBox="1"/>
          <p:nvPr/>
        </p:nvSpPr>
        <p:spPr>
          <a:xfrm>
            <a:off x="2606040" y="1298448"/>
            <a:ext cx="6949440" cy="786384"/>
          </a:xfrm>
          <a:prstGeom prst="roundRect">
            <a:avLst>
              <a:gd name="adj" fmla="val 58140"/>
            </a:avLst>
          </a:prstGeom>
          <a:solidFill>
            <a:schemeClr val="accent6"/>
          </a:solidFill>
          <a:ln/>
        </p:spPr>
        <p:txBody>
          <a:bodyPr wrap="square" lIns="76200" tIns="76200" rIns="76200" bIns="76200" rtlCol="0" anchor="ctr"/>
          <a:lstStyle/>
          <a:p>
            <a:pPr algn="l" indent="0" marL="0">
              <a:buNone/>
            </a:pPr>
            <a:r>
              <a:rPr lang="en-US" sz="1600" b="1" dirty="0">
                <a:solidFill>
                  <a:schemeClr val="tx2"/>
                </a:solidFill>
              </a:rPr>
              <a:t>1  Shared identifiers</a:t>
            </a:r>
            <a:endParaRPr lang="en-US" sz="1800" dirty="0"/>
          </a:p>
          <a:p>
            <a:pPr algn="l" indent="0" marL="0">
              <a:buNone/>
            </a:pPr>
            <a:r>
              <a:rPr lang="en-US" sz="1400" dirty="0">
                <a:solidFill>
                  <a:schemeClr val="tx1"/>
                </a:solidFill>
              </a:rPr>
              <a:t>dataset + version, participant ID, DOI, ORCID, RRID · Caltech, ours vs ReproNim simple2: 38 / 38 participants matched</a:t>
            </a:r>
            <a:endParaRPr lang="en-US" sz="1800" dirty="0"/>
          </a:p>
        </p:txBody>
      </p:sp>
      <p:sp>
        <p:nvSpPr>
          <p:cNvPr id="10" name="curve187"/>
          <p:cNvSpPr/>
          <p:nvPr/>
        </p:nvSpPr>
        <p:spPr>
          <a:xfrm>
            <a:off x="2286000" y="2528316"/>
            <a:ext cx="320040" cy="1266444"/>
          </a:xfrm>
          <a:custGeom>
            <a:avLst/>
            <a:gdLst/>
            <a:ahLst/>
            <a:cxnLst/>
            <a:rect l="l" t="t" r="r" b="b"/>
            <a:pathLst>
              <a:path w="320040" h="1266444">
                <a:moveTo>
                  <a:pt x="0" y="1266444"/>
                </a:moveTo>
                <a:cubicBezTo>
                  <a:pt x="160020" y="1266444"/>
                  <a:pt x="160020" y="0"/>
                  <a:pt x="320040" y="0"/>
                </a:cubicBezTo>
              </a:path>
            </a:pathLst>
          </a:custGeom>
          <a:ln w="19050">
            <a:solidFill>
              <a:schemeClr val="accent1"/>
            </a:solidFill>
            <a:prstDash val="solid"/>
          </a:ln>
        </p:spPr>
      </p:sp>
      <p:sp>
        <p:nvSpPr>
          <p:cNvPr id="11" name="curve188"/>
          <p:cNvSpPr/>
          <p:nvPr/>
        </p:nvSpPr>
        <p:spPr>
          <a:xfrm>
            <a:off x="9555480" y="2528316"/>
            <a:ext cx="365760" cy="1266444"/>
          </a:xfrm>
          <a:custGeom>
            <a:avLst/>
            <a:gdLst/>
            <a:ahLst/>
            <a:cxnLst/>
            <a:rect l="l" t="t" r="r" b="b"/>
            <a:pathLst>
              <a:path w="365760" h="1266444">
                <a:moveTo>
                  <a:pt x="0" y="0"/>
                </a:moveTo>
                <a:cubicBezTo>
                  <a:pt x="182880" y="0"/>
                  <a:pt x="182880" y="1266444"/>
                  <a:pt x="365760" y="1266444"/>
                </a:cubicBezTo>
              </a:path>
            </a:pathLst>
          </a:custGeom>
          <a:ln w="19050">
            <a:solidFill>
              <a:schemeClr val="accent2"/>
            </a:solidFill>
            <a:prstDash val="solid"/>
          </a:ln>
        </p:spPr>
      </p:sp>
      <p:sp>
        <p:nvSpPr>
          <p:cNvPr id="12" name="shape189"/>
          <p:cNvSpPr txBox="1"/>
          <p:nvPr/>
        </p:nvSpPr>
        <p:spPr>
          <a:xfrm>
            <a:off x="2606040" y="2135124"/>
            <a:ext cx="6949440" cy="786384"/>
          </a:xfrm>
          <a:prstGeom prst="roundRect">
            <a:avLst>
              <a:gd name="adj" fmla="val 58140"/>
            </a:avLst>
          </a:prstGeom>
          <a:solidFill>
            <a:schemeClr val="bg2"/>
          </a:solidFill>
          <a:ln/>
        </p:spPr>
        <p:txBody>
          <a:bodyPr wrap="square" lIns="76200" tIns="76200" rIns="76200" bIns="76200" rtlCol="0" anchor="ctr"/>
          <a:lstStyle/>
          <a:p>
            <a:pPr algn="l" indent="0" marL="0">
              <a:buNone/>
            </a:pPr>
            <a:r>
              <a:rPr lang="en-US" sz="1600" b="1" dirty="0">
                <a:solidFill>
                  <a:schemeClr val="tx2"/>
                </a:solidFill>
              </a:rPr>
              <a:t>2  Shared vocabularies</a:t>
            </a:r>
            <a:endParaRPr lang="en-US" sz="1800" dirty="0"/>
          </a:p>
          <a:p>
            <a:pPr algn="l" indent="0" marL="0">
              <a:buNone/>
            </a:pPr>
            <a:r>
              <a:rPr lang="en-US" sz="1400" dirty="0">
                <a:solidFill>
                  <a:schemeClr val="tx1"/>
                </a:solidFill>
              </a:rPr>
              <a:t>concept tags (InterLex, nidm-terms), UBERON regions, Cognitive Atlas tasks · Caltech: 12 concepts shared</a:t>
            </a:r>
            <a:endParaRPr lang="en-US" sz="1800" dirty="0"/>
          </a:p>
        </p:txBody>
      </p:sp>
      <p:sp>
        <p:nvSpPr>
          <p:cNvPr id="13" name="curve190"/>
          <p:cNvSpPr/>
          <p:nvPr/>
        </p:nvSpPr>
        <p:spPr>
          <a:xfrm>
            <a:off x="2286000" y="3364992"/>
            <a:ext cx="320040" cy="429768"/>
          </a:xfrm>
          <a:custGeom>
            <a:avLst/>
            <a:gdLst/>
            <a:ahLst/>
            <a:cxnLst/>
            <a:rect l="l" t="t" r="r" b="b"/>
            <a:pathLst>
              <a:path w="320040" h="429768">
                <a:moveTo>
                  <a:pt x="0" y="429768"/>
                </a:moveTo>
                <a:cubicBezTo>
                  <a:pt x="160020" y="429768"/>
                  <a:pt x="160020" y="0"/>
                  <a:pt x="320040" y="0"/>
                </a:cubicBezTo>
              </a:path>
            </a:pathLst>
          </a:custGeom>
          <a:ln w="19050">
            <a:solidFill>
              <a:schemeClr val="accent1"/>
            </a:solidFill>
            <a:prstDash val="solid"/>
          </a:ln>
        </p:spPr>
      </p:sp>
      <p:sp>
        <p:nvSpPr>
          <p:cNvPr id="14" name="curve191"/>
          <p:cNvSpPr/>
          <p:nvPr/>
        </p:nvSpPr>
        <p:spPr>
          <a:xfrm>
            <a:off x="9555480" y="3364992"/>
            <a:ext cx="365760" cy="429768"/>
          </a:xfrm>
          <a:custGeom>
            <a:avLst/>
            <a:gdLst/>
            <a:ahLst/>
            <a:cxnLst/>
            <a:rect l="l" t="t" r="r" b="b"/>
            <a:pathLst>
              <a:path w="365760" h="429768">
                <a:moveTo>
                  <a:pt x="0" y="0"/>
                </a:moveTo>
                <a:cubicBezTo>
                  <a:pt x="182880" y="0"/>
                  <a:pt x="182880" y="429768"/>
                  <a:pt x="365760" y="429768"/>
                </a:cubicBezTo>
              </a:path>
            </a:pathLst>
          </a:custGeom>
          <a:ln w="19050">
            <a:solidFill>
              <a:schemeClr val="accent2"/>
            </a:solidFill>
            <a:prstDash val="solid"/>
          </a:ln>
        </p:spPr>
      </p:sp>
      <p:sp>
        <p:nvSpPr>
          <p:cNvPr id="15" name="shape192"/>
          <p:cNvSpPr txBox="1"/>
          <p:nvPr/>
        </p:nvSpPr>
        <p:spPr>
          <a:xfrm>
            <a:off x="2606040" y="2971800"/>
            <a:ext cx="6949440" cy="786384"/>
          </a:xfrm>
          <a:prstGeom prst="roundRect">
            <a:avLst>
              <a:gd name="adj" fmla="val 58140"/>
            </a:avLst>
          </a:prstGeom>
          <a:solidFill>
            <a:schemeClr val="accent6"/>
          </a:solidFill>
          <a:ln/>
        </p:spPr>
        <p:txBody>
          <a:bodyPr wrap="square" lIns="76200" tIns="76200" rIns="76200" bIns="76200" rtlCol="0" anchor="ctr"/>
          <a:lstStyle/>
          <a:p>
            <a:pPr algn="l" indent="0" marL="0">
              <a:buNone/>
            </a:pPr>
            <a:r>
              <a:rPr lang="en-US" sz="1600" b="1" dirty="0">
                <a:solidFill>
                  <a:schemeClr val="tx2"/>
                </a:solidFill>
              </a:rPr>
              <a:t>3  Shared schema and validation</a:t>
            </a:r>
            <a:endParaRPr lang="en-US" sz="1800" dirty="0"/>
          </a:p>
          <a:p>
            <a:pPr algn="l" indent="0" marL="0">
              <a:buNone/>
            </a:pPr>
            <a:r>
              <a:rPr lang="en-US" sz="1400" dirty="0">
                <a:solidFill>
                  <a:schemeClr val="tx1"/>
                </a:solidFill>
              </a:rPr>
              <a:t>PyNIDM LinkML schema → SHACL rules; the same checks for every contributor</a:t>
            </a:r>
            <a:endParaRPr lang="en-US" sz="1800" dirty="0"/>
          </a:p>
        </p:txBody>
      </p:sp>
      <p:sp>
        <p:nvSpPr>
          <p:cNvPr id="16" name="curve193"/>
          <p:cNvSpPr/>
          <p:nvPr/>
        </p:nvSpPr>
        <p:spPr>
          <a:xfrm>
            <a:off x="2286000" y="3794760"/>
            <a:ext cx="320040" cy="406908"/>
          </a:xfrm>
          <a:custGeom>
            <a:avLst/>
            <a:gdLst/>
            <a:ahLst/>
            <a:cxnLst/>
            <a:rect l="l" t="t" r="r" b="b"/>
            <a:pathLst>
              <a:path w="320040" h="406908">
                <a:moveTo>
                  <a:pt x="0" y="0"/>
                </a:moveTo>
                <a:cubicBezTo>
                  <a:pt x="160020" y="0"/>
                  <a:pt x="160020" y="406908"/>
                  <a:pt x="320040" y="406908"/>
                </a:cubicBezTo>
              </a:path>
            </a:pathLst>
          </a:custGeom>
          <a:ln w="19050">
            <a:solidFill>
              <a:schemeClr val="accent1"/>
            </a:solidFill>
            <a:prstDash val="solid"/>
          </a:ln>
        </p:spPr>
      </p:sp>
      <p:sp>
        <p:nvSpPr>
          <p:cNvPr id="17" name="curve194"/>
          <p:cNvSpPr/>
          <p:nvPr/>
        </p:nvSpPr>
        <p:spPr>
          <a:xfrm>
            <a:off x="9555480" y="3794760"/>
            <a:ext cx="365760" cy="406908"/>
          </a:xfrm>
          <a:custGeom>
            <a:avLst/>
            <a:gdLst/>
            <a:ahLst/>
            <a:cxnLst/>
            <a:rect l="l" t="t" r="r" b="b"/>
            <a:pathLst>
              <a:path w="365760" h="406908">
                <a:moveTo>
                  <a:pt x="0" y="406908"/>
                </a:moveTo>
                <a:cubicBezTo>
                  <a:pt x="182880" y="406908"/>
                  <a:pt x="182880" y="0"/>
                  <a:pt x="365760" y="0"/>
                </a:cubicBezTo>
              </a:path>
            </a:pathLst>
          </a:custGeom>
          <a:ln w="19050">
            <a:solidFill>
              <a:schemeClr val="accent2"/>
            </a:solidFill>
            <a:prstDash val="solid"/>
          </a:ln>
        </p:spPr>
      </p:sp>
      <p:sp>
        <p:nvSpPr>
          <p:cNvPr id="18" name="shape195"/>
          <p:cNvSpPr txBox="1"/>
          <p:nvPr/>
        </p:nvSpPr>
        <p:spPr>
          <a:xfrm>
            <a:off x="2606040" y="3808476"/>
            <a:ext cx="6949440" cy="786384"/>
          </a:xfrm>
          <a:prstGeom prst="roundRect">
            <a:avLst>
              <a:gd name="adj" fmla="val 58140"/>
            </a:avLst>
          </a:prstGeom>
          <a:solidFill>
            <a:schemeClr val="bg2"/>
          </a:solidFill>
          <a:ln/>
        </p:spPr>
        <p:txBody>
          <a:bodyPr wrap="square" lIns="76200" tIns="76200" rIns="76200" bIns="76200" rtlCol="0" anchor="ctr"/>
          <a:lstStyle/>
          <a:p>
            <a:pPr algn="l" indent="0" marL="0">
              <a:buNone/>
            </a:pPr>
            <a:r>
              <a:rPr lang="en-US" sz="1600" b="1" dirty="0">
                <a:solidFill>
                  <a:schemeClr val="tx2"/>
                </a:solidFill>
              </a:rPr>
              <a:t>4  Reviewed mapping links</a:t>
            </a:r>
            <a:endParaRPr lang="en-US" sz="1800" dirty="0"/>
          </a:p>
          <a:p>
            <a:pPr algn="l" indent="0" marL="0">
              <a:buNone/>
            </a:pPr>
            <a:r>
              <a:rPr lang="en-US" sz="1400" dirty="0">
                <a:solidFill>
                  <a:schemeClr val="tx1"/>
                </a:solidFill>
              </a:rPr>
              <a:t>Caltech: 28 variables (over half ADOS, ADI-R or SRS subscores) share a source variable but not a concept → listed for review as skos:exactMatch candidates, never auto-asserted</a:t>
            </a:r>
            <a:endParaRPr lang="en-US" sz="1800" dirty="0"/>
          </a:p>
        </p:txBody>
      </p:sp>
      <p:sp>
        <p:nvSpPr>
          <p:cNvPr id="19" name="curve196"/>
          <p:cNvSpPr/>
          <p:nvPr/>
        </p:nvSpPr>
        <p:spPr>
          <a:xfrm>
            <a:off x="2286000" y="3794760"/>
            <a:ext cx="320040" cy="1243584"/>
          </a:xfrm>
          <a:custGeom>
            <a:avLst/>
            <a:gdLst/>
            <a:ahLst/>
            <a:cxnLst/>
            <a:rect l="l" t="t" r="r" b="b"/>
            <a:pathLst>
              <a:path w="320040" h="1243584">
                <a:moveTo>
                  <a:pt x="0" y="0"/>
                </a:moveTo>
                <a:cubicBezTo>
                  <a:pt x="160020" y="0"/>
                  <a:pt x="160020" y="1243584"/>
                  <a:pt x="320040" y="1243584"/>
                </a:cubicBezTo>
              </a:path>
            </a:pathLst>
          </a:custGeom>
          <a:ln w="19050">
            <a:solidFill>
              <a:schemeClr val="accent1"/>
            </a:solidFill>
            <a:prstDash val="solid"/>
          </a:ln>
        </p:spPr>
      </p:sp>
      <p:sp>
        <p:nvSpPr>
          <p:cNvPr id="20" name="curve197"/>
          <p:cNvSpPr/>
          <p:nvPr/>
        </p:nvSpPr>
        <p:spPr>
          <a:xfrm>
            <a:off x="9555480" y="3794760"/>
            <a:ext cx="365760" cy="1243584"/>
          </a:xfrm>
          <a:custGeom>
            <a:avLst/>
            <a:gdLst/>
            <a:ahLst/>
            <a:cxnLst/>
            <a:rect l="l" t="t" r="r" b="b"/>
            <a:pathLst>
              <a:path w="365760" h="1243584">
                <a:moveTo>
                  <a:pt x="0" y="1243584"/>
                </a:moveTo>
                <a:cubicBezTo>
                  <a:pt x="182880" y="1243584"/>
                  <a:pt x="182880" y="0"/>
                  <a:pt x="365760" y="0"/>
                </a:cubicBezTo>
              </a:path>
            </a:pathLst>
          </a:custGeom>
          <a:ln w="19050">
            <a:solidFill>
              <a:schemeClr val="accent2"/>
            </a:solidFill>
            <a:prstDash val="solid"/>
          </a:ln>
        </p:spPr>
      </p:sp>
      <p:sp>
        <p:nvSpPr>
          <p:cNvPr id="21" name="shape198"/>
          <p:cNvSpPr txBox="1"/>
          <p:nvPr/>
        </p:nvSpPr>
        <p:spPr>
          <a:xfrm>
            <a:off x="2606040" y="4645152"/>
            <a:ext cx="6949440" cy="786384"/>
          </a:xfrm>
          <a:prstGeom prst="roundRect">
            <a:avLst>
              <a:gd name="adj" fmla="val 58140"/>
            </a:avLst>
          </a:prstGeom>
          <a:solidFill>
            <a:schemeClr val="accent6"/>
          </a:solidFill>
          <a:ln/>
        </p:spPr>
        <p:txBody>
          <a:bodyPr wrap="square" lIns="76200" tIns="76200" rIns="76200" bIns="76200" rtlCol="0" anchor="ctr"/>
          <a:lstStyle/>
          <a:p>
            <a:pPr algn="l" indent="0" marL="0">
              <a:buNone/>
            </a:pPr>
            <a:r>
              <a:rPr lang="en-US" sz="1600" b="1" dirty="0">
                <a:solidFill>
                  <a:schemeClr val="tx2"/>
                </a:solidFill>
              </a:rPr>
              <a:t>5  One named graph per contributor, with PROV</a:t>
            </a:r>
            <a:endParaRPr lang="en-US" sz="1800" dirty="0"/>
          </a:p>
          <a:p>
            <a:pPr algn="l" indent="0" marL="0">
              <a:buNone/>
            </a:pPr>
            <a:r>
              <a:rPr lang="en-US" sz="1400" dirty="0">
                <a:solidFill>
                  <a:schemeClr val="tx1"/>
                </a:solidFill>
              </a:rPr>
              <a:t>Caltech: 0 of 282 participant × concept values conflict (both from the same ABIDE table) · across tools, ‘CSF’ is total CSF in FSL, ventricles in ANTs/FreeSurfer (~200×)</a:t>
            </a:r>
            <a:endParaRPr lang="en-US" sz="1800" dirty="0"/>
          </a:p>
        </p:txBody>
      </p:sp>
      <p:sp>
        <p:nvSpPr>
          <p:cNvPr id="22" name="curve199"/>
          <p:cNvSpPr/>
          <p:nvPr/>
        </p:nvSpPr>
        <p:spPr>
          <a:xfrm>
            <a:off x="2286000" y="3794760"/>
            <a:ext cx="320040" cy="2080260"/>
          </a:xfrm>
          <a:custGeom>
            <a:avLst/>
            <a:gdLst/>
            <a:ahLst/>
            <a:cxnLst/>
            <a:rect l="l" t="t" r="r" b="b"/>
            <a:pathLst>
              <a:path w="320040" h="2080260">
                <a:moveTo>
                  <a:pt x="0" y="0"/>
                </a:moveTo>
                <a:cubicBezTo>
                  <a:pt x="160020" y="0"/>
                  <a:pt x="160020" y="2080260"/>
                  <a:pt x="320040" y="2080260"/>
                </a:cubicBezTo>
              </a:path>
            </a:pathLst>
          </a:custGeom>
          <a:ln w="19050">
            <a:solidFill>
              <a:schemeClr val="accent1"/>
            </a:solidFill>
            <a:prstDash val="solid"/>
          </a:ln>
        </p:spPr>
      </p:sp>
      <p:sp>
        <p:nvSpPr>
          <p:cNvPr id="23" name="curve200"/>
          <p:cNvSpPr/>
          <p:nvPr/>
        </p:nvSpPr>
        <p:spPr>
          <a:xfrm>
            <a:off x="9555480" y="3794760"/>
            <a:ext cx="365760" cy="2080260"/>
          </a:xfrm>
          <a:custGeom>
            <a:avLst/>
            <a:gdLst/>
            <a:ahLst/>
            <a:cxnLst/>
            <a:rect l="l" t="t" r="r" b="b"/>
            <a:pathLst>
              <a:path w="365760" h="2080260">
                <a:moveTo>
                  <a:pt x="0" y="2080260"/>
                </a:moveTo>
                <a:cubicBezTo>
                  <a:pt x="182880" y="2080260"/>
                  <a:pt x="182880" y="0"/>
                  <a:pt x="365760" y="0"/>
                </a:cubicBezTo>
              </a:path>
            </a:pathLst>
          </a:custGeom>
          <a:ln w="19050">
            <a:solidFill>
              <a:schemeClr val="accent2"/>
            </a:solidFill>
            <a:prstDash val="solid"/>
          </a:ln>
        </p:spPr>
      </p:sp>
      <p:sp>
        <p:nvSpPr>
          <p:cNvPr id="24" name="shape201"/>
          <p:cNvSpPr txBox="1"/>
          <p:nvPr/>
        </p:nvSpPr>
        <p:spPr>
          <a:xfrm>
            <a:off x="2606040" y="5481828"/>
            <a:ext cx="6949440" cy="786384"/>
          </a:xfrm>
          <a:prstGeom prst="roundRect">
            <a:avLst>
              <a:gd name="adj" fmla="val 58140"/>
            </a:avLst>
          </a:prstGeom>
          <a:solidFill>
            <a:schemeClr val="bg2"/>
          </a:solidFill>
          <a:ln/>
        </p:spPr>
        <p:txBody>
          <a:bodyPr wrap="square" lIns="76200" tIns="76200" rIns="76200" bIns="76200" rtlCol="0" anchor="ctr"/>
          <a:lstStyle/>
          <a:p>
            <a:pPr algn="l" indent="0" marL="0">
              <a:buNone/>
            </a:pPr>
            <a:r>
              <a:rPr lang="en-US" sz="1600" b="1" dirty="0">
                <a:solidFill>
                  <a:schemeClr val="tx2"/>
                </a:solidFill>
              </a:rPr>
              <a:t>6  Federation instead of copying</a:t>
            </a:r>
            <a:endParaRPr lang="en-US" sz="1800" dirty="0"/>
          </a:p>
          <a:p>
            <a:pPr algn="l" indent="0" marL="0">
              <a:buNone/>
            </a:pPr>
            <a:r>
              <a:rPr lang="en-US" sz="1400" dirty="0">
                <a:solidFill>
                  <a:schemeClr val="tx1"/>
                </a:solidFill>
              </a:rPr>
              <a:t>Neurobagel sends the query to each pond; only permitted results return</a:t>
            </a:r>
            <a:endParaRPr lang="en-US" sz="1800" dirty="0"/>
          </a:p>
        </p:txBody>
      </p:sp>
      <p:pic>
        <p:nvPicPr>
          <p:cNvPr id="26" name="stripIcon11" descr="preencoded.png">    </p:cNvPr>
          <p:cNvPicPr>
            <a:picLocks noChangeAspect="1"/>
          </p:cNvPicPr>
          <p:nvPr/>
        </p:nvPicPr>
        <p:blipFill>
          <a:blip r:embed="rId1"/>
          <a:stretch>
            <a:fillRect/>
          </a:stretch>
        </p:blipFill>
        <p:spPr>
          <a:xfrm>
            <a:off x="548640" y="969264"/>
            <a:ext cx="182880" cy="182880"/>
          </a:xfrm>
          <a:prstGeom prst="rect">
            <a:avLst/>
          </a:prstGeom>
        </p:spPr>
      </p:pic>
      <p:sp>
        <p:nvSpPr>
          <p:cNvPr id="27" name="strip11"/>
          <p:cNvSpPr txBox="1"/>
          <p:nvPr/>
        </p:nvSpPr>
        <p:spPr>
          <a:xfrm>
            <a:off x="804672" y="914400"/>
            <a:ext cx="10972800" cy="292608"/>
          </a:xfrm>
          <a:prstGeom prst="rect">
            <a:avLst/>
          </a:prstGeom>
          <a:noFill/>
          <a:ln/>
        </p:spPr>
        <p:txBody>
          <a:bodyPr wrap="square" lIns="0" tIns="0" rIns="0" bIns="0" rtlCol="0" anchor="ctr"/>
          <a:lstStyle/>
          <a:p>
            <a:pPr indent="0" marL="0">
              <a:buNone/>
            </a:pPr>
            <a:r>
              <a:rPr lang="en-US" sz="1200" b="1" dirty="0">
                <a:solidFill>
                  <a:schemeClr val="accent1"/>
                </a:solidFill>
              </a:rPr>
              <a:t>In the graph: </a:t>
            </a:r>
            <a:pPr indent="0" marL="0">
              <a:buNone/>
            </a:pPr>
            <a:r>
              <a:rPr lang="en-US" sz="1200" dirty="0">
                <a:solidFill>
                  <a:schemeClr val="accent3"/>
                </a:solidFill>
              </a:rPr>
              <a:t>Store with one named graph per source plus derived views with PROV (code/store.py); SHACL shapes code/shapes.ttl; LinkML check results/linkml_validation.json</a:t>
            </a:r>
            <a:endParaRPr lang="en-US" sz="1200" dirty="0"/>
          </a:p>
        </p:txBody>
      </p:sp>
      <p:sp>
        <p:nvSpPr>
          <p:cNvPr id="28" name="tagDot11"/>
          <p:cNvSpPr/>
          <p:nvPr/>
        </p:nvSpPr>
        <p:spPr>
          <a:xfrm>
            <a:off x="9326880" y="82296"/>
            <a:ext cx="128016" cy="128016"/>
          </a:xfrm>
          <a:prstGeom prst="ellipse">
            <a:avLst/>
          </a:prstGeom>
          <a:solidFill>
            <a:schemeClr val="tx2"/>
          </a:solidFill>
          <a:ln/>
        </p:spPr>
      </p:sp>
      <p:sp>
        <p:nvSpPr>
          <p:cNvPr id="29" name="tag11"/>
          <p:cNvSpPr txBox="1"/>
          <p:nvPr/>
        </p:nvSpPr>
        <p:spPr>
          <a:xfrm>
            <a:off x="9509760" y="18288"/>
            <a:ext cx="2286000" cy="256032"/>
          </a:xfrm>
          <a:prstGeom prst="rect">
            <a:avLst/>
          </a:prstGeom>
          <a:noFill/>
          <a:ln/>
        </p:spPr>
        <p:txBody>
          <a:bodyPr wrap="square" lIns="0" tIns="0" rIns="0" bIns="0" rtlCol="0" anchor="ctr"/>
          <a:lstStyle/>
          <a:p>
            <a:pPr indent="0" marL="0">
              <a:buNone/>
            </a:pPr>
            <a:r>
              <a:rPr lang="en-US" sz="1200" i="1" dirty="0">
                <a:solidFill>
                  <a:schemeClr val="accent3"/>
                </a:solidFill>
              </a:rPr>
              <a:t>Objective 2</a:t>
            </a:r>
            <a:endParaRPr lang="en-US" sz="1200" dirty="0"/>
          </a:p>
        </p:txBody>
      </p:sp>
      <p:sp>
        <p:nvSpPr>
          <p:cNvPr id="30" name="badge11_H"/>
          <p:cNvSpPr txBox="1"/>
          <p:nvPr/>
        </p:nvSpPr>
        <p:spPr>
          <a:xfrm>
            <a:off x="274320"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H</a:t>
            </a:r>
            <a:endParaRPr lang="en-US" sz="1100" dirty="0"/>
          </a:p>
        </p:txBody>
      </p:sp>
      <p:sp>
        <p:nvSpPr>
          <p:cNvPr id="31" name="badge11_L"/>
          <p:cNvSpPr txBox="1"/>
          <p:nvPr/>
        </p:nvSpPr>
        <p:spPr>
          <a:xfrm>
            <a:off x="576072"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L</a:t>
            </a:r>
            <a:endParaRPr lang="en-US" sz="1100" dirty="0"/>
          </a:p>
        </p:txBody>
      </p:sp>
      <p:sp>
        <p:nvSpPr>
          <p:cNvPr id="32" name="badge11_A"/>
          <p:cNvSpPr txBox="1"/>
          <p:nvPr/>
        </p:nvSpPr>
        <p:spPr>
          <a:xfrm>
            <a:off x="877824"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A</a:t>
            </a:r>
            <a:endParaRPr lang="en-US" sz="1100" dirty="0"/>
          </a:p>
        </p:txBody>
      </p:sp>
      <p:sp>
        <p:nvSpPr>
          <p:cNvPr id="33" name="badge11_R"/>
          <p:cNvSpPr txBox="1"/>
          <p:nvPr/>
        </p:nvSpPr>
        <p:spPr>
          <a:xfrm>
            <a:off x="1179576"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R</a:t>
            </a:r>
            <a:endParaRPr lang="en-US" sz="1100" dirty="0"/>
          </a:p>
        </p:txBody>
      </p:sp>
      <p:sp>
        <p:nvSpPr>
          <p:cNvPr id="34" name="data11"/>
          <p:cNvSpPr txBox="1"/>
          <p:nvPr/>
        </p:nvSpPr>
        <p:spPr>
          <a:xfrm>
            <a:off x="3008376" y="6473952"/>
            <a:ext cx="8147304" cy="301752"/>
          </a:xfrm>
          <a:prstGeom prst="rect">
            <a:avLst/>
          </a:prstGeom>
          <a:noFill/>
          <a:ln/>
        </p:spPr>
        <p:txBody>
          <a:bodyPr wrap="square" lIns="0" tIns="0" rIns="0" bIns="0" rtlCol="0" anchor="ctr"/>
          <a:lstStyle/>
          <a:p>
            <a:pPr indent="0" marL="0">
              <a:buNone/>
            </a:pPr>
            <a:r>
              <a:rPr lang="en-US" sz="1100" dirty="0">
                <a:solidFill>
                  <a:srgbClr val="5E7A88"/>
                </a:solidFill>
              </a:rPr>
              <a:t>Data: ABIDE I (ABIDE Preprocessed, C-PAC); ReproNim simple2 NIDM (commit e0dff17)</a:t>
            </a:r>
            <a:endParaRPr lang="en-US" sz="1100" dirty="0"/>
          </a:p>
        </p:txBody>
      </p:sp>
      <p:sp>
        <p:nvSpPr>
          <p:cNvPr id="35" name="badge11_check"/>
          <p:cNvSpPr txBox="1"/>
          <p:nvPr/>
        </p:nvSpPr>
        <p:spPr>
          <a:xfrm>
            <a:off x="1536192" y="6473952"/>
            <a:ext cx="1335024" cy="301752"/>
          </a:xfrm>
          <a:prstGeom prst="rect">
            <a:avLst/>
          </a:prstGeom>
          <a:noFill/>
          <a:ln/>
        </p:spPr>
        <p:txBody>
          <a:bodyPr wrap="square" lIns="0" tIns="0" rIns="0" bIns="0" rtlCol="0" anchor="ctr"/>
          <a:lstStyle/>
          <a:p>
            <a:pPr indent="0" marL="0">
              <a:buNone/>
            </a:pPr>
            <a:r>
              <a:rPr lang="en-US" sz="1100" i="1" dirty="0">
                <a:solidFill>
                  <a:srgbClr val="5E7A88"/>
                </a:solidFill>
              </a:rPr>
              <a:t>re-run · reviewed</a:t>
            </a:r>
            <a:endParaRPr lang="en-US" sz="11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
            <a:ext cx="11064240" cy="713232"/>
          </a:xfrm>
          <a:prstGeom prst="rect">
            <a:avLst/>
          </a:prstGeom>
          <a:noFill/>
          <a:ln/>
        </p:spPr>
        <p:txBody>
          <a:bodyPr wrap="square" rtlCol="0" anchor="ctr"/>
          <a:lstStyle/>
          <a:p>
            <a:pPr algn="l" indent="0" marL="0">
              <a:buNone/>
            </a:pPr>
            <a:r>
              <a:rPr lang="en-US" sz="3200" b="1" dirty="0">
                <a:solidFill>
                  <a:schemeClr val="tx2"/>
                </a:solidFill>
              </a:rPr>
              <a:t>Participant coverage by data element</a:t>
            </a:r>
            <a:endParaRPr lang="en-US" sz="3200" dirty="0"/>
          </a:p>
        </p:txBody>
      </p:sp>
      <p:pic>
        <p:nvPicPr>
          <p:cNvPr id="3" name="fig202" descr="element_coverage_slide.png">    </p:cNvPr>
          <p:cNvPicPr>
            <a:picLocks noChangeAspect="1"/>
          </p:cNvPicPr>
          <p:nvPr/>
        </p:nvPicPr>
        <p:blipFill>
          <a:blip r:embed="rId1"/>
          <a:stretch>
            <a:fillRect/>
          </a:stretch>
        </p:blipFill>
        <p:spPr>
          <a:xfrm>
            <a:off x="365760" y="1674152"/>
            <a:ext cx="7818120" cy="4286936"/>
          </a:xfrm>
          <a:prstGeom prst="rect">
            <a:avLst/>
          </a:prstGeom>
        </p:spPr>
      </p:pic>
      <p:sp>
        <p:nvSpPr>
          <p:cNvPr id="4" name="shape203"/>
          <p:cNvSpPr txBox="1"/>
          <p:nvPr/>
        </p:nvSpPr>
        <p:spPr>
          <a:xfrm>
            <a:off x="8366760" y="1371600"/>
            <a:ext cx="1600200" cy="1600200"/>
          </a:xfrm>
          <a:prstGeom prst="ellipse">
            <a:avLst/>
          </a:prstGeom>
          <a:solidFill>
            <a:schemeClr val="accent1"/>
          </a:solidFill>
          <a:ln/>
        </p:spPr>
        <p:txBody>
          <a:bodyPr wrap="square" lIns="50800" tIns="50800" rIns="50800" bIns="50800" rtlCol="0" anchor="ctr"/>
          <a:lstStyle/>
          <a:p>
            <a:pPr algn="ctr" indent="0" marL="0">
              <a:buNone/>
            </a:pPr>
            <a:r>
              <a:rPr lang="en-US" sz="3200" b="1" dirty="0">
                <a:solidFill>
                  <a:schemeClr val="bg1"/>
                </a:solidFill>
              </a:rPr>
              <a:t>1,112</a:t>
            </a:r>
            <a:endParaRPr lang="en-US" sz="3200" dirty="0"/>
          </a:p>
        </p:txBody>
      </p:sp>
      <p:sp>
        <p:nvSpPr>
          <p:cNvPr id="5" name="text204"/>
          <p:cNvSpPr txBox="1"/>
          <p:nvPr/>
        </p:nvSpPr>
        <p:spPr>
          <a:xfrm>
            <a:off x="8275320" y="3017520"/>
            <a:ext cx="1783080" cy="822960"/>
          </a:xfrm>
          <a:prstGeom prst="rect">
            <a:avLst/>
          </a:prstGeom>
          <a:noFill/>
          <a:ln/>
        </p:spPr>
        <p:txBody>
          <a:bodyPr wrap="square" lIns="0" tIns="0" rIns="0" bIns="0" rtlCol="0" anchor="t"/>
          <a:lstStyle/>
          <a:p>
            <a:pPr algn="ctr" indent="0" marL="0">
              <a:buNone/>
            </a:pPr>
            <a:r>
              <a:rPr lang="en-US" sz="1600" dirty="0">
                <a:solidFill>
                  <a:schemeClr val="tx1"/>
                </a:solidFill>
              </a:rPr>
              <a:t>participants with phenotype records</a:t>
            </a:r>
            <a:endParaRPr lang="en-US" sz="1600" dirty="0"/>
          </a:p>
        </p:txBody>
      </p:sp>
      <p:sp>
        <p:nvSpPr>
          <p:cNvPr id="6" name="shape205"/>
          <p:cNvSpPr txBox="1"/>
          <p:nvPr/>
        </p:nvSpPr>
        <p:spPr>
          <a:xfrm>
            <a:off x="10104120" y="1371600"/>
            <a:ext cx="1600200" cy="1600200"/>
          </a:xfrm>
          <a:prstGeom prst="ellipse">
            <a:avLst/>
          </a:prstGeom>
          <a:solidFill>
            <a:schemeClr val="accent4"/>
          </a:solidFill>
          <a:ln/>
        </p:spPr>
        <p:txBody>
          <a:bodyPr wrap="square" lIns="50800" tIns="50800" rIns="50800" bIns="50800" rtlCol="0" anchor="ctr"/>
          <a:lstStyle/>
          <a:p>
            <a:pPr algn="ctr" indent="0" marL="0">
              <a:buNone/>
            </a:pPr>
            <a:r>
              <a:rPr lang="en-US" sz="3200" b="1" dirty="0">
                <a:solidFill>
                  <a:schemeClr val="accent1"/>
                </a:solidFill>
              </a:rPr>
              <a:t>988</a:t>
            </a:r>
            <a:endParaRPr lang="en-US" sz="3200" dirty="0"/>
          </a:p>
        </p:txBody>
      </p:sp>
      <p:sp>
        <p:nvSpPr>
          <p:cNvPr id="7" name="text206"/>
          <p:cNvSpPr txBox="1"/>
          <p:nvPr/>
        </p:nvSpPr>
        <p:spPr>
          <a:xfrm>
            <a:off x="10012680" y="3017520"/>
            <a:ext cx="1783080" cy="822960"/>
          </a:xfrm>
          <a:prstGeom prst="rect">
            <a:avLst/>
          </a:prstGeom>
          <a:noFill/>
          <a:ln/>
        </p:spPr>
        <p:txBody>
          <a:bodyPr wrap="square" lIns="0" tIns="0" rIns="0" bIns="0" rtlCol="0" anchor="t"/>
          <a:lstStyle/>
          <a:p>
            <a:pPr algn="ctr" indent="0" marL="0">
              <a:buNone/>
            </a:pPr>
            <a:r>
              <a:rPr lang="en-US" sz="1600" dirty="0">
                <a:solidFill>
                  <a:schemeClr val="tx1"/>
                </a:solidFill>
              </a:rPr>
              <a:t>meet Analyst B's inputs (time series limit it)</a:t>
            </a:r>
            <a:endParaRPr lang="en-US" sz="1600" dirty="0"/>
          </a:p>
        </p:txBody>
      </p:sp>
      <p:sp>
        <p:nvSpPr>
          <p:cNvPr id="8" name="shape207"/>
          <p:cNvSpPr txBox="1"/>
          <p:nvPr/>
        </p:nvSpPr>
        <p:spPr>
          <a:xfrm>
            <a:off x="8366760" y="3977640"/>
            <a:ext cx="1600200" cy="1600200"/>
          </a:xfrm>
          <a:prstGeom prst="ellipse">
            <a:avLst/>
          </a:prstGeom>
          <a:solidFill>
            <a:schemeClr val="accent4"/>
          </a:solidFill>
          <a:ln/>
        </p:spPr>
        <p:txBody>
          <a:bodyPr wrap="square" lIns="50800" tIns="50800" rIns="50800" bIns="50800" rtlCol="0" anchor="ctr"/>
          <a:lstStyle/>
          <a:p>
            <a:pPr algn="ctr" indent="0" marL="0">
              <a:buNone/>
            </a:pPr>
            <a:r>
              <a:rPr lang="en-US" sz="3200" b="1" dirty="0">
                <a:solidFill>
                  <a:schemeClr val="accent1"/>
                </a:solidFill>
              </a:rPr>
              <a:t>746</a:t>
            </a:r>
            <a:endParaRPr lang="en-US" sz="3200" dirty="0"/>
          </a:p>
        </p:txBody>
      </p:sp>
      <p:sp>
        <p:nvSpPr>
          <p:cNvPr id="9" name="text208"/>
          <p:cNvSpPr txBox="1"/>
          <p:nvPr/>
        </p:nvSpPr>
        <p:spPr>
          <a:xfrm>
            <a:off x="8275320" y="5623560"/>
            <a:ext cx="1783080" cy="822960"/>
          </a:xfrm>
          <a:prstGeom prst="rect">
            <a:avLst/>
          </a:prstGeom>
          <a:noFill/>
          <a:ln/>
        </p:spPr>
        <p:txBody>
          <a:bodyPr wrap="square" lIns="0" tIns="0" rIns="0" bIns="0" rtlCol="0" anchor="t"/>
          <a:lstStyle/>
          <a:p>
            <a:pPr algn="ctr" indent="0" marL="0">
              <a:buNone/>
            </a:pPr>
            <a:r>
              <a:rPr lang="en-US" sz="1600" dirty="0">
                <a:solidFill>
                  <a:schemeClr val="tx1"/>
                </a:solidFill>
              </a:rPr>
              <a:t>IQ scores + FreeSurfer volumes</a:t>
            </a:r>
            <a:endParaRPr lang="en-US" sz="1600" dirty="0"/>
          </a:p>
        </p:txBody>
      </p:sp>
      <p:sp>
        <p:nvSpPr>
          <p:cNvPr id="10" name="shape209"/>
          <p:cNvSpPr txBox="1"/>
          <p:nvPr/>
        </p:nvSpPr>
        <p:spPr>
          <a:xfrm>
            <a:off x="10104120" y="3977640"/>
            <a:ext cx="1600200" cy="1600200"/>
          </a:xfrm>
          <a:prstGeom prst="ellipse">
            <a:avLst/>
          </a:prstGeom>
          <a:solidFill>
            <a:schemeClr val="accent4"/>
          </a:solidFill>
          <a:ln/>
        </p:spPr>
        <p:txBody>
          <a:bodyPr wrap="square" lIns="50800" tIns="50800" rIns="50800" bIns="50800" rtlCol="0" anchor="ctr"/>
          <a:lstStyle/>
          <a:p>
            <a:pPr algn="ctr" indent="0" marL="0">
              <a:buNone/>
            </a:pPr>
            <a:r>
              <a:rPr lang="en-US" sz="3200" b="1" dirty="0">
                <a:solidFill>
                  <a:schemeClr val="accent1"/>
                </a:solidFill>
              </a:rPr>
              <a:t>330</a:t>
            </a:r>
            <a:endParaRPr lang="en-US" sz="3200" dirty="0"/>
          </a:p>
        </p:txBody>
      </p:sp>
      <p:sp>
        <p:nvSpPr>
          <p:cNvPr id="11" name="text210"/>
          <p:cNvSpPr txBox="1"/>
          <p:nvPr/>
        </p:nvSpPr>
        <p:spPr>
          <a:xfrm>
            <a:off x="10012680" y="5623560"/>
            <a:ext cx="1783080" cy="822960"/>
          </a:xfrm>
          <a:prstGeom prst="rect">
            <a:avLst/>
          </a:prstGeom>
          <a:noFill/>
          <a:ln/>
        </p:spPr>
        <p:txBody>
          <a:bodyPr wrap="square" lIns="0" tIns="0" rIns="0" bIns="0" rtlCol="0" anchor="t"/>
          <a:lstStyle/>
          <a:p>
            <a:pPr algn="ctr" indent="0" marL="0">
              <a:buNone/>
            </a:pPr>
            <a:r>
              <a:rPr lang="en-US" sz="1600" dirty="0">
                <a:solidFill>
                  <a:schemeClr val="tx1"/>
                </a:solidFill>
              </a:rPr>
              <a:t>with Social Responsiveness Scale (4 sites)</a:t>
            </a:r>
            <a:endParaRPr lang="en-US" sz="1600" dirty="0"/>
          </a:p>
        </p:txBody>
      </p:sp>
      <p:pic>
        <p:nvPicPr>
          <p:cNvPr id="13" name="stripIcon12" descr="preencoded.png">    </p:cNvPr>
          <p:cNvPicPr>
            <a:picLocks noChangeAspect="1"/>
          </p:cNvPicPr>
          <p:nvPr/>
        </p:nvPicPr>
        <p:blipFill>
          <a:blip r:embed="rId2"/>
          <a:stretch>
            <a:fillRect/>
          </a:stretch>
        </p:blipFill>
        <p:spPr>
          <a:xfrm>
            <a:off x="548640" y="969264"/>
            <a:ext cx="182880" cy="182880"/>
          </a:xfrm>
          <a:prstGeom prst="rect">
            <a:avLst/>
          </a:prstGeom>
        </p:spPr>
      </p:pic>
      <p:sp>
        <p:nvSpPr>
          <p:cNvPr id="14" name="strip12"/>
          <p:cNvSpPr txBox="1"/>
          <p:nvPr/>
        </p:nvSpPr>
        <p:spPr>
          <a:xfrm>
            <a:off x="804672" y="914400"/>
            <a:ext cx="10972800" cy="292608"/>
          </a:xfrm>
          <a:prstGeom prst="rect">
            <a:avLst/>
          </a:prstGeom>
          <a:noFill/>
          <a:ln/>
        </p:spPr>
        <p:txBody>
          <a:bodyPr wrap="square" lIns="0" tIns="0" rIns="0" bIns="0" rtlCol="0" anchor="ctr"/>
          <a:lstStyle/>
          <a:p>
            <a:pPr indent="0" marL="0">
              <a:buNone/>
            </a:pPr>
            <a:r>
              <a:rPr lang="en-US" sz="1200" b="1" dirty="0">
                <a:solidFill>
                  <a:schemeClr val="accent1"/>
                </a:solidFill>
              </a:rPr>
              <a:t>In the graph: </a:t>
            </a:r>
            <a:pPr indent="0" marL="0">
              <a:buNone/>
            </a:pPr>
            <a:r>
              <a:rPr lang="en-US" sz="1200" dirty="0">
                <a:solidFill>
                  <a:schemeClr val="accent3"/>
                </a:solidFill>
              </a:rPr>
              <a:t>SPARQL (queries/Q14.rq) over graph/core + view/volumes + ReproNim simple2 graphs → counts by site and diagnosis → figure: code/element_coverage.py</a:t>
            </a:r>
            <a:endParaRPr lang="en-US" sz="1200" dirty="0"/>
          </a:p>
        </p:txBody>
      </p:sp>
      <p:sp>
        <p:nvSpPr>
          <p:cNvPr id="15" name="tagDot12"/>
          <p:cNvSpPr/>
          <p:nvPr/>
        </p:nvSpPr>
        <p:spPr>
          <a:xfrm>
            <a:off x="9326880" y="82296"/>
            <a:ext cx="128016" cy="128016"/>
          </a:xfrm>
          <a:prstGeom prst="ellipse">
            <a:avLst/>
          </a:prstGeom>
          <a:solidFill>
            <a:schemeClr val="tx2"/>
          </a:solidFill>
          <a:ln/>
        </p:spPr>
      </p:sp>
      <p:sp>
        <p:nvSpPr>
          <p:cNvPr id="16" name="tag12"/>
          <p:cNvSpPr txBox="1"/>
          <p:nvPr/>
        </p:nvSpPr>
        <p:spPr>
          <a:xfrm>
            <a:off x="9509760" y="18288"/>
            <a:ext cx="2286000" cy="256032"/>
          </a:xfrm>
          <a:prstGeom prst="rect">
            <a:avLst/>
          </a:prstGeom>
          <a:noFill/>
          <a:ln/>
        </p:spPr>
        <p:txBody>
          <a:bodyPr wrap="square" lIns="0" tIns="0" rIns="0" bIns="0" rtlCol="0" anchor="ctr"/>
          <a:lstStyle/>
          <a:p>
            <a:pPr indent="0" marL="0">
              <a:buNone/>
            </a:pPr>
            <a:r>
              <a:rPr lang="en-US" sz="1200" i="1" dirty="0">
                <a:solidFill>
                  <a:schemeClr val="accent3"/>
                </a:solidFill>
              </a:rPr>
              <a:t>Objective 2</a:t>
            </a:r>
            <a:endParaRPr lang="en-US" sz="1200" dirty="0"/>
          </a:p>
        </p:txBody>
      </p:sp>
      <p:sp>
        <p:nvSpPr>
          <p:cNvPr id="17" name="badge12_A"/>
          <p:cNvSpPr txBox="1"/>
          <p:nvPr/>
        </p:nvSpPr>
        <p:spPr>
          <a:xfrm>
            <a:off x="274320"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A</a:t>
            </a:r>
            <a:endParaRPr lang="en-US" sz="1100" dirty="0"/>
          </a:p>
        </p:txBody>
      </p:sp>
      <p:sp>
        <p:nvSpPr>
          <p:cNvPr id="18" name="data12"/>
          <p:cNvSpPr txBox="1"/>
          <p:nvPr/>
        </p:nvSpPr>
        <p:spPr>
          <a:xfrm>
            <a:off x="2176272" y="6473952"/>
            <a:ext cx="8979408" cy="301752"/>
          </a:xfrm>
          <a:prstGeom prst="rect">
            <a:avLst/>
          </a:prstGeom>
          <a:noFill/>
          <a:ln/>
        </p:spPr>
        <p:txBody>
          <a:bodyPr wrap="square" lIns="0" tIns="0" rIns="0" bIns="0" rtlCol="0" anchor="ctr"/>
          <a:lstStyle/>
          <a:p>
            <a:pPr indent="0" marL="0">
              <a:buNone/>
            </a:pPr>
            <a:r>
              <a:rPr lang="en-US" sz="1100" dirty="0">
                <a:solidFill>
                  <a:srgbClr val="5E7A88"/>
                </a:solidFill>
              </a:rPr>
              <a:t>Data: ABIDE I (ABIDE Preprocessed, C-PAC); ReproNim simple2 NIDM (commit e0dff17)</a:t>
            </a:r>
            <a:endParaRPr lang="en-US" sz="1100" dirty="0"/>
          </a:p>
        </p:txBody>
      </p:sp>
      <p:sp>
        <p:nvSpPr>
          <p:cNvPr id="19" name="badge12_check"/>
          <p:cNvSpPr txBox="1"/>
          <p:nvPr/>
        </p:nvSpPr>
        <p:spPr>
          <a:xfrm>
            <a:off x="630936" y="6473952"/>
            <a:ext cx="1408176" cy="301752"/>
          </a:xfrm>
          <a:prstGeom prst="rect">
            <a:avLst/>
          </a:prstGeom>
          <a:noFill/>
          <a:ln/>
        </p:spPr>
        <p:txBody>
          <a:bodyPr wrap="square" lIns="0" tIns="0" rIns="0" bIns="0" rtlCol="0" anchor="ctr"/>
          <a:lstStyle/>
          <a:p>
            <a:pPr indent="0" marL="0">
              <a:buNone/>
            </a:pPr>
            <a:r>
              <a:rPr lang="en-US" sz="1100" i="1" dirty="0">
                <a:solidFill>
                  <a:srgbClr val="5E7A88"/>
                </a:solidFill>
              </a:rPr>
              <a:t>re-run · validated</a:t>
            </a:r>
            <a:endParaRPr lang="en-US" sz="11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
            <a:ext cx="11064240" cy="713232"/>
          </a:xfrm>
          <a:prstGeom prst="rect">
            <a:avLst/>
          </a:prstGeom>
          <a:noFill/>
          <a:ln/>
        </p:spPr>
        <p:txBody>
          <a:bodyPr wrap="square" rtlCol="0" anchor="ctr"/>
          <a:lstStyle/>
          <a:p>
            <a:pPr algn="l" indent="0" marL="0">
              <a:buNone/>
            </a:pPr>
            <a:r>
              <a:rPr lang="en-US" sz="3200" b="1" dirty="0">
                <a:solidFill>
                  <a:schemeClr val="tx2"/>
                </a:solidFill>
              </a:rPr>
              <a:t>ABIDE I: two analyses, two research questions</a:t>
            </a:r>
            <a:endParaRPr lang="en-US" sz="3200" dirty="0"/>
          </a:p>
        </p:txBody>
      </p:sp>
      <p:sp>
        <p:nvSpPr>
          <p:cNvPr id="3" name="shape211"/>
          <p:cNvSpPr/>
          <p:nvPr/>
        </p:nvSpPr>
        <p:spPr>
          <a:xfrm>
            <a:off x="3063240" y="1325880"/>
            <a:ext cx="6035040" cy="5074920"/>
          </a:xfrm>
          <a:prstGeom prst="ellipse">
            <a:avLst/>
          </a:prstGeom>
          <a:solidFill>
            <a:schemeClr val="bg2"/>
          </a:solidFill>
          <a:ln w="19050">
            <a:solidFill>
              <a:srgbClr val="C9D3D7"/>
            </a:solidFill>
            <a:prstDash val="solid"/>
          </a:ln>
        </p:spPr>
      </p:sp>
      <p:sp>
        <p:nvSpPr>
          <p:cNvPr id="4" name="text212"/>
          <p:cNvSpPr txBox="1"/>
          <p:nvPr/>
        </p:nvSpPr>
        <p:spPr>
          <a:xfrm>
            <a:off x="4069080" y="1554480"/>
            <a:ext cx="4023360" cy="777240"/>
          </a:xfrm>
          <a:prstGeom prst="rect">
            <a:avLst/>
          </a:prstGeom>
          <a:noFill/>
          <a:ln/>
        </p:spPr>
        <p:txBody>
          <a:bodyPr wrap="square" lIns="0" tIns="0" rIns="0" bIns="0" rtlCol="0" anchor="t"/>
          <a:lstStyle/>
          <a:p>
            <a:pPr algn="ctr" indent="0" marL="0">
              <a:buNone/>
            </a:pPr>
            <a:r>
              <a:rPr lang="en-US" sz="2200" b="1" dirty="0">
                <a:solidFill>
                  <a:schemeClr val="tx2"/>
                </a:solidFill>
              </a:rPr>
              <a:t>ABIDE I</a:t>
            </a:r>
            <a:endParaRPr lang="en-US" sz="1800" dirty="0"/>
          </a:p>
          <a:p>
            <a:pPr algn="ctr" indent="0" marL="0">
              <a:buNone/>
            </a:pPr>
            <a:r>
              <a:rPr lang="en-US" sz="1600" dirty="0">
                <a:solidFill>
                  <a:schemeClr val="tx2"/>
                </a:solidFill>
              </a:rPr>
              <a:t>autism; 1,112 participants, 17 sites; 200-region time series</a:t>
            </a:r>
            <a:endParaRPr lang="en-US" sz="1800" dirty="0"/>
          </a:p>
        </p:txBody>
      </p:sp>
      <p:sp>
        <p:nvSpPr>
          <p:cNvPr id="5" name="shape213"/>
          <p:cNvSpPr/>
          <p:nvPr/>
        </p:nvSpPr>
        <p:spPr>
          <a:xfrm>
            <a:off x="4160520" y="2377440"/>
            <a:ext cx="3840480" cy="3154680"/>
          </a:xfrm>
          <a:prstGeom prst="ellipse">
            <a:avLst/>
          </a:prstGeom>
          <a:solidFill>
            <a:schemeClr val="accent2">
              <a:alpha val="65000"/>
            </a:schemeClr>
          </a:solidFill>
          <a:ln/>
        </p:spPr>
      </p:sp>
      <p:sp>
        <p:nvSpPr>
          <p:cNvPr id="6" name="shape214"/>
          <p:cNvSpPr/>
          <p:nvPr/>
        </p:nvSpPr>
        <p:spPr>
          <a:xfrm>
            <a:off x="4434840" y="2788920"/>
            <a:ext cx="2331720" cy="2331720"/>
          </a:xfrm>
          <a:prstGeom prst="ellipse">
            <a:avLst/>
          </a:prstGeom>
          <a:solidFill>
            <a:schemeClr val="accent1">
              <a:alpha val="75000"/>
            </a:schemeClr>
          </a:solidFill>
          <a:ln/>
        </p:spPr>
      </p:sp>
      <p:sp>
        <p:nvSpPr>
          <p:cNvPr id="7" name="text215"/>
          <p:cNvSpPr txBox="1"/>
          <p:nvPr/>
        </p:nvSpPr>
        <p:spPr>
          <a:xfrm>
            <a:off x="4480560" y="3429000"/>
            <a:ext cx="2240280" cy="1097280"/>
          </a:xfrm>
          <a:prstGeom prst="rect">
            <a:avLst/>
          </a:prstGeom>
          <a:noFill/>
          <a:ln/>
        </p:spPr>
        <p:txBody>
          <a:bodyPr wrap="square" lIns="0" tIns="0" rIns="0" bIns="0" rtlCol="0" anchor="ctr"/>
          <a:lstStyle/>
          <a:p>
            <a:pPr algn="ctr" indent="0" marL="0">
              <a:buNone/>
            </a:pPr>
            <a:r>
              <a:rPr lang="en-US" sz="3200" b="1" dirty="0">
                <a:solidFill>
                  <a:schemeClr val="tx2"/>
                </a:solidFill>
              </a:rPr>
              <a:t>441</a:t>
            </a:r>
            <a:endParaRPr lang="en-US" sz="1800" dirty="0"/>
          </a:p>
          <a:p>
            <a:pPr algn="ctr" indent="0" marL="0">
              <a:buNone/>
            </a:pPr>
            <a:r>
              <a:rPr lang="en-US" sz="1600" dirty="0">
                <a:solidFill>
                  <a:schemeClr val="tx2"/>
                </a:solidFill>
              </a:rPr>
              <a:t>A, all also in B</a:t>
            </a:r>
            <a:endParaRPr lang="en-US" sz="1800" dirty="0"/>
          </a:p>
        </p:txBody>
      </p:sp>
      <p:sp>
        <p:nvSpPr>
          <p:cNvPr id="8" name="text216"/>
          <p:cNvSpPr txBox="1"/>
          <p:nvPr/>
        </p:nvSpPr>
        <p:spPr>
          <a:xfrm>
            <a:off x="6675120" y="3429000"/>
            <a:ext cx="1234440" cy="1097280"/>
          </a:xfrm>
          <a:prstGeom prst="rect">
            <a:avLst/>
          </a:prstGeom>
          <a:noFill/>
          <a:ln/>
        </p:spPr>
        <p:txBody>
          <a:bodyPr wrap="square" lIns="0" tIns="0" rIns="0" bIns="0" rtlCol="0" anchor="ctr"/>
          <a:lstStyle/>
          <a:p>
            <a:pPr algn="ctr" indent="0" marL="0">
              <a:buNone/>
            </a:pPr>
            <a:r>
              <a:rPr lang="en-US" sz="3200" b="1" dirty="0">
                <a:solidFill>
                  <a:schemeClr val="tx2"/>
                </a:solidFill>
              </a:rPr>
              <a:t>326</a:t>
            </a:r>
            <a:endParaRPr lang="en-US" sz="1800" dirty="0"/>
          </a:p>
          <a:p>
            <a:pPr algn="ctr" indent="0" marL="0">
              <a:buNone/>
            </a:pPr>
            <a:r>
              <a:rPr lang="en-US" sz="1600" dirty="0">
                <a:solidFill>
                  <a:schemeClr val="tx2"/>
                </a:solidFill>
              </a:rPr>
              <a:t>B only</a:t>
            </a:r>
            <a:endParaRPr lang="en-US" sz="1800" dirty="0"/>
          </a:p>
        </p:txBody>
      </p:sp>
      <p:sp>
        <p:nvSpPr>
          <p:cNvPr id="9" name="text217"/>
          <p:cNvSpPr txBox="1"/>
          <p:nvPr/>
        </p:nvSpPr>
        <p:spPr>
          <a:xfrm>
            <a:off x="3840480" y="5623560"/>
            <a:ext cx="4526280" cy="640080"/>
          </a:xfrm>
          <a:prstGeom prst="rect">
            <a:avLst/>
          </a:prstGeom>
          <a:noFill/>
          <a:ln/>
        </p:spPr>
        <p:txBody>
          <a:bodyPr wrap="square" lIns="0" tIns="0" rIns="0" bIns="0" rtlCol="0" anchor="ctr"/>
          <a:lstStyle/>
          <a:p>
            <a:pPr algn="ctr" indent="0" marL="0">
              <a:buNone/>
            </a:pPr>
            <a:r>
              <a:rPr lang="en-US" sz="1600" dirty="0">
                <a:solidFill>
                  <a:schemeClr val="tx2"/>
                </a:solidFill>
              </a:rPr>
              <a:t>Shared graph: cohorts, derivatives, results and reviews, with who made each</a:t>
            </a:r>
            <a:endParaRPr lang="en-US" sz="1600" dirty="0"/>
          </a:p>
        </p:txBody>
      </p:sp>
      <p:sp>
        <p:nvSpPr>
          <p:cNvPr id="10" name="text218"/>
          <p:cNvSpPr txBox="1"/>
          <p:nvPr/>
        </p:nvSpPr>
        <p:spPr>
          <a:xfrm>
            <a:off x="457200" y="2377440"/>
            <a:ext cx="2514600" cy="3108960"/>
          </a:xfrm>
          <a:prstGeom prst="rect">
            <a:avLst/>
          </a:prstGeom>
          <a:noFill/>
          <a:ln/>
        </p:spPr>
        <p:txBody>
          <a:bodyPr wrap="square" lIns="0" tIns="0" rIns="0" bIns="0" rtlCol="0" anchor="ctr"/>
          <a:lstStyle/>
          <a:p>
            <a:pPr indent="0" marL="0">
              <a:spcAft>
                <a:spcPts val="600"/>
              </a:spcAft>
              <a:buNone/>
            </a:pPr>
            <a:r>
              <a:rPr lang="en-US" sz="1600" b="1" dirty="0">
                <a:solidFill>
                  <a:schemeClr val="accent3"/>
                </a:solidFill>
              </a:rPr>
              <a:t>Analyst A (illustrative)</a:t>
            </a:r>
            <a:endParaRPr lang="en-US" sz="1800" dirty="0"/>
          </a:p>
          <a:p>
            <a:pPr indent="0" marL="0">
              <a:spcAft>
                <a:spcPts val="600"/>
              </a:spcAft>
              <a:buNone/>
            </a:pPr>
            <a:r>
              <a:rPr lang="en-US" sz="2200" b="1" dirty="0">
                <a:solidFill>
                  <a:schemeClr val="accent1"/>
                </a:solidFill>
              </a:rPr>
              <a:t>Do autistic and non-autistic groups differ in connectivity?</a:t>
            </a:r>
            <a:endParaRPr lang="en-US" sz="1800" dirty="0"/>
          </a:p>
          <a:p>
            <a:pPr indent="0" marL="0">
              <a:spcAft>
                <a:spcPts val="600"/>
              </a:spcAft>
              <a:buNone/>
            </a:pPr>
            <a:r>
              <a:rPr lang="en-US" sz="1800" dirty="0">
                <a:solidFill>
                  <a:schemeClr val="tx1"/>
                </a:solidFill>
              </a:rPr>
              <a:t>group difference · association</a:t>
            </a:r>
            <a:endParaRPr lang="en-US" sz="1800" dirty="0"/>
          </a:p>
          <a:p>
            <a:pPr indent="0" marL="0">
              <a:spcAft>
                <a:spcPts val="600"/>
              </a:spcAft>
              <a:buNone/>
            </a:pPr>
            <a:r>
              <a:rPr lang="en-US" sz="1600" i="1" dirty="0">
                <a:solidFill>
                  <a:schemeClr val="accent3"/>
                </a:solidFill>
              </a:rPr>
              <a:t>after Di Martino et al. 2014</a:t>
            </a:r>
            <a:endParaRPr lang="en-US" sz="1800" dirty="0"/>
          </a:p>
        </p:txBody>
      </p:sp>
      <p:sp>
        <p:nvSpPr>
          <p:cNvPr id="11" name="text219"/>
          <p:cNvSpPr txBox="1"/>
          <p:nvPr/>
        </p:nvSpPr>
        <p:spPr>
          <a:xfrm>
            <a:off x="9235440" y="2377440"/>
            <a:ext cx="2514600" cy="3108960"/>
          </a:xfrm>
          <a:prstGeom prst="rect">
            <a:avLst/>
          </a:prstGeom>
          <a:noFill/>
          <a:ln/>
        </p:spPr>
        <p:txBody>
          <a:bodyPr wrap="square" lIns="0" tIns="0" rIns="0" bIns="0" rtlCol="0" anchor="ctr"/>
          <a:lstStyle/>
          <a:p>
            <a:pPr indent="0" marL="0">
              <a:spcAft>
                <a:spcPts val="600"/>
              </a:spcAft>
              <a:buNone/>
            </a:pPr>
            <a:r>
              <a:rPr lang="en-US" sz="1600" b="1" dirty="0">
                <a:solidFill>
                  <a:schemeClr val="accent3"/>
                </a:solidFill>
              </a:rPr>
              <a:t>Analyst B (illustrative)</a:t>
            </a:r>
            <a:endParaRPr lang="en-US" sz="1800" dirty="0"/>
          </a:p>
          <a:p>
            <a:pPr indent="0" marL="0">
              <a:spcAft>
                <a:spcPts val="600"/>
              </a:spcAft>
              <a:buNone/>
            </a:pPr>
            <a:r>
              <a:rPr lang="en-US" sz="2200" b="1" dirty="0">
                <a:solidFill>
                  <a:schemeClr val="accent2"/>
                </a:solidFill>
              </a:rPr>
              <a:t>Does connectivity predict diagnosis at unseen sites?</a:t>
            </a:r>
            <a:endParaRPr lang="en-US" sz="1800" dirty="0"/>
          </a:p>
          <a:p>
            <a:pPr indent="0" marL="0">
              <a:spcAft>
                <a:spcPts val="600"/>
              </a:spcAft>
              <a:buNone/>
            </a:pPr>
            <a:r>
              <a:rPr lang="en-US" sz="1800" dirty="0">
                <a:solidFill>
                  <a:schemeClr val="tx1"/>
                </a:solidFill>
              </a:rPr>
              <a:t>prediction · leave-site-out</a:t>
            </a:r>
            <a:endParaRPr lang="en-US" sz="1800" dirty="0"/>
          </a:p>
          <a:p>
            <a:pPr indent="0" marL="0">
              <a:spcAft>
                <a:spcPts val="600"/>
              </a:spcAft>
              <a:buNone/>
            </a:pPr>
            <a:r>
              <a:rPr lang="en-US" sz="1600" i="1" dirty="0">
                <a:solidFill>
                  <a:schemeClr val="accent3"/>
                </a:solidFill>
              </a:rPr>
              <a:t>after Abraham et al. 2017</a:t>
            </a:r>
            <a:endParaRPr lang="en-US" sz="1800" dirty="0"/>
          </a:p>
        </p:txBody>
      </p:sp>
      <p:pic>
        <p:nvPicPr>
          <p:cNvPr id="13" name="stripIcon13" descr="preencoded.png">    </p:cNvPr>
          <p:cNvPicPr>
            <a:picLocks noChangeAspect="1"/>
          </p:cNvPicPr>
          <p:nvPr/>
        </p:nvPicPr>
        <p:blipFill>
          <a:blip r:embed="rId1"/>
          <a:stretch>
            <a:fillRect/>
          </a:stretch>
        </p:blipFill>
        <p:spPr>
          <a:xfrm>
            <a:off x="548640" y="969264"/>
            <a:ext cx="182880" cy="182880"/>
          </a:xfrm>
          <a:prstGeom prst="rect">
            <a:avLst/>
          </a:prstGeom>
        </p:spPr>
      </p:pic>
      <p:sp>
        <p:nvSpPr>
          <p:cNvPr id="14" name="strip13"/>
          <p:cNvSpPr txBox="1"/>
          <p:nvPr/>
        </p:nvSpPr>
        <p:spPr>
          <a:xfrm>
            <a:off x="804672" y="914400"/>
            <a:ext cx="10972800" cy="292608"/>
          </a:xfrm>
          <a:prstGeom prst="rect">
            <a:avLst/>
          </a:prstGeom>
          <a:noFill/>
          <a:ln/>
        </p:spPr>
        <p:txBody>
          <a:bodyPr wrap="square" lIns="0" tIns="0" rIns="0" bIns="0" rtlCol="0" anchor="ctr"/>
          <a:lstStyle/>
          <a:p>
            <a:pPr indent="0" marL="0">
              <a:buNone/>
            </a:pPr>
            <a:r>
              <a:rPr lang="en-US" sz="1200" b="1" dirty="0">
                <a:solidFill>
                  <a:schemeClr val="accent1"/>
                </a:solidFill>
              </a:rPr>
              <a:t>In the graph: </a:t>
            </a:r>
            <a:pPr indent="0" marL="0">
              <a:buNone/>
            </a:pPr>
            <a:r>
              <a:rPr lang="en-US" sz="1200" dirty="0">
                <a:solidFill>
                  <a:schemeClr val="accent3"/>
                </a:solidFill>
              </a:rPr>
              <a:t>Cohorts are prov:hadMember sets in graph/core (built by code/cohorts.py); overlap by queries/Q2.rq</a:t>
            </a:r>
            <a:endParaRPr lang="en-US" sz="1200" dirty="0"/>
          </a:p>
        </p:txBody>
      </p:sp>
      <p:sp>
        <p:nvSpPr>
          <p:cNvPr id="15" name="tagDot13"/>
          <p:cNvSpPr/>
          <p:nvPr/>
        </p:nvSpPr>
        <p:spPr>
          <a:xfrm>
            <a:off x="9326880" y="82296"/>
            <a:ext cx="128016" cy="128016"/>
          </a:xfrm>
          <a:prstGeom prst="ellipse">
            <a:avLst/>
          </a:prstGeom>
          <a:solidFill>
            <a:schemeClr val="tx2"/>
          </a:solidFill>
          <a:ln/>
        </p:spPr>
      </p:sp>
      <p:sp>
        <p:nvSpPr>
          <p:cNvPr id="16" name="tag13"/>
          <p:cNvSpPr txBox="1"/>
          <p:nvPr/>
        </p:nvSpPr>
        <p:spPr>
          <a:xfrm>
            <a:off x="9509760" y="18288"/>
            <a:ext cx="2286000" cy="256032"/>
          </a:xfrm>
          <a:prstGeom prst="rect">
            <a:avLst/>
          </a:prstGeom>
          <a:noFill/>
          <a:ln/>
        </p:spPr>
        <p:txBody>
          <a:bodyPr wrap="square" lIns="0" tIns="0" rIns="0" bIns="0" rtlCol="0" anchor="ctr"/>
          <a:lstStyle/>
          <a:p>
            <a:pPr indent="0" marL="0">
              <a:buNone/>
            </a:pPr>
            <a:r>
              <a:rPr lang="en-US" sz="1200" i="1" dirty="0">
                <a:solidFill>
                  <a:schemeClr val="accent3"/>
                </a:solidFill>
              </a:rPr>
              <a:t>Objective 2</a:t>
            </a:r>
            <a:endParaRPr lang="en-US" sz="1200" dirty="0"/>
          </a:p>
        </p:txBody>
      </p:sp>
      <p:sp>
        <p:nvSpPr>
          <p:cNvPr id="17" name="badge13_A"/>
          <p:cNvSpPr txBox="1"/>
          <p:nvPr/>
        </p:nvSpPr>
        <p:spPr>
          <a:xfrm>
            <a:off x="274320"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A</a:t>
            </a:r>
            <a:endParaRPr lang="en-US" sz="1100" dirty="0"/>
          </a:p>
        </p:txBody>
      </p:sp>
      <p:sp>
        <p:nvSpPr>
          <p:cNvPr id="18" name="badge13_R"/>
          <p:cNvSpPr txBox="1"/>
          <p:nvPr/>
        </p:nvSpPr>
        <p:spPr>
          <a:xfrm>
            <a:off x="576072"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R</a:t>
            </a:r>
            <a:endParaRPr lang="en-US" sz="1100" dirty="0"/>
          </a:p>
        </p:txBody>
      </p:sp>
      <p:sp>
        <p:nvSpPr>
          <p:cNvPr id="19" name="data13"/>
          <p:cNvSpPr txBox="1"/>
          <p:nvPr/>
        </p:nvSpPr>
        <p:spPr>
          <a:xfrm>
            <a:off x="2478024" y="6473952"/>
            <a:ext cx="8677656" cy="301752"/>
          </a:xfrm>
          <a:prstGeom prst="rect">
            <a:avLst/>
          </a:prstGeom>
          <a:noFill/>
          <a:ln/>
        </p:spPr>
        <p:txBody>
          <a:bodyPr wrap="square" lIns="0" tIns="0" rIns="0" bIns="0" rtlCol="0" anchor="ctr"/>
          <a:lstStyle/>
          <a:p>
            <a:pPr indent="0" marL="0">
              <a:buNone/>
            </a:pPr>
            <a:r>
              <a:rPr lang="en-US" sz="1100" dirty="0">
                <a:solidFill>
                  <a:srgbClr val="5E7A88"/>
                </a:solidFill>
              </a:rPr>
              <a:t>Data: ABIDE I (ABIDE Preprocessed, C-PAC)</a:t>
            </a:r>
            <a:endParaRPr lang="en-US" sz="1100" dirty="0"/>
          </a:p>
        </p:txBody>
      </p:sp>
      <p:sp>
        <p:nvSpPr>
          <p:cNvPr id="20" name="badge13_check"/>
          <p:cNvSpPr txBox="1"/>
          <p:nvPr/>
        </p:nvSpPr>
        <p:spPr>
          <a:xfrm>
            <a:off x="932688" y="6473952"/>
            <a:ext cx="1408176" cy="301752"/>
          </a:xfrm>
          <a:prstGeom prst="rect">
            <a:avLst/>
          </a:prstGeom>
          <a:noFill/>
          <a:ln/>
        </p:spPr>
        <p:txBody>
          <a:bodyPr wrap="square" lIns="0" tIns="0" rIns="0" bIns="0" rtlCol="0" anchor="ctr"/>
          <a:lstStyle/>
          <a:p>
            <a:pPr indent="0" marL="0">
              <a:buNone/>
            </a:pPr>
            <a:r>
              <a:rPr lang="en-US" sz="1100" i="1" dirty="0">
                <a:solidFill>
                  <a:srgbClr val="5E7A88"/>
                </a:solidFill>
              </a:rPr>
              <a:t>re-run · validated</a:t>
            </a:r>
            <a:endParaRPr lang="en-US" sz="11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
            <a:ext cx="11064240" cy="713232"/>
          </a:xfrm>
          <a:prstGeom prst="rect">
            <a:avLst/>
          </a:prstGeom>
          <a:noFill/>
          <a:ln/>
        </p:spPr>
        <p:txBody>
          <a:bodyPr wrap="square" rtlCol="0" anchor="ctr"/>
          <a:lstStyle/>
          <a:p>
            <a:pPr algn="l" indent="0" marL="0">
              <a:buNone/>
            </a:pPr>
            <a:r>
              <a:rPr lang="en-US" sz="3200" b="1" dirty="0">
                <a:solidFill>
                  <a:schemeClr val="tx2"/>
                </a:solidFill>
              </a:rPr>
              <a:t>ABIDE I: group differences and site-held-out prediction</a:t>
            </a:r>
            <a:endParaRPr lang="en-US" sz="3200" dirty="0"/>
          </a:p>
        </p:txBody>
      </p:sp>
      <p:sp>
        <p:nvSpPr>
          <p:cNvPr id="3" name="card220"/>
          <p:cNvSpPr txBox="1"/>
          <p:nvPr/>
        </p:nvSpPr>
        <p:spPr>
          <a:xfrm>
            <a:off x="548640" y="1371600"/>
            <a:ext cx="5394960" cy="4754880"/>
          </a:xfrm>
          <a:prstGeom prst="roundRect">
            <a:avLst>
              <a:gd name="adj" fmla="val 1538"/>
            </a:avLst>
          </a:prstGeom>
          <a:solidFill>
            <a:schemeClr val="accent4"/>
          </a:solidFill>
          <a:ln/>
        </p:spPr>
        <p:txBody>
          <a:bodyPr wrap="square" lIns="203200" tIns="203200" rIns="203200" bIns="203200" rtlCol="0" anchor="t"/>
          <a:lstStyle/>
          <a:p>
            <a:pPr algn="l" indent="0" marL="0">
              <a:buNone/>
            </a:pPr>
            <a:r>
              <a:rPr lang="en-US" sz="1600" b="1" dirty="0">
                <a:solidFill>
                  <a:schemeClr val="accent3"/>
                </a:solidFill>
              </a:rPr>
              <a:t>Analyst A</a:t>
            </a:r>
            <a:endParaRPr lang="en-US" sz="1800" dirty="0"/>
          </a:p>
          <a:p>
            <a:pPr algn="l" indent="0" marL="0">
              <a:buNone/>
            </a:pPr>
            <a:r>
              <a:rPr lang="en-US" sz="3000" b="1" dirty="0">
                <a:solidFill>
                  <a:schemeClr val="tx2"/>
                </a:solidFill>
              </a:rPr>
              <a:t>5,428 connections differ</a:t>
            </a:r>
            <a:endParaRPr lang="en-US" sz="1800" dirty="0"/>
          </a:p>
          <a:p>
            <a:pPr algn="l" indent="0" marL="0">
              <a:buNone/>
            </a:pPr>
            <a:r>
              <a:rPr lang="en-US" sz="1800" dirty="0">
                <a:solidFill>
                  <a:schemeClr val="tx1"/>
                </a:solidFill>
              </a:rPr>
              <a:t>FDR-corrected (false discovery rate); 99.6% weaker in ASD (95% CI 90.2–99.8%)</a:t>
            </a:r>
            <a:endParaRPr lang="en-US" sz="1800" dirty="0"/>
          </a:p>
          <a:p>
            <a:pPr algn="l" indent="0" marL="0">
              <a:buNone/>
            </a:pPr>
            <a:r>
              <a:rPr lang="en-US" sz="1800" dirty="0">
                <a:solidFill>
                  <a:schemeClr val="tx1"/>
                </a:solidFill>
              </a:rPr>
              <a:t>52% of the weaker connections link the two hemispheres</a:t>
            </a:r>
            <a:endParaRPr lang="en-US" sz="1800" dirty="0"/>
          </a:p>
          <a:p>
            <a:pPr algn="l" indent="0" marL="0">
              <a:buNone/>
            </a:pPr>
            <a:r>
              <a:rPr lang="en-US" sz="1800" dirty="0">
                <a:solidFill>
                  <a:schemeClr val="tx1"/>
                </a:solidFill>
              </a:rPr>
              <a:t>median effect size d = 0.30 · n = 441, 9 sites</a:t>
            </a:r>
            <a:endParaRPr lang="en-US" sz="1800" dirty="0"/>
          </a:p>
          <a:p>
            <a:pPr algn="l" indent="0" marL="0">
              <a:buNone/>
            </a:pPr>
            <a:r>
              <a:rPr lang="en-US" sz="1800" i="1" dirty="0">
                <a:solidFill>
                  <a:schemeClr val="accent3"/>
                </a:solidFill>
              </a:rPr>
              <a:t>Reviewed by B: not established in held-out participants (pooled d −0.08, −0.31 to 0.15)</a:t>
            </a:r>
            <a:endParaRPr lang="en-US" sz="1800" dirty="0"/>
          </a:p>
        </p:txBody>
      </p:sp>
      <p:sp>
        <p:nvSpPr>
          <p:cNvPr id="4" name="text221"/>
          <p:cNvSpPr txBox="1"/>
          <p:nvPr/>
        </p:nvSpPr>
        <p:spPr>
          <a:xfrm>
            <a:off x="822960" y="5577840"/>
            <a:ext cx="4846320" cy="411480"/>
          </a:xfrm>
          <a:prstGeom prst="rect">
            <a:avLst/>
          </a:prstGeom>
          <a:noFill/>
          <a:ln/>
        </p:spPr>
        <p:txBody>
          <a:bodyPr wrap="square" lIns="0" tIns="0" rIns="0" bIns="0" rtlCol="0" anchor="t"/>
          <a:lstStyle/>
          <a:p>
            <a:pPr indent="0" marL="0">
              <a:buNone/>
            </a:pPr>
            <a:r>
              <a:rPr lang="en-US" sz="1600" i="1" dirty="0">
                <a:solidFill>
                  <a:schemeClr val="accent3"/>
                </a:solidFill>
              </a:rPr>
              <a:t>Association in this cohort</a:t>
            </a:r>
            <a:endParaRPr lang="en-US" sz="1600" dirty="0"/>
          </a:p>
        </p:txBody>
      </p:sp>
      <p:sp>
        <p:nvSpPr>
          <p:cNvPr id="5" name="card222"/>
          <p:cNvSpPr txBox="1"/>
          <p:nvPr/>
        </p:nvSpPr>
        <p:spPr>
          <a:xfrm>
            <a:off x="6217920" y="1371600"/>
            <a:ext cx="5394960" cy="4754880"/>
          </a:xfrm>
          <a:prstGeom prst="roundRect">
            <a:avLst>
              <a:gd name="adj" fmla="val 1538"/>
            </a:avLst>
          </a:prstGeom>
          <a:solidFill>
            <a:schemeClr val="accent5"/>
          </a:solidFill>
          <a:ln/>
        </p:spPr>
        <p:txBody>
          <a:bodyPr wrap="square" lIns="203200" tIns="203200" rIns="203200" bIns="203200" rtlCol="0" anchor="t"/>
          <a:lstStyle/>
          <a:p>
            <a:pPr algn="l" indent="0" marL="0">
              <a:buNone/>
            </a:pPr>
            <a:r>
              <a:rPr lang="en-US" sz="1600" b="1" dirty="0">
                <a:solidFill>
                  <a:schemeClr val="accent3"/>
                </a:solidFill>
              </a:rPr>
              <a:t>Analyst B</a:t>
            </a:r>
            <a:endParaRPr lang="en-US" sz="1800" dirty="0"/>
          </a:p>
          <a:p>
            <a:pPr algn="l" indent="0" marL="0">
              <a:buNone/>
            </a:pPr>
            <a:r>
              <a:rPr lang="en-US" sz="3000" b="1" dirty="0">
                <a:solidFill>
                  <a:schemeClr val="tx2"/>
                </a:solidFill>
              </a:rPr>
              <a:t>AUC 0.74 (0.70–0.77)</a:t>
            </a:r>
            <a:endParaRPr lang="en-US" sz="1800" dirty="0"/>
          </a:p>
          <a:p>
            <a:pPr algn="l" indent="0" marL="0">
              <a:buNone/>
            </a:pPr>
            <a:r>
              <a:rPr lang="en-US" sz="1800" dirty="0">
                <a:solidFill>
                  <a:schemeClr val="tx1"/>
                </a:solidFill>
              </a:rPr>
              <a:t>AUC: 0.5 = chance, 1 = perfect · tangent-space connectivity · tested on held-out sites, n = 767, 20 sites</a:t>
            </a:r>
            <a:endParaRPr lang="en-US" sz="1800" dirty="0"/>
          </a:p>
          <a:p>
            <a:pPr algn="l" indent="0" marL="0">
              <a:buNone/>
            </a:pPr>
            <a:r>
              <a:rPr lang="en-US" sz="1800" dirty="0">
                <a:solidFill>
                  <a:schemeClr val="tx1"/>
                </a:solidFill>
              </a:rPr>
              <a:t>correlation 0.72 · demographic + head motion 0.59 · demographic only 0.48</a:t>
            </a:r>
            <a:endParaRPr lang="en-US" sz="1800" dirty="0"/>
          </a:p>
          <a:p>
            <a:pPr algn="l" indent="0" marL="0">
              <a:buNone/>
            </a:pPr>
            <a:r>
              <a:rPr lang="en-US" sz="1800" dirty="0">
                <a:solidFill>
                  <a:schemeClr val="tx1"/>
                </a:solidFill>
              </a:rPr>
              <a:t>accuracy 66.9%</a:t>
            </a:r>
            <a:endParaRPr lang="en-US" sz="1800" dirty="0"/>
          </a:p>
          <a:p>
            <a:pPr algn="l" indent="0" marL="0">
              <a:buNone/>
            </a:pPr>
            <a:r>
              <a:rPr lang="en-US" sz="1800" i="1" dirty="0">
                <a:solidFill>
                  <a:schemeClr val="accent3"/>
                </a:solidFill>
              </a:rPr>
              <a:t>Reviewed by A: top edges overlap A's 90 vs 54 expected (p ≈ 4e−8)</a:t>
            </a:r>
            <a:endParaRPr lang="en-US" sz="1800" dirty="0"/>
          </a:p>
        </p:txBody>
      </p:sp>
      <p:sp>
        <p:nvSpPr>
          <p:cNvPr id="6" name="text223"/>
          <p:cNvSpPr txBox="1"/>
          <p:nvPr/>
        </p:nvSpPr>
        <p:spPr>
          <a:xfrm>
            <a:off x="6492240" y="5577840"/>
            <a:ext cx="4846320" cy="411480"/>
          </a:xfrm>
          <a:prstGeom prst="rect">
            <a:avLst/>
          </a:prstGeom>
          <a:noFill/>
          <a:ln/>
        </p:spPr>
        <p:txBody>
          <a:bodyPr wrap="square" lIns="0" tIns="0" rIns="0" bIns="0" rtlCol="0" anchor="t"/>
          <a:lstStyle/>
          <a:p>
            <a:pPr indent="0" marL="0">
              <a:buNone/>
            </a:pPr>
            <a:r>
              <a:rPr lang="en-US" sz="1600" i="1" dirty="0">
                <a:solidFill>
                  <a:schemeClr val="accent3"/>
                </a:solidFill>
              </a:rPr>
              <a:t>Prediction at held-out sites</a:t>
            </a:r>
            <a:endParaRPr lang="en-US" sz="1600" dirty="0"/>
          </a:p>
        </p:txBody>
      </p:sp>
      <p:pic>
        <p:nvPicPr>
          <p:cNvPr id="8" name="stripIcon14" descr="preencoded.png">    </p:cNvPr>
          <p:cNvPicPr>
            <a:picLocks noChangeAspect="1"/>
          </p:cNvPicPr>
          <p:nvPr/>
        </p:nvPicPr>
        <p:blipFill>
          <a:blip r:embed="rId1"/>
          <a:stretch>
            <a:fillRect/>
          </a:stretch>
        </p:blipFill>
        <p:spPr>
          <a:xfrm>
            <a:off x="548640" y="969264"/>
            <a:ext cx="182880" cy="182880"/>
          </a:xfrm>
          <a:prstGeom prst="rect">
            <a:avLst/>
          </a:prstGeom>
        </p:spPr>
      </p:pic>
      <p:sp>
        <p:nvSpPr>
          <p:cNvPr id="9" name="strip14"/>
          <p:cNvSpPr txBox="1"/>
          <p:nvPr/>
        </p:nvSpPr>
        <p:spPr>
          <a:xfrm>
            <a:off x="804672" y="914400"/>
            <a:ext cx="10972800" cy="292608"/>
          </a:xfrm>
          <a:prstGeom prst="rect">
            <a:avLst/>
          </a:prstGeom>
          <a:noFill/>
          <a:ln/>
        </p:spPr>
        <p:txBody>
          <a:bodyPr wrap="square" lIns="0" tIns="0" rIns="0" bIns="0" rtlCol="0" anchor="ctr"/>
          <a:lstStyle/>
          <a:p>
            <a:pPr indent="0" marL="0">
              <a:buNone/>
            </a:pPr>
            <a:r>
              <a:rPr lang="en-US" sz="1200" b="1" dirty="0">
                <a:solidFill>
                  <a:schemeClr val="accent1"/>
                </a:solidFill>
              </a:rPr>
              <a:t>In the graph: </a:t>
            </a:r>
            <a:pPr indent="0" marL="0">
              <a:buNone/>
            </a:pPr>
            <a:r>
              <a:rPr lang="en-US" sz="1200" dirty="0">
                <a:solidFill>
                  <a:schemeClr val="accent3"/>
                </a:solidFill>
              </a:rPr>
              <a:t>Result, claim and review nodes in graph/core (code/analyst_a.py, analyst_b.py, reviews.py); reviews read by queries/Q6.rq, Q7.rq</a:t>
            </a:r>
            <a:endParaRPr lang="en-US" sz="1200" dirty="0"/>
          </a:p>
        </p:txBody>
      </p:sp>
      <p:sp>
        <p:nvSpPr>
          <p:cNvPr id="10" name="tagDot14"/>
          <p:cNvSpPr/>
          <p:nvPr/>
        </p:nvSpPr>
        <p:spPr>
          <a:xfrm>
            <a:off x="9326880" y="82296"/>
            <a:ext cx="128016" cy="128016"/>
          </a:xfrm>
          <a:prstGeom prst="ellipse">
            <a:avLst/>
          </a:prstGeom>
          <a:solidFill>
            <a:schemeClr val="tx2"/>
          </a:solidFill>
          <a:ln/>
        </p:spPr>
      </p:sp>
      <p:sp>
        <p:nvSpPr>
          <p:cNvPr id="11" name="tag14"/>
          <p:cNvSpPr txBox="1"/>
          <p:nvPr/>
        </p:nvSpPr>
        <p:spPr>
          <a:xfrm>
            <a:off x="9509760" y="18288"/>
            <a:ext cx="2286000" cy="256032"/>
          </a:xfrm>
          <a:prstGeom prst="rect">
            <a:avLst/>
          </a:prstGeom>
          <a:noFill/>
          <a:ln/>
        </p:spPr>
        <p:txBody>
          <a:bodyPr wrap="square" lIns="0" tIns="0" rIns="0" bIns="0" rtlCol="0" anchor="ctr"/>
          <a:lstStyle/>
          <a:p>
            <a:pPr indent="0" marL="0">
              <a:buNone/>
            </a:pPr>
            <a:r>
              <a:rPr lang="en-US" sz="1200" i="1" dirty="0">
                <a:solidFill>
                  <a:schemeClr val="accent3"/>
                </a:solidFill>
              </a:rPr>
              <a:t>Objective 2</a:t>
            </a:r>
            <a:endParaRPr lang="en-US" sz="1200" dirty="0"/>
          </a:p>
        </p:txBody>
      </p:sp>
      <p:sp>
        <p:nvSpPr>
          <p:cNvPr id="12" name="badge14_A"/>
          <p:cNvSpPr txBox="1"/>
          <p:nvPr/>
        </p:nvSpPr>
        <p:spPr>
          <a:xfrm>
            <a:off x="274320"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A</a:t>
            </a:r>
            <a:endParaRPr lang="en-US" sz="1100" dirty="0"/>
          </a:p>
        </p:txBody>
      </p:sp>
      <p:sp>
        <p:nvSpPr>
          <p:cNvPr id="13" name="badge14_R"/>
          <p:cNvSpPr txBox="1"/>
          <p:nvPr/>
        </p:nvSpPr>
        <p:spPr>
          <a:xfrm>
            <a:off x="576072"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R</a:t>
            </a:r>
            <a:endParaRPr lang="en-US" sz="1100" dirty="0"/>
          </a:p>
        </p:txBody>
      </p:sp>
      <p:sp>
        <p:nvSpPr>
          <p:cNvPr id="14" name="data14"/>
          <p:cNvSpPr txBox="1"/>
          <p:nvPr/>
        </p:nvSpPr>
        <p:spPr>
          <a:xfrm>
            <a:off x="2478024" y="6473952"/>
            <a:ext cx="8677656" cy="301752"/>
          </a:xfrm>
          <a:prstGeom prst="rect">
            <a:avLst/>
          </a:prstGeom>
          <a:noFill/>
          <a:ln/>
        </p:spPr>
        <p:txBody>
          <a:bodyPr wrap="square" lIns="0" tIns="0" rIns="0" bIns="0" rtlCol="0" anchor="ctr"/>
          <a:lstStyle/>
          <a:p>
            <a:pPr indent="0" marL="0">
              <a:buNone/>
            </a:pPr>
            <a:r>
              <a:rPr lang="en-US" sz="1100" dirty="0">
                <a:solidFill>
                  <a:srgbClr val="5E7A88"/>
                </a:solidFill>
              </a:rPr>
              <a:t>Data: ABIDE I (ABIDE Preprocessed, C-PAC)</a:t>
            </a:r>
            <a:endParaRPr lang="en-US" sz="1100" dirty="0"/>
          </a:p>
        </p:txBody>
      </p:sp>
      <p:sp>
        <p:nvSpPr>
          <p:cNvPr id="15" name="badge14_check"/>
          <p:cNvSpPr txBox="1"/>
          <p:nvPr/>
        </p:nvSpPr>
        <p:spPr>
          <a:xfrm>
            <a:off x="932688" y="6473952"/>
            <a:ext cx="1408176" cy="301752"/>
          </a:xfrm>
          <a:prstGeom prst="rect">
            <a:avLst/>
          </a:prstGeom>
          <a:noFill/>
          <a:ln/>
        </p:spPr>
        <p:txBody>
          <a:bodyPr wrap="square" lIns="0" tIns="0" rIns="0" bIns="0" rtlCol="0" anchor="ctr"/>
          <a:lstStyle/>
          <a:p>
            <a:pPr indent="0" marL="0">
              <a:buNone/>
            </a:pPr>
            <a:r>
              <a:rPr lang="en-US" sz="1100" i="1" dirty="0">
                <a:solidFill>
                  <a:srgbClr val="5E7A88"/>
                </a:solidFill>
              </a:rPr>
              <a:t>re-run · validated</a:t>
            </a:r>
            <a:endParaRPr lang="en-US" sz="11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
            <a:ext cx="11064240" cy="713232"/>
          </a:xfrm>
          <a:prstGeom prst="rect">
            <a:avLst/>
          </a:prstGeom>
          <a:noFill/>
          <a:ln/>
        </p:spPr>
        <p:txBody>
          <a:bodyPr wrap="square" rtlCol="0" anchor="ctr"/>
          <a:lstStyle/>
          <a:p>
            <a:pPr algn="l" indent="0" marL="0">
              <a:buNone/>
            </a:pPr>
            <a:r>
              <a:rPr lang="en-US" sz="3200" b="1" dirty="0">
                <a:solidFill>
                  <a:schemeClr val="tx2"/>
                </a:solidFill>
              </a:rPr>
              <a:t>Exercise: consequences of a stricter motion threshold</a:t>
            </a:r>
            <a:endParaRPr lang="en-US" sz="3200" dirty="0"/>
          </a:p>
        </p:txBody>
      </p:sp>
      <p:sp>
        <p:nvSpPr>
          <p:cNvPr id="3" name="card224"/>
          <p:cNvSpPr txBox="1"/>
          <p:nvPr/>
        </p:nvSpPr>
        <p:spPr>
          <a:xfrm>
            <a:off x="640080" y="1371600"/>
            <a:ext cx="10972800" cy="1188720"/>
          </a:xfrm>
          <a:prstGeom prst="roundRect">
            <a:avLst>
              <a:gd name="adj" fmla="val 6154"/>
            </a:avLst>
          </a:prstGeom>
          <a:solidFill>
            <a:schemeClr val="tx2"/>
          </a:solidFill>
          <a:ln/>
        </p:spPr>
        <p:txBody>
          <a:bodyPr wrap="square" lIns="127000" tIns="127000" rIns="127000" bIns="127000" rtlCol="0" anchor="ctr"/>
          <a:lstStyle/>
          <a:p>
            <a:pPr algn="l" indent="0" marL="0">
              <a:buNone/>
            </a:pPr>
            <a:r>
              <a:rPr lang="en-US" sz="2400" b="1" dirty="0">
                <a:solidFill>
                  <a:schemeClr val="bg1"/>
                </a:solidFill>
              </a:rPr>
              <a:t>Analyst A tightens the head-motion rule: mean FD (average movement) &lt; 0.2 mm → &lt; 0.15 mm</a:t>
            </a:r>
            <a:endParaRPr lang="en-US" sz="2400" dirty="0"/>
          </a:p>
        </p:txBody>
      </p:sp>
      <p:sp>
        <p:nvSpPr>
          <p:cNvPr id="4" name="card225"/>
          <p:cNvSpPr txBox="1"/>
          <p:nvPr/>
        </p:nvSpPr>
        <p:spPr>
          <a:xfrm>
            <a:off x="640080" y="2880360"/>
            <a:ext cx="868680" cy="868680"/>
          </a:xfrm>
          <a:prstGeom prst="roundRect">
            <a:avLst>
              <a:gd name="adj" fmla="val 8421"/>
            </a:avLst>
          </a:prstGeom>
          <a:solidFill>
            <a:schemeClr val="accent2"/>
          </a:solidFill>
          <a:ln/>
        </p:spPr>
        <p:txBody>
          <a:bodyPr wrap="square" lIns="127000" tIns="127000" rIns="127000" bIns="127000" rtlCol="0" anchor="ctr"/>
          <a:lstStyle/>
          <a:p>
            <a:pPr algn="ctr" indent="0" marL="0">
              <a:buNone/>
            </a:pPr>
            <a:r>
              <a:rPr lang="en-US" sz="2800" b="1" dirty="0">
                <a:solidFill>
                  <a:schemeClr val="bg1"/>
                </a:solidFill>
              </a:rPr>
              <a:t>1</a:t>
            </a:r>
            <a:endParaRPr lang="en-US" sz="2800" dirty="0"/>
          </a:p>
        </p:txBody>
      </p:sp>
      <p:sp>
        <p:nvSpPr>
          <p:cNvPr id="5" name="text226"/>
          <p:cNvSpPr txBox="1"/>
          <p:nvPr/>
        </p:nvSpPr>
        <p:spPr>
          <a:xfrm>
            <a:off x="1783080" y="2880360"/>
            <a:ext cx="9784080" cy="868680"/>
          </a:xfrm>
          <a:prstGeom prst="rect">
            <a:avLst/>
          </a:prstGeom>
          <a:noFill/>
          <a:ln/>
        </p:spPr>
        <p:txBody>
          <a:bodyPr wrap="square" lIns="0" tIns="0" rIns="0" bIns="0" rtlCol="0" anchor="ctr"/>
          <a:lstStyle/>
          <a:p>
            <a:pPr indent="0" marL="0">
              <a:buNone/>
            </a:pPr>
            <a:r>
              <a:rPr lang="en-US" sz="2600" dirty="0">
                <a:solidFill>
                  <a:schemeClr val="tx1"/>
                </a:solidFill>
              </a:rPr>
              <a:t>How many of B's test participants are now excluded?</a:t>
            </a:r>
            <a:endParaRPr lang="en-US" sz="2600" dirty="0"/>
          </a:p>
        </p:txBody>
      </p:sp>
      <p:sp>
        <p:nvSpPr>
          <p:cNvPr id="6" name="card227"/>
          <p:cNvSpPr txBox="1"/>
          <p:nvPr/>
        </p:nvSpPr>
        <p:spPr>
          <a:xfrm>
            <a:off x="640080" y="3886200"/>
            <a:ext cx="868680" cy="868680"/>
          </a:xfrm>
          <a:prstGeom prst="roundRect">
            <a:avLst>
              <a:gd name="adj" fmla="val 8421"/>
            </a:avLst>
          </a:prstGeom>
          <a:solidFill>
            <a:schemeClr val="accent2"/>
          </a:solidFill>
          <a:ln/>
        </p:spPr>
        <p:txBody>
          <a:bodyPr wrap="square" lIns="127000" tIns="127000" rIns="127000" bIns="127000" rtlCol="0" anchor="ctr"/>
          <a:lstStyle/>
          <a:p>
            <a:pPr algn="ctr" indent="0" marL="0">
              <a:buNone/>
            </a:pPr>
            <a:r>
              <a:rPr lang="en-US" sz="2800" b="1" dirty="0">
                <a:solidFill>
                  <a:schemeClr val="bg1"/>
                </a:solidFill>
              </a:rPr>
              <a:t>2</a:t>
            </a:r>
            <a:endParaRPr lang="en-US" sz="2800" dirty="0"/>
          </a:p>
        </p:txBody>
      </p:sp>
      <p:sp>
        <p:nvSpPr>
          <p:cNvPr id="7" name="text228"/>
          <p:cNvSpPr txBox="1"/>
          <p:nvPr/>
        </p:nvSpPr>
        <p:spPr>
          <a:xfrm>
            <a:off x="1783080" y="3886200"/>
            <a:ext cx="9784080" cy="868680"/>
          </a:xfrm>
          <a:prstGeom prst="rect">
            <a:avLst/>
          </a:prstGeom>
          <a:noFill/>
          <a:ln/>
        </p:spPr>
        <p:txBody>
          <a:bodyPr wrap="square" lIns="0" tIns="0" rIns="0" bIns="0" rtlCol="0" anchor="ctr"/>
          <a:lstStyle/>
          <a:p>
            <a:pPr indent="0" marL="0">
              <a:buNone/>
            </a:pPr>
            <a:r>
              <a:rPr lang="en-US" sz="2600" dirty="0">
                <a:solidFill>
                  <a:schemeClr val="tx1"/>
                </a:solidFill>
              </a:rPr>
              <a:t>Which of B's results must be re-checked?</a:t>
            </a:r>
            <a:endParaRPr lang="en-US" sz="2600" dirty="0"/>
          </a:p>
        </p:txBody>
      </p:sp>
      <p:sp>
        <p:nvSpPr>
          <p:cNvPr id="8" name="card229"/>
          <p:cNvSpPr txBox="1"/>
          <p:nvPr/>
        </p:nvSpPr>
        <p:spPr>
          <a:xfrm>
            <a:off x="640080" y="4892040"/>
            <a:ext cx="868680" cy="868680"/>
          </a:xfrm>
          <a:prstGeom prst="roundRect">
            <a:avLst>
              <a:gd name="adj" fmla="val 8421"/>
            </a:avLst>
          </a:prstGeom>
          <a:solidFill>
            <a:schemeClr val="accent2"/>
          </a:solidFill>
          <a:ln/>
        </p:spPr>
        <p:txBody>
          <a:bodyPr wrap="square" lIns="127000" tIns="127000" rIns="127000" bIns="127000" rtlCol="0" anchor="ctr"/>
          <a:lstStyle/>
          <a:p>
            <a:pPr algn="ctr" indent="0" marL="0">
              <a:buNone/>
            </a:pPr>
            <a:r>
              <a:rPr lang="en-US" sz="2800" b="1" dirty="0">
                <a:solidFill>
                  <a:schemeClr val="bg1"/>
                </a:solidFill>
              </a:rPr>
              <a:t>3</a:t>
            </a:r>
            <a:endParaRPr lang="en-US" sz="2800" dirty="0"/>
          </a:p>
        </p:txBody>
      </p:sp>
      <p:sp>
        <p:nvSpPr>
          <p:cNvPr id="9" name="text230"/>
          <p:cNvSpPr txBox="1"/>
          <p:nvPr/>
        </p:nvSpPr>
        <p:spPr>
          <a:xfrm>
            <a:off x="1783080" y="4892040"/>
            <a:ext cx="9784080" cy="868680"/>
          </a:xfrm>
          <a:prstGeom prst="rect">
            <a:avLst/>
          </a:prstGeom>
          <a:noFill/>
          <a:ln/>
        </p:spPr>
        <p:txBody>
          <a:bodyPr wrap="square" lIns="0" tIns="0" rIns="0" bIns="0" rtlCol="0" anchor="ctr"/>
          <a:lstStyle/>
          <a:p>
            <a:pPr indent="0" marL="0">
              <a:buNone/>
            </a:pPr>
            <a:r>
              <a:rPr lang="en-US" sz="2600" dirty="0">
                <a:solidFill>
                  <a:schemeClr val="tx1"/>
                </a:solidFill>
              </a:rPr>
              <a:t>Which will actually change?</a:t>
            </a:r>
            <a:endParaRPr lang="en-US" sz="2600" dirty="0"/>
          </a:p>
        </p:txBody>
      </p:sp>
      <p:sp>
        <p:nvSpPr>
          <p:cNvPr id="10" name="text231"/>
          <p:cNvSpPr txBox="1"/>
          <p:nvPr/>
        </p:nvSpPr>
        <p:spPr>
          <a:xfrm>
            <a:off x="640080" y="5943600"/>
            <a:ext cx="10058400" cy="457200"/>
          </a:xfrm>
          <a:prstGeom prst="rect">
            <a:avLst/>
          </a:prstGeom>
          <a:noFill/>
          <a:ln/>
        </p:spPr>
        <p:txBody>
          <a:bodyPr wrap="square" lIns="0" tIns="0" rIns="0" bIns="0" rtlCol="0" anchor="t"/>
          <a:lstStyle/>
          <a:p>
            <a:pPr indent="0" marL="0">
              <a:buNone/>
            </a:pPr>
            <a:r>
              <a:rPr lang="en-US" sz="2200" i="1" dirty="0">
                <a:solidFill>
                  <a:schemeClr val="accent2"/>
                </a:solidFill>
              </a:rPr>
              <a:t>Write down your guesses.</a:t>
            </a:r>
            <a:endParaRPr lang="en-US" sz="2200" dirty="0"/>
          </a:p>
        </p:txBody>
      </p:sp>
      <p:pic>
        <p:nvPicPr>
          <p:cNvPr id="12" name="stripIcon15" descr="preencoded.png">    </p:cNvPr>
          <p:cNvPicPr>
            <a:picLocks noChangeAspect="1"/>
          </p:cNvPicPr>
          <p:nvPr/>
        </p:nvPicPr>
        <p:blipFill>
          <a:blip r:embed="rId1"/>
          <a:stretch>
            <a:fillRect/>
          </a:stretch>
        </p:blipFill>
        <p:spPr>
          <a:xfrm>
            <a:off x="548640" y="969264"/>
            <a:ext cx="182880" cy="182880"/>
          </a:xfrm>
          <a:prstGeom prst="rect">
            <a:avLst/>
          </a:prstGeom>
        </p:spPr>
      </p:pic>
      <p:sp>
        <p:nvSpPr>
          <p:cNvPr id="13" name="strip15"/>
          <p:cNvSpPr txBox="1"/>
          <p:nvPr/>
        </p:nvSpPr>
        <p:spPr>
          <a:xfrm>
            <a:off x="804672" y="914400"/>
            <a:ext cx="10972800" cy="292608"/>
          </a:xfrm>
          <a:prstGeom prst="rect">
            <a:avLst/>
          </a:prstGeom>
          <a:noFill/>
          <a:ln/>
        </p:spPr>
        <p:txBody>
          <a:bodyPr wrap="square" lIns="0" tIns="0" rIns="0" bIns="0" rtlCol="0" anchor="ctr"/>
          <a:lstStyle/>
          <a:p>
            <a:pPr indent="0" marL="0">
              <a:buNone/>
            </a:pPr>
            <a:r>
              <a:rPr lang="en-US" sz="1200" b="1" dirty="0">
                <a:solidFill>
                  <a:schemeClr val="accent1"/>
                </a:solidFill>
              </a:rPr>
              <a:t>In the graph: </a:t>
            </a:r>
            <a:pPr indent="0" marL="0">
              <a:buNone/>
            </a:pPr>
            <a:r>
              <a:rPr lang="en-US" sz="1200" dirty="0">
                <a:solidFill>
                  <a:schemeClr val="accent3"/>
                </a:solidFill>
              </a:rPr>
              <a:t>The motion rule is stored on each cohort definition in graph/core (ex:threshold 0.2 for v1, 0.15 for v2)</a:t>
            </a:r>
            <a:endParaRPr lang="en-US" sz="1200" dirty="0"/>
          </a:p>
        </p:txBody>
      </p:sp>
      <p:sp>
        <p:nvSpPr>
          <p:cNvPr id="14" name="tagDot15"/>
          <p:cNvSpPr/>
          <p:nvPr/>
        </p:nvSpPr>
        <p:spPr>
          <a:xfrm>
            <a:off x="9326880" y="82296"/>
            <a:ext cx="128016" cy="128016"/>
          </a:xfrm>
          <a:prstGeom prst="ellipse">
            <a:avLst/>
          </a:prstGeom>
          <a:solidFill>
            <a:schemeClr val="tx2"/>
          </a:solidFill>
          <a:ln/>
        </p:spPr>
      </p:sp>
      <p:sp>
        <p:nvSpPr>
          <p:cNvPr id="15" name="tag15"/>
          <p:cNvSpPr txBox="1"/>
          <p:nvPr/>
        </p:nvSpPr>
        <p:spPr>
          <a:xfrm>
            <a:off x="9509760" y="18288"/>
            <a:ext cx="2286000" cy="256032"/>
          </a:xfrm>
          <a:prstGeom prst="rect">
            <a:avLst/>
          </a:prstGeom>
          <a:noFill/>
          <a:ln/>
        </p:spPr>
        <p:txBody>
          <a:bodyPr wrap="square" lIns="0" tIns="0" rIns="0" bIns="0" rtlCol="0" anchor="ctr"/>
          <a:lstStyle/>
          <a:p>
            <a:pPr indent="0" marL="0">
              <a:buNone/>
            </a:pPr>
            <a:r>
              <a:rPr lang="en-US" sz="1200" i="1" dirty="0">
                <a:solidFill>
                  <a:schemeClr val="accent3"/>
                </a:solidFill>
              </a:rPr>
              <a:t>Objective 2</a:t>
            </a:r>
            <a:endParaRPr lang="en-US" sz="1200" dirty="0"/>
          </a:p>
        </p:txBody>
      </p:sp>
      <p:sp>
        <p:nvSpPr>
          <p:cNvPr id="16" name="badge15_A"/>
          <p:cNvSpPr txBox="1"/>
          <p:nvPr/>
        </p:nvSpPr>
        <p:spPr>
          <a:xfrm>
            <a:off x="274320"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A</a:t>
            </a:r>
            <a:endParaRPr lang="en-US" sz="1100" dirty="0"/>
          </a:p>
        </p:txBody>
      </p:sp>
      <p:sp>
        <p:nvSpPr>
          <p:cNvPr id="17" name="data15"/>
          <p:cNvSpPr txBox="1"/>
          <p:nvPr/>
        </p:nvSpPr>
        <p:spPr>
          <a:xfrm>
            <a:off x="2176272" y="6473952"/>
            <a:ext cx="8979408" cy="301752"/>
          </a:xfrm>
          <a:prstGeom prst="rect">
            <a:avLst/>
          </a:prstGeom>
          <a:noFill/>
          <a:ln/>
        </p:spPr>
        <p:txBody>
          <a:bodyPr wrap="square" lIns="0" tIns="0" rIns="0" bIns="0" rtlCol="0" anchor="ctr"/>
          <a:lstStyle/>
          <a:p>
            <a:pPr indent="0" marL="0">
              <a:buNone/>
            </a:pPr>
            <a:r>
              <a:rPr lang="en-US" sz="1100" dirty="0">
                <a:solidFill>
                  <a:srgbClr val="5E7A88"/>
                </a:solidFill>
              </a:rPr>
              <a:t>Data: ABIDE I (ABIDE Preprocessed, C-PAC)</a:t>
            </a:r>
            <a:endParaRPr lang="en-US" sz="1100" dirty="0"/>
          </a:p>
        </p:txBody>
      </p:sp>
      <p:sp>
        <p:nvSpPr>
          <p:cNvPr id="18" name="badge15_check"/>
          <p:cNvSpPr txBox="1"/>
          <p:nvPr/>
        </p:nvSpPr>
        <p:spPr>
          <a:xfrm>
            <a:off x="630936" y="6473952"/>
            <a:ext cx="1408176" cy="301752"/>
          </a:xfrm>
          <a:prstGeom prst="rect">
            <a:avLst/>
          </a:prstGeom>
          <a:noFill/>
          <a:ln/>
        </p:spPr>
        <p:txBody>
          <a:bodyPr wrap="square" lIns="0" tIns="0" rIns="0" bIns="0" rtlCol="0" anchor="ctr"/>
          <a:lstStyle/>
          <a:p>
            <a:pPr indent="0" marL="0">
              <a:buNone/>
            </a:pPr>
            <a:r>
              <a:rPr lang="en-US" sz="1100" i="1" dirty="0">
                <a:solidFill>
                  <a:srgbClr val="5E7A88"/>
                </a:solidFill>
              </a:rPr>
              <a:t>re-run · validated</a:t>
            </a:r>
            <a:endParaRPr lang="en-US" sz="11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
            <a:ext cx="11064240" cy="713232"/>
          </a:xfrm>
          <a:prstGeom prst="rect">
            <a:avLst/>
          </a:prstGeom>
          <a:noFill/>
          <a:ln/>
        </p:spPr>
        <p:txBody>
          <a:bodyPr wrap="square" rtlCol="0" anchor="ctr"/>
          <a:lstStyle/>
          <a:p>
            <a:pPr algn="l" indent="0" marL="0">
              <a:buNone/>
            </a:pPr>
            <a:r>
              <a:rPr lang="en-US" sz="3200" b="1" dirty="0">
                <a:solidFill>
                  <a:schemeClr val="tx2"/>
                </a:solidFill>
              </a:rPr>
              <a:t>Dependency tracing after a QC revision</a:t>
            </a:r>
            <a:endParaRPr lang="en-US" sz="3200" dirty="0"/>
          </a:p>
        </p:txBody>
      </p:sp>
      <p:sp>
        <p:nvSpPr>
          <p:cNvPr id="3" name="shape232"/>
          <p:cNvSpPr/>
          <p:nvPr/>
        </p:nvSpPr>
        <p:spPr>
          <a:xfrm>
            <a:off x="-6720840" y="1417320"/>
            <a:ext cx="14447520" cy="4846320"/>
          </a:xfrm>
          <a:prstGeom prst="blockArc">
            <a:avLst>
              <a:gd name="adj1" fmla="val 16200000"/>
              <a:gd name="adj2" fmla="val 5400000"/>
              <a:gd name="adj3" fmla="val 49750"/>
            </a:avLst>
          </a:prstGeom>
          <a:solidFill>
            <a:schemeClr val="accent4"/>
          </a:solidFill>
          <a:ln/>
        </p:spPr>
      </p:sp>
      <p:sp>
        <p:nvSpPr>
          <p:cNvPr id="4" name="shape233"/>
          <p:cNvSpPr/>
          <p:nvPr/>
        </p:nvSpPr>
        <p:spPr>
          <a:xfrm>
            <a:off x="-4892040" y="1828800"/>
            <a:ext cx="10789920" cy="4023360"/>
          </a:xfrm>
          <a:prstGeom prst="blockArc">
            <a:avLst>
              <a:gd name="adj1" fmla="val 16200000"/>
              <a:gd name="adj2" fmla="val 5400000"/>
              <a:gd name="adj3" fmla="val 49750"/>
            </a:avLst>
          </a:prstGeom>
          <a:solidFill>
            <a:schemeClr val="accent6"/>
          </a:solidFill>
          <a:ln/>
        </p:spPr>
      </p:sp>
      <p:sp>
        <p:nvSpPr>
          <p:cNvPr id="5" name="shape234"/>
          <p:cNvSpPr/>
          <p:nvPr/>
        </p:nvSpPr>
        <p:spPr>
          <a:xfrm>
            <a:off x="-3063240" y="2286000"/>
            <a:ext cx="7132320" cy="3108960"/>
          </a:xfrm>
          <a:prstGeom prst="blockArc">
            <a:avLst>
              <a:gd name="adj1" fmla="val 16200000"/>
              <a:gd name="adj2" fmla="val 5400000"/>
              <a:gd name="adj3" fmla="val 49750"/>
            </a:avLst>
          </a:prstGeom>
          <a:solidFill>
            <a:schemeClr val="bg2"/>
          </a:solidFill>
          <a:ln/>
        </p:spPr>
      </p:sp>
      <p:sp>
        <p:nvSpPr>
          <p:cNvPr id="6" name="shape235"/>
          <p:cNvSpPr/>
          <p:nvPr/>
        </p:nvSpPr>
        <p:spPr>
          <a:xfrm>
            <a:off x="-3063240" y="2286000"/>
            <a:ext cx="7132320" cy="3108960"/>
          </a:xfrm>
          <a:prstGeom prst="blockArc">
            <a:avLst>
              <a:gd name="adj1" fmla="val 16200000"/>
              <a:gd name="adj2" fmla="val 5400000"/>
              <a:gd name="adj3" fmla="val 600"/>
            </a:avLst>
          </a:prstGeom>
          <a:solidFill>
            <a:schemeClr val="accent3"/>
          </a:solidFill>
          <a:ln/>
        </p:spPr>
      </p:sp>
      <p:sp>
        <p:nvSpPr>
          <p:cNvPr id="7" name="shape236"/>
          <p:cNvSpPr/>
          <p:nvPr/>
        </p:nvSpPr>
        <p:spPr>
          <a:xfrm>
            <a:off x="-4892040" y="1828800"/>
            <a:ext cx="10789920" cy="4023360"/>
          </a:xfrm>
          <a:prstGeom prst="blockArc">
            <a:avLst>
              <a:gd name="adj1" fmla="val 16200000"/>
              <a:gd name="adj2" fmla="val 5400000"/>
              <a:gd name="adj3" fmla="val 600"/>
            </a:avLst>
          </a:prstGeom>
          <a:solidFill>
            <a:schemeClr val="accent3"/>
          </a:solidFill>
          <a:ln/>
        </p:spPr>
      </p:sp>
      <p:sp>
        <p:nvSpPr>
          <p:cNvPr id="8" name="shape237"/>
          <p:cNvSpPr/>
          <p:nvPr/>
        </p:nvSpPr>
        <p:spPr>
          <a:xfrm>
            <a:off x="-6720840" y="1417320"/>
            <a:ext cx="14447520" cy="4846320"/>
          </a:xfrm>
          <a:prstGeom prst="blockArc">
            <a:avLst>
              <a:gd name="adj1" fmla="val 16200000"/>
              <a:gd name="adj2" fmla="val 5400000"/>
              <a:gd name="adj3" fmla="val 600"/>
            </a:avLst>
          </a:prstGeom>
          <a:solidFill>
            <a:schemeClr val="accent3"/>
          </a:solidFill>
          <a:ln/>
        </p:spPr>
      </p:sp>
      <p:sp>
        <p:nvSpPr>
          <p:cNvPr id="9" name="shape238"/>
          <p:cNvSpPr/>
          <p:nvPr/>
        </p:nvSpPr>
        <p:spPr>
          <a:xfrm>
            <a:off x="-1234440" y="2697480"/>
            <a:ext cx="3474720" cy="2286000"/>
          </a:xfrm>
          <a:prstGeom prst="pie">
            <a:avLst>
              <a:gd name="adj1" fmla="val 16200000"/>
              <a:gd name="adj2" fmla="val 5400000"/>
            </a:avLst>
          </a:prstGeom>
          <a:solidFill>
            <a:schemeClr val="tx2"/>
          </a:solidFill>
          <a:ln/>
        </p:spPr>
      </p:sp>
      <p:sp>
        <p:nvSpPr>
          <p:cNvPr id="10" name="text239"/>
          <p:cNvSpPr txBox="1"/>
          <p:nvPr/>
        </p:nvSpPr>
        <p:spPr>
          <a:xfrm>
            <a:off x="594360" y="3383280"/>
            <a:ext cx="1371600" cy="914400"/>
          </a:xfrm>
          <a:prstGeom prst="rect">
            <a:avLst/>
          </a:prstGeom>
          <a:noFill/>
          <a:ln/>
        </p:spPr>
        <p:txBody>
          <a:bodyPr wrap="square" lIns="0" tIns="0" rIns="0" bIns="0" rtlCol="0" anchor="ctr"/>
          <a:lstStyle/>
          <a:p>
            <a:pPr indent="0" marL="0">
              <a:buNone/>
            </a:pPr>
            <a:r>
              <a:rPr lang="en-US" sz="2000" b="1" dirty="0">
                <a:solidFill>
                  <a:schemeClr val="bg1"/>
                </a:solidFill>
              </a:rPr>
              <a:t>stricter</a:t>
            </a:r>
            <a:endParaRPr lang="en-US" sz="2000" dirty="0"/>
          </a:p>
          <a:p>
            <a:pPr indent="0" marL="0">
              <a:buNone/>
            </a:pPr>
            <a:r>
              <a:rPr lang="en-US" sz="2000" b="1" dirty="0">
                <a:solidFill>
                  <a:schemeClr val="bg1"/>
                </a:solidFill>
              </a:rPr>
              <a:t>QC rule</a:t>
            </a:r>
            <a:endParaRPr lang="en-US" sz="2000" dirty="0"/>
          </a:p>
        </p:txBody>
      </p:sp>
      <p:sp>
        <p:nvSpPr>
          <p:cNvPr id="11" name="text240"/>
          <p:cNvSpPr txBox="1"/>
          <p:nvPr/>
        </p:nvSpPr>
        <p:spPr>
          <a:xfrm>
            <a:off x="2286000" y="3108960"/>
            <a:ext cx="1691640" cy="1463040"/>
          </a:xfrm>
          <a:prstGeom prst="rect">
            <a:avLst/>
          </a:prstGeom>
          <a:noFill/>
          <a:ln/>
        </p:spPr>
        <p:txBody>
          <a:bodyPr wrap="square" lIns="0" tIns="0" rIns="0" bIns="0" rtlCol="0" anchor="ctr"/>
          <a:lstStyle/>
          <a:p>
            <a:pPr algn="ctr" indent="0" marL="0">
              <a:buNone/>
            </a:pPr>
            <a:r>
              <a:rPr lang="en-US" sz="4000" b="1" dirty="0">
                <a:solidFill>
                  <a:schemeClr val="accent1"/>
                </a:solidFill>
              </a:rPr>
              <a:t>63</a:t>
            </a:r>
            <a:endParaRPr lang="en-US" sz="1800" dirty="0"/>
          </a:p>
          <a:p>
            <a:pPr algn="ctr" indent="0" marL="0">
              <a:buNone/>
            </a:pPr>
            <a:r>
              <a:rPr lang="en-US" sz="1800" dirty="0">
                <a:solidFill>
                  <a:schemeClr val="tx1"/>
                </a:solidFill>
              </a:rPr>
              <a:t>of B's 767 participants excluded</a:t>
            </a:r>
            <a:endParaRPr lang="en-US" sz="1800" dirty="0"/>
          </a:p>
        </p:txBody>
      </p:sp>
      <p:sp>
        <p:nvSpPr>
          <p:cNvPr id="12" name="text241"/>
          <p:cNvSpPr txBox="1"/>
          <p:nvPr/>
        </p:nvSpPr>
        <p:spPr>
          <a:xfrm>
            <a:off x="4114800" y="3108960"/>
            <a:ext cx="1691640" cy="1463040"/>
          </a:xfrm>
          <a:prstGeom prst="rect">
            <a:avLst/>
          </a:prstGeom>
          <a:noFill/>
          <a:ln/>
        </p:spPr>
        <p:txBody>
          <a:bodyPr wrap="square" lIns="0" tIns="0" rIns="0" bIns="0" rtlCol="0" anchor="ctr"/>
          <a:lstStyle/>
          <a:p>
            <a:pPr algn="ctr" indent="0" marL="0">
              <a:buNone/>
            </a:pPr>
            <a:r>
              <a:rPr lang="en-US" sz="4000" b="1" dirty="0">
                <a:solidFill>
                  <a:schemeClr val="accent1"/>
                </a:solidFill>
              </a:rPr>
              <a:t>17 / 20</a:t>
            </a:r>
            <a:endParaRPr lang="en-US" sz="1800" dirty="0"/>
          </a:p>
          <a:p>
            <a:pPr algn="ctr" indent="0" marL="0">
              <a:buNone/>
            </a:pPr>
            <a:r>
              <a:rPr lang="en-US" sz="1800" dirty="0">
                <a:solidFill>
                  <a:schemeClr val="tx1"/>
                </a:solidFill>
              </a:rPr>
              <a:t>cross-validation folds lose test participants</a:t>
            </a:r>
            <a:endParaRPr lang="en-US" sz="1800" dirty="0"/>
          </a:p>
        </p:txBody>
      </p:sp>
      <p:sp>
        <p:nvSpPr>
          <p:cNvPr id="13" name="text242"/>
          <p:cNvSpPr txBox="1"/>
          <p:nvPr/>
        </p:nvSpPr>
        <p:spPr>
          <a:xfrm>
            <a:off x="5943600" y="3108960"/>
            <a:ext cx="1691640" cy="1463040"/>
          </a:xfrm>
          <a:prstGeom prst="rect">
            <a:avLst/>
          </a:prstGeom>
          <a:noFill/>
          <a:ln/>
        </p:spPr>
        <p:txBody>
          <a:bodyPr wrap="square" lIns="0" tIns="0" rIns="0" bIns="0" rtlCol="0" anchor="ctr"/>
          <a:lstStyle/>
          <a:p>
            <a:pPr algn="ctr" indent="0" marL="0">
              <a:buNone/>
            </a:pPr>
            <a:r>
              <a:rPr lang="en-US" sz="4000" b="1" dirty="0">
                <a:solidFill>
                  <a:schemeClr val="accent1"/>
                </a:solidFill>
              </a:rPr>
              <a:t>91</a:t>
            </a:r>
            <a:endParaRPr lang="en-US" sz="1800" dirty="0"/>
          </a:p>
          <a:p>
            <a:pPr algn="ctr" indent="0" marL="0">
              <a:buNone/>
            </a:pPr>
            <a:r>
              <a:rPr lang="en-US" sz="1800" dirty="0">
                <a:solidFill>
                  <a:schemeClr val="tx1"/>
                </a:solidFill>
              </a:rPr>
              <a:t>results, claims and reviews flagged</a:t>
            </a:r>
            <a:endParaRPr lang="en-US" sz="1800" dirty="0"/>
          </a:p>
        </p:txBody>
      </p:sp>
      <p:sp>
        <p:nvSpPr>
          <p:cNvPr id="14" name="shape243"/>
          <p:cNvSpPr txBox="1"/>
          <p:nvPr/>
        </p:nvSpPr>
        <p:spPr>
          <a:xfrm>
            <a:off x="8732520" y="2148840"/>
            <a:ext cx="2926080" cy="2926080"/>
          </a:xfrm>
          <a:prstGeom prst="ellipse">
            <a:avLst/>
          </a:prstGeom>
          <a:solidFill>
            <a:schemeClr val="accent5"/>
          </a:solidFill>
          <a:ln w="25400">
            <a:solidFill>
              <a:schemeClr val="accent2"/>
            </a:solidFill>
            <a:prstDash val="solid"/>
          </a:ln>
        </p:spPr>
        <p:txBody>
          <a:bodyPr wrap="square" lIns="127000" tIns="127000" rIns="127000" bIns="127000" rtlCol="0" anchor="ctr"/>
          <a:lstStyle/>
          <a:p>
            <a:pPr algn="ctr" indent="0" marL="0">
              <a:buNone/>
            </a:pPr>
            <a:r>
              <a:rPr lang="en-US" sz="4800" b="1" dirty="0">
                <a:solidFill>
                  <a:schemeClr val="accent2"/>
                </a:solidFill>
              </a:rPr>
              <a:t>0 / 9</a:t>
            </a:r>
            <a:endParaRPr lang="en-US" sz="1800" dirty="0"/>
          </a:p>
          <a:p>
            <a:pPr algn="ctr" indent="0" marL="0">
              <a:buNone/>
            </a:pPr>
            <a:r>
              <a:rPr lang="en-US" sz="1800" dirty="0">
                <a:solidFill>
                  <a:schemeClr val="tx1"/>
                </a:solidFill>
              </a:rPr>
              <a:t>result families changed materially</a:t>
            </a:r>
            <a:endParaRPr lang="en-US" sz="1800" dirty="0"/>
          </a:p>
        </p:txBody>
      </p:sp>
      <p:sp>
        <p:nvSpPr>
          <p:cNvPr id="15" name="curve244"/>
          <p:cNvSpPr/>
          <p:nvPr/>
        </p:nvSpPr>
        <p:spPr>
          <a:xfrm>
            <a:off x="7772400" y="3611880"/>
            <a:ext cx="960120" cy="320040"/>
          </a:xfrm>
          <a:custGeom>
            <a:avLst/>
            <a:gdLst/>
            <a:ahLst/>
            <a:cxnLst/>
            <a:rect l="l" t="t" r="r" b="b"/>
            <a:pathLst>
              <a:path w="960120" h="320040">
                <a:moveTo>
                  <a:pt x="0" y="320040"/>
                </a:moveTo>
                <a:cubicBezTo>
                  <a:pt x="480060" y="320040"/>
                  <a:pt x="480060" y="0"/>
                  <a:pt x="960120" y="0"/>
                </a:cubicBezTo>
              </a:path>
            </a:pathLst>
          </a:custGeom>
          <a:ln w="31750">
            <a:solidFill>
              <a:schemeClr val="accent2"/>
            </a:solidFill>
            <a:prstDash val="solid"/>
            <a:tailEnd type="triangle"/>
          </a:ln>
        </p:spPr>
      </p:sp>
      <p:sp>
        <p:nvSpPr>
          <p:cNvPr id="16" name="text245"/>
          <p:cNvSpPr txBox="1"/>
          <p:nvPr/>
        </p:nvSpPr>
        <p:spPr>
          <a:xfrm>
            <a:off x="8732520" y="5212080"/>
            <a:ext cx="2926080" cy="411480"/>
          </a:xfrm>
          <a:prstGeom prst="rect">
            <a:avLst/>
          </a:prstGeom>
          <a:noFill/>
          <a:ln/>
        </p:spPr>
        <p:txBody>
          <a:bodyPr wrap="square" lIns="0" tIns="0" rIns="0" bIns="0" rtlCol="0" anchor="t"/>
          <a:lstStyle/>
          <a:p>
            <a:pPr algn="ctr" indent="0" marL="0">
              <a:buNone/>
            </a:pPr>
            <a:r>
              <a:rPr lang="en-US" sz="1600" i="1" dirty="0">
                <a:solidFill>
                  <a:schemeClr val="accent2"/>
                </a:solidFill>
              </a:rPr>
              <a:t>after targeted rerun</a:t>
            </a:r>
            <a:endParaRPr lang="en-US" sz="1600" dirty="0"/>
          </a:p>
        </p:txBody>
      </p:sp>
      <p:pic>
        <p:nvPicPr>
          <p:cNvPr id="18" name="stripIcon16" descr="preencoded.png">    </p:cNvPr>
          <p:cNvPicPr>
            <a:picLocks noChangeAspect="1"/>
          </p:cNvPicPr>
          <p:nvPr/>
        </p:nvPicPr>
        <p:blipFill>
          <a:blip r:embed="rId1"/>
          <a:stretch>
            <a:fillRect/>
          </a:stretch>
        </p:blipFill>
        <p:spPr>
          <a:xfrm>
            <a:off x="548640" y="969264"/>
            <a:ext cx="182880" cy="182880"/>
          </a:xfrm>
          <a:prstGeom prst="rect">
            <a:avLst/>
          </a:prstGeom>
        </p:spPr>
      </p:pic>
      <p:sp>
        <p:nvSpPr>
          <p:cNvPr id="19" name="strip16"/>
          <p:cNvSpPr txBox="1"/>
          <p:nvPr/>
        </p:nvSpPr>
        <p:spPr>
          <a:xfrm>
            <a:off x="804672" y="914400"/>
            <a:ext cx="10972800" cy="292608"/>
          </a:xfrm>
          <a:prstGeom prst="rect">
            <a:avLst/>
          </a:prstGeom>
          <a:noFill/>
          <a:ln/>
        </p:spPr>
        <p:txBody>
          <a:bodyPr wrap="square" lIns="0" tIns="0" rIns="0" bIns="0" rtlCol="0" anchor="ctr"/>
          <a:lstStyle/>
          <a:p>
            <a:pPr indent="0" marL="0">
              <a:buNone/>
            </a:pPr>
            <a:r>
              <a:rPr lang="en-US" sz="1200" b="1" dirty="0">
                <a:solidFill>
                  <a:schemeClr val="accent1"/>
                </a:solidFill>
              </a:rPr>
              <a:t>In the graph: </a:t>
            </a:r>
            <a:pPr indent="0" marL="0">
              <a:buNone/>
            </a:pPr>
            <a:r>
              <a:rPr lang="en-US" sz="1200" dirty="0">
                <a:solidFill>
                  <a:schemeClr val="accent3"/>
                </a:solidFill>
              </a:rPr>
              <a:t>4 SPARQL queries (queries/revision_*.rq) over graph/core_v1 before recomputation (code/revision.py); after rerun: results/revision_impact.json</a:t>
            </a:r>
            <a:endParaRPr lang="en-US" sz="1200" dirty="0"/>
          </a:p>
        </p:txBody>
      </p:sp>
      <p:sp>
        <p:nvSpPr>
          <p:cNvPr id="20" name="tagDot16"/>
          <p:cNvSpPr/>
          <p:nvPr/>
        </p:nvSpPr>
        <p:spPr>
          <a:xfrm>
            <a:off x="9326880" y="82296"/>
            <a:ext cx="128016" cy="128016"/>
          </a:xfrm>
          <a:prstGeom prst="ellipse">
            <a:avLst/>
          </a:prstGeom>
          <a:solidFill>
            <a:schemeClr val="tx2"/>
          </a:solidFill>
          <a:ln/>
        </p:spPr>
      </p:sp>
      <p:sp>
        <p:nvSpPr>
          <p:cNvPr id="21" name="tag16"/>
          <p:cNvSpPr txBox="1"/>
          <p:nvPr/>
        </p:nvSpPr>
        <p:spPr>
          <a:xfrm>
            <a:off x="9509760" y="18288"/>
            <a:ext cx="2286000" cy="256032"/>
          </a:xfrm>
          <a:prstGeom prst="rect">
            <a:avLst/>
          </a:prstGeom>
          <a:noFill/>
          <a:ln/>
        </p:spPr>
        <p:txBody>
          <a:bodyPr wrap="square" lIns="0" tIns="0" rIns="0" bIns="0" rtlCol="0" anchor="ctr"/>
          <a:lstStyle/>
          <a:p>
            <a:pPr indent="0" marL="0">
              <a:buNone/>
            </a:pPr>
            <a:r>
              <a:rPr lang="en-US" sz="1200" i="1" dirty="0">
                <a:solidFill>
                  <a:schemeClr val="accent3"/>
                </a:solidFill>
              </a:rPr>
              <a:t>Objective 2</a:t>
            </a:r>
            <a:endParaRPr lang="en-US" sz="1200" dirty="0"/>
          </a:p>
        </p:txBody>
      </p:sp>
      <p:sp>
        <p:nvSpPr>
          <p:cNvPr id="22" name="badge16_A"/>
          <p:cNvSpPr txBox="1"/>
          <p:nvPr/>
        </p:nvSpPr>
        <p:spPr>
          <a:xfrm>
            <a:off x="274320"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A</a:t>
            </a:r>
            <a:endParaRPr lang="en-US" sz="1100" dirty="0"/>
          </a:p>
        </p:txBody>
      </p:sp>
      <p:sp>
        <p:nvSpPr>
          <p:cNvPr id="23" name="data16"/>
          <p:cNvSpPr txBox="1"/>
          <p:nvPr/>
        </p:nvSpPr>
        <p:spPr>
          <a:xfrm>
            <a:off x="2176272" y="6473952"/>
            <a:ext cx="8979408" cy="301752"/>
          </a:xfrm>
          <a:prstGeom prst="rect">
            <a:avLst/>
          </a:prstGeom>
          <a:noFill/>
          <a:ln/>
        </p:spPr>
        <p:txBody>
          <a:bodyPr wrap="square" lIns="0" tIns="0" rIns="0" bIns="0" rtlCol="0" anchor="ctr"/>
          <a:lstStyle/>
          <a:p>
            <a:pPr indent="0" marL="0">
              <a:buNone/>
            </a:pPr>
            <a:r>
              <a:rPr lang="en-US" sz="1100" dirty="0">
                <a:solidFill>
                  <a:srgbClr val="5E7A88"/>
                </a:solidFill>
              </a:rPr>
              <a:t>Data: ABIDE I (ABIDE Preprocessed, C-PAC)</a:t>
            </a:r>
            <a:endParaRPr lang="en-US" sz="1100" dirty="0"/>
          </a:p>
        </p:txBody>
      </p:sp>
      <p:sp>
        <p:nvSpPr>
          <p:cNvPr id="24" name="badge16_check"/>
          <p:cNvSpPr txBox="1"/>
          <p:nvPr/>
        </p:nvSpPr>
        <p:spPr>
          <a:xfrm>
            <a:off x="630936" y="6473952"/>
            <a:ext cx="1408176" cy="301752"/>
          </a:xfrm>
          <a:prstGeom prst="rect">
            <a:avLst/>
          </a:prstGeom>
          <a:noFill/>
          <a:ln/>
        </p:spPr>
        <p:txBody>
          <a:bodyPr wrap="square" lIns="0" tIns="0" rIns="0" bIns="0" rtlCol="0" anchor="ctr"/>
          <a:lstStyle/>
          <a:p>
            <a:pPr indent="0" marL="0">
              <a:buNone/>
            </a:pPr>
            <a:r>
              <a:rPr lang="en-US" sz="1100" i="1" dirty="0">
                <a:solidFill>
                  <a:srgbClr val="5E7A88"/>
                </a:solidFill>
              </a:rPr>
              <a:t>re-run · validated</a:t>
            </a:r>
            <a:endParaRPr lang="en-US" sz="11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
            <a:ext cx="11064240" cy="713232"/>
          </a:xfrm>
          <a:prstGeom prst="rect">
            <a:avLst/>
          </a:prstGeom>
          <a:noFill/>
          <a:ln/>
        </p:spPr>
        <p:txBody>
          <a:bodyPr wrap="square" rtlCol="0" anchor="ctr"/>
          <a:lstStyle/>
          <a:p>
            <a:pPr algn="l" indent="0" marL="0">
              <a:buNone/>
            </a:pPr>
            <a:r>
              <a:rPr lang="en-US" sz="3200" b="1" dirty="0">
                <a:solidFill>
                  <a:schemeClr val="tx2"/>
                </a:solidFill>
              </a:rPr>
              <a:t>Linking datasets, publications and abstracts</a:t>
            </a:r>
            <a:endParaRPr lang="en-US" sz="3200" dirty="0"/>
          </a:p>
        </p:txBody>
      </p:sp>
      <p:sp>
        <p:nvSpPr>
          <p:cNvPr id="3" name="shape246"/>
          <p:cNvSpPr txBox="1"/>
          <p:nvPr/>
        </p:nvSpPr>
        <p:spPr>
          <a:xfrm>
            <a:off x="457200" y="2651760"/>
            <a:ext cx="2103120" cy="2103120"/>
          </a:xfrm>
          <a:prstGeom prst="ellipse">
            <a:avLst/>
          </a:prstGeom>
          <a:solidFill>
            <a:schemeClr val="tx2"/>
          </a:solidFill>
          <a:ln/>
        </p:spPr>
        <p:txBody>
          <a:bodyPr wrap="square" lIns="50800" tIns="50800" rIns="50800" bIns="50800" rtlCol="0" anchor="ctr"/>
          <a:lstStyle/>
          <a:p>
            <a:pPr algn="ctr" indent="0" marL="0">
              <a:buNone/>
            </a:pPr>
            <a:r>
              <a:rPr lang="en-US" sz="2400" b="1" dirty="0">
                <a:solidFill>
                  <a:schemeClr val="bg1"/>
                </a:solidFill>
              </a:rPr>
              <a:t>ABIDE I</a:t>
            </a:r>
            <a:endParaRPr lang="en-US" sz="1800" dirty="0"/>
          </a:p>
          <a:p>
            <a:pPr algn="ctr" indent="0" marL="0">
              <a:buNone/>
            </a:pPr>
            <a:r>
              <a:rPr lang="en-US" sz="1600" dirty="0">
                <a:solidFill>
                  <a:schemeClr val="bg1"/>
                </a:solidFill>
              </a:rPr>
              <a:t>dataset</a:t>
            </a:r>
            <a:endParaRPr lang="en-US" sz="1800" dirty="0"/>
          </a:p>
        </p:txBody>
      </p:sp>
      <p:sp>
        <p:nvSpPr>
          <p:cNvPr id="4" name="shape247"/>
          <p:cNvSpPr txBox="1"/>
          <p:nvPr/>
        </p:nvSpPr>
        <p:spPr>
          <a:xfrm>
            <a:off x="3566160" y="1325880"/>
            <a:ext cx="2103120" cy="2103120"/>
          </a:xfrm>
          <a:prstGeom prst="ellipse">
            <a:avLst/>
          </a:prstGeom>
          <a:solidFill>
            <a:schemeClr val="accent4"/>
          </a:solidFill>
          <a:ln/>
        </p:spPr>
        <p:txBody>
          <a:bodyPr wrap="square" lIns="50800" tIns="50800" rIns="50800" bIns="50800" rtlCol="0" anchor="ctr"/>
          <a:lstStyle/>
          <a:p>
            <a:pPr algn="ctr" indent="0" marL="0">
              <a:buNone/>
            </a:pPr>
            <a:r>
              <a:rPr lang="en-US" sz="3000" b="1" dirty="0">
                <a:solidFill>
                  <a:schemeClr val="tx2"/>
                </a:solidFill>
              </a:rPr>
              <a:t>598</a:t>
            </a:r>
            <a:endParaRPr lang="en-US" sz="1800" dirty="0"/>
          </a:p>
          <a:p>
            <a:pPr algn="ctr" indent="0" marL="0">
              <a:buNone/>
            </a:pPr>
            <a:r>
              <a:rPr lang="en-US" sz="1600" dirty="0">
                <a:solidFill>
                  <a:schemeClr val="tx2"/>
                </a:solidFill>
              </a:rPr>
              <a:t>publications</a:t>
            </a:r>
            <a:endParaRPr lang="en-US" sz="1800" dirty="0"/>
          </a:p>
          <a:p>
            <a:pPr algn="ctr" indent="0" marL="0">
              <a:buNone/>
            </a:pPr>
            <a:r>
              <a:rPr lang="en-US" sz="1400" dirty="0">
                <a:solidFill>
                  <a:schemeClr val="accent3"/>
                </a:solidFill>
              </a:rPr>
              <a:t>OpenAlex</a:t>
            </a:r>
            <a:endParaRPr lang="en-US" sz="1800" dirty="0"/>
          </a:p>
        </p:txBody>
      </p:sp>
      <p:sp>
        <p:nvSpPr>
          <p:cNvPr id="5" name="shape248"/>
          <p:cNvSpPr txBox="1"/>
          <p:nvPr/>
        </p:nvSpPr>
        <p:spPr>
          <a:xfrm>
            <a:off x="3566160" y="3886200"/>
            <a:ext cx="2103120" cy="2103120"/>
          </a:xfrm>
          <a:prstGeom prst="ellipse">
            <a:avLst/>
          </a:prstGeom>
          <a:solidFill>
            <a:schemeClr val="accent6"/>
          </a:solidFill>
          <a:ln/>
        </p:spPr>
        <p:txBody>
          <a:bodyPr wrap="square" lIns="50800" tIns="50800" rIns="50800" bIns="50800" rtlCol="0" anchor="ctr"/>
          <a:lstStyle/>
          <a:p>
            <a:pPr algn="ctr" indent="0" marL="0">
              <a:buNone/>
            </a:pPr>
            <a:r>
              <a:rPr lang="en-US" sz="3000" b="1" dirty="0">
                <a:solidFill>
                  <a:schemeClr val="tx2"/>
                </a:solidFill>
              </a:rPr>
              <a:t>35</a:t>
            </a:r>
            <a:endParaRPr lang="en-US" sz="1800" dirty="0"/>
          </a:p>
          <a:p>
            <a:pPr algn="ctr" indent="0" marL="0">
              <a:buNone/>
            </a:pPr>
            <a:r>
              <a:rPr lang="en-US" sz="1600" dirty="0">
                <a:solidFill>
                  <a:schemeClr val="tx2"/>
                </a:solidFill>
              </a:rPr>
              <a:t>abstracts</a:t>
            </a:r>
            <a:endParaRPr lang="en-US" sz="1800" dirty="0"/>
          </a:p>
          <a:p>
            <a:pPr algn="ctr" indent="0" marL="0">
              <a:buNone/>
            </a:pPr>
            <a:r>
              <a:rPr lang="en-US" sz="1400" dirty="0">
                <a:solidFill>
                  <a:schemeClr val="accent3"/>
                </a:solidFill>
              </a:rPr>
              <a:t>AbstractAtlas</a:t>
            </a:r>
            <a:endParaRPr lang="en-US" sz="1800" dirty="0"/>
          </a:p>
        </p:txBody>
      </p:sp>
      <p:sp>
        <p:nvSpPr>
          <p:cNvPr id="6" name="shape249"/>
          <p:cNvSpPr txBox="1"/>
          <p:nvPr/>
        </p:nvSpPr>
        <p:spPr>
          <a:xfrm>
            <a:off x="6537960" y="1280160"/>
            <a:ext cx="2240280" cy="2240280"/>
          </a:xfrm>
          <a:prstGeom prst="ellipse">
            <a:avLst/>
          </a:prstGeom>
          <a:solidFill>
            <a:schemeClr val="accent5"/>
          </a:solidFill>
          <a:ln/>
        </p:spPr>
        <p:txBody>
          <a:bodyPr wrap="square" lIns="50800" tIns="50800" rIns="50800" bIns="50800" rtlCol="0" anchor="ctr"/>
          <a:lstStyle/>
          <a:p>
            <a:pPr algn="ctr" indent="0" marL="0">
              <a:buNone/>
            </a:pPr>
            <a:r>
              <a:rPr lang="en-US" sz="3000" b="1" dirty="0">
                <a:solidFill>
                  <a:schemeClr val="tx2"/>
                </a:solidFill>
              </a:rPr>
              <a:t>74</a:t>
            </a:r>
            <a:endParaRPr lang="en-US" sz="1800" dirty="0"/>
          </a:p>
          <a:p>
            <a:pPr algn="ctr" indent="0" marL="0">
              <a:buNone/>
            </a:pPr>
            <a:r>
              <a:rPr lang="en-US" sz="1600" dirty="0">
                <a:solidFill>
                  <a:schemeClr val="tx2"/>
                </a:solidFill>
              </a:rPr>
              <a:t>studies reviewed</a:t>
            </a:r>
            <a:endParaRPr lang="en-US" sz="1800" dirty="0"/>
          </a:p>
          <a:p>
            <a:pPr algn="ctr" indent="0" marL="0">
              <a:buNone/>
            </a:pPr>
            <a:r>
              <a:rPr lang="en-US" sz="1400" dirty="0">
                <a:solidFill>
                  <a:schemeClr val="accent3"/>
                </a:solidFill>
              </a:rPr>
              <a:t>SynthScholar</a:t>
            </a:r>
            <a:endParaRPr lang="en-US" sz="1800" dirty="0"/>
          </a:p>
        </p:txBody>
      </p:sp>
      <p:sp>
        <p:nvSpPr>
          <p:cNvPr id="7" name="shape250"/>
          <p:cNvSpPr txBox="1"/>
          <p:nvPr/>
        </p:nvSpPr>
        <p:spPr>
          <a:xfrm>
            <a:off x="6537960" y="3840480"/>
            <a:ext cx="2240280" cy="2240280"/>
          </a:xfrm>
          <a:prstGeom prst="ellipse">
            <a:avLst/>
          </a:prstGeom>
          <a:solidFill>
            <a:schemeClr val="accent5"/>
          </a:solidFill>
          <a:ln/>
        </p:spPr>
        <p:txBody>
          <a:bodyPr wrap="square" lIns="50800" tIns="50800" rIns="50800" bIns="50800" rtlCol="0" anchor="ctr"/>
          <a:lstStyle/>
          <a:p>
            <a:pPr algn="ctr" indent="0" marL="0">
              <a:buNone/>
            </a:pPr>
            <a:r>
              <a:rPr lang="en-US" sz="3000" b="1" dirty="0">
                <a:solidFill>
                  <a:schemeClr val="tx2"/>
                </a:solidFill>
              </a:rPr>
              <a:t>541</a:t>
            </a:r>
            <a:endParaRPr lang="en-US" sz="1800" dirty="0"/>
          </a:p>
          <a:p>
            <a:pPr algn="ctr" indent="0" marL="0">
              <a:buNone/>
            </a:pPr>
            <a:r>
              <a:rPr lang="en-US" sz="1600" dirty="0">
                <a:solidFill>
                  <a:schemeClr val="tx2"/>
                </a:solidFill>
              </a:rPr>
              <a:t>extracted claims</a:t>
            </a:r>
            <a:endParaRPr lang="en-US" sz="1800" dirty="0"/>
          </a:p>
          <a:p>
            <a:pPr algn="ctr" indent="0" marL="0">
              <a:buNone/>
            </a:pPr>
            <a:r>
              <a:rPr lang="en-US" sz="1400" dirty="0">
                <a:solidFill>
                  <a:schemeClr val="accent3"/>
                </a:solidFill>
              </a:rPr>
              <a:t>evidence types (ECO)</a:t>
            </a:r>
            <a:endParaRPr lang="en-US" sz="1800" dirty="0"/>
          </a:p>
        </p:txBody>
      </p:sp>
      <p:sp>
        <p:nvSpPr>
          <p:cNvPr id="8" name="shape251"/>
          <p:cNvSpPr txBox="1"/>
          <p:nvPr/>
        </p:nvSpPr>
        <p:spPr>
          <a:xfrm>
            <a:off x="9601200" y="2697480"/>
            <a:ext cx="2240280" cy="2240280"/>
          </a:xfrm>
          <a:prstGeom prst="ellipse">
            <a:avLst/>
          </a:prstGeom>
          <a:solidFill>
            <a:schemeClr val="accent1"/>
          </a:solidFill>
          <a:ln/>
        </p:spPr>
        <p:txBody>
          <a:bodyPr wrap="square" lIns="50800" tIns="50800" rIns="50800" bIns="50800" rtlCol="0" anchor="ctr"/>
          <a:lstStyle/>
          <a:p>
            <a:pPr algn="ctr" indent="0" marL="0">
              <a:buNone/>
            </a:pPr>
            <a:r>
              <a:rPr lang="en-US" sz="2800" b="1" dirty="0">
                <a:solidFill>
                  <a:schemeClr val="bg1"/>
                </a:solidFill>
              </a:rPr>
              <a:t>17 / 74</a:t>
            </a:r>
            <a:endParaRPr lang="en-US" sz="1800" dirty="0"/>
          </a:p>
          <a:p>
            <a:pPr algn="ctr" indent="0" marL="0">
              <a:buNone/>
            </a:pPr>
            <a:r>
              <a:rPr lang="en-US" sz="1600" dirty="0">
                <a:solidFill>
                  <a:schemeClr val="bg1"/>
                </a:solidFill>
              </a:rPr>
              <a:t>cohorts</a:t>
            </a:r>
            <a:endParaRPr lang="en-US" sz="1800" dirty="0"/>
          </a:p>
          <a:p>
            <a:pPr algn="ctr" indent="0" marL="0">
              <a:buNone/>
            </a:pPr>
            <a:r>
              <a:rPr lang="en-US" sz="1600" dirty="0">
                <a:solidFill>
                  <a:schemeClr val="bg1"/>
                </a:solidFill>
              </a:rPr>
              <a:t>reconstructible</a:t>
            </a:r>
            <a:endParaRPr lang="en-US" sz="1800" dirty="0"/>
          </a:p>
        </p:txBody>
      </p:sp>
      <p:sp>
        <p:nvSpPr>
          <p:cNvPr id="9" name="curve252"/>
          <p:cNvSpPr/>
          <p:nvPr/>
        </p:nvSpPr>
        <p:spPr>
          <a:xfrm>
            <a:off x="2514600" y="2423160"/>
            <a:ext cx="1051560" cy="868680"/>
          </a:xfrm>
          <a:custGeom>
            <a:avLst/>
            <a:gdLst/>
            <a:ahLst/>
            <a:cxnLst/>
            <a:rect l="l" t="t" r="r" b="b"/>
            <a:pathLst>
              <a:path w="1051560" h="868680">
                <a:moveTo>
                  <a:pt x="0" y="868680"/>
                </a:moveTo>
                <a:cubicBezTo>
                  <a:pt x="525780" y="868680"/>
                  <a:pt x="525780" y="0"/>
                  <a:pt x="1051560" y="0"/>
                </a:cubicBezTo>
              </a:path>
            </a:pathLst>
          </a:custGeom>
          <a:ln w="31750">
            <a:solidFill>
              <a:schemeClr val="accent3"/>
            </a:solidFill>
            <a:prstDash val="sysDot"/>
            <a:tailEnd type="triangle"/>
          </a:ln>
        </p:spPr>
      </p:sp>
      <p:sp>
        <p:nvSpPr>
          <p:cNvPr id="10" name="curve253"/>
          <p:cNvSpPr/>
          <p:nvPr/>
        </p:nvSpPr>
        <p:spPr>
          <a:xfrm>
            <a:off x="2514600" y="4114800"/>
            <a:ext cx="1097280" cy="822960"/>
          </a:xfrm>
          <a:custGeom>
            <a:avLst/>
            <a:gdLst/>
            <a:ahLst/>
            <a:cxnLst/>
            <a:rect l="l" t="t" r="r" b="b"/>
            <a:pathLst>
              <a:path w="1097280" h="822960">
                <a:moveTo>
                  <a:pt x="0" y="0"/>
                </a:moveTo>
                <a:cubicBezTo>
                  <a:pt x="548640" y="0"/>
                  <a:pt x="548640" y="822960"/>
                  <a:pt x="1097280" y="822960"/>
                </a:cubicBezTo>
              </a:path>
            </a:pathLst>
          </a:custGeom>
          <a:ln w="31750">
            <a:solidFill>
              <a:schemeClr val="accent3"/>
            </a:solidFill>
            <a:prstDash val="solid"/>
            <a:tailEnd type="triangle"/>
          </a:ln>
        </p:spPr>
      </p:sp>
      <p:sp>
        <p:nvSpPr>
          <p:cNvPr id="11" name="curve254"/>
          <p:cNvSpPr/>
          <p:nvPr/>
        </p:nvSpPr>
        <p:spPr>
          <a:xfrm>
            <a:off x="5669280" y="2377440"/>
            <a:ext cx="868680" cy="9144"/>
          </a:xfrm>
          <a:custGeom>
            <a:avLst/>
            <a:gdLst/>
            <a:ahLst/>
            <a:cxnLst/>
            <a:rect l="l" t="t" r="r" b="b"/>
            <a:pathLst>
              <a:path w="868680" h="9144">
                <a:moveTo>
                  <a:pt x="0" y="0"/>
                </a:moveTo>
                <a:cubicBezTo>
                  <a:pt x="434340" y="0"/>
                  <a:pt x="434340" y="0"/>
                  <a:pt x="868680" y="0"/>
                </a:cubicBezTo>
              </a:path>
            </a:pathLst>
          </a:custGeom>
          <a:ln w="31750">
            <a:solidFill>
              <a:schemeClr val="accent3"/>
            </a:solidFill>
            <a:prstDash val="solid"/>
            <a:tailEnd type="triangle"/>
          </a:ln>
        </p:spPr>
      </p:sp>
      <p:sp>
        <p:nvSpPr>
          <p:cNvPr id="12" name="curve255"/>
          <p:cNvSpPr/>
          <p:nvPr/>
        </p:nvSpPr>
        <p:spPr>
          <a:xfrm>
            <a:off x="5669280" y="4937760"/>
            <a:ext cx="868680" cy="9144"/>
          </a:xfrm>
          <a:custGeom>
            <a:avLst/>
            <a:gdLst/>
            <a:ahLst/>
            <a:cxnLst/>
            <a:rect l="l" t="t" r="r" b="b"/>
            <a:pathLst>
              <a:path w="868680" h="9144">
                <a:moveTo>
                  <a:pt x="0" y="0"/>
                </a:moveTo>
                <a:cubicBezTo>
                  <a:pt x="434340" y="0"/>
                  <a:pt x="434340" y="0"/>
                  <a:pt x="868680" y="0"/>
                </a:cubicBezTo>
              </a:path>
            </a:pathLst>
          </a:custGeom>
          <a:ln w="31750">
            <a:solidFill>
              <a:schemeClr val="accent3"/>
            </a:solidFill>
            <a:prstDash val="solid"/>
            <a:tailEnd type="triangle"/>
          </a:ln>
        </p:spPr>
      </p:sp>
      <p:sp>
        <p:nvSpPr>
          <p:cNvPr id="13" name="curve256"/>
          <p:cNvSpPr/>
          <p:nvPr/>
        </p:nvSpPr>
        <p:spPr>
          <a:xfrm>
            <a:off x="8778240" y="2423160"/>
            <a:ext cx="914400" cy="868680"/>
          </a:xfrm>
          <a:custGeom>
            <a:avLst/>
            <a:gdLst/>
            <a:ahLst/>
            <a:cxnLst/>
            <a:rect l="l" t="t" r="r" b="b"/>
            <a:pathLst>
              <a:path w="914400" h="868680">
                <a:moveTo>
                  <a:pt x="0" y="0"/>
                </a:moveTo>
                <a:cubicBezTo>
                  <a:pt x="457200" y="0"/>
                  <a:pt x="457200" y="868680"/>
                  <a:pt x="914400" y="868680"/>
                </a:cubicBezTo>
              </a:path>
            </a:pathLst>
          </a:custGeom>
          <a:ln w="31750">
            <a:solidFill>
              <a:schemeClr val="accent3"/>
            </a:solidFill>
            <a:prstDash val="solid"/>
            <a:tailEnd type="triangle"/>
          </a:ln>
        </p:spPr>
      </p:sp>
      <p:sp>
        <p:nvSpPr>
          <p:cNvPr id="14" name="text257"/>
          <p:cNvSpPr txBox="1"/>
          <p:nvPr/>
        </p:nvSpPr>
        <p:spPr>
          <a:xfrm>
            <a:off x="9372600" y="5029200"/>
            <a:ext cx="2697480" cy="640080"/>
          </a:xfrm>
          <a:prstGeom prst="rect">
            <a:avLst/>
          </a:prstGeom>
          <a:noFill/>
          <a:ln/>
        </p:spPr>
        <p:txBody>
          <a:bodyPr wrap="square" lIns="0" tIns="0" rIns="0" bIns="0" rtlCol="0" anchor="t"/>
          <a:lstStyle/>
          <a:p>
            <a:pPr algn="ctr" indent="0" marL="0">
              <a:buNone/>
            </a:pPr>
            <a:r>
              <a:rPr lang="en-US" sz="1600" i="1" dirty="0">
                <a:solidFill>
                  <a:schemeClr val="accent1"/>
                </a:solidFill>
              </a:rPr>
              <a:t>9 reuse the 871-participant subset</a:t>
            </a:r>
            <a:endParaRPr lang="en-US" sz="1600" dirty="0"/>
          </a:p>
        </p:txBody>
      </p:sp>
      <p:sp>
        <p:nvSpPr>
          <p:cNvPr id="15" name="text258"/>
          <p:cNvSpPr txBox="1"/>
          <p:nvPr/>
        </p:nvSpPr>
        <p:spPr>
          <a:xfrm>
            <a:off x="457200" y="6080760"/>
            <a:ext cx="1828800" cy="411480"/>
          </a:xfrm>
          <a:prstGeom prst="rect">
            <a:avLst/>
          </a:prstGeom>
          <a:noFill/>
          <a:ln/>
        </p:spPr>
        <p:txBody>
          <a:bodyPr wrap="square" lIns="0" tIns="0" rIns="0" bIns="0" rtlCol="0" anchor="ctr"/>
          <a:lstStyle/>
          <a:p>
            <a:pPr indent="0" marL="0">
              <a:buNone/>
            </a:pPr>
            <a:r>
              <a:rPr lang="en-US" sz="1600" b="1" dirty="0">
                <a:solidFill>
                  <a:schemeClr val="tx2"/>
                </a:solidFill>
              </a:rPr>
              <a:t>Relation status</a:t>
            </a:r>
            <a:endParaRPr lang="en-US" sz="1600" dirty="0"/>
          </a:p>
        </p:txBody>
      </p:sp>
      <p:sp>
        <p:nvSpPr>
          <p:cNvPr id="16" name="shape259"/>
          <p:cNvSpPr txBox="1"/>
          <p:nvPr/>
        </p:nvSpPr>
        <p:spPr>
          <a:xfrm>
            <a:off x="2331720" y="6108192"/>
            <a:ext cx="1463040" cy="365760"/>
          </a:xfrm>
          <a:prstGeom prst="roundRect">
            <a:avLst>
              <a:gd name="adj" fmla="val 125000"/>
            </a:avLst>
          </a:prstGeom>
          <a:solidFill>
            <a:schemeClr val="bg1"/>
          </a:solidFill>
          <a:ln w="19050">
            <a:solidFill>
              <a:schemeClr val="accent3"/>
            </a:solidFill>
            <a:prstDash val="sysDot"/>
          </a:ln>
        </p:spPr>
        <p:txBody>
          <a:bodyPr wrap="square" lIns="50800" tIns="50800" rIns="50800" bIns="50800" rtlCol="0" anchor="ctr"/>
          <a:lstStyle/>
          <a:p>
            <a:pPr algn="ctr" indent="0" marL="0">
              <a:buNone/>
            </a:pPr>
            <a:r>
              <a:rPr lang="en-US" sz="1400" dirty="0">
                <a:solidFill>
                  <a:schemeClr val="tx1"/>
                </a:solidFill>
              </a:rPr>
              <a:t>mentions</a:t>
            </a:r>
            <a:endParaRPr lang="en-US" sz="1400" dirty="0"/>
          </a:p>
        </p:txBody>
      </p:sp>
      <p:sp>
        <p:nvSpPr>
          <p:cNvPr id="17" name="shape260"/>
          <p:cNvSpPr txBox="1"/>
          <p:nvPr/>
        </p:nvSpPr>
        <p:spPr>
          <a:xfrm>
            <a:off x="3931920" y="6108192"/>
            <a:ext cx="1463040" cy="365760"/>
          </a:xfrm>
          <a:prstGeom prst="roundRect">
            <a:avLst>
              <a:gd name="adj" fmla="val 125000"/>
            </a:avLst>
          </a:prstGeom>
          <a:solidFill>
            <a:schemeClr val="bg1"/>
          </a:solidFill>
          <a:ln w="19050">
            <a:solidFill>
              <a:schemeClr val="accent3"/>
            </a:solidFill>
            <a:prstDash val="solid"/>
          </a:ln>
        </p:spPr>
        <p:txBody>
          <a:bodyPr wrap="square" lIns="50800" tIns="50800" rIns="50800" bIns="50800" rtlCol="0" anchor="ctr"/>
          <a:lstStyle/>
          <a:p>
            <a:pPr algn="ctr" indent="0" marL="0">
              <a:buNone/>
            </a:pPr>
            <a:r>
              <a:rPr lang="en-US" sz="1400" dirty="0">
                <a:solidFill>
                  <a:schemeClr val="tx1"/>
                </a:solidFill>
              </a:rPr>
              <a:t>uses data</a:t>
            </a:r>
            <a:endParaRPr lang="en-US" sz="1400" dirty="0"/>
          </a:p>
        </p:txBody>
      </p:sp>
      <p:sp>
        <p:nvSpPr>
          <p:cNvPr id="18" name="shape261"/>
          <p:cNvSpPr txBox="1"/>
          <p:nvPr/>
        </p:nvSpPr>
        <p:spPr>
          <a:xfrm>
            <a:off x="5532120" y="6108192"/>
            <a:ext cx="1463040" cy="365760"/>
          </a:xfrm>
          <a:prstGeom prst="roundRect">
            <a:avLst>
              <a:gd name="adj" fmla="val 125000"/>
            </a:avLst>
          </a:prstGeom>
          <a:solidFill>
            <a:schemeClr val="bg1"/>
          </a:solidFill>
          <a:ln w="19050">
            <a:solidFill>
              <a:schemeClr val="accent3"/>
            </a:solidFill>
            <a:prstDash val="dash"/>
          </a:ln>
        </p:spPr>
        <p:txBody>
          <a:bodyPr wrap="square" lIns="50800" tIns="50800" rIns="50800" bIns="50800" rtlCol="0" anchor="ctr"/>
          <a:lstStyle/>
          <a:p>
            <a:pPr algn="ctr" indent="0" marL="0">
              <a:buNone/>
            </a:pPr>
            <a:r>
              <a:rPr lang="en-US" sz="1400" dirty="0">
                <a:solidFill>
                  <a:schemeClr val="tx1"/>
                </a:solidFill>
              </a:rPr>
              <a:t>candidate</a:t>
            </a:r>
            <a:endParaRPr lang="en-US" sz="1400" dirty="0"/>
          </a:p>
        </p:txBody>
      </p:sp>
      <p:sp>
        <p:nvSpPr>
          <p:cNvPr id="19" name="shape262"/>
          <p:cNvSpPr txBox="1"/>
          <p:nvPr/>
        </p:nvSpPr>
        <p:spPr>
          <a:xfrm rot="-480000">
            <a:off x="10332720" y="1143000"/>
            <a:ext cx="1554480" cy="1325880"/>
          </a:xfrm>
          <a:prstGeom prst="ellipse">
            <a:avLst/>
          </a:prstGeom>
          <a:solidFill>
            <a:schemeClr val="bg1"/>
          </a:solidFill>
          <a:ln w="31750">
            <a:solidFill>
              <a:schemeClr val="accent2"/>
            </a:solidFill>
            <a:prstDash val="solid"/>
          </a:ln>
        </p:spPr>
        <p:txBody>
          <a:bodyPr wrap="square" lIns="0" tIns="0" rIns="0" bIns="0" rtlCol="0" anchor="ctr"/>
          <a:lstStyle/>
          <a:p>
            <a:pPr algn="ctr" indent="0" marL="0">
              <a:buNone/>
            </a:pPr>
            <a:r>
              <a:rPr lang="en-US" sz="1400" dirty="0">
                <a:solidFill>
                  <a:schemeClr val="accent2"/>
                </a:solidFill>
              </a:rPr>
              <a:t>as of</a:t>
            </a:r>
            <a:endParaRPr lang="en-US" sz="1800" dirty="0"/>
          </a:p>
          <a:p>
            <a:pPr algn="ctr" indent="0" marL="0">
              <a:buNone/>
            </a:pPr>
            <a:r>
              <a:rPr lang="en-US" sz="1500" b="1" dirty="0">
                <a:solidFill>
                  <a:schemeClr val="accent2"/>
                </a:solidFill>
              </a:rPr>
              <a:t>2026-10-15</a:t>
            </a:r>
            <a:endParaRPr lang="en-US" sz="1800" dirty="0"/>
          </a:p>
        </p:txBody>
      </p:sp>
      <p:pic>
        <p:nvPicPr>
          <p:cNvPr id="21" name="stripIcon17" descr="preencoded.png">    </p:cNvPr>
          <p:cNvPicPr>
            <a:picLocks noChangeAspect="1"/>
          </p:cNvPicPr>
          <p:nvPr/>
        </p:nvPicPr>
        <p:blipFill>
          <a:blip r:embed="rId1"/>
          <a:stretch>
            <a:fillRect/>
          </a:stretch>
        </p:blipFill>
        <p:spPr>
          <a:xfrm>
            <a:off x="548640" y="969264"/>
            <a:ext cx="182880" cy="182880"/>
          </a:xfrm>
          <a:prstGeom prst="rect">
            <a:avLst/>
          </a:prstGeom>
        </p:spPr>
      </p:pic>
      <p:sp>
        <p:nvSpPr>
          <p:cNvPr id="22" name="strip17"/>
          <p:cNvSpPr txBox="1"/>
          <p:nvPr/>
        </p:nvSpPr>
        <p:spPr>
          <a:xfrm>
            <a:off x="804672" y="914400"/>
            <a:ext cx="10972800" cy="292608"/>
          </a:xfrm>
          <a:prstGeom prst="rect">
            <a:avLst/>
          </a:prstGeom>
          <a:noFill/>
          <a:ln/>
        </p:spPr>
        <p:txBody>
          <a:bodyPr wrap="square" lIns="0" tIns="0" rIns="0" bIns="0" rtlCol="0" anchor="ctr"/>
          <a:lstStyle/>
          <a:p>
            <a:pPr indent="0" marL="0">
              <a:buNone/>
            </a:pPr>
            <a:r>
              <a:rPr lang="en-US" sz="1200" b="1" dirty="0">
                <a:solidFill>
                  <a:schemeClr val="accent1"/>
                </a:solidFill>
              </a:rPr>
              <a:t>In the graph: </a:t>
            </a:r>
            <a:pPr indent="0" marL="0">
              <a:buNone/>
            </a:pPr>
            <a:r>
              <a:rPr lang="en-US" sz="1200" dirty="0">
                <a:solidFill>
                  <a:schemeClr val="accent3"/>
                </a:solidFill>
              </a:rPr>
              <a:t>graph/publications.ttl + publication_links_activity.ttl (queries/Q15.rq, Q15b.rq; code/publications.py); review counts from literature_kg.ttl</a:t>
            </a:r>
            <a:endParaRPr lang="en-US" sz="1200" dirty="0"/>
          </a:p>
        </p:txBody>
      </p:sp>
      <p:sp>
        <p:nvSpPr>
          <p:cNvPr id="23" name="tagDot17"/>
          <p:cNvSpPr/>
          <p:nvPr/>
        </p:nvSpPr>
        <p:spPr>
          <a:xfrm>
            <a:off x="9326880" y="82296"/>
            <a:ext cx="128016" cy="128016"/>
          </a:xfrm>
          <a:prstGeom prst="ellipse">
            <a:avLst/>
          </a:prstGeom>
          <a:solidFill>
            <a:schemeClr val="tx2"/>
          </a:solidFill>
          <a:ln/>
        </p:spPr>
      </p:sp>
      <p:sp>
        <p:nvSpPr>
          <p:cNvPr id="24" name="tag17"/>
          <p:cNvSpPr txBox="1"/>
          <p:nvPr/>
        </p:nvSpPr>
        <p:spPr>
          <a:xfrm>
            <a:off x="9509760" y="18288"/>
            <a:ext cx="2286000" cy="256032"/>
          </a:xfrm>
          <a:prstGeom prst="rect">
            <a:avLst/>
          </a:prstGeom>
          <a:noFill/>
          <a:ln/>
        </p:spPr>
        <p:txBody>
          <a:bodyPr wrap="square" lIns="0" tIns="0" rIns="0" bIns="0" rtlCol="0" anchor="ctr"/>
          <a:lstStyle/>
          <a:p>
            <a:pPr indent="0" marL="0">
              <a:buNone/>
            </a:pPr>
            <a:r>
              <a:rPr lang="en-US" sz="1200" i="1" dirty="0">
                <a:solidFill>
                  <a:schemeClr val="accent3"/>
                </a:solidFill>
              </a:rPr>
              <a:t>Objective 2</a:t>
            </a:r>
            <a:endParaRPr lang="en-US" sz="1200" dirty="0"/>
          </a:p>
        </p:txBody>
      </p:sp>
      <p:sp>
        <p:nvSpPr>
          <p:cNvPr id="25" name="badge17_A"/>
          <p:cNvSpPr txBox="1"/>
          <p:nvPr/>
        </p:nvSpPr>
        <p:spPr>
          <a:xfrm>
            <a:off x="274320"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A</a:t>
            </a:r>
            <a:endParaRPr lang="en-US" sz="1100" dirty="0"/>
          </a:p>
        </p:txBody>
      </p:sp>
      <p:sp>
        <p:nvSpPr>
          <p:cNvPr id="26" name="badge17_R"/>
          <p:cNvSpPr txBox="1"/>
          <p:nvPr/>
        </p:nvSpPr>
        <p:spPr>
          <a:xfrm>
            <a:off x="576072"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R</a:t>
            </a:r>
            <a:endParaRPr lang="en-US" sz="1100" dirty="0"/>
          </a:p>
        </p:txBody>
      </p:sp>
      <p:sp>
        <p:nvSpPr>
          <p:cNvPr id="27" name="data17"/>
          <p:cNvSpPr txBox="1"/>
          <p:nvPr/>
        </p:nvSpPr>
        <p:spPr>
          <a:xfrm>
            <a:off x="2478024" y="6473952"/>
            <a:ext cx="8677656" cy="301752"/>
          </a:xfrm>
          <a:prstGeom prst="rect">
            <a:avLst/>
          </a:prstGeom>
          <a:noFill/>
          <a:ln/>
        </p:spPr>
        <p:txBody>
          <a:bodyPr wrap="square" lIns="0" tIns="0" rIns="0" bIns="0" rtlCol="0" anchor="ctr"/>
          <a:lstStyle/>
          <a:p>
            <a:pPr indent="0" marL="0">
              <a:buNone/>
            </a:pPr>
            <a:r>
              <a:rPr lang="en-US" sz="1100" dirty="0">
                <a:solidFill>
                  <a:srgbClr val="5E7A88"/>
                </a:solidFill>
              </a:rPr>
              <a:t>Data: AbstractAtlas (OHBM 2026), OpenAlex; 74 ABIDE studies (SynthScholar review, 2026-10-15)</a:t>
            </a:r>
            <a:endParaRPr lang="en-US" sz="1100" dirty="0"/>
          </a:p>
        </p:txBody>
      </p:sp>
      <p:sp>
        <p:nvSpPr>
          <p:cNvPr id="28" name="badge17_check"/>
          <p:cNvSpPr txBox="1"/>
          <p:nvPr/>
        </p:nvSpPr>
        <p:spPr>
          <a:xfrm>
            <a:off x="932688" y="6473952"/>
            <a:ext cx="1408176" cy="301752"/>
          </a:xfrm>
          <a:prstGeom prst="rect">
            <a:avLst/>
          </a:prstGeom>
          <a:noFill/>
          <a:ln/>
        </p:spPr>
        <p:txBody>
          <a:bodyPr wrap="square" lIns="0" tIns="0" rIns="0" bIns="0" rtlCol="0" anchor="ctr"/>
          <a:lstStyle/>
          <a:p>
            <a:pPr indent="0" marL="0">
              <a:buNone/>
            </a:pPr>
            <a:r>
              <a:rPr lang="en-US" sz="1100" i="1" dirty="0">
                <a:solidFill>
                  <a:srgbClr val="5E7A88"/>
                </a:solidFill>
              </a:rPr>
              <a:t>re-run · validated</a:t>
            </a:r>
            <a:endParaRPr lang="en-US" sz="11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
            <a:ext cx="11064240" cy="713232"/>
          </a:xfrm>
          <a:prstGeom prst="rect">
            <a:avLst/>
          </a:prstGeom>
          <a:noFill/>
          <a:ln/>
        </p:spPr>
        <p:txBody>
          <a:bodyPr wrap="square" rtlCol="0" anchor="ctr"/>
          <a:lstStyle/>
          <a:p>
            <a:pPr algn="l" indent="0" marL="0">
              <a:buNone/>
            </a:pPr>
            <a:r>
              <a:rPr lang="en-US" sz="3200" b="1" dirty="0">
                <a:solidFill>
                  <a:schemeClr val="tx2"/>
                </a:solidFill>
              </a:rPr>
              <a:t>Asking Claude about the literature graph</a:t>
            </a:r>
            <a:endParaRPr lang="en-US" sz="3200" dirty="0"/>
          </a:p>
        </p:txBody>
      </p:sp>
      <p:sp>
        <p:nvSpPr>
          <p:cNvPr id="3" name="shape263"/>
          <p:cNvSpPr/>
          <p:nvPr/>
        </p:nvSpPr>
        <p:spPr>
          <a:xfrm>
            <a:off x="411480" y="1344168"/>
            <a:ext cx="420624" cy="420624"/>
          </a:xfrm>
          <a:prstGeom prst="ellipse">
            <a:avLst/>
          </a:prstGeom>
          <a:solidFill>
            <a:schemeClr val="accent1"/>
          </a:solidFill>
          <a:ln/>
        </p:spPr>
      </p:sp>
      <p:pic>
        <p:nvPicPr>
          <p:cNvPr id="4" name="litHeadIcon264" descr="preencoded.png">    </p:cNvPr>
          <p:cNvPicPr>
            <a:picLocks noChangeAspect="1"/>
          </p:cNvPicPr>
          <p:nvPr/>
        </p:nvPicPr>
        <p:blipFill>
          <a:blip r:embed="rId1"/>
          <a:stretch>
            <a:fillRect/>
          </a:stretch>
        </p:blipFill>
        <p:spPr>
          <a:xfrm>
            <a:off x="512064" y="1444752"/>
            <a:ext cx="219456" cy="219456"/>
          </a:xfrm>
          <a:prstGeom prst="rect">
            <a:avLst/>
          </a:prstGeom>
        </p:spPr>
      </p:pic>
      <p:sp>
        <p:nvSpPr>
          <p:cNvPr id="5" name="text265"/>
          <p:cNvSpPr txBox="1"/>
          <p:nvPr/>
        </p:nvSpPr>
        <p:spPr>
          <a:xfrm>
            <a:off x="923544" y="1325880"/>
            <a:ext cx="2231136" cy="457200"/>
          </a:xfrm>
          <a:prstGeom prst="rect">
            <a:avLst/>
          </a:prstGeom>
          <a:noFill/>
          <a:ln/>
        </p:spPr>
        <p:txBody>
          <a:bodyPr wrap="square" lIns="0" tIns="0" rIns="0" bIns="0" rtlCol="0" anchor="ctr"/>
          <a:lstStyle/>
          <a:p>
            <a:pPr indent="0" marL="0">
              <a:buNone/>
            </a:pPr>
            <a:r>
              <a:rPr lang="en-US" sz="1800" b="1" dirty="0">
                <a:solidFill>
                  <a:schemeClr val="tx2"/>
                </a:solidFill>
              </a:rPr>
              <a:t>Participant asks</a:t>
            </a:r>
            <a:endParaRPr lang="en-US" sz="1800" dirty="0"/>
          </a:p>
        </p:txBody>
      </p:sp>
      <p:sp>
        <p:nvSpPr>
          <p:cNvPr id="6" name="shape266"/>
          <p:cNvSpPr/>
          <p:nvPr/>
        </p:nvSpPr>
        <p:spPr>
          <a:xfrm>
            <a:off x="3337560" y="1344168"/>
            <a:ext cx="420624" cy="420624"/>
          </a:xfrm>
          <a:prstGeom prst="ellipse">
            <a:avLst/>
          </a:prstGeom>
          <a:solidFill>
            <a:schemeClr val="tx2"/>
          </a:solidFill>
          <a:ln/>
        </p:spPr>
      </p:sp>
      <p:pic>
        <p:nvPicPr>
          <p:cNvPr id="7" name="litHeadIcon267" descr="preencoded.png">    </p:cNvPr>
          <p:cNvPicPr>
            <a:picLocks noChangeAspect="1"/>
          </p:cNvPicPr>
          <p:nvPr/>
        </p:nvPicPr>
        <p:blipFill>
          <a:blip r:embed="rId2"/>
          <a:stretch>
            <a:fillRect/>
          </a:stretch>
        </p:blipFill>
        <p:spPr>
          <a:xfrm>
            <a:off x="3438144" y="1444752"/>
            <a:ext cx="219456" cy="219456"/>
          </a:xfrm>
          <a:prstGeom prst="rect">
            <a:avLst/>
          </a:prstGeom>
        </p:spPr>
      </p:pic>
      <p:sp>
        <p:nvSpPr>
          <p:cNvPr id="8" name="text268"/>
          <p:cNvSpPr txBox="1"/>
          <p:nvPr/>
        </p:nvSpPr>
        <p:spPr>
          <a:xfrm>
            <a:off x="3849624" y="1325880"/>
            <a:ext cx="3922776" cy="457200"/>
          </a:xfrm>
          <a:prstGeom prst="rect">
            <a:avLst/>
          </a:prstGeom>
          <a:noFill/>
          <a:ln/>
        </p:spPr>
        <p:txBody>
          <a:bodyPr wrap="square" lIns="0" tIns="0" rIns="0" bIns="0" rtlCol="0" anchor="ctr"/>
          <a:lstStyle/>
          <a:p>
            <a:pPr indent="0" marL="0">
              <a:buNone/>
            </a:pPr>
            <a:r>
              <a:rPr lang="en-US" sz="1800" b="1" dirty="0">
                <a:solidFill>
                  <a:schemeClr val="tx2"/>
                </a:solidFill>
              </a:rPr>
              <a:t>Claude writes and runs SPARQL</a:t>
            </a:r>
            <a:endParaRPr lang="en-US" sz="1800" dirty="0"/>
          </a:p>
        </p:txBody>
      </p:sp>
      <p:sp>
        <p:nvSpPr>
          <p:cNvPr id="9" name="shape269"/>
          <p:cNvSpPr/>
          <p:nvPr/>
        </p:nvSpPr>
        <p:spPr>
          <a:xfrm>
            <a:off x="7955280" y="1344168"/>
            <a:ext cx="420624" cy="420624"/>
          </a:xfrm>
          <a:prstGeom prst="ellipse">
            <a:avLst/>
          </a:prstGeom>
          <a:solidFill>
            <a:schemeClr val="tx2"/>
          </a:solidFill>
          <a:ln/>
        </p:spPr>
      </p:sp>
      <p:pic>
        <p:nvPicPr>
          <p:cNvPr id="10" name="litHeadIcon270" descr="preencoded.png">    </p:cNvPr>
          <p:cNvPicPr>
            <a:picLocks noChangeAspect="1"/>
          </p:cNvPicPr>
          <p:nvPr/>
        </p:nvPicPr>
        <p:blipFill>
          <a:blip r:embed="rId3"/>
          <a:stretch>
            <a:fillRect/>
          </a:stretch>
        </p:blipFill>
        <p:spPr>
          <a:xfrm>
            <a:off x="8055864" y="1444752"/>
            <a:ext cx="219456" cy="219456"/>
          </a:xfrm>
          <a:prstGeom prst="rect">
            <a:avLst/>
          </a:prstGeom>
        </p:spPr>
      </p:pic>
      <p:sp>
        <p:nvSpPr>
          <p:cNvPr id="11" name="text271"/>
          <p:cNvSpPr txBox="1"/>
          <p:nvPr/>
        </p:nvSpPr>
        <p:spPr>
          <a:xfrm>
            <a:off x="8467344" y="1325880"/>
            <a:ext cx="3328416" cy="457200"/>
          </a:xfrm>
          <a:prstGeom prst="rect">
            <a:avLst/>
          </a:prstGeom>
          <a:noFill/>
          <a:ln/>
        </p:spPr>
        <p:txBody>
          <a:bodyPr wrap="square" lIns="0" tIns="0" rIns="0" bIns="0" rtlCol="0" anchor="ctr"/>
          <a:lstStyle/>
          <a:p>
            <a:pPr indent="0" marL="0">
              <a:buNone/>
            </a:pPr>
            <a:r>
              <a:rPr lang="en-US" sz="1800" b="1" dirty="0">
                <a:solidFill>
                  <a:schemeClr val="tx2"/>
                </a:solidFill>
              </a:rPr>
              <a:t>Claude answers</a:t>
            </a:r>
            <a:endParaRPr lang="en-US" sz="1800" dirty="0"/>
          </a:p>
        </p:txBody>
      </p:sp>
      <p:sp>
        <p:nvSpPr>
          <p:cNvPr id="12" name="shape272"/>
          <p:cNvSpPr txBox="1"/>
          <p:nvPr/>
        </p:nvSpPr>
        <p:spPr>
          <a:xfrm>
            <a:off x="411480" y="1920240"/>
            <a:ext cx="2743200" cy="2880360"/>
          </a:xfrm>
          <a:prstGeom prst="wedgeRoundRectCallout">
            <a:avLst/>
          </a:prstGeom>
          <a:solidFill>
            <a:schemeClr val="accent4"/>
          </a:solidFill>
          <a:ln/>
        </p:spPr>
        <p:txBody>
          <a:bodyPr wrap="square" lIns="127000" tIns="127000" rIns="127000" bIns="127000" rtlCol="0" anchor="ctr"/>
          <a:lstStyle/>
          <a:p>
            <a:pPr algn="l" indent="0" marL="0">
              <a:buNone/>
            </a:pPr>
            <a:r>
              <a:rPr lang="en-US" sz="1800" dirty="0">
                <a:solidFill>
                  <a:schemeClr val="tx2"/>
                </a:solidFill>
              </a:rPr>
              <a:t>“Using only this graph: which studies tested their classifier by holding out whole sites, what accuracy did each report, and what verbatim quote supports it?”</a:t>
            </a:r>
            <a:endParaRPr lang="en-US" sz="1800" dirty="0"/>
          </a:p>
        </p:txBody>
      </p:sp>
      <p:sp>
        <p:nvSpPr>
          <p:cNvPr id="13" name="shape273"/>
          <p:cNvSpPr txBox="1"/>
          <p:nvPr/>
        </p:nvSpPr>
        <p:spPr>
          <a:xfrm>
            <a:off x="411480" y="5029200"/>
            <a:ext cx="2743200" cy="658368"/>
          </a:xfrm>
          <a:prstGeom prst="roundRect">
            <a:avLst>
              <a:gd name="adj" fmla="val 41667"/>
            </a:avLst>
          </a:prstGeom>
          <a:solidFill>
            <a:schemeClr val="accent5"/>
          </a:solidFill>
          <a:ln w="19050">
            <a:solidFill>
              <a:schemeClr val="accent2"/>
            </a:solidFill>
            <a:prstDash val="solid"/>
          </a:ln>
        </p:spPr>
        <p:txBody>
          <a:bodyPr wrap="square" lIns="25400" tIns="25400" rIns="25400" bIns="25400" rtlCol="0" anchor="ctr"/>
          <a:lstStyle/>
          <a:p>
            <a:pPr algn="ctr" indent="0" marL="0">
              <a:buNone/>
            </a:pPr>
            <a:r>
              <a:rPr lang="en-US" sz="2000" b="1" dirty="0">
                <a:solidFill>
                  <a:schemeClr val="accent2"/>
                </a:solidFill>
              </a:rPr>
              <a:t>88 s</a:t>
            </a:r>
            <a:endParaRPr lang="en-US" sz="1600" dirty="0"/>
          </a:p>
          <a:p>
            <a:pPr algn="ctr" indent="0" marL="0">
              <a:buNone/>
            </a:pPr>
            <a:r>
              <a:rPr lang="en-US" sz="1600" b="1" dirty="0">
                <a:solidFill>
                  <a:schemeClr val="accent2"/>
                </a:solidFill>
              </a:rPr>
              <a:t>Claude Code + pyoxigraph</a:t>
            </a:r>
            <a:endParaRPr lang="en-US" sz="1600" dirty="0"/>
          </a:p>
        </p:txBody>
      </p:sp>
      <p:sp>
        <p:nvSpPr>
          <p:cNvPr id="14" name="text274"/>
          <p:cNvSpPr txBox="1"/>
          <p:nvPr/>
        </p:nvSpPr>
        <p:spPr>
          <a:xfrm>
            <a:off x="411480" y="5760720"/>
            <a:ext cx="2743200" cy="594360"/>
          </a:xfrm>
          <a:prstGeom prst="rect">
            <a:avLst/>
          </a:prstGeom>
          <a:noFill/>
          <a:ln/>
        </p:spPr>
        <p:txBody>
          <a:bodyPr wrap="square" lIns="0" tIns="0" rIns="0" bIns="0" rtlCol="0" anchor="t"/>
          <a:lstStyle/>
          <a:p>
            <a:pPr algn="ctr" indent="0" marL="0">
              <a:buNone/>
            </a:pPr>
            <a:r>
              <a:rPr lang="en-US" sz="1400" dirty="0">
                <a:solidFill>
                  <a:schemeClr val="accent3"/>
                </a:solidFill>
              </a:rPr>
              <a:t>Headless run in a fresh folder holding only literature_kg.ttl</a:t>
            </a:r>
            <a:endParaRPr lang="en-US" sz="1400" dirty="0"/>
          </a:p>
        </p:txBody>
      </p:sp>
      <p:sp>
        <p:nvSpPr>
          <p:cNvPr id="15" name="shape275"/>
          <p:cNvSpPr/>
          <p:nvPr/>
        </p:nvSpPr>
        <p:spPr>
          <a:xfrm>
            <a:off x="3337560" y="1920240"/>
            <a:ext cx="4434840" cy="4389120"/>
          </a:xfrm>
          <a:prstGeom prst="roundRect">
            <a:avLst>
              <a:gd name="adj" fmla="val 833"/>
            </a:avLst>
          </a:prstGeom>
          <a:solidFill>
            <a:schemeClr val="tx2"/>
          </a:solidFill>
          <a:ln/>
        </p:spPr>
      </p:sp>
      <p:sp>
        <p:nvSpPr>
          <p:cNvPr id="16" name="litQuery"/>
          <p:cNvSpPr txBox="1"/>
          <p:nvPr/>
        </p:nvSpPr>
        <p:spPr>
          <a:xfrm>
            <a:off x="3456432" y="2029968"/>
            <a:ext cx="4224528" cy="4206240"/>
          </a:xfrm>
          <a:prstGeom prst="rect">
            <a:avLst/>
          </a:prstGeom>
          <a:noFill/>
          <a:ln/>
        </p:spPr>
        <p:txBody>
          <a:bodyPr wrap="square" lIns="0" tIns="0" rIns="0" bIns="0" rtlCol="0" anchor="t"/>
          <a:lstStyle/>
          <a:p>
            <a:pPr indent="0" marL="0">
              <a:spcAft>
                <a:spcPts val="200"/>
              </a:spcAft>
              <a:buNone/>
            </a:pPr>
            <a:r>
              <a:rPr lang="en-US" sz="1400" dirty="0">
                <a:solidFill>
                  <a:srgbClr val="9FD3D4"/>
                </a:solidFill>
                <a:latin typeface="Courier New" pitchFamily="34" charset="0"/>
                <a:ea typeface="Courier New" pitchFamily="34" charset="-122"/>
                <a:cs typeface="Courier New" pitchFamily="34" charset="-120"/>
              </a:rPr>
              <a:t># studies + accuracy (trimmed)</a:t>
            </a:r>
            <a:endParaRPr lang="en-US" sz="1400" dirty="0"/>
          </a:p>
          <a:p>
            <a:pPr indent="0" marL="0">
              <a:spcAft>
                <a:spcPts val="200"/>
              </a:spcAft>
              <a:buNone/>
            </a:pPr>
            <a:r>
              <a:rPr lang="en-US" sz="1400" dirty="0">
                <a:solidFill>
                  <a:srgbClr val="E8F1F2"/>
                </a:solidFill>
                <a:latin typeface="Courier New" pitchFamily="34" charset="0"/>
                <a:ea typeface="Courier New" pitchFamily="34" charset="-122"/>
                <a:cs typeface="Courier New" pitchFamily="34" charset="-120"/>
              </a:rPr>
              <a:t>SELECT ?id ?acc ?basis ?snippet …</a:t>
            </a:r>
            <a:endParaRPr lang="en-US" sz="1400" dirty="0"/>
          </a:p>
          <a:p>
            <a:pPr indent="0" marL="0">
              <a:spcAft>
                <a:spcPts val="200"/>
              </a:spcAft>
              <a:buNone/>
            </a:pPr>
            <a:r>
              <a:rPr lang="en-US" sz="1400" dirty="0">
                <a:solidFill>
                  <a:srgbClr val="E8F1F2"/>
                </a:solidFill>
                <a:latin typeface="Courier New" pitchFamily="34" charset="0"/>
                <a:ea typeface="Courier New" pitchFamily="34" charset="-122"/>
                <a:cs typeface="Courier New" pitchFamily="34" charset="-120"/>
              </a:rPr>
              <a:t>WHERE {</a:t>
            </a:r>
            <a:endParaRPr lang="en-US" sz="1400" dirty="0"/>
          </a:p>
          <a:p>
            <a:pPr indent="0" marL="0">
              <a:spcAft>
                <a:spcPts val="200"/>
              </a:spcAft>
              <a:buNone/>
            </a:pPr>
            <a:r>
              <a:rPr lang="en-US" sz="1400" dirty="0">
                <a:solidFill>
                  <a:srgbClr val="E8F1F2"/>
                </a:solidFill>
                <a:latin typeface="Courier New" pitchFamily="34" charset="0"/>
                <a:ea typeface="Courier New" pitchFamily="34" charset="-122"/>
                <a:cs typeface="Courier New" pitchFamily="34" charset="-120"/>
              </a:rPr>
              <a:t> { ?pub ex:reportsPerformance ?perf .</a:t>
            </a:r>
            <a:endParaRPr lang="en-US" sz="1400" dirty="0"/>
          </a:p>
          <a:p>
            <a:pPr indent="0" marL="0">
              <a:spcAft>
                <a:spcPts val="200"/>
              </a:spcAft>
              <a:buNone/>
            </a:pPr>
            <a:r>
              <a:rPr lang="en-US" sz="1400" dirty="0">
                <a:solidFill>
                  <a:srgbClr val="E8F1F2"/>
                </a:solidFill>
                <a:latin typeface="Courier New" pitchFamily="34" charset="0"/>
                <a:ea typeface="Courier New" pitchFamily="34" charset="-122"/>
                <a:cs typeface="Courier New" pitchFamily="34" charset="-120"/>
              </a:rPr>
              <a:t>   ?perf ex:evaluationScheme</a:t>
            </a:r>
            <a:endParaRPr lang="en-US" sz="1400" dirty="0"/>
          </a:p>
          <a:p>
            <a:pPr indent="0" marL="0">
              <a:spcAft>
                <a:spcPts val="200"/>
              </a:spcAft>
              <a:buNone/>
            </a:pPr>
            <a:r>
              <a:rPr lang="en-US" sz="1400" dirty="0">
                <a:solidFill>
                  <a:srgbClr val="E8F1F2"/>
                </a:solidFill>
                <a:latin typeface="Courier New" pitchFamily="34" charset="0"/>
                <a:ea typeface="Courier New" pitchFamily="34" charset="-122"/>
                <a:cs typeface="Courier New" pitchFamily="34" charset="-120"/>
              </a:rPr>
              <a:t>         "leave-site-out" }</a:t>
            </a:r>
            <a:endParaRPr lang="en-US" sz="1400" dirty="0"/>
          </a:p>
          <a:p>
            <a:pPr indent="0" marL="0">
              <a:spcAft>
                <a:spcPts val="200"/>
              </a:spcAft>
              <a:buNone/>
            </a:pPr>
            <a:r>
              <a:rPr lang="en-US" sz="1400" dirty="0">
                <a:solidFill>
                  <a:srgbClr val="E8F1F2"/>
                </a:solidFill>
                <a:latin typeface="Courier New" pitchFamily="34" charset="0"/>
                <a:ea typeface="Courier New" pitchFamily="34" charset="-122"/>
                <a:cs typeface="Courier New" pitchFamily="34" charset="-120"/>
              </a:rPr>
              <a:t> UNION { ?pub a ex:Publication ;</a:t>
            </a:r>
            <a:endParaRPr lang="en-US" sz="1400" dirty="0"/>
          </a:p>
          <a:p>
            <a:pPr indent="0" marL="0">
              <a:spcAft>
                <a:spcPts val="200"/>
              </a:spcAft>
              <a:buNone/>
            </a:pPr>
            <a:r>
              <a:rPr lang="en-US" sz="1400" dirty="0">
                <a:solidFill>
                  <a:srgbClr val="E8F1F2"/>
                </a:solidFill>
                <a:latin typeface="Courier New" pitchFamily="34" charset="0"/>
                <a:ea typeface="Courier New" pitchFamily="34" charset="-122"/>
                <a:cs typeface="Courier New" pitchFamily="34" charset="-120"/>
              </a:rPr>
              <a:t>   ex:evaluationScheme</a:t>
            </a:r>
            <a:endParaRPr lang="en-US" sz="1400" dirty="0"/>
          </a:p>
          <a:p>
            <a:pPr indent="0" marL="0">
              <a:spcAft>
                <a:spcPts val="200"/>
              </a:spcAft>
              <a:buNone/>
            </a:pPr>
            <a:r>
              <a:rPr lang="en-US" sz="1400" dirty="0">
                <a:solidFill>
                  <a:srgbClr val="E8F1F2"/>
                </a:solidFill>
                <a:latin typeface="Courier New" pitchFamily="34" charset="0"/>
                <a:ea typeface="Courier New" pitchFamily="34" charset="-122"/>
                <a:cs typeface="Courier New" pitchFamily="34" charset="-120"/>
              </a:rPr>
              <a:t>         "leave-site-out" }</a:t>
            </a:r>
            <a:endParaRPr lang="en-US" sz="1400" dirty="0"/>
          </a:p>
          <a:p>
            <a:pPr indent="0" marL="0">
              <a:spcAft>
                <a:spcPts val="200"/>
              </a:spcAft>
              <a:buNone/>
            </a:pPr>
            <a:r>
              <a:rPr lang="en-US" sz="1400" dirty="0">
                <a:solidFill>
                  <a:srgbClr val="E8F1F2"/>
                </a:solidFill>
                <a:latin typeface="Courier New" pitchFamily="34" charset="0"/>
                <a:ea typeface="Courier New" pitchFamily="34" charset="-122"/>
                <a:cs typeface="Courier New" pitchFamily="34" charset="-120"/>
              </a:rPr>
              <a:t> OPTIONAL {</a:t>
            </a:r>
            <a:endParaRPr lang="en-US" sz="1400" dirty="0"/>
          </a:p>
          <a:p>
            <a:pPr indent="0" marL="0">
              <a:spcAft>
                <a:spcPts val="200"/>
              </a:spcAft>
              <a:buNone/>
            </a:pPr>
            <a:r>
              <a:rPr lang="en-US" sz="1400" dirty="0">
                <a:solidFill>
                  <a:srgbClr val="E8F1F2"/>
                </a:solidFill>
                <a:latin typeface="Courier New" pitchFamily="34" charset="0"/>
                <a:ea typeface="Courier New" pitchFamily="34" charset="-122"/>
                <a:cs typeface="Courier New" pitchFamily="34" charset="-120"/>
              </a:rPr>
              <a:t>   ?pub ex:reportsPerformance ?p2 .</a:t>
            </a:r>
            <a:endParaRPr lang="en-US" sz="1400" dirty="0"/>
          </a:p>
          <a:p>
            <a:pPr indent="0" marL="0">
              <a:spcAft>
                <a:spcPts val="200"/>
              </a:spcAft>
              <a:buNone/>
            </a:pPr>
            <a:r>
              <a:rPr lang="en-US" sz="1400" dirty="0">
                <a:solidFill>
                  <a:srgbClr val="E8F1F2"/>
                </a:solidFill>
                <a:latin typeface="Courier New" pitchFamily="34" charset="0"/>
                <a:ea typeface="Courier New" pitchFamily="34" charset="-122"/>
                <a:cs typeface="Courier New" pitchFamily="34" charset="-120"/>
              </a:rPr>
              <a:t>   ?p2 ex:accuracyPct ?acc ;</a:t>
            </a:r>
            <a:endParaRPr lang="en-US" sz="1400" dirty="0"/>
          </a:p>
          <a:p>
            <a:pPr indent="0" marL="0">
              <a:spcAft>
                <a:spcPts val="200"/>
              </a:spcAft>
              <a:buNone/>
            </a:pPr>
            <a:r>
              <a:rPr lang="en-US" sz="1400" dirty="0">
                <a:solidFill>
                  <a:srgbClr val="E8F1F2"/>
                </a:solidFill>
                <a:latin typeface="Courier New" pitchFamily="34" charset="0"/>
                <a:ea typeface="Courier New" pitchFamily="34" charset="-122"/>
                <a:cs typeface="Courier New" pitchFamily="34" charset="-120"/>
              </a:rPr>
              <a:t>       ex:basis ?basis }</a:t>
            </a:r>
            <a:endParaRPr lang="en-US" sz="1400" dirty="0"/>
          </a:p>
          <a:p>
            <a:pPr indent="0" marL="0">
              <a:spcAft>
                <a:spcPts val="200"/>
              </a:spcAft>
              <a:buNone/>
            </a:pPr>
            <a:r>
              <a:rPr lang="en-US" sz="1400" dirty="0">
                <a:solidFill>
                  <a:srgbClr val="E8F1F2"/>
                </a:solidFill>
                <a:latin typeface="Courier New" pitchFamily="34" charset="0"/>
                <a:ea typeface="Courier New" pitchFamily="34" charset="-122"/>
                <a:cs typeface="Courier New" pitchFamily="34" charset="-120"/>
              </a:rPr>
              <a:t>}</a:t>
            </a:r>
            <a:endParaRPr lang="en-US" sz="1400" dirty="0"/>
          </a:p>
          <a:p>
            <a:pPr indent="0" marL="0">
              <a:spcAft>
                <a:spcPts val="200"/>
              </a:spcAft>
              <a:buNone/>
            </a:pPr>
            <a:r>
              <a:rPr lang="en-US" sz="1400" dirty="0">
                <a:solidFill>
                  <a:srgbClr val="9FD3D4"/>
                </a:solidFill>
                <a:latin typeface="Courier New" pitchFamily="34" charset="0"/>
                <a:ea typeface="Courier New" pitchFamily="34" charset="-122"/>
                <a:cs typeface="Courier New" pitchFamily="34" charset="-120"/>
              </a:rPr>
              <a:t># then the verbatim quotes</a:t>
            </a:r>
            <a:endParaRPr lang="en-US" sz="1400" dirty="0"/>
          </a:p>
          <a:p>
            <a:pPr indent="0" marL="0">
              <a:spcAft>
                <a:spcPts val="200"/>
              </a:spcAft>
              <a:buNone/>
            </a:pPr>
            <a:r>
              <a:rPr lang="en-US" sz="1400" dirty="0">
                <a:solidFill>
                  <a:srgbClr val="E8F1F2"/>
                </a:solidFill>
                <a:latin typeface="Courier New" pitchFamily="34" charset="0"/>
                <a:ea typeface="Courier New" pitchFamily="34" charset="-122"/>
                <a:cs typeface="Courier New" pitchFamily="34" charset="-120"/>
              </a:rPr>
              <a:t>?q prov:wasQuotedFrom ?pub ;</a:t>
            </a:r>
            <a:endParaRPr lang="en-US" sz="1400" dirty="0"/>
          </a:p>
          <a:p>
            <a:pPr indent="0" marL="0">
              <a:spcAft>
                <a:spcPts val="200"/>
              </a:spcAft>
              <a:buNone/>
            </a:pPr>
            <a:r>
              <a:rPr lang="en-US" sz="1400" dirty="0">
                <a:solidFill>
                  <a:srgbClr val="E8F1F2"/>
                </a:solidFill>
                <a:latin typeface="Courier New" pitchFamily="34" charset="0"/>
                <a:ea typeface="Courier New" pitchFamily="34" charset="-122"/>
                <a:cs typeface="Courier New" pitchFamily="34" charset="-120"/>
              </a:rPr>
              <a:t>   prov:value ?quote ;</a:t>
            </a:r>
            <a:endParaRPr lang="en-US" sz="1400" dirty="0"/>
          </a:p>
          <a:p>
            <a:pPr indent="0" marL="0">
              <a:spcAft>
                <a:spcPts val="200"/>
              </a:spcAft>
              <a:buNone/>
            </a:pPr>
            <a:r>
              <a:rPr lang="en-US" sz="1400" dirty="0">
                <a:solidFill>
                  <a:srgbClr val="E8F1F2"/>
                </a:solidFill>
                <a:latin typeface="Courier New" pitchFamily="34" charset="0"/>
                <a:ea typeface="Courier New" pitchFamily="34" charset="-122"/>
                <a:cs typeface="Courier New" pitchFamily="34" charset="-120"/>
              </a:rPr>
              <a:t>   ex:sourceQuoteVerified ?verified .</a:t>
            </a:r>
            <a:endParaRPr lang="en-US" sz="1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7955280" y="1920240"/>
          <a:ext cx="3840480" cy="914400"/>
        </p:xfrm>
        <a:graphic>
          <a:graphicData uri="http://schemas.openxmlformats.org/drawingml/2006/table">
            <a:tbl>
              <a:tblPr/>
              <a:tblGrid>
                <a:gridCol w="1417320"/>
                <a:gridCol w="2423160"/>
              </a:tblGrid>
              <a:tr h="384048">
                <a:tc>
                  <a:txBody>
                    <a:bodyPr/>
                    <a:lstStyle/>
                    <a:p>
                      <a:pPr indent="0" marL="0">
                        <a:buNone/>
                      </a:pPr>
                      <a:r>
                        <a:rPr lang="en-US" sz="1600" b="1" dirty="0">
                          <a:solidFill>
                            <a:schemeClr val="bg1"/>
                          </a:solidFill>
                        </a:rPr>
                        <a:t>Study</a:t>
                      </a:r>
                      <a:endParaRPr lang="en-US" sz="16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accent1"/>
                    </a:solidFill>
                  </a:tcPr>
                </a:tc>
                <a:tc>
                  <a:txBody>
                    <a:bodyPr/>
                    <a:lstStyle/>
                    <a:p>
                      <a:pPr indent="0" marL="0">
                        <a:buNone/>
                      </a:pPr>
                      <a:r>
                        <a:rPr lang="en-US" sz="1600" b="1" dirty="0">
                          <a:solidFill>
                            <a:schemeClr val="bg1"/>
                          </a:solidFill>
                        </a:rPr>
                        <a:t>Leave-site-out accuracy</a:t>
                      </a:r>
                      <a:endParaRPr lang="en-US" sz="16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accent1"/>
                    </a:solidFill>
                  </a:tcPr>
                </a:tc>
              </a:tr>
              <a:tr h="384048">
                <a:tc>
                  <a:txBody>
                    <a:bodyPr/>
                    <a:lstStyle/>
                    <a:p>
                      <a:pPr indent="0" marL="0">
                        <a:buNone/>
                      </a:pPr>
                      <a:r>
                        <a:rPr lang="en-US" sz="1600" dirty="0">
                          <a:solidFill>
                            <a:schemeClr val="tx1"/>
                          </a:solidFill>
                        </a:rPr>
                        <a:t>Abraham 2017</a:t>
                      </a:r>
                      <a:endParaRPr lang="en-US" sz="16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66.8%</a:t>
                      </a:r>
                      <a:endParaRPr lang="en-US" sz="16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r h="384048">
                <a:tc>
                  <a:txBody>
                    <a:bodyPr/>
                    <a:lstStyle/>
                    <a:p>
                      <a:pPr indent="0" marL="0">
                        <a:buNone/>
                      </a:pPr>
                      <a:r>
                        <a:rPr lang="en-US" sz="1600" dirty="0">
                          <a:solidFill>
                            <a:schemeClr val="tx1"/>
                          </a:solidFill>
                        </a:rPr>
                        <a:t>S-030</a:t>
                      </a:r>
                      <a:endParaRPr lang="en-US" sz="16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56% balanced accuracy</a:t>
                      </a:r>
                      <a:endParaRPr lang="en-US" sz="16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r>
              <a:tr h="384048">
                <a:tc>
                  <a:txBody>
                    <a:bodyPr/>
                    <a:lstStyle/>
                    <a:p>
                      <a:pPr indent="0" marL="0">
                        <a:buNone/>
                      </a:pPr>
                      <a:r>
                        <a:rPr lang="en-US" sz="1600" dirty="0">
                          <a:solidFill>
                            <a:schemeClr val="tx1"/>
                          </a:solidFill>
                        </a:rPr>
                        <a:t>S-062</a:t>
                      </a:r>
                      <a:endParaRPr lang="en-US" sz="16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71% ± 6%</a:t>
                      </a:r>
                      <a:endParaRPr lang="en-US" sz="16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r h="384048">
                <a:tc>
                  <a:txBody>
                    <a:bodyPr/>
                    <a:lstStyle/>
                    <a:p>
                      <a:pPr indent="0" marL="0">
                        <a:buNone/>
                      </a:pPr>
                      <a:r>
                        <a:rPr lang="en-US" sz="1600" dirty="0">
                          <a:solidFill>
                            <a:schemeClr val="tx1"/>
                          </a:solidFill>
                        </a:rPr>
                        <a:t>S-071</a:t>
                      </a:r>
                      <a:endParaRPr lang="en-US" sz="16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73.4% (CC200 atlas)</a:t>
                      </a:r>
                      <a:endParaRPr lang="en-US" sz="16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r>
            </a:tbl>
          </a:graphicData>
        </a:graphic>
      </p:graphicFrame>
      <p:sp>
        <p:nvSpPr>
          <p:cNvPr id="18" name="text276"/>
          <p:cNvSpPr txBox="1"/>
          <p:nvPr/>
        </p:nvSpPr>
        <p:spPr>
          <a:xfrm>
            <a:off x="7955280" y="3931920"/>
            <a:ext cx="3840480" cy="320040"/>
          </a:xfrm>
          <a:prstGeom prst="rect">
            <a:avLst/>
          </a:prstGeom>
          <a:noFill/>
          <a:ln/>
        </p:spPr>
        <p:txBody>
          <a:bodyPr wrap="square" lIns="0" tIns="0" rIns="0" bIns="0" rtlCol="0" anchor="t"/>
          <a:lstStyle/>
          <a:p>
            <a:pPr indent="0" marL="0">
              <a:buNone/>
            </a:pPr>
            <a:r>
              <a:rPr lang="en-US" sz="1400" i="1" dirty="0">
                <a:solidFill>
                  <a:schemeClr val="accent3"/>
                </a:solidFill>
              </a:rPr>
              <a:t>Also in its table: S-072 ~62%; S-022 with no value</a:t>
            </a:r>
            <a:endParaRPr lang="en-US" sz="1400" dirty="0"/>
          </a:p>
        </p:txBody>
      </p:sp>
      <p:sp>
        <p:nvSpPr>
          <p:cNvPr id="19" name="shape277"/>
          <p:cNvSpPr/>
          <p:nvPr/>
        </p:nvSpPr>
        <p:spPr>
          <a:xfrm>
            <a:off x="7955280" y="4343400"/>
            <a:ext cx="3840480" cy="1965960"/>
          </a:xfrm>
          <a:prstGeom prst="roundRect">
            <a:avLst>
              <a:gd name="adj" fmla="val 4651"/>
            </a:avLst>
          </a:prstGeom>
          <a:solidFill>
            <a:schemeClr val="accent5"/>
          </a:solidFill>
          <a:ln w="19050">
            <a:solidFill>
              <a:schemeClr val="accent2"/>
            </a:solidFill>
            <a:prstDash val="solid"/>
          </a:ln>
        </p:spPr>
      </p:sp>
      <p:sp>
        <p:nvSpPr>
          <p:cNvPr id="20" name="text278"/>
          <p:cNvSpPr txBox="1"/>
          <p:nvPr/>
        </p:nvSpPr>
        <p:spPr>
          <a:xfrm>
            <a:off x="8092440" y="4434840"/>
            <a:ext cx="3611880" cy="1783080"/>
          </a:xfrm>
          <a:prstGeom prst="rect">
            <a:avLst/>
          </a:prstGeom>
          <a:noFill/>
          <a:ln/>
        </p:spPr>
        <p:txBody>
          <a:bodyPr wrap="square" lIns="0" tIns="0" rIns="0" bIns="0" rtlCol="0" anchor="t"/>
          <a:lstStyle/>
          <a:p>
            <a:pPr indent="0" marL="0">
              <a:spcAft>
                <a:spcPts val="600"/>
              </a:spcAft>
              <a:buNone/>
            </a:pPr>
            <a:r>
              <a:rPr lang="en-US" sz="1600" b="1" dirty="0">
                <a:solidFill>
                  <a:schemeClr val="accent2"/>
                </a:solidFill>
              </a:rPr>
              <a:t>What the graph can't tell you</a:t>
            </a:r>
            <a:endParaRPr lang="en-US" sz="1600" dirty="0"/>
          </a:p>
          <a:p>
            <a:pPr marL="342900" indent="-342900">
              <a:spcAft>
                <a:spcPts val="600"/>
              </a:spcAft>
              <a:buSzPct val="100000"/>
              <a:buChar char="•"/>
            </a:pPr>
            <a:r>
              <a:rPr lang="en-US" sz="1600" dirty="0">
                <a:solidFill>
                  <a:schemeClr val="tx1"/>
                </a:solidFill>
              </a:rPr>
              <a:t>S-022 ran the test, but the graph stores no accuracy for it</a:t>
            </a:r>
            <a:endParaRPr lang="en-US" sz="1600" dirty="0"/>
          </a:p>
          <a:p>
            <a:pPr marL="342900" indent="-342900">
              <a:spcAft>
                <a:spcPts val="600"/>
              </a:spcAft>
              <a:buSzPct val="100000"/>
              <a:buChar char="•"/>
            </a:pPr>
            <a:r>
              <a:rPr lang="en-US" sz="1600" dirty="0">
                <a:solidFill>
                  <a:schemeClr val="tx1"/>
                </a:solidFill>
              </a:rPr>
              <a:t>Quotes are tied to papers, not to a specific accuracy value</a:t>
            </a:r>
            <a:endParaRPr lang="en-US" sz="1600" dirty="0"/>
          </a:p>
        </p:txBody>
      </p:sp>
      <p:pic>
        <p:nvPicPr>
          <p:cNvPr id="22" name="stripIcon18" descr="preencoded.png">    </p:cNvPr>
          <p:cNvPicPr>
            <a:picLocks noChangeAspect="1"/>
          </p:cNvPicPr>
          <p:nvPr/>
        </p:nvPicPr>
        <p:blipFill>
          <a:blip r:embed="rId4"/>
          <a:stretch>
            <a:fillRect/>
          </a:stretch>
        </p:blipFill>
        <p:spPr>
          <a:xfrm>
            <a:off x="548640" y="969264"/>
            <a:ext cx="182880" cy="182880"/>
          </a:xfrm>
          <a:prstGeom prst="rect">
            <a:avLst/>
          </a:prstGeom>
        </p:spPr>
      </p:pic>
      <p:sp>
        <p:nvSpPr>
          <p:cNvPr id="23" name="strip18"/>
          <p:cNvSpPr txBox="1"/>
          <p:nvPr/>
        </p:nvSpPr>
        <p:spPr>
          <a:xfrm>
            <a:off x="804672" y="914400"/>
            <a:ext cx="10972800" cy="292608"/>
          </a:xfrm>
          <a:prstGeom prst="rect">
            <a:avLst/>
          </a:prstGeom>
          <a:noFill/>
          <a:ln/>
        </p:spPr>
        <p:txBody>
          <a:bodyPr wrap="square" lIns="0" tIns="0" rIns="0" bIns="0" rtlCol="0" anchor="ctr"/>
          <a:lstStyle/>
          <a:p>
            <a:pPr indent="0" marL="0">
              <a:buNone/>
            </a:pPr>
            <a:r>
              <a:rPr lang="en-US" sz="1200" b="1" dirty="0">
                <a:solidFill>
                  <a:schemeClr val="accent1"/>
                </a:solidFill>
              </a:rPr>
              <a:t>In the graph: </a:t>
            </a:r>
            <a:pPr indent="0" marL="0">
              <a:buNone/>
            </a:pPr>
            <a:r>
              <a:rPr lang="en-US" sz="1200" dirty="0">
                <a:solidFill>
                  <a:schemeClr val="accent3"/>
                </a:solidFill>
              </a:rPr>
              <a:t>literature_kg.ttl — ex:reportsPerformance, ex:evaluationScheme, ex:EvidenceQuote; query written and run by Claude Code</a:t>
            </a:r>
            <a:endParaRPr lang="en-US" sz="1200" dirty="0"/>
          </a:p>
        </p:txBody>
      </p:sp>
      <p:sp>
        <p:nvSpPr>
          <p:cNvPr id="24" name="tagDot18"/>
          <p:cNvSpPr/>
          <p:nvPr/>
        </p:nvSpPr>
        <p:spPr>
          <a:xfrm>
            <a:off x="9326880" y="82296"/>
            <a:ext cx="128016" cy="128016"/>
          </a:xfrm>
          <a:prstGeom prst="ellipse">
            <a:avLst/>
          </a:prstGeom>
          <a:solidFill>
            <a:schemeClr val="tx2"/>
          </a:solidFill>
          <a:ln/>
        </p:spPr>
      </p:sp>
      <p:sp>
        <p:nvSpPr>
          <p:cNvPr id="25" name="tag18"/>
          <p:cNvSpPr txBox="1"/>
          <p:nvPr/>
        </p:nvSpPr>
        <p:spPr>
          <a:xfrm>
            <a:off x="9509760" y="18288"/>
            <a:ext cx="2286000" cy="256032"/>
          </a:xfrm>
          <a:prstGeom prst="rect">
            <a:avLst/>
          </a:prstGeom>
          <a:noFill/>
          <a:ln/>
        </p:spPr>
        <p:txBody>
          <a:bodyPr wrap="square" lIns="0" tIns="0" rIns="0" bIns="0" rtlCol="0" anchor="ctr"/>
          <a:lstStyle/>
          <a:p>
            <a:pPr indent="0" marL="0">
              <a:buNone/>
            </a:pPr>
            <a:r>
              <a:rPr lang="en-US" sz="1200" i="1" dirty="0">
                <a:solidFill>
                  <a:schemeClr val="accent3"/>
                </a:solidFill>
              </a:rPr>
              <a:t>Objective 2</a:t>
            </a:r>
            <a:endParaRPr lang="en-US" sz="1200" dirty="0"/>
          </a:p>
        </p:txBody>
      </p:sp>
      <p:sp>
        <p:nvSpPr>
          <p:cNvPr id="26" name="badge18_A"/>
          <p:cNvSpPr txBox="1"/>
          <p:nvPr/>
        </p:nvSpPr>
        <p:spPr>
          <a:xfrm>
            <a:off x="274320"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A</a:t>
            </a:r>
            <a:endParaRPr lang="en-US" sz="1100" dirty="0"/>
          </a:p>
        </p:txBody>
      </p:sp>
      <p:sp>
        <p:nvSpPr>
          <p:cNvPr id="27" name="data18"/>
          <p:cNvSpPr txBox="1"/>
          <p:nvPr/>
        </p:nvSpPr>
        <p:spPr>
          <a:xfrm>
            <a:off x="1517904" y="6473952"/>
            <a:ext cx="9637776" cy="301752"/>
          </a:xfrm>
          <a:prstGeom prst="rect">
            <a:avLst/>
          </a:prstGeom>
          <a:noFill/>
          <a:ln/>
        </p:spPr>
        <p:txBody>
          <a:bodyPr wrap="square" lIns="0" tIns="0" rIns="0" bIns="0" rtlCol="0" anchor="ctr"/>
          <a:lstStyle/>
          <a:p>
            <a:pPr indent="0" marL="0">
              <a:buNone/>
            </a:pPr>
            <a:r>
              <a:rPr lang="en-US" sz="1100" dirty="0">
                <a:solidFill>
                  <a:srgbClr val="5E7A88"/>
                </a:solidFill>
              </a:rPr>
              <a:t>Data: 74 ABIDE studies (SynthScholar review, 2026-10-15)</a:t>
            </a:r>
            <a:endParaRPr lang="en-US" sz="1100" dirty="0"/>
          </a:p>
        </p:txBody>
      </p:sp>
      <p:sp>
        <p:nvSpPr>
          <p:cNvPr id="28" name="badge18_check"/>
          <p:cNvSpPr txBox="1"/>
          <p:nvPr/>
        </p:nvSpPr>
        <p:spPr>
          <a:xfrm>
            <a:off x="630936" y="6473952"/>
            <a:ext cx="749808" cy="301752"/>
          </a:xfrm>
          <a:prstGeom prst="rect">
            <a:avLst/>
          </a:prstGeom>
          <a:noFill/>
          <a:ln/>
        </p:spPr>
        <p:txBody>
          <a:bodyPr wrap="square" lIns="0" tIns="0" rIns="0" bIns="0" rtlCol="0" anchor="ctr"/>
          <a:lstStyle/>
          <a:p>
            <a:pPr indent="0" marL="0">
              <a:buNone/>
            </a:pPr>
            <a:r>
              <a:rPr lang="en-US" sz="1100" i="1" dirty="0">
                <a:solidFill>
                  <a:srgbClr val="5E7A88"/>
                </a:solidFill>
              </a:rPr>
              <a:t>validated</a:t>
            </a:r>
            <a:endParaRPr lang="en-US" sz="11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
            <a:ext cx="11064240" cy="713232"/>
          </a:xfrm>
          <a:prstGeom prst="rect">
            <a:avLst/>
          </a:prstGeom>
          <a:noFill/>
          <a:ln/>
        </p:spPr>
        <p:txBody>
          <a:bodyPr wrap="square" rtlCol="0" anchor="ctr"/>
          <a:lstStyle/>
          <a:p>
            <a:pPr algn="l" indent="0" marL="0">
              <a:buNone/>
            </a:pPr>
            <a:r>
              <a:rPr lang="en-US" sz="3200" b="1" dirty="0">
                <a:solidFill>
                  <a:schemeClr val="tx2"/>
                </a:solidFill>
              </a:rPr>
              <a:t>Evaluation schemes in 74 ABIDE studies</a:t>
            </a:r>
            <a:endParaRPr lang="en-US" sz="3200" dirty="0"/>
          </a:p>
        </p:txBody>
      </p:sp>
      <p:pic>
        <p:nvPicPr>
          <p:cNvPr id="3" name="fig279" descr="accuracy_by_evaluation.png">    </p:cNvPr>
          <p:cNvPicPr>
            <a:picLocks noChangeAspect="1"/>
          </p:cNvPicPr>
          <p:nvPr/>
        </p:nvPicPr>
        <p:blipFill>
          <a:blip r:embed="rId1"/>
          <a:stretch>
            <a:fillRect/>
          </a:stretch>
        </p:blipFill>
        <p:spPr>
          <a:xfrm>
            <a:off x="1531451" y="1234440"/>
            <a:ext cx="9098619" cy="5120640"/>
          </a:xfrm>
          <a:prstGeom prst="rect">
            <a:avLst/>
          </a:prstGeom>
        </p:spPr>
      </p:pic>
      <p:pic>
        <p:nvPicPr>
          <p:cNvPr id="5" name="stripIcon19" descr="preencoded.png">    </p:cNvPr>
          <p:cNvPicPr>
            <a:picLocks noChangeAspect="1"/>
          </p:cNvPicPr>
          <p:nvPr/>
        </p:nvPicPr>
        <p:blipFill>
          <a:blip r:embed="rId2"/>
          <a:stretch>
            <a:fillRect/>
          </a:stretch>
        </p:blipFill>
        <p:spPr>
          <a:xfrm>
            <a:off x="548640" y="969264"/>
            <a:ext cx="182880" cy="182880"/>
          </a:xfrm>
          <a:prstGeom prst="rect">
            <a:avLst/>
          </a:prstGeom>
        </p:spPr>
      </p:pic>
      <p:sp>
        <p:nvSpPr>
          <p:cNvPr id="6" name="strip19"/>
          <p:cNvSpPr txBox="1"/>
          <p:nvPr/>
        </p:nvSpPr>
        <p:spPr>
          <a:xfrm>
            <a:off x="804672" y="914400"/>
            <a:ext cx="10972800" cy="292608"/>
          </a:xfrm>
          <a:prstGeom prst="rect">
            <a:avLst/>
          </a:prstGeom>
          <a:noFill/>
          <a:ln/>
        </p:spPr>
        <p:txBody>
          <a:bodyPr wrap="square" lIns="0" tIns="0" rIns="0" bIns="0" rtlCol="0" anchor="ctr"/>
          <a:lstStyle/>
          <a:p>
            <a:pPr indent="0" marL="0">
              <a:buNone/>
            </a:pPr>
            <a:r>
              <a:rPr lang="en-US" sz="1200" b="1" dirty="0">
                <a:solidFill>
                  <a:schemeClr val="accent1"/>
                </a:solidFill>
              </a:rPr>
              <a:t>In the graph: </a:t>
            </a:r>
            <a:pPr indent="0" marL="0">
              <a:buNone/>
            </a:pPr>
            <a:r>
              <a:rPr lang="en-US" sz="1200" dirty="0">
                <a:solidFill>
                  <a:schemeClr val="accent3"/>
                </a:solidFill>
              </a:rPr>
              <a:t>literature_review/literature_kg.ttl (10,779 triples); phase3/s5_sparql_checks.py confirms each count → figure: phase3/s6_figures.py</a:t>
            </a:r>
            <a:endParaRPr lang="en-US" sz="1200" dirty="0"/>
          </a:p>
        </p:txBody>
      </p:sp>
      <p:sp>
        <p:nvSpPr>
          <p:cNvPr id="7" name="tagDot19"/>
          <p:cNvSpPr/>
          <p:nvPr/>
        </p:nvSpPr>
        <p:spPr>
          <a:xfrm>
            <a:off x="9326880" y="82296"/>
            <a:ext cx="128016" cy="128016"/>
          </a:xfrm>
          <a:prstGeom prst="ellipse">
            <a:avLst/>
          </a:prstGeom>
          <a:solidFill>
            <a:schemeClr val="tx2"/>
          </a:solidFill>
          <a:ln/>
        </p:spPr>
      </p:sp>
      <p:sp>
        <p:nvSpPr>
          <p:cNvPr id="8" name="tag19"/>
          <p:cNvSpPr txBox="1"/>
          <p:nvPr/>
        </p:nvSpPr>
        <p:spPr>
          <a:xfrm>
            <a:off x="9509760" y="18288"/>
            <a:ext cx="2286000" cy="256032"/>
          </a:xfrm>
          <a:prstGeom prst="rect">
            <a:avLst/>
          </a:prstGeom>
          <a:noFill/>
          <a:ln/>
        </p:spPr>
        <p:txBody>
          <a:bodyPr wrap="square" lIns="0" tIns="0" rIns="0" bIns="0" rtlCol="0" anchor="ctr"/>
          <a:lstStyle/>
          <a:p>
            <a:pPr indent="0" marL="0">
              <a:buNone/>
            </a:pPr>
            <a:r>
              <a:rPr lang="en-US" sz="1200" i="1" dirty="0">
                <a:solidFill>
                  <a:schemeClr val="accent3"/>
                </a:solidFill>
              </a:rPr>
              <a:t>Objective 2</a:t>
            </a:r>
            <a:endParaRPr lang="en-US" sz="1200" dirty="0"/>
          </a:p>
        </p:txBody>
      </p:sp>
      <p:sp>
        <p:nvSpPr>
          <p:cNvPr id="9" name="badge19_A"/>
          <p:cNvSpPr txBox="1"/>
          <p:nvPr/>
        </p:nvSpPr>
        <p:spPr>
          <a:xfrm>
            <a:off x="274320"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A</a:t>
            </a:r>
            <a:endParaRPr lang="en-US" sz="1100" dirty="0"/>
          </a:p>
        </p:txBody>
      </p:sp>
      <p:sp>
        <p:nvSpPr>
          <p:cNvPr id="10" name="badge19_R"/>
          <p:cNvSpPr txBox="1"/>
          <p:nvPr/>
        </p:nvSpPr>
        <p:spPr>
          <a:xfrm>
            <a:off x="576072"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R</a:t>
            </a:r>
            <a:endParaRPr lang="en-US" sz="1100" dirty="0"/>
          </a:p>
        </p:txBody>
      </p:sp>
      <p:sp>
        <p:nvSpPr>
          <p:cNvPr id="11" name="data19"/>
          <p:cNvSpPr txBox="1"/>
          <p:nvPr/>
        </p:nvSpPr>
        <p:spPr>
          <a:xfrm>
            <a:off x="1819656" y="6473952"/>
            <a:ext cx="9336024" cy="301752"/>
          </a:xfrm>
          <a:prstGeom prst="rect">
            <a:avLst/>
          </a:prstGeom>
          <a:noFill/>
          <a:ln/>
        </p:spPr>
        <p:txBody>
          <a:bodyPr wrap="square" lIns="0" tIns="0" rIns="0" bIns="0" rtlCol="0" anchor="ctr"/>
          <a:lstStyle/>
          <a:p>
            <a:pPr indent="0" marL="0">
              <a:buNone/>
            </a:pPr>
            <a:r>
              <a:rPr lang="en-US" sz="1100" dirty="0">
                <a:solidFill>
                  <a:srgbClr val="5E7A88"/>
                </a:solidFill>
              </a:rPr>
              <a:t>Data: 74 ABIDE studies (SynthScholar review, 2026-10-15)</a:t>
            </a:r>
            <a:endParaRPr lang="en-US" sz="1100" dirty="0"/>
          </a:p>
        </p:txBody>
      </p:sp>
      <p:sp>
        <p:nvSpPr>
          <p:cNvPr id="12" name="badge19_check"/>
          <p:cNvSpPr txBox="1"/>
          <p:nvPr/>
        </p:nvSpPr>
        <p:spPr>
          <a:xfrm>
            <a:off x="932688" y="6473952"/>
            <a:ext cx="749808" cy="301752"/>
          </a:xfrm>
          <a:prstGeom prst="rect">
            <a:avLst/>
          </a:prstGeom>
          <a:noFill/>
          <a:ln/>
        </p:spPr>
        <p:txBody>
          <a:bodyPr wrap="square" lIns="0" tIns="0" rIns="0" bIns="0" rtlCol="0" anchor="ctr"/>
          <a:lstStyle/>
          <a:p>
            <a:pPr indent="0" marL="0">
              <a:buNone/>
            </a:pPr>
            <a:r>
              <a:rPr lang="en-US" sz="1100" i="1" dirty="0">
                <a:solidFill>
                  <a:srgbClr val="5E7A88"/>
                </a:solidFill>
              </a:rPr>
              <a:t>validated</a:t>
            </a:r>
            <a:endParaRPr lang="en-US" sz="11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
            <a:ext cx="11064240" cy="713232"/>
          </a:xfrm>
          <a:prstGeom prst="rect">
            <a:avLst/>
          </a:prstGeom>
          <a:noFill/>
          <a:ln/>
        </p:spPr>
        <p:txBody>
          <a:bodyPr wrap="square" rtlCol="0" anchor="ctr"/>
          <a:lstStyle/>
          <a:p>
            <a:pPr algn="l" indent="0" marL="0">
              <a:buNone/>
            </a:pPr>
            <a:r>
              <a:rPr lang="en-US" sz="3200" b="1" dirty="0">
                <a:solidFill>
                  <a:schemeClr val="tx2"/>
                </a:solidFill>
              </a:rPr>
              <a:t>ReproPond and ReproLake as attributes on graph records</a:t>
            </a:r>
            <a:endParaRPr lang="en-US" sz="3200" dirty="0"/>
          </a:p>
        </p:txBody>
      </p:sp>
      <p:sp>
        <p:nvSpPr>
          <p:cNvPr id="3" name="shape280"/>
          <p:cNvSpPr/>
          <p:nvPr/>
        </p:nvSpPr>
        <p:spPr>
          <a:xfrm>
            <a:off x="365760" y="1280160"/>
            <a:ext cx="3383280" cy="1234440"/>
          </a:xfrm>
          <a:custGeom>
            <a:avLst/>
            <a:gdLst/>
            <a:ahLst/>
            <a:cxnLst/>
            <a:rect l="l" t="t" r="r" b="b"/>
            <a:pathLst>
              <a:path w="3383280" h="1234440">
                <a:moveTo>
                  <a:pt x="3197878" y="617220"/>
                </a:moveTo>
                <a:cubicBezTo>
                  <a:pt x="3211501" y="744063"/>
                  <a:pt x="3181726" y="917691"/>
                  <a:pt x="2975421" y="1010260"/>
                </a:cubicBezTo>
                <a:cubicBezTo>
                  <a:pt x="2769117" y="1102829"/>
                  <a:pt x="2308240" y="1153314"/>
                  <a:pt x="1960052" y="1172632"/>
                </a:cubicBezTo>
                <a:cubicBezTo>
                  <a:pt x="1611864" y="1191951"/>
                  <a:pt x="1168268" y="1187234"/>
                  <a:pt x="886293" y="1126171"/>
                </a:cubicBezTo>
                <a:cubicBezTo>
                  <a:pt x="604317" y="1065108"/>
                  <a:pt x="397512" y="926076"/>
                  <a:pt x="268199" y="806253"/>
                </a:cubicBezTo>
                <a:cubicBezTo>
                  <a:pt x="138885" y="686430"/>
                  <a:pt x="2898" y="520721"/>
                  <a:pt x="110412" y="407233"/>
                </a:cubicBezTo>
                <a:cubicBezTo>
                  <a:pt x="217925" y="293745"/>
                  <a:pt x="605059" y="182791"/>
                  <a:pt x="913282" y="125325"/>
                </a:cubicBezTo>
                <a:cubicBezTo>
                  <a:pt x="1221504" y="67860"/>
                  <a:pt x="1629679" y="41794"/>
                  <a:pt x="1959746" y="62441"/>
                </a:cubicBezTo>
                <a:cubicBezTo>
                  <a:pt x="2289813" y="83087"/>
                  <a:pt x="2687329" y="156741"/>
                  <a:pt x="2893684" y="249205"/>
                </a:cubicBezTo>
                <a:cubicBezTo>
                  <a:pt x="3100039" y="341668"/>
                  <a:pt x="3184255" y="490377"/>
                  <a:pt x="3197878" y="617220"/>
                </a:cubicBezTo>
                <a:close/>
              </a:path>
            </a:pathLst>
          </a:custGeom>
          <a:solidFill>
            <a:srgbClr val="BFE0E0"/>
          </a:solidFill>
          <a:ln/>
        </p:spPr>
      </p:sp>
      <p:sp>
        <p:nvSpPr>
          <p:cNvPr id="4" name="text281"/>
          <p:cNvSpPr txBox="1"/>
          <p:nvPr/>
        </p:nvSpPr>
        <p:spPr>
          <a:xfrm>
            <a:off x="640080" y="1417320"/>
            <a:ext cx="2834640" cy="960120"/>
          </a:xfrm>
          <a:prstGeom prst="rect">
            <a:avLst/>
          </a:prstGeom>
          <a:noFill/>
          <a:ln/>
        </p:spPr>
        <p:txBody>
          <a:bodyPr wrap="square" lIns="0" tIns="0" rIns="0" bIns="0" rtlCol="0" anchor="ctr"/>
          <a:lstStyle/>
          <a:p>
            <a:pPr algn="ctr" indent="0" marL="0">
              <a:buNone/>
            </a:pPr>
            <a:r>
              <a:rPr lang="en-US" sz="1600" b="1" dirty="0">
                <a:solidFill>
                  <a:schemeClr val="tx2"/>
                </a:solidFill>
              </a:rPr>
              <a:t>Site pond</a:t>
            </a:r>
            <a:endParaRPr lang="en-US" sz="1600" dirty="0"/>
          </a:p>
          <a:p>
            <a:pPr algn="ctr" indent="0" marL="0">
              <a:buNone/>
            </a:pPr>
            <a:r>
              <a:rPr lang="en-US" sz="1600" dirty="0">
                <a:solidFill>
                  <a:schemeClr val="tx2"/>
                </a:solidFill>
              </a:rPr>
              <a:t>scanner B quirk; motion profile</a:t>
            </a:r>
            <a:endParaRPr lang="en-US" sz="1600" dirty="0"/>
          </a:p>
        </p:txBody>
      </p:sp>
      <p:sp>
        <p:nvSpPr>
          <p:cNvPr id="5" name="shape282"/>
          <p:cNvSpPr/>
          <p:nvPr/>
        </p:nvSpPr>
        <p:spPr>
          <a:xfrm>
            <a:off x="365760" y="2606040"/>
            <a:ext cx="3383280" cy="1234440"/>
          </a:xfrm>
          <a:custGeom>
            <a:avLst/>
            <a:gdLst/>
            <a:ahLst/>
            <a:cxnLst/>
            <a:rect l="l" t="t" r="r" b="b"/>
            <a:pathLst>
              <a:path w="3383280" h="1234440">
                <a:moveTo>
                  <a:pt x="3279262" y="617220"/>
                </a:moveTo>
                <a:cubicBezTo>
                  <a:pt x="3270332" y="735825"/>
                  <a:pt x="3047866" y="874247"/>
                  <a:pt x="2827039" y="964831"/>
                </a:cubicBezTo>
                <a:cubicBezTo>
                  <a:pt x="2606212" y="1055416"/>
                  <a:pt x="2273513" y="1136519"/>
                  <a:pt x="1954299" y="1160727"/>
                </a:cubicBezTo>
                <a:cubicBezTo>
                  <a:pt x="1635084" y="1184935"/>
                  <a:pt x="1202157" y="1167914"/>
                  <a:pt x="911752" y="1110081"/>
                </a:cubicBezTo>
                <a:cubicBezTo>
                  <a:pt x="621348" y="1052249"/>
                  <a:pt x="312650" y="926522"/>
                  <a:pt x="211871" y="813733"/>
                </a:cubicBezTo>
                <a:cubicBezTo>
                  <a:pt x="111093" y="700945"/>
                  <a:pt x="199034" y="553680"/>
                  <a:pt x="307083" y="433351"/>
                </a:cubicBezTo>
                <a:cubicBezTo>
                  <a:pt x="415131" y="313021"/>
                  <a:pt x="583260" y="156595"/>
                  <a:pt x="860163" y="91756"/>
                </a:cubicBezTo>
                <a:cubicBezTo>
                  <a:pt x="1137067" y="26917"/>
                  <a:pt x="1631762" y="17409"/>
                  <a:pt x="1968505" y="44316"/>
                </a:cubicBezTo>
                <a:cubicBezTo>
                  <a:pt x="2305248" y="71224"/>
                  <a:pt x="2662162" y="157720"/>
                  <a:pt x="2880622" y="253204"/>
                </a:cubicBezTo>
                <a:cubicBezTo>
                  <a:pt x="3099081" y="348688"/>
                  <a:pt x="3288192" y="498615"/>
                  <a:pt x="3279262" y="617220"/>
                </a:cubicBezTo>
                <a:close/>
              </a:path>
            </a:pathLst>
          </a:custGeom>
          <a:solidFill>
            <a:srgbClr val="BFE0E0"/>
          </a:solidFill>
          <a:ln/>
        </p:spPr>
      </p:sp>
      <p:sp>
        <p:nvSpPr>
          <p:cNvPr id="6" name="text283"/>
          <p:cNvSpPr txBox="1"/>
          <p:nvPr/>
        </p:nvSpPr>
        <p:spPr>
          <a:xfrm>
            <a:off x="640080" y="2743200"/>
            <a:ext cx="2834640" cy="960120"/>
          </a:xfrm>
          <a:prstGeom prst="rect">
            <a:avLst/>
          </a:prstGeom>
          <a:noFill/>
          <a:ln/>
        </p:spPr>
        <p:txBody>
          <a:bodyPr wrap="square" lIns="0" tIns="0" rIns="0" bIns="0" rtlCol="0" anchor="ctr"/>
          <a:lstStyle/>
          <a:p>
            <a:pPr algn="ctr" indent="0" marL="0">
              <a:buNone/>
            </a:pPr>
            <a:r>
              <a:rPr lang="en-US" sz="1600" b="1" dirty="0">
                <a:solidFill>
                  <a:schemeClr val="tx2"/>
                </a:solidFill>
              </a:rPr>
              <a:t>Lab pond</a:t>
            </a:r>
            <a:endParaRPr lang="en-US" sz="1600" dirty="0"/>
          </a:p>
          <a:p>
            <a:pPr algn="ctr" indent="0" marL="0">
              <a:buNone/>
            </a:pPr>
            <a:r>
              <a:rPr lang="en-US" sz="1600" dirty="0">
                <a:solidFill>
                  <a:schemeClr val="tx2"/>
                </a:solidFill>
              </a:rPr>
              <a:t>FD rule, cohorts, reviews, skills</a:t>
            </a:r>
            <a:endParaRPr lang="en-US" sz="1600" dirty="0"/>
          </a:p>
        </p:txBody>
      </p:sp>
      <p:sp>
        <p:nvSpPr>
          <p:cNvPr id="7" name="shape284"/>
          <p:cNvSpPr/>
          <p:nvPr/>
        </p:nvSpPr>
        <p:spPr>
          <a:xfrm>
            <a:off x="228600" y="3886200"/>
            <a:ext cx="4572000" cy="2743200"/>
          </a:xfrm>
          <a:custGeom>
            <a:avLst/>
            <a:gdLst/>
            <a:ahLst/>
            <a:cxnLst/>
            <a:rect l="l" t="t" r="r" b="b"/>
            <a:pathLst>
              <a:path w="4572000" h="2743200">
                <a:moveTo>
                  <a:pt x="4541413" y="1371600"/>
                </a:moveTo>
                <a:cubicBezTo>
                  <a:pt x="4539728" y="1637431"/>
                  <a:pt x="4183012" y="1969659"/>
                  <a:pt x="3864972" y="2166549"/>
                </a:cubicBezTo>
                <a:cubicBezTo>
                  <a:pt x="3546931" y="2363438"/>
                  <a:pt x="3066248" y="2508846"/>
                  <a:pt x="2633169" y="2552937"/>
                </a:cubicBezTo>
                <a:cubicBezTo>
                  <a:pt x="2200091" y="2597028"/>
                  <a:pt x="1670332" y="2552429"/>
                  <a:pt x="1266502" y="2431093"/>
                </a:cubicBezTo>
                <a:cubicBezTo>
                  <a:pt x="862673" y="2309757"/>
                  <a:pt x="357943" y="2070873"/>
                  <a:pt x="210195" y="1824919"/>
                </a:cubicBezTo>
                <a:cubicBezTo>
                  <a:pt x="62446" y="1578964"/>
                  <a:pt x="206604" y="1210251"/>
                  <a:pt x="380009" y="955366"/>
                </a:cubicBezTo>
                <a:cubicBezTo>
                  <a:pt x="553413" y="700480"/>
                  <a:pt x="868627" y="445130"/>
                  <a:pt x="1250622" y="295603"/>
                </a:cubicBezTo>
                <a:cubicBezTo>
                  <a:pt x="1632617" y="146077"/>
                  <a:pt x="2234568" y="12212"/>
                  <a:pt x="2671978" y="58205"/>
                </a:cubicBezTo>
                <a:cubicBezTo>
                  <a:pt x="3109388" y="104198"/>
                  <a:pt x="3563508" y="352663"/>
                  <a:pt x="3875081" y="571562"/>
                </a:cubicBezTo>
                <a:cubicBezTo>
                  <a:pt x="4186653" y="790461"/>
                  <a:pt x="4543098" y="1105769"/>
                  <a:pt x="4541413" y="1371600"/>
                </a:cubicBezTo>
                <a:close/>
              </a:path>
            </a:pathLst>
          </a:custGeom>
          <a:solidFill>
            <a:srgbClr val="BFE0E0"/>
          </a:solidFill>
          <a:ln/>
        </p:spPr>
      </p:sp>
      <p:sp>
        <p:nvSpPr>
          <p:cNvPr id="8" name="shape286"/>
          <p:cNvSpPr/>
          <p:nvPr/>
        </p:nvSpPr>
        <p:spPr>
          <a:xfrm>
            <a:off x="777240" y="4206240"/>
            <a:ext cx="502920" cy="502920"/>
          </a:xfrm>
          <a:prstGeom prst="ellipse">
            <a:avLst/>
          </a:prstGeom>
          <a:solidFill>
            <a:schemeClr val="accent2"/>
          </a:solidFill>
          <a:ln/>
        </p:spPr>
      </p:sp>
      <p:pic>
        <p:nvPicPr>
          <p:cNvPr id="9" name="lock286" descr="preencoded.png">    </p:cNvPr>
          <p:cNvPicPr>
            <a:picLocks noChangeAspect="1"/>
          </p:cNvPicPr>
          <p:nvPr/>
        </p:nvPicPr>
        <p:blipFill>
          <a:blip r:embed="rId1"/>
          <a:stretch>
            <a:fillRect/>
          </a:stretch>
        </p:blipFill>
        <p:spPr>
          <a:xfrm>
            <a:off x="905256" y="4334256"/>
            <a:ext cx="246888" cy="246888"/>
          </a:xfrm>
          <a:prstGeom prst="rect">
            <a:avLst/>
          </a:prstGeom>
        </p:spPr>
      </p:pic>
      <p:sp>
        <p:nvSpPr>
          <p:cNvPr id="10" name="text287"/>
          <p:cNvSpPr txBox="1"/>
          <p:nvPr/>
        </p:nvSpPr>
        <p:spPr>
          <a:xfrm>
            <a:off x="1371600" y="4224528"/>
            <a:ext cx="2926080" cy="457200"/>
          </a:xfrm>
          <a:prstGeom prst="rect">
            <a:avLst/>
          </a:prstGeom>
          <a:noFill/>
          <a:ln/>
        </p:spPr>
        <p:txBody>
          <a:bodyPr wrap="square" lIns="0" tIns="0" rIns="0" bIns="0" rtlCol="0" anchor="ctr"/>
          <a:lstStyle/>
          <a:p>
            <a:pPr indent="0" marL="0">
              <a:buNone/>
            </a:pPr>
            <a:r>
              <a:rPr lang="en-US" sz="1800" b="1" dirty="0">
                <a:solidFill>
                  <a:schemeClr val="accent2"/>
                </a:solidFill>
              </a:rPr>
              <a:t>Stays in the pond</a:t>
            </a:r>
            <a:endParaRPr lang="en-US" sz="1800" dirty="0"/>
          </a:p>
        </p:txBody>
      </p:sp>
      <p:sp>
        <p:nvSpPr>
          <p:cNvPr id="11" name="staysList"/>
          <p:cNvSpPr txBox="1"/>
          <p:nvPr/>
        </p:nvSpPr>
        <p:spPr>
          <a:xfrm>
            <a:off x="685800" y="4709160"/>
            <a:ext cx="3931920" cy="1600200"/>
          </a:xfrm>
          <a:prstGeom prst="rect">
            <a:avLst/>
          </a:prstGeom>
          <a:noFill/>
          <a:ln/>
        </p:spPr>
        <p:txBody>
          <a:bodyPr wrap="square" lIns="0" tIns="0" rIns="0" bIns="0" rtlCol="0" anchor="t"/>
          <a:lstStyle/>
          <a:p>
            <a:pPr marL="342900" indent="-342900">
              <a:buSzPct val="100000"/>
              <a:buChar char="•"/>
            </a:pPr>
            <a:r>
              <a:rPr lang="en-US" sz="1600" dirty="0">
                <a:solidFill>
                  <a:schemeClr val="tx1"/>
                </a:solidFill>
              </a:rPr>
              <a:t>consent scoped to study or named uses</a:t>
            </a:r>
            <a:endParaRPr lang="en-US" sz="1600" dirty="0"/>
          </a:p>
          <a:p>
            <a:pPr marL="342900" indent="-342900">
              <a:buSzPct val="100000"/>
              <a:buChar char="•"/>
            </a:pPr>
            <a:r>
              <a:rPr lang="en-US" sz="1600" dirty="0">
                <a:solidFill>
                  <a:schemeClr val="tx1"/>
                </a:solidFill>
              </a:rPr>
              <a:t>direct identifiers, full dates</a:t>
            </a:r>
            <a:endParaRPr lang="en-US" sz="1600" dirty="0"/>
          </a:p>
          <a:p>
            <a:pPr marL="342900" indent="-342900">
              <a:buSzPct val="100000"/>
              <a:buChar char="•"/>
            </a:pPr>
            <a:r>
              <a:rPr lang="en-US" sz="1600" dirty="0">
                <a:solidFill>
                  <a:schemeClr val="tx1"/>
                </a:solidFill>
              </a:rPr>
              <a:t>undefaced images</a:t>
            </a:r>
            <a:endParaRPr lang="en-US" sz="1600" dirty="0"/>
          </a:p>
          <a:p>
            <a:pPr marL="342900" indent="-342900">
              <a:buSzPct val="100000"/>
              <a:buChar char="•"/>
            </a:pPr>
            <a:r>
              <a:rPr lang="en-US" sz="1600" dirty="0">
                <a:solidFill>
                  <a:schemeClr val="tx1"/>
                </a:solidFill>
              </a:rPr>
              <a:t>quasi-identifiers, small cells</a:t>
            </a:r>
            <a:endParaRPr lang="en-US" sz="1600" dirty="0"/>
          </a:p>
          <a:p>
            <a:pPr marL="342900" indent="-342900">
              <a:buSzPct val="100000"/>
              <a:buChar char="•"/>
            </a:pPr>
            <a:r>
              <a:rPr lang="en-US" sz="1600" dirty="0">
                <a:solidFill>
                  <a:schemeClr val="tx1"/>
                </a:solidFill>
              </a:rPr>
              <a:t>restricted fields; linking keys</a:t>
            </a:r>
            <a:endParaRPr lang="en-US" sz="1600" dirty="0"/>
          </a:p>
        </p:txBody>
      </p:sp>
      <p:sp>
        <p:nvSpPr>
          <p:cNvPr id="12" name="shape288"/>
          <p:cNvSpPr/>
          <p:nvPr/>
        </p:nvSpPr>
        <p:spPr>
          <a:xfrm>
            <a:off x="7726680" y="2148840"/>
            <a:ext cx="4114800" cy="4023360"/>
          </a:xfrm>
          <a:custGeom>
            <a:avLst/>
            <a:gdLst/>
            <a:ahLst/>
            <a:cxnLst/>
            <a:rect l="l" t="t" r="r" b="b"/>
            <a:pathLst>
              <a:path w="4114800" h="4023360">
                <a:moveTo>
                  <a:pt x="4082819" y="2011680"/>
                </a:moveTo>
                <a:cubicBezTo>
                  <a:pt x="4085673" y="2411668"/>
                  <a:pt x="3808100" y="2897082"/>
                  <a:pt x="3528523" y="3218667"/>
                </a:cubicBezTo>
                <a:cubicBezTo>
                  <a:pt x="3248946" y="3540252"/>
                  <a:pt x="2811210" y="3870257"/>
                  <a:pt x="2405357" y="3941190"/>
                </a:cubicBezTo>
                <a:cubicBezTo>
                  <a:pt x="1999504" y="4012122"/>
                  <a:pt x="1445643" y="3861132"/>
                  <a:pt x="1093406" y="3644263"/>
                </a:cubicBezTo>
                <a:cubicBezTo>
                  <a:pt x="741169" y="3427394"/>
                  <a:pt x="409300" y="3011021"/>
                  <a:pt x="291935" y="2639977"/>
                </a:cubicBezTo>
                <a:cubicBezTo>
                  <a:pt x="174569" y="2268934"/>
                  <a:pt x="246127" y="1778713"/>
                  <a:pt x="389214" y="1418003"/>
                </a:cubicBezTo>
                <a:cubicBezTo>
                  <a:pt x="532301" y="1057292"/>
                  <a:pt x="813023" y="706165"/>
                  <a:pt x="1150455" y="475714"/>
                </a:cubicBezTo>
                <a:cubicBezTo>
                  <a:pt x="1487888" y="245263"/>
                  <a:pt x="2020319" y="-21875"/>
                  <a:pt x="2413810" y="35296"/>
                </a:cubicBezTo>
                <a:cubicBezTo>
                  <a:pt x="2807301" y="92467"/>
                  <a:pt x="3233234" y="489342"/>
                  <a:pt x="3511402" y="818739"/>
                </a:cubicBezTo>
                <a:cubicBezTo>
                  <a:pt x="3789571" y="1148137"/>
                  <a:pt x="4079966" y="1611692"/>
                  <a:pt x="4082819" y="2011680"/>
                </a:cubicBezTo>
                <a:close/>
              </a:path>
            </a:pathLst>
          </a:custGeom>
          <a:solidFill>
            <a:srgbClr val="8CC7C8"/>
          </a:solidFill>
          <a:ln/>
        </p:spPr>
      </p:sp>
      <p:sp>
        <p:nvSpPr>
          <p:cNvPr id="13" name="text289"/>
          <p:cNvSpPr txBox="1"/>
          <p:nvPr/>
        </p:nvSpPr>
        <p:spPr>
          <a:xfrm>
            <a:off x="8138160" y="2514600"/>
            <a:ext cx="3291840" cy="411480"/>
          </a:xfrm>
          <a:prstGeom prst="rect">
            <a:avLst/>
          </a:prstGeom>
          <a:noFill/>
          <a:ln/>
        </p:spPr>
        <p:txBody>
          <a:bodyPr wrap="square" lIns="0" tIns="0" rIns="0" bIns="0" rtlCol="0" anchor="ctr"/>
          <a:lstStyle/>
          <a:p>
            <a:pPr algn="ctr" indent="0" marL="0">
              <a:buNone/>
            </a:pPr>
            <a:r>
              <a:rPr lang="en-US" sz="2000" b="1" dirty="0">
                <a:solidFill>
                  <a:schemeClr val="tx2"/>
                </a:solidFill>
              </a:rPr>
              <a:t>ReproLake (shared)</a:t>
            </a:r>
            <a:endParaRPr lang="en-US" sz="2000" dirty="0"/>
          </a:p>
        </p:txBody>
      </p:sp>
      <p:sp>
        <p:nvSpPr>
          <p:cNvPr id="14" name="lakeList"/>
          <p:cNvSpPr txBox="1"/>
          <p:nvPr/>
        </p:nvSpPr>
        <p:spPr>
          <a:xfrm>
            <a:off x="8183880" y="2971800"/>
            <a:ext cx="3200400" cy="1737360"/>
          </a:xfrm>
          <a:prstGeom prst="rect">
            <a:avLst/>
          </a:prstGeom>
          <a:noFill/>
          <a:ln/>
        </p:spPr>
        <p:txBody>
          <a:bodyPr wrap="square" rtlCol="0" anchor="ctr"/>
          <a:lstStyle/>
          <a:p>
            <a:pPr algn="ctr" indent="0" marL="0">
              <a:spcAft>
                <a:spcPts val="400"/>
              </a:spcAft>
              <a:buNone/>
            </a:pPr>
            <a:r>
              <a:rPr lang="en-US" sz="1600" dirty="0">
                <a:solidFill>
                  <a:schemeClr val="tx1"/>
                </a:solidFill>
              </a:rPr>
              <a:t>BIDS spec and conventions</a:t>
            </a:r>
            <a:endParaRPr lang="en-US" sz="1600" dirty="0"/>
          </a:p>
          <a:p>
            <a:pPr algn="ctr" indent="0" marL="0">
              <a:spcAft>
                <a:spcPts val="400"/>
              </a:spcAft>
              <a:buNone/>
            </a:pPr>
            <a:r>
              <a:rPr lang="en-US" sz="1600" dirty="0">
                <a:solidFill>
                  <a:schemeClr val="tx1"/>
                </a:solidFill>
              </a:rPr>
              <a:t>published guidelines</a:t>
            </a:r>
            <a:endParaRPr lang="en-US" sz="1600" dirty="0"/>
          </a:p>
          <a:p>
            <a:pPr algn="ctr" indent="0" marL="0">
              <a:spcAft>
                <a:spcPts val="400"/>
              </a:spcAft>
              <a:buNone/>
            </a:pPr>
            <a:r>
              <a:rPr lang="en-US" sz="1600" dirty="0">
                <a:solidFill>
                  <a:schemeClr val="tx1"/>
                </a:solidFill>
              </a:rPr>
              <a:t>dataset records, scoped claims</a:t>
            </a:r>
            <a:endParaRPr lang="en-US" sz="1600" dirty="0"/>
          </a:p>
          <a:p>
            <a:pPr algn="ctr" indent="0" marL="0">
              <a:spcAft>
                <a:spcPts val="400"/>
              </a:spcAft>
              <a:buNone/>
            </a:pPr>
            <a:r>
              <a:rPr lang="en-US" sz="1600" dirty="0">
                <a:solidFill>
                  <a:schemeClr val="tx1"/>
                </a:solidFill>
              </a:rPr>
              <a:t>shared skills, variable definitions</a:t>
            </a:r>
            <a:endParaRPr lang="en-US" sz="1600" dirty="0"/>
          </a:p>
        </p:txBody>
      </p:sp>
      <p:sp>
        <p:nvSpPr>
          <p:cNvPr id="15" name="shape290"/>
          <p:cNvSpPr txBox="1"/>
          <p:nvPr/>
        </p:nvSpPr>
        <p:spPr>
          <a:xfrm>
            <a:off x="8549640" y="4983480"/>
            <a:ext cx="2468880" cy="365760"/>
          </a:xfrm>
          <a:prstGeom prst="roundRect">
            <a:avLst>
              <a:gd name="adj" fmla="val 125000"/>
            </a:avLst>
          </a:prstGeom>
          <a:solidFill>
            <a:schemeClr val="bg1"/>
          </a:solidFill>
          <a:ln w="19050">
            <a:solidFill>
              <a:schemeClr val="accent2"/>
            </a:solidFill>
            <a:prstDash val="dash"/>
          </a:ln>
        </p:spPr>
        <p:txBody>
          <a:bodyPr wrap="square" lIns="50800" tIns="50800" rIns="50800" bIns="50800" rtlCol="0" anchor="ctr"/>
          <a:lstStyle/>
          <a:p>
            <a:pPr algn="ctr" indent="0" marL="0">
              <a:buNone/>
            </a:pPr>
            <a:r>
              <a:rPr lang="en-US" sz="1400" dirty="0">
                <a:solidFill>
                  <a:schemeClr val="accent2"/>
                </a:solidFill>
              </a:rPr>
              <a:t>Deprecation / revision</a:t>
            </a:r>
            <a:endParaRPr lang="en-US" sz="1400" dirty="0"/>
          </a:p>
        </p:txBody>
      </p:sp>
      <p:sp>
        <p:nvSpPr>
          <p:cNvPr id="16" name="curve291"/>
          <p:cNvSpPr/>
          <p:nvPr/>
        </p:nvSpPr>
        <p:spPr>
          <a:xfrm>
            <a:off x="3703320" y="1920240"/>
            <a:ext cx="4160520" cy="1143000"/>
          </a:xfrm>
          <a:custGeom>
            <a:avLst/>
            <a:gdLst/>
            <a:ahLst/>
            <a:cxnLst/>
            <a:rect l="l" t="t" r="r" b="b"/>
            <a:pathLst>
              <a:path w="4160520" h="1143000">
                <a:moveTo>
                  <a:pt x="0" y="0"/>
                </a:moveTo>
                <a:cubicBezTo>
                  <a:pt x="2080260" y="0"/>
                  <a:pt x="2080260" y="1143000"/>
                  <a:pt x="4160520" y="1143000"/>
                </a:cubicBezTo>
              </a:path>
            </a:pathLst>
          </a:custGeom>
          <a:ln w="88900">
            <a:solidFill>
              <a:srgbClr val="8CC7C8"/>
            </a:solidFill>
            <a:prstDash val="solid"/>
          </a:ln>
        </p:spPr>
      </p:sp>
      <p:sp>
        <p:nvSpPr>
          <p:cNvPr id="17" name="curve292"/>
          <p:cNvSpPr/>
          <p:nvPr/>
        </p:nvSpPr>
        <p:spPr>
          <a:xfrm>
            <a:off x="3703320" y="3246120"/>
            <a:ext cx="4114800" cy="594360"/>
          </a:xfrm>
          <a:custGeom>
            <a:avLst/>
            <a:gdLst/>
            <a:ahLst/>
            <a:cxnLst/>
            <a:rect l="l" t="t" r="r" b="b"/>
            <a:pathLst>
              <a:path w="4114800" h="594360">
                <a:moveTo>
                  <a:pt x="0" y="0"/>
                </a:moveTo>
                <a:cubicBezTo>
                  <a:pt x="2057400" y="0"/>
                  <a:pt x="2057400" y="594360"/>
                  <a:pt x="4114800" y="594360"/>
                </a:cubicBezTo>
              </a:path>
            </a:pathLst>
          </a:custGeom>
          <a:ln w="88900">
            <a:solidFill>
              <a:srgbClr val="8CC7C8"/>
            </a:solidFill>
            <a:prstDash val="solid"/>
          </a:ln>
        </p:spPr>
      </p:sp>
      <p:sp>
        <p:nvSpPr>
          <p:cNvPr id="18" name="shape293"/>
          <p:cNvSpPr/>
          <p:nvPr/>
        </p:nvSpPr>
        <p:spPr>
          <a:xfrm>
            <a:off x="5577840" y="2331720"/>
            <a:ext cx="457200" cy="457200"/>
          </a:xfrm>
          <a:prstGeom prst="ellipse">
            <a:avLst/>
          </a:prstGeom>
          <a:solidFill>
            <a:schemeClr val="accent1"/>
          </a:solidFill>
          <a:ln w="25400">
            <a:solidFill>
              <a:schemeClr val="bg1"/>
            </a:solidFill>
            <a:prstDash val="solid"/>
          </a:ln>
        </p:spPr>
      </p:sp>
      <p:pic>
        <p:nvPicPr>
          <p:cNvPr id="19" name="gate294" descr="preencoded.png">    </p:cNvPr>
          <p:cNvPicPr>
            <a:picLocks noChangeAspect="1"/>
          </p:cNvPicPr>
          <p:nvPr/>
        </p:nvPicPr>
        <p:blipFill>
          <a:blip r:embed="rId2"/>
          <a:stretch>
            <a:fillRect/>
          </a:stretch>
        </p:blipFill>
        <p:spPr>
          <a:xfrm>
            <a:off x="5696712" y="2450592"/>
            <a:ext cx="219456" cy="219456"/>
          </a:xfrm>
          <a:prstGeom prst="rect">
            <a:avLst/>
          </a:prstGeom>
        </p:spPr>
      </p:pic>
      <p:sp>
        <p:nvSpPr>
          <p:cNvPr id="20" name="shape295"/>
          <p:cNvSpPr/>
          <p:nvPr/>
        </p:nvSpPr>
        <p:spPr>
          <a:xfrm>
            <a:off x="5577840" y="3383280"/>
            <a:ext cx="457200" cy="457200"/>
          </a:xfrm>
          <a:prstGeom prst="ellipse">
            <a:avLst/>
          </a:prstGeom>
          <a:solidFill>
            <a:schemeClr val="accent1"/>
          </a:solidFill>
          <a:ln w="25400">
            <a:solidFill>
              <a:schemeClr val="bg1"/>
            </a:solidFill>
            <a:prstDash val="solid"/>
          </a:ln>
        </p:spPr>
      </p:sp>
      <p:pic>
        <p:nvPicPr>
          <p:cNvPr id="21" name="gate296" descr="preencoded.png">    </p:cNvPr>
          <p:cNvPicPr>
            <a:picLocks noChangeAspect="1"/>
          </p:cNvPicPr>
          <p:nvPr/>
        </p:nvPicPr>
        <p:blipFill>
          <a:blip r:embed="rId3"/>
          <a:stretch>
            <a:fillRect/>
          </a:stretch>
        </p:blipFill>
        <p:spPr>
          <a:xfrm>
            <a:off x="5696712" y="3502152"/>
            <a:ext cx="219456" cy="219456"/>
          </a:xfrm>
          <a:prstGeom prst="rect">
            <a:avLst/>
          </a:prstGeom>
        </p:spPr>
      </p:pic>
      <p:sp>
        <p:nvSpPr>
          <p:cNvPr id="22" name="text297"/>
          <p:cNvSpPr txBox="1"/>
          <p:nvPr/>
        </p:nvSpPr>
        <p:spPr>
          <a:xfrm>
            <a:off x="4572000" y="3977640"/>
            <a:ext cx="3200400" cy="365760"/>
          </a:xfrm>
          <a:prstGeom prst="rect">
            <a:avLst/>
          </a:prstGeom>
          <a:noFill/>
          <a:ln/>
        </p:spPr>
        <p:txBody>
          <a:bodyPr wrap="square" lIns="0" tIns="0" rIns="0" bIns="0" rtlCol="0" anchor="t"/>
          <a:lstStyle/>
          <a:p>
            <a:pPr algn="ctr" indent="0" marL="0">
              <a:buNone/>
            </a:pPr>
            <a:r>
              <a:rPr lang="en-US" sz="1600" b="1" dirty="0">
                <a:solidFill>
                  <a:schemeClr val="accent1"/>
                </a:solidFill>
              </a:rPr>
              <a:t>pond → lake, through gates</a:t>
            </a:r>
            <a:endParaRPr lang="en-US" sz="1600" dirty="0"/>
          </a:p>
        </p:txBody>
      </p:sp>
      <p:sp>
        <p:nvSpPr>
          <p:cNvPr id="23" name="shape298"/>
          <p:cNvSpPr txBox="1"/>
          <p:nvPr/>
        </p:nvSpPr>
        <p:spPr>
          <a:xfrm>
            <a:off x="4617720" y="4389120"/>
            <a:ext cx="1828800" cy="310896"/>
          </a:xfrm>
          <a:prstGeom prst="roundRect">
            <a:avLst>
              <a:gd name="adj" fmla="val 147059"/>
            </a:avLst>
          </a:prstGeom>
          <a:solidFill>
            <a:schemeClr val="bg1"/>
          </a:solidFill>
          <a:ln w="19050">
            <a:solidFill>
              <a:schemeClr val="accent1"/>
            </a:solidFill>
            <a:prstDash val="solid"/>
          </a:ln>
        </p:spPr>
        <p:txBody>
          <a:bodyPr wrap="square" lIns="50800" tIns="50800" rIns="50800" bIns="50800" rtlCol="0" anchor="ctr"/>
          <a:lstStyle/>
          <a:p>
            <a:pPr algn="ctr" indent="0" marL="0">
              <a:buNone/>
            </a:pPr>
            <a:r>
              <a:rPr lang="en-US" sz="1400" dirty="0">
                <a:solidFill>
                  <a:schemeClr val="tx1"/>
                </a:solidFill>
              </a:rPr>
              <a:t>generality across sites</a:t>
            </a:r>
            <a:endParaRPr lang="en-US" sz="1400" dirty="0"/>
          </a:p>
        </p:txBody>
      </p:sp>
      <p:sp>
        <p:nvSpPr>
          <p:cNvPr id="24" name="shape299"/>
          <p:cNvSpPr txBox="1"/>
          <p:nvPr/>
        </p:nvSpPr>
        <p:spPr>
          <a:xfrm>
            <a:off x="6519672" y="4389120"/>
            <a:ext cx="1188720" cy="310896"/>
          </a:xfrm>
          <a:prstGeom prst="roundRect">
            <a:avLst>
              <a:gd name="adj" fmla="val 147059"/>
            </a:avLst>
          </a:prstGeom>
          <a:solidFill>
            <a:schemeClr val="bg1"/>
          </a:solidFill>
          <a:ln w="19050">
            <a:solidFill>
              <a:schemeClr val="accent1"/>
            </a:solidFill>
            <a:prstDash val="solid"/>
          </a:ln>
        </p:spPr>
        <p:txBody>
          <a:bodyPr wrap="square" lIns="50800" tIns="50800" rIns="50800" bIns="50800" rtlCol="0" anchor="ctr"/>
          <a:lstStyle/>
          <a:p>
            <a:pPr algn="ctr" indent="0" marL="0">
              <a:buNone/>
            </a:pPr>
            <a:r>
              <a:rPr lang="en-US" sz="1400" dirty="0">
                <a:solidFill>
                  <a:schemeClr val="tx1"/>
                </a:solidFill>
              </a:rPr>
              <a:t>review</a:t>
            </a:r>
            <a:endParaRPr lang="en-US" sz="1400" dirty="0"/>
          </a:p>
        </p:txBody>
      </p:sp>
      <p:sp>
        <p:nvSpPr>
          <p:cNvPr id="25" name="shape300"/>
          <p:cNvSpPr txBox="1"/>
          <p:nvPr/>
        </p:nvSpPr>
        <p:spPr>
          <a:xfrm>
            <a:off x="4617720" y="4754880"/>
            <a:ext cx="3090672" cy="310896"/>
          </a:xfrm>
          <a:prstGeom prst="roundRect">
            <a:avLst>
              <a:gd name="adj" fmla="val 147059"/>
            </a:avLst>
          </a:prstGeom>
          <a:solidFill>
            <a:schemeClr val="bg1"/>
          </a:solidFill>
          <a:ln w="19050">
            <a:solidFill>
              <a:schemeClr val="accent1"/>
            </a:solidFill>
            <a:prstDash val="solid"/>
          </a:ln>
        </p:spPr>
        <p:txBody>
          <a:bodyPr wrap="square" lIns="50800" tIns="50800" rIns="50800" bIns="50800" rtlCol="0" anchor="ctr"/>
          <a:lstStyle/>
          <a:p>
            <a:pPr algn="ctr" indent="0" marL="0">
              <a:buNone/>
            </a:pPr>
            <a:r>
              <a:rPr lang="en-US" sz="1400" dirty="0">
                <a:solidFill>
                  <a:schemeClr val="tx1"/>
                </a:solidFill>
              </a:rPr>
              <a:t>consent covers broad sharing (DUO)</a:t>
            </a:r>
            <a:endParaRPr lang="en-US" sz="1400" dirty="0"/>
          </a:p>
        </p:txBody>
      </p:sp>
      <p:sp>
        <p:nvSpPr>
          <p:cNvPr id="26" name="shape301"/>
          <p:cNvSpPr txBox="1"/>
          <p:nvPr/>
        </p:nvSpPr>
        <p:spPr>
          <a:xfrm>
            <a:off x="4617720" y="5120640"/>
            <a:ext cx="914400" cy="310896"/>
          </a:xfrm>
          <a:prstGeom prst="roundRect">
            <a:avLst>
              <a:gd name="adj" fmla="val 147059"/>
            </a:avLst>
          </a:prstGeom>
          <a:solidFill>
            <a:schemeClr val="bg1"/>
          </a:solidFill>
          <a:ln w="19050">
            <a:solidFill>
              <a:schemeClr val="accent1"/>
            </a:solidFill>
            <a:prstDash val="solid"/>
          </a:ln>
        </p:spPr>
        <p:txBody>
          <a:bodyPr wrap="square" lIns="50800" tIns="50800" rIns="50800" bIns="50800" rtlCol="0" anchor="ctr"/>
          <a:lstStyle/>
          <a:p>
            <a:pPr algn="ctr" indent="0" marL="0">
              <a:buNone/>
            </a:pPr>
            <a:r>
              <a:rPr lang="en-US" sz="1400" dirty="0">
                <a:solidFill>
                  <a:schemeClr val="tx1"/>
                </a:solidFill>
              </a:rPr>
              <a:t>licence</a:t>
            </a:r>
            <a:endParaRPr lang="en-US" sz="1400" dirty="0"/>
          </a:p>
        </p:txBody>
      </p:sp>
      <p:sp>
        <p:nvSpPr>
          <p:cNvPr id="27" name="shape302"/>
          <p:cNvSpPr txBox="1"/>
          <p:nvPr/>
        </p:nvSpPr>
        <p:spPr>
          <a:xfrm>
            <a:off x="5605272" y="5120640"/>
            <a:ext cx="2103120" cy="310896"/>
          </a:xfrm>
          <a:prstGeom prst="roundRect">
            <a:avLst>
              <a:gd name="adj" fmla="val 147059"/>
            </a:avLst>
          </a:prstGeom>
          <a:solidFill>
            <a:schemeClr val="bg1"/>
          </a:solidFill>
          <a:ln w="19050">
            <a:solidFill>
              <a:schemeClr val="accent1"/>
            </a:solidFill>
            <a:prstDash val="solid"/>
          </a:ln>
        </p:spPr>
        <p:txBody>
          <a:bodyPr wrap="square" lIns="50800" tIns="50800" rIns="50800" bIns="50800" rtlCol="0" anchor="ctr"/>
          <a:lstStyle/>
          <a:p>
            <a:pPr algn="ctr" indent="0" marL="0">
              <a:buNone/>
            </a:pPr>
            <a:r>
              <a:rPr lang="en-US" sz="1400" dirty="0">
                <a:solidFill>
                  <a:schemeClr val="tx1"/>
                </a:solidFill>
              </a:rPr>
              <a:t>persistent ID + version</a:t>
            </a:r>
            <a:endParaRPr lang="en-US" sz="1400" dirty="0"/>
          </a:p>
        </p:txBody>
      </p:sp>
      <p:sp>
        <p:nvSpPr>
          <p:cNvPr id="28" name="shape303"/>
          <p:cNvSpPr txBox="1"/>
          <p:nvPr/>
        </p:nvSpPr>
        <p:spPr>
          <a:xfrm>
            <a:off x="4617720" y="5486400"/>
            <a:ext cx="3090672" cy="310896"/>
          </a:xfrm>
          <a:prstGeom prst="roundRect">
            <a:avLst>
              <a:gd name="adj" fmla="val 147059"/>
            </a:avLst>
          </a:prstGeom>
          <a:solidFill>
            <a:schemeClr val="bg1"/>
          </a:solidFill>
          <a:ln w="19050">
            <a:solidFill>
              <a:schemeClr val="accent1"/>
            </a:solidFill>
            <a:prstDash val="solid"/>
          </a:ln>
        </p:spPr>
        <p:txBody>
          <a:bodyPr wrap="square" lIns="50800" tIns="50800" rIns="50800" bIns="50800" rtlCol="0" anchor="ctr"/>
          <a:lstStyle/>
          <a:p>
            <a:pPr algn="ctr" indent="0" marL="0">
              <a:buNone/>
            </a:pPr>
            <a:r>
              <a:rPr lang="en-US" sz="1400" dirty="0">
                <a:solidFill>
                  <a:schemeClr val="tx1"/>
                </a:solidFill>
              </a:rPr>
              <a:t>provenance</a:t>
            </a:r>
            <a:endParaRPr lang="en-US" sz="1400" dirty="0"/>
          </a:p>
        </p:txBody>
      </p:sp>
      <p:sp>
        <p:nvSpPr>
          <p:cNvPr id="29" name="curve304"/>
          <p:cNvSpPr/>
          <p:nvPr/>
        </p:nvSpPr>
        <p:spPr>
          <a:xfrm>
            <a:off x="4892040" y="5897880"/>
            <a:ext cx="3246120" cy="228600"/>
          </a:xfrm>
          <a:custGeom>
            <a:avLst/>
            <a:gdLst/>
            <a:ahLst/>
            <a:cxnLst/>
            <a:rect l="l" t="t" r="r" b="b"/>
            <a:pathLst>
              <a:path w="3246120" h="228600">
                <a:moveTo>
                  <a:pt x="3246120" y="0"/>
                </a:moveTo>
                <a:cubicBezTo>
                  <a:pt x="1623060" y="0"/>
                  <a:pt x="1623060" y="228600"/>
                  <a:pt x="0" y="228600"/>
                </a:cubicBezTo>
              </a:path>
            </a:pathLst>
          </a:custGeom>
          <a:ln w="31750">
            <a:solidFill>
              <a:schemeClr val="tx2"/>
            </a:solidFill>
            <a:prstDash val="solid"/>
            <a:tailEnd type="triangle"/>
          </a:ln>
        </p:spPr>
      </p:sp>
      <p:sp>
        <p:nvSpPr>
          <p:cNvPr id="30" name="text305"/>
          <p:cNvSpPr txBox="1"/>
          <p:nvPr/>
        </p:nvSpPr>
        <p:spPr>
          <a:xfrm>
            <a:off x="4846320" y="6236208"/>
            <a:ext cx="5760720" cy="365760"/>
          </a:xfrm>
          <a:prstGeom prst="rect">
            <a:avLst/>
          </a:prstGeom>
          <a:noFill/>
          <a:ln/>
        </p:spPr>
        <p:txBody>
          <a:bodyPr wrap="square" lIns="0" tIns="0" rIns="0" bIns="0" rtlCol="0" anchor="t"/>
          <a:lstStyle/>
          <a:p>
            <a:pPr indent="0" marL="0">
              <a:buNone/>
            </a:pPr>
            <a:r>
              <a:rPr lang="en-US" sz="1500" dirty="0">
                <a:solidFill>
                  <a:schemeClr val="tx2"/>
                </a:solidFill>
              </a:rPr>
              <a:t>lake → pond: pin version, record local parameters, re-validate</a:t>
            </a:r>
            <a:endParaRPr lang="en-US" sz="1500" dirty="0"/>
          </a:p>
        </p:txBody>
      </p:sp>
      <p:sp>
        <p:nvSpPr>
          <p:cNvPr id="31" name="shape307"/>
          <p:cNvSpPr/>
          <p:nvPr/>
        </p:nvSpPr>
        <p:spPr>
          <a:xfrm>
            <a:off x="4160520" y="1234440"/>
            <a:ext cx="502920" cy="502920"/>
          </a:xfrm>
          <a:prstGeom prst="ellipse">
            <a:avLst/>
          </a:prstGeom>
          <a:solidFill>
            <a:schemeClr val="tx2"/>
          </a:solidFill>
          <a:ln/>
        </p:spPr>
      </p:sp>
      <p:pic>
        <p:nvPicPr>
          <p:cNvPr id="32" name="query307" descr="preencoded.png">    </p:cNvPr>
          <p:cNvPicPr>
            <a:picLocks noChangeAspect="1"/>
          </p:cNvPicPr>
          <p:nvPr/>
        </p:nvPicPr>
        <p:blipFill>
          <a:blip r:embed="rId4"/>
          <a:stretch>
            <a:fillRect/>
          </a:stretch>
        </p:blipFill>
        <p:spPr>
          <a:xfrm>
            <a:off x="4288536" y="1362456"/>
            <a:ext cx="246888" cy="246888"/>
          </a:xfrm>
          <a:prstGeom prst="rect">
            <a:avLst/>
          </a:prstGeom>
        </p:spPr>
      </p:pic>
      <p:sp>
        <p:nvSpPr>
          <p:cNvPr id="33" name="curve308"/>
          <p:cNvSpPr/>
          <p:nvPr/>
        </p:nvSpPr>
        <p:spPr>
          <a:xfrm>
            <a:off x="3520440" y="1481328"/>
            <a:ext cx="640080" cy="256032"/>
          </a:xfrm>
          <a:custGeom>
            <a:avLst/>
            <a:gdLst/>
            <a:ahLst/>
            <a:cxnLst/>
            <a:rect l="l" t="t" r="r" b="b"/>
            <a:pathLst>
              <a:path w="640080" h="256032">
                <a:moveTo>
                  <a:pt x="640080" y="0"/>
                </a:moveTo>
                <a:cubicBezTo>
                  <a:pt x="320040" y="0"/>
                  <a:pt x="320040" y="256032"/>
                  <a:pt x="0" y="256032"/>
                </a:cubicBezTo>
              </a:path>
            </a:pathLst>
          </a:custGeom>
          <a:ln w="19050">
            <a:solidFill>
              <a:schemeClr val="tx2"/>
            </a:solidFill>
            <a:prstDash val="dash"/>
            <a:tailEnd type="triangle"/>
          </a:ln>
        </p:spPr>
      </p:sp>
      <p:sp>
        <p:nvSpPr>
          <p:cNvPr id="34" name="curve309"/>
          <p:cNvSpPr/>
          <p:nvPr/>
        </p:nvSpPr>
        <p:spPr>
          <a:xfrm>
            <a:off x="3566160" y="1691640"/>
            <a:ext cx="640080" cy="1234440"/>
          </a:xfrm>
          <a:custGeom>
            <a:avLst/>
            <a:gdLst/>
            <a:ahLst/>
            <a:cxnLst/>
            <a:rect l="l" t="t" r="r" b="b"/>
            <a:pathLst>
              <a:path w="640080" h="1234440">
                <a:moveTo>
                  <a:pt x="640080" y="0"/>
                </a:moveTo>
                <a:cubicBezTo>
                  <a:pt x="320040" y="0"/>
                  <a:pt x="320040" y="1234440"/>
                  <a:pt x="0" y="1234440"/>
                </a:cubicBezTo>
              </a:path>
            </a:pathLst>
          </a:custGeom>
          <a:ln w="19050">
            <a:solidFill>
              <a:schemeClr val="tx2"/>
            </a:solidFill>
            <a:prstDash val="dash"/>
            <a:tailEnd type="triangle"/>
          </a:ln>
        </p:spPr>
      </p:sp>
      <p:sp>
        <p:nvSpPr>
          <p:cNvPr id="35" name="text310"/>
          <p:cNvSpPr txBox="1"/>
          <p:nvPr/>
        </p:nvSpPr>
        <p:spPr>
          <a:xfrm>
            <a:off x="4800600" y="1188720"/>
            <a:ext cx="6949440" cy="640080"/>
          </a:xfrm>
          <a:prstGeom prst="rect">
            <a:avLst/>
          </a:prstGeom>
          <a:noFill/>
          <a:ln/>
        </p:spPr>
        <p:txBody>
          <a:bodyPr wrap="square" lIns="0" tIns="0" rIns="0" bIns="0" rtlCol="0" anchor="ctr"/>
          <a:lstStyle/>
          <a:p>
            <a:pPr indent="0" marL="0">
              <a:buNone/>
            </a:pPr>
            <a:r>
              <a:rPr lang="en-US" sz="1600" b="1" dirty="0">
                <a:solidFill>
                  <a:schemeClr val="tx2"/>
                </a:solidFill>
              </a:rPr>
              <a:t>Federated query (Neurobagel): </a:t>
            </a:r>
            <a:pPr indent="0" marL="0">
              <a:buNone/>
            </a:pPr>
            <a:r>
              <a:rPr lang="en-US" sz="1600" dirty="0">
                <a:solidFill>
                  <a:schemeClr val="tx2"/>
                </a:solidFill>
              </a:rPr>
              <a:t>the query goes to the pond; only permitted results return.</a:t>
            </a:r>
            <a:endParaRPr lang="en-US" sz="1600" dirty="0"/>
          </a:p>
        </p:txBody>
      </p:sp>
      <p:pic>
        <p:nvPicPr>
          <p:cNvPr id="37" name="stripIcon20" descr="preencoded.png">    </p:cNvPr>
          <p:cNvPicPr>
            <a:picLocks noChangeAspect="1"/>
          </p:cNvPicPr>
          <p:nvPr/>
        </p:nvPicPr>
        <p:blipFill>
          <a:blip r:embed="rId5"/>
          <a:stretch>
            <a:fillRect/>
          </a:stretch>
        </p:blipFill>
        <p:spPr>
          <a:xfrm>
            <a:off x="548640" y="969264"/>
            <a:ext cx="182880" cy="182880"/>
          </a:xfrm>
          <a:prstGeom prst="rect">
            <a:avLst/>
          </a:prstGeom>
        </p:spPr>
      </p:pic>
      <p:sp>
        <p:nvSpPr>
          <p:cNvPr id="38" name="strip20"/>
          <p:cNvSpPr txBox="1"/>
          <p:nvPr/>
        </p:nvSpPr>
        <p:spPr>
          <a:xfrm>
            <a:off x="804672" y="914400"/>
            <a:ext cx="10972800" cy="292608"/>
          </a:xfrm>
          <a:prstGeom prst="rect">
            <a:avLst/>
          </a:prstGeom>
          <a:noFill/>
          <a:ln/>
        </p:spPr>
        <p:txBody>
          <a:bodyPr wrap="square" lIns="0" tIns="0" rIns="0" bIns="0" rtlCol="0" anchor="ctr"/>
          <a:lstStyle/>
          <a:p>
            <a:pPr indent="0" marL="0">
              <a:buNone/>
            </a:pPr>
            <a:r>
              <a:rPr lang="en-US" sz="1200" b="1" dirty="0">
                <a:solidFill>
                  <a:schemeClr val="accent1"/>
                </a:solidFill>
              </a:rPr>
              <a:t>In the graph: </a:t>
            </a:r>
            <a:pPr indent="0" marL="0">
              <a:buNone/>
            </a:pPr>
            <a:r>
              <a:rPr lang="en-US" sz="1200" dirty="0">
                <a:solidFill>
                  <a:schemeClr val="accent3"/>
                </a:solidFill>
              </a:rPr>
              <a:t>graph/scope.ttl: knowledgeScope and accessLevel on 83 records; consentScope, egressPermitted on 3 profiles; 48 gate assessments (Q11.rq, Q12.rq)</a:t>
            </a:r>
            <a:endParaRPr lang="en-US" sz="1200" dirty="0"/>
          </a:p>
        </p:txBody>
      </p:sp>
      <p:sp>
        <p:nvSpPr>
          <p:cNvPr id="39" name="tagDot20"/>
          <p:cNvSpPr/>
          <p:nvPr/>
        </p:nvSpPr>
        <p:spPr>
          <a:xfrm>
            <a:off x="9326880" y="82296"/>
            <a:ext cx="128016" cy="128016"/>
          </a:xfrm>
          <a:prstGeom prst="ellipse">
            <a:avLst/>
          </a:prstGeom>
          <a:solidFill>
            <a:schemeClr val="tx2"/>
          </a:solidFill>
          <a:ln/>
        </p:spPr>
      </p:sp>
      <p:sp>
        <p:nvSpPr>
          <p:cNvPr id="40" name="tag20"/>
          <p:cNvSpPr txBox="1"/>
          <p:nvPr/>
        </p:nvSpPr>
        <p:spPr>
          <a:xfrm>
            <a:off x="9509760" y="18288"/>
            <a:ext cx="2286000" cy="256032"/>
          </a:xfrm>
          <a:prstGeom prst="rect">
            <a:avLst/>
          </a:prstGeom>
          <a:noFill/>
          <a:ln/>
        </p:spPr>
        <p:txBody>
          <a:bodyPr wrap="square" lIns="0" tIns="0" rIns="0" bIns="0" rtlCol="0" anchor="ctr"/>
          <a:lstStyle/>
          <a:p>
            <a:pPr indent="0" marL="0">
              <a:buNone/>
            </a:pPr>
            <a:r>
              <a:rPr lang="en-US" sz="1200" i="1" dirty="0">
                <a:solidFill>
                  <a:schemeClr val="accent3"/>
                </a:solidFill>
              </a:rPr>
              <a:t>Objective 2</a:t>
            </a:r>
            <a:endParaRPr lang="en-US" sz="1200" dirty="0"/>
          </a:p>
        </p:txBody>
      </p:sp>
      <p:sp>
        <p:nvSpPr>
          <p:cNvPr id="41" name="badge20_H"/>
          <p:cNvSpPr txBox="1"/>
          <p:nvPr/>
        </p:nvSpPr>
        <p:spPr>
          <a:xfrm>
            <a:off x="274320"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H</a:t>
            </a:r>
            <a:endParaRPr lang="en-US" sz="1100" dirty="0"/>
          </a:p>
        </p:txBody>
      </p:sp>
      <p:sp>
        <p:nvSpPr>
          <p:cNvPr id="42" name="badge20_L"/>
          <p:cNvSpPr txBox="1"/>
          <p:nvPr/>
        </p:nvSpPr>
        <p:spPr>
          <a:xfrm>
            <a:off x="576072"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L</a:t>
            </a:r>
            <a:endParaRPr lang="en-US" sz="1100" dirty="0"/>
          </a:p>
        </p:txBody>
      </p:sp>
      <p:sp>
        <p:nvSpPr>
          <p:cNvPr id="43" name="badge20_R"/>
          <p:cNvSpPr txBox="1"/>
          <p:nvPr/>
        </p:nvSpPr>
        <p:spPr>
          <a:xfrm>
            <a:off x="877824"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R</a:t>
            </a:r>
            <a:endParaRPr lang="en-US" sz="1100" dirty="0"/>
          </a:p>
        </p:txBody>
      </p:sp>
      <p:sp>
        <p:nvSpPr>
          <p:cNvPr id="44" name="badge20_check"/>
          <p:cNvSpPr txBox="1"/>
          <p:nvPr/>
        </p:nvSpPr>
        <p:spPr>
          <a:xfrm>
            <a:off x="1234440" y="6473952"/>
            <a:ext cx="676656" cy="301752"/>
          </a:xfrm>
          <a:prstGeom prst="rect">
            <a:avLst/>
          </a:prstGeom>
          <a:noFill/>
          <a:ln/>
        </p:spPr>
        <p:txBody>
          <a:bodyPr wrap="square" lIns="0" tIns="0" rIns="0" bIns="0" rtlCol="0" anchor="ctr"/>
          <a:lstStyle/>
          <a:p>
            <a:pPr indent="0" marL="0">
              <a:buNone/>
            </a:pPr>
            <a:r>
              <a:rPr lang="en-US" sz="1100" i="1" dirty="0">
                <a:solidFill>
                  <a:srgbClr val="5E7A88"/>
                </a:solidFill>
              </a:rPr>
              <a:t>reviewed</a:t>
            </a:r>
            <a:endParaRPr lang="en-US" sz="11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
            <a:ext cx="11064240" cy="713232"/>
          </a:xfrm>
          <a:prstGeom prst="rect">
            <a:avLst/>
          </a:prstGeom>
          <a:noFill/>
          <a:ln/>
        </p:spPr>
        <p:txBody>
          <a:bodyPr wrap="square" rtlCol="0" anchor="ctr"/>
          <a:lstStyle/>
          <a:p>
            <a:pPr algn="l" indent="0" marL="0">
              <a:buNone/>
            </a:pPr>
            <a:r>
              <a:rPr lang="en-US" sz="3200" b="1" dirty="0">
                <a:solidFill>
                  <a:schemeClr val="tx2"/>
                </a:solidFill>
              </a:rPr>
              <a:t>Live demo: building a graph in Claude Code</a:t>
            </a:r>
            <a:endParaRPr lang="en-US" sz="3200" dirty="0"/>
          </a:p>
        </p:txBody>
      </p:sp>
      <p:sp>
        <p:nvSpPr>
          <p:cNvPr id="3" name="shape311"/>
          <p:cNvSpPr/>
          <p:nvPr/>
        </p:nvSpPr>
        <p:spPr>
          <a:xfrm>
            <a:off x="411480" y="1234440"/>
            <a:ext cx="7635240" cy="5120640"/>
          </a:xfrm>
          <a:prstGeom prst="roundRect">
            <a:avLst>
              <a:gd name="adj" fmla="val 714"/>
            </a:avLst>
          </a:prstGeom>
          <a:solidFill>
            <a:schemeClr val="tx2"/>
          </a:solidFill>
          <a:ln/>
        </p:spPr>
      </p:sp>
      <p:sp>
        <p:nvSpPr>
          <p:cNvPr id="4" name="demoCode1"/>
          <p:cNvSpPr txBox="1"/>
          <p:nvPr/>
        </p:nvSpPr>
        <p:spPr>
          <a:xfrm>
            <a:off x="548640" y="1325880"/>
            <a:ext cx="7360920" cy="4937760"/>
          </a:xfrm>
          <a:prstGeom prst="rect">
            <a:avLst/>
          </a:prstGeom>
          <a:noFill/>
          <a:ln/>
        </p:spPr>
        <p:txBody>
          <a:bodyPr wrap="square" lIns="0" tIns="0" rIns="0" bIns="0" rtlCol="0" anchor="t"/>
          <a:lstStyle/>
          <a:p>
            <a:pPr indent="0" marL="0">
              <a:spcAft>
                <a:spcPts val="300"/>
              </a:spcAft>
              <a:buNone/>
            </a:pPr>
            <a:r>
              <a:rPr lang="en-US" sz="1600" dirty="0">
                <a:solidFill>
                  <a:srgbClr val="9FD3D4"/>
                </a:solidFill>
                <a:latin typeface="Courier New" pitchFamily="34" charset="0"/>
                <a:ea typeface="Courier New" pitchFamily="34" charset="-122"/>
                <a:cs typeface="Courier New" pitchFamily="34" charset="-120"/>
              </a:rPr>
              <a:t>$ git clone https://github.com/sensein/agent_skills.git</a:t>
            </a:r>
            <a:endParaRPr lang="en-US" sz="1600" dirty="0"/>
          </a:p>
          <a:p>
            <a:pPr indent="0" marL="0">
              <a:spcAft>
                <a:spcPts val="300"/>
              </a:spcAft>
              <a:buNone/>
            </a:pPr>
            <a:r>
              <a:rPr lang="en-US" sz="1600" dirty="0">
                <a:solidFill>
                  <a:srgbClr val="9FD3D4"/>
                </a:solidFill>
                <a:latin typeface="Courier New" pitchFamily="34" charset="0"/>
                <a:ea typeface="Courier New" pitchFamily="34" charset="-122"/>
                <a:cs typeface="Courier New" pitchFamily="34" charset="-120"/>
              </a:rPr>
              <a:t>$ cd agent_skills &amp;&amp; git checkout neuroimaging-kg &amp;&amp; cd ..</a:t>
            </a:r>
            <a:endParaRPr lang="en-US" sz="1600" dirty="0"/>
          </a:p>
          <a:p>
            <a:pPr indent="0" marL="0">
              <a:spcAft>
                <a:spcPts val="300"/>
              </a:spcAft>
              <a:buNone/>
            </a:pPr>
            <a:r>
              <a:rPr lang="en-US" sz="1600" dirty="0">
                <a:solidFill>
                  <a:srgbClr val="9FD3D4"/>
                </a:solidFill>
                <a:latin typeface="Courier New" pitchFamily="34" charset="0"/>
                <a:ea typeface="Courier New" pitchFamily="34" charset="-122"/>
                <a:cs typeface="Courier New" pitchFamily="34" charset="-120"/>
              </a:rPr>
              <a:t>$ mkdir abide-kg-demo &amp;&amp; cd abide-kg-demo</a:t>
            </a:r>
            <a:endParaRPr lang="en-US" sz="1600" dirty="0"/>
          </a:p>
          <a:p>
            <a:pPr indent="0" marL="0">
              <a:spcAft>
                <a:spcPts val="300"/>
              </a:spcAft>
              <a:buNone/>
            </a:pPr>
            <a:r>
              <a:rPr lang="en-US" sz="1600" dirty="0">
                <a:solidFill>
                  <a:srgbClr val="9FD3D4"/>
                </a:solidFill>
                <a:latin typeface="Courier New" pitchFamily="34" charset="0"/>
                <a:ea typeface="Courier New" pitchFamily="34" charset="-122"/>
                <a:cs typeface="Courier New" pitchFamily="34" charset="-120"/>
              </a:rPr>
              <a:t>$ python ../agent_skills/scripts/install_skills.py --agent claude --scope project --skills neuroimaging-kg</a:t>
            </a:r>
            <a:endParaRPr lang="en-US" sz="1600" dirty="0"/>
          </a:p>
          <a:p>
            <a:pPr indent="0" marL="0">
              <a:spcAft>
                <a:spcPts val="300"/>
              </a:spcAft>
              <a:buNone/>
            </a:pPr>
            <a:r>
              <a:rPr lang="en-US" sz="1600" dirty="0">
                <a:solidFill>
                  <a:srgbClr val="9FD3D4"/>
                </a:solidFill>
                <a:latin typeface="Courier New" pitchFamily="34" charset="0"/>
                <a:ea typeface="Courier New" pitchFamily="34" charset="-122"/>
                <a:cs typeface="Courier New" pitchFamily="34" charset="-120"/>
              </a:rPr>
              <a:t>$ claude</a:t>
            </a:r>
            <a:endParaRPr lang="en-US" sz="1600" dirty="0"/>
          </a:p>
          <a:p>
            <a:pPr indent="0" marL="0">
              <a:spcAft>
                <a:spcPts val="300"/>
              </a:spcAft>
              <a:buNone/>
            </a:pPr>
            <a:r>
              <a:rPr lang="en-US" sz="1600" b="1" dirty="0">
                <a:solidFill>
                  <a:srgbClr val="FFFFFF"/>
                </a:solidFill>
                <a:latin typeface="Courier New" pitchFamily="34" charset="0"/>
                <a:ea typeface="Courier New" pitchFamily="34" charset="-122"/>
                <a:cs typeface="Courier New" pitchFamily="34" charset="-120"/>
              </a:rPr>
              <a:t>Prompt 1</a:t>
            </a:r>
            <a:endParaRPr lang="en-US" sz="1600" dirty="0"/>
          </a:p>
          <a:p>
            <a:pPr indent="0" marL="0">
              <a:spcAft>
                <a:spcPts val="300"/>
              </a:spcAft>
              <a:buNone/>
            </a:pPr>
            <a:r>
              <a:rPr lang="en-US" sz="1600" dirty="0">
                <a:solidFill>
                  <a:srgbClr val="E8F1F2"/>
                </a:solidFill>
                <a:latin typeface="Courier New" pitchFamily="34" charset="0"/>
                <a:ea typeface="Courier New" pitchFamily="34" charset="-122"/>
                <a:cs typeface="Courier New" pitchFamily="34" charset="-120"/>
              </a:rPr>
              <a:t>&gt; Use the neuroimaging-kg skill to build a knowledge graph for ABIDE I site Caltech — the phenotype table plus ReproNim's NIDM file with brain volumes — validate it, and load it into Oxigraph. Tell me in plain words what is in the graph.</a:t>
            </a:r>
            <a:endParaRPr lang="en-US" sz="1600" dirty="0"/>
          </a:p>
          <a:p>
            <a:pPr indent="0" marL="0">
              <a:spcAft>
                <a:spcPts val="300"/>
              </a:spcAft>
              <a:buNone/>
            </a:pPr>
            <a:r>
              <a:rPr lang="en-US" sz="1600" b="1" dirty="0">
                <a:solidFill>
                  <a:srgbClr val="FFFFFF"/>
                </a:solidFill>
                <a:latin typeface="Courier New" pitchFamily="34" charset="0"/>
                <a:ea typeface="Courier New" pitchFamily="34" charset="-122"/>
                <a:cs typeface="Courier New" pitchFamily="34" charset="-120"/>
              </a:rPr>
              <a:t>Prompt 2</a:t>
            </a:r>
            <a:endParaRPr lang="en-US" sz="1600" dirty="0"/>
          </a:p>
          <a:p>
            <a:pPr indent="0" marL="0">
              <a:spcAft>
                <a:spcPts val="300"/>
              </a:spcAft>
              <a:buNone/>
            </a:pPr>
            <a:r>
              <a:rPr lang="en-US" sz="1600" dirty="0">
                <a:solidFill>
                  <a:srgbClr val="E8F1F2"/>
                </a:solidFill>
                <a:latin typeface="Courier New" pitchFamily="34" charset="0"/>
                <a:ea typeface="Courier New" pitchFamily="34" charset="-122"/>
                <a:cs typeface="Courier New" pitchFamily="34" charset="-120"/>
              </a:rPr>
              <a:t>&gt; How many Caltech participants have both a full-scale IQ (FIQ) score and a FreeSurfer hippocampal volume, by diagnostic group? Show the SPARQL query you used and explain it briefly.</a:t>
            </a:r>
            <a:endParaRPr lang="en-US" sz="1600" dirty="0"/>
          </a:p>
        </p:txBody>
      </p:sp>
      <p:sp>
        <p:nvSpPr>
          <p:cNvPr id="5" name="text312"/>
          <p:cNvSpPr txBox="1"/>
          <p:nvPr/>
        </p:nvSpPr>
        <p:spPr>
          <a:xfrm>
            <a:off x="8229600" y="1234440"/>
            <a:ext cx="3566160" cy="365760"/>
          </a:xfrm>
          <a:prstGeom prst="rect">
            <a:avLst/>
          </a:prstGeom>
          <a:noFill/>
          <a:ln/>
        </p:spPr>
        <p:txBody>
          <a:bodyPr wrap="square" lIns="0" tIns="0" rIns="0" bIns="0" rtlCol="0" anchor="t"/>
          <a:lstStyle/>
          <a:p>
            <a:pPr indent="0" marL="0">
              <a:buNone/>
            </a:pPr>
            <a:r>
              <a:rPr lang="en-US" sz="1800" b="1" dirty="0">
                <a:solidFill>
                  <a:schemeClr val="tx2"/>
                </a:solidFill>
              </a:rPr>
              <a:t>Expected output (tested)</a:t>
            </a:r>
            <a:endParaRPr lang="en-US" sz="1800" dirty="0"/>
          </a:p>
        </p:txBody>
      </p:sp>
      <p:sp>
        <p:nvSpPr>
          <p:cNvPr id="6" name="shape313"/>
          <p:cNvSpPr/>
          <p:nvPr/>
        </p:nvSpPr>
        <p:spPr>
          <a:xfrm>
            <a:off x="8229600" y="1645920"/>
            <a:ext cx="3566160" cy="3886200"/>
          </a:xfrm>
          <a:prstGeom prst="roundRect">
            <a:avLst>
              <a:gd name="adj" fmla="val 1282"/>
            </a:avLst>
          </a:prstGeom>
          <a:solidFill>
            <a:schemeClr val="bg2"/>
          </a:solidFill>
          <a:ln w="19050">
            <a:solidFill>
              <a:srgbClr val="C9D3D7"/>
            </a:solidFill>
            <a:prstDash val="solid"/>
          </a:ln>
        </p:spPr>
      </p:sp>
      <p:sp>
        <p:nvSpPr>
          <p:cNvPr id="7" name="demoOut1"/>
          <p:cNvSpPr txBox="1"/>
          <p:nvPr/>
        </p:nvSpPr>
        <p:spPr>
          <a:xfrm>
            <a:off x="8339328" y="1737360"/>
            <a:ext cx="3346704" cy="3703320"/>
          </a:xfrm>
          <a:prstGeom prst="rect">
            <a:avLst/>
          </a:prstGeom>
          <a:noFill/>
          <a:ln/>
        </p:spPr>
        <p:txBody>
          <a:bodyPr wrap="square" lIns="0" tIns="0" rIns="0" bIns="0" rtlCol="0" anchor="t"/>
          <a:lstStyle/>
          <a:p>
            <a:pPr indent="0" marL="0">
              <a:spcAft>
                <a:spcPts val="400"/>
              </a:spcAft>
              <a:buNone/>
            </a:pPr>
            <a:r>
              <a:rPr lang="en-US" sz="1600" b="1" dirty="0">
                <a:solidFill>
                  <a:schemeClr val="accent1"/>
                </a:solidFill>
                <a:latin typeface="Calibri" pitchFamily="34" charset="0"/>
                <a:ea typeface="Calibri" pitchFamily="34" charset="-122"/>
                <a:cs typeface="Calibri" pitchFamily="34" charset="-120"/>
              </a:rPr>
              <a:t>Prompt 1 · 34 s</a:t>
            </a:r>
            <a:endParaRPr lang="en-US" sz="1600" dirty="0"/>
          </a:p>
          <a:p>
            <a:pPr indent="0" marL="0">
              <a:spcAft>
                <a:spcPts val="400"/>
              </a:spcAft>
              <a:buNone/>
            </a:pPr>
            <a:r>
              <a:rPr lang="en-US" sz="1600" dirty="0">
                <a:solidFill>
                  <a:schemeClr val="tx1"/>
                </a:solidFill>
                <a:latin typeface="Courier New" pitchFamily="34" charset="0"/>
                <a:ea typeface="Courier New" pitchFamily="34" charset="-122"/>
                <a:cs typeface="Courier New" pitchFamily="34" charset="-120"/>
              </a:rPr>
              <a:t>“Done — the graph built, validated, and loaded cleanly, with all 5 gated questions passing.”</a:t>
            </a:r>
            <a:endParaRPr lang="en-US" sz="1600" dirty="0"/>
          </a:p>
          <a:p>
            <a:pPr indent="0" marL="0">
              <a:spcAft>
                <a:spcPts val="400"/>
              </a:spcAft>
              <a:buNone/>
            </a:pPr>
            <a:r>
              <a:rPr lang="en-US" sz="1600" dirty="0">
                <a:solidFill>
                  <a:schemeClr val="tx1"/>
                </a:solidFill>
                <a:latin typeface="Courier New" pitchFamily="34" charset="0"/>
                <a:ea typeface="Courier New" pitchFamily="34" charset="-122"/>
                <a:cs typeface="Courier New" pitchFamily="34" charset="-120"/>
              </a:rPr>
              <a:t>“38 participants from the Caltech site of ABIDE I”</a:t>
            </a:r>
            <a:endParaRPr lang="en-US" sz="1600" dirty="0"/>
          </a:p>
          <a:p>
            <a:pPr indent="0" marL="0">
              <a:spcAft>
                <a:spcPts val="400"/>
              </a:spcAft>
              <a:buNone/>
            </a:pPr>
            <a:r>
              <a:rPr lang="en-US" sz="1600" b="1" dirty="0">
                <a:solidFill>
                  <a:schemeClr val="accent1"/>
                </a:solidFill>
                <a:latin typeface="Calibri" pitchFamily="34" charset="0"/>
                <a:ea typeface="Calibri" pitchFamily="34" charset="-122"/>
                <a:cs typeface="Calibri" pitchFamily="34" charset="-120"/>
              </a:rPr>
              <a:t>Prompt 2 · 14 s</a:t>
            </a:r>
            <a:endParaRPr lang="en-US" sz="1600" dirty="0"/>
          </a:p>
          <a:p>
            <a:pPr indent="0" marL="0">
              <a:spcAft>
                <a:spcPts val="400"/>
              </a:spcAft>
              <a:buNone/>
            </a:pPr>
            <a:r>
              <a:rPr lang="en-US" sz="1600" dirty="0">
                <a:solidFill>
                  <a:schemeClr val="tx1"/>
                </a:solidFill>
                <a:latin typeface="Courier New" pitchFamily="34" charset="0"/>
                <a:ea typeface="Courier New" pitchFamily="34" charset="-122"/>
                <a:cs typeface="Courier New" pitchFamily="34" charset="-120"/>
              </a:rPr>
              <a:t>“18 autism-group participants (dx_group=1) and 19 control-group participants (dx_group=2)”</a:t>
            </a:r>
            <a:endParaRPr lang="en-US" sz="1600" dirty="0"/>
          </a:p>
        </p:txBody>
      </p:sp>
      <p:sp>
        <p:nvSpPr>
          <p:cNvPr id="8" name="shape314"/>
          <p:cNvSpPr txBox="1"/>
          <p:nvPr/>
        </p:nvSpPr>
        <p:spPr>
          <a:xfrm>
            <a:off x="8229600" y="5669280"/>
            <a:ext cx="3566160" cy="685800"/>
          </a:xfrm>
          <a:prstGeom prst="roundRect">
            <a:avLst>
              <a:gd name="adj" fmla="val 40000"/>
            </a:avLst>
          </a:prstGeom>
          <a:solidFill>
            <a:schemeClr val="accent5"/>
          </a:solidFill>
          <a:ln w="19050">
            <a:solidFill>
              <a:schemeClr val="accent2"/>
            </a:solidFill>
            <a:prstDash val="solid"/>
          </a:ln>
        </p:spPr>
        <p:txBody>
          <a:bodyPr wrap="square" lIns="50800" tIns="50800" rIns="50800" bIns="50800" rtlCol="0" anchor="ctr"/>
          <a:lstStyle/>
          <a:p>
            <a:pPr algn="ctr" indent="0" marL="0">
              <a:buNone/>
            </a:pPr>
            <a:r>
              <a:rPr lang="en-US" sz="1600" b="1" dirty="0">
                <a:solidFill>
                  <a:schemeClr val="accent2"/>
                </a:solidFill>
              </a:rPr>
              <a:t>assistant overstated: 2 tools, not 3</a:t>
            </a:r>
            <a:endParaRPr lang="en-US" sz="1600" dirty="0"/>
          </a:p>
        </p:txBody>
      </p:sp>
      <p:pic>
        <p:nvPicPr>
          <p:cNvPr id="10" name="stripIcon21" descr="preencoded.png">    </p:cNvPr>
          <p:cNvPicPr>
            <a:picLocks noChangeAspect="1"/>
          </p:cNvPicPr>
          <p:nvPr/>
        </p:nvPicPr>
        <p:blipFill>
          <a:blip r:embed="rId1"/>
          <a:stretch>
            <a:fillRect/>
          </a:stretch>
        </p:blipFill>
        <p:spPr>
          <a:xfrm>
            <a:off x="548640" y="969264"/>
            <a:ext cx="182880" cy="182880"/>
          </a:xfrm>
          <a:prstGeom prst="rect">
            <a:avLst/>
          </a:prstGeom>
        </p:spPr>
      </p:pic>
      <p:sp>
        <p:nvSpPr>
          <p:cNvPr id="11" name="strip21"/>
          <p:cNvSpPr txBox="1"/>
          <p:nvPr/>
        </p:nvSpPr>
        <p:spPr>
          <a:xfrm>
            <a:off x="804672" y="914400"/>
            <a:ext cx="10972800" cy="292608"/>
          </a:xfrm>
          <a:prstGeom prst="rect">
            <a:avLst/>
          </a:prstGeom>
          <a:noFill/>
          <a:ln/>
        </p:spPr>
        <p:txBody>
          <a:bodyPr wrap="square" lIns="0" tIns="0" rIns="0" bIns="0" rtlCol="0" anchor="ctr"/>
          <a:lstStyle/>
          <a:p>
            <a:pPr indent="0" marL="0">
              <a:buNone/>
            </a:pPr>
            <a:r>
              <a:rPr lang="en-US" sz="1200" b="1" dirty="0">
                <a:solidFill>
                  <a:schemeClr val="accent1"/>
                </a:solidFill>
              </a:rPr>
              <a:t>In the graph: </a:t>
            </a:r>
            <a:pPr indent="0" marL="0">
              <a:buNone/>
            </a:pPr>
            <a:r>
              <a:rPr lang="en-US" sz="1200" dirty="0">
                <a:solidFill>
                  <a:schemeClr val="accent3"/>
                </a:solidFill>
              </a:rPr>
              <a:t>Demo graph: abide-caltech/graph/*.ttl (phenotype, identity links, cohort, claims, provenance) loaded into Oxigraph, validated</a:t>
            </a:r>
            <a:endParaRPr lang="en-US" sz="1200" dirty="0"/>
          </a:p>
        </p:txBody>
      </p:sp>
      <p:sp>
        <p:nvSpPr>
          <p:cNvPr id="12" name="tagDot21"/>
          <p:cNvSpPr/>
          <p:nvPr/>
        </p:nvSpPr>
        <p:spPr>
          <a:xfrm>
            <a:off x="9326880" y="82296"/>
            <a:ext cx="128016" cy="128016"/>
          </a:xfrm>
          <a:prstGeom prst="ellipse">
            <a:avLst/>
          </a:prstGeom>
          <a:solidFill>
            <a:schemeClr val="accent2"/>
          </a:solidFill>
          <a:ln/>
        </p:spPr>
      </p:sp>
      <p:sp>
        <p:nvSpPr>
          <p:cNvPr id="13" name="tag21"/>
          <p:cNvSpPr txBox="1"/>
          <p:nvPr/>
        </p:nvSpPr>
        <p:spPr>
          <a:xfrm>
            <a:off x="9509760" y="18288"/>
            <a:ext cx="2286000" cy="256032"/>
          </a:xfrm>
          <a:prstGeom prst="rect">
            <a:avLst/>
          </a:prstGeom>
          <a:noFill/>
          <a:ln/>
        </p:spPr>
        <p:txBody>
          <a:bodyPr wrap="square" lIns="0" tIns="0" rIns="0" bIns="0" rtlCol="0" anchor="ctr"/>
          <a:lstStyle/>
          <a:p>
            <a:pPr indent="0" marL="0">
              <a:buNone/>
            </a:pPr>
            <a:r>
              <a:rPr lang="en-US" sz="1200" i="1" dirty="0">
                <a:solidFill>
                  <a:schemeClr val="accent3"/>
                </a:solidFill>
              </a:rPr>
              <a:t>With an assistant</a:t>
            </a:r>
            <a:endParaRPr lang="en-US" sz="1200" dirty="0"/>
          </a:p>
        </p:txBody>
      </p:sp>
      <p:sp>
        <p:nvSpPr>
          <p:cNvPr id="14" name="badge21_A"/>
          <p:cNvSpPr txBox="1"/>
          <p:nvPr/>
        </p:nvSpPr>
        <p:spPr>
          <a:xfrm>
            <a:off x="274320"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A</a:t>
            </a:r>
            <a:endParaRPr lang="en-US" sz="1100" dirty="0"/>
          </a:p>
        </p:txBody>
      </p:sp>
      <p:sp>
        <p:nvSpPr>
          <p:cNvPr id="15" name="badge21_L"/>
          <p:cNvSpPr txBox="1"/>
          <p:nvPr/>
        </p:nvSpPr>
        <p:spPr>
          <a:xfrm>
            <a:off x="576072"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L</a:t>
            </a:r>
            <a:endParaRPr lang="en-US" sz="1100" dirty="0"/>
          </a:p>
        </p:txBody>
      </p:sp>
      <p:sp>
        <p:nvSpPr>
          <p:cNvPr id="16" name="data21"/>
          <p:cNvSpPr txBox="1"/>
          <p:nvPr/>
        </p:nvSpPr>
        <p:spPr>
          <a:xfrm>
            <a:off x="1819656" y="6473952"/>
            <a:ext cx="9336024" cy="301752"/>
          </a:xfrm>
          <a:prstGeom prst="rect">
            <a:avLst/>
          </a:prstGeom>
          <a:noFill/>
          <a:ln/>
        </p:spPr>
        <p:txBody>
          <a:bodyPr wrap="square" lIns="0" tIns="0" rIns="0" bIns="0" rtlCol="0" anchor="ctr"/>
          <a:lstStyle/>
          <a:p>
            <a:pPr indent="0" marL="0">
              <a:buNone/>
            </a:pPr>
            <a:r>
              <a:rPr lang="en-US" sz="1100" dirty="0">
                <a:solidFill>
                  <a:srgbClr val="5E7A88"/>
                </a:solidFill>
              </a:rPr>
              <a:t>Data: ABIDE I, Caltech site (ABIDE Preprocessed; ReproNim simple2 NIDM, commit e0dff17)</a:t>
            </a:r>
            <a:endParaRPr lang="en-US" sz="1100" dirty="0"/>
          </a:p>
        </p:txBody>
      </p:sp>
      <p:sp>
        <p:nvSpPr>
          <p:cNvPr id="17" name="badge21_check"/>
          <p:cNvSpPr txBox="1"/>
          <p:nvPr/>
        </p:nvSpPr>
        <p:spPr>
          <a:xfrm>
            <a:off x="932688" y="6473952"/>
            <a:ext cx="749808" cy="301752"/>
          </a:xfrm>
          <a:prstGeom prst="rect">
            <a:avLst/>
          </a:prstGeom>
          <a:noFill/>
          <a:ln/>
        </p:spPr>
        <p:txBody>
          <a:bodyPr wrap="square" lIns="0" tIns="0" rIns="0" bIns="0" rtlCol="0" anchor="ctr"/>
          <a:lstStyle/>
          <a:p>
            <a:pPr indent="0" marL="0">
              <a:buNone/>
            </a:pPr>
            <a:r>
              <a:rPr lang="en-US" sz="1100" i="1" dirty="0">
                <a:solidFill>
                  <a:srgbClr val="5E7A88"/>
                </a:solidFill>
              </a:rPr>
              <a:t>validated</a:t>
            </a:r>
            <a:endParaRPr lang="en-US" sz="11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
            <a:ext cx="11064240" cy="713232"/>
          </a:xfrm>
          <a:prstGeom prst="rect">
            <a:avLst/>
          </a:prstGeom>
          <a:noFill/>
          <a:ln/>
        </p:spPr>
        <p:txBody>
          <a:bodyPr wrap="square" rtlCol="0" anchor="ctr"/>
          <a:lstStyle/>
          <a:p>
            <a:pPr algn="l" indent="0" marL="0">
              <a:buNone/>
            </a:pPr>
            <a:r>
              <a:rPr lang="en-US" sz="3200" b="1" dirty="0">
                <a:solidFill>
                  <a:schemeClr val="tx2"/>
                </a:solidFill>
              </a:rPr>
              <a:t>Live demo: querying and using the graph</a:t>
            </a:r>
            <a:endParaRPr lang="en-US" sz="3200" dirty="0"/>
          </a:p>
        </p:txBody>
      </p:sp>
      <p:sp>
        <p:nvSpPr>
          <p:cNvPr id="3" name="shape315"/>
          <p:cNvSpPr/>
          <p:nvPr/>
        </p:nvSpPr>
        <p:spPr>
          <a:xfrm>
            <a:off x="411480" y="1234440"/>
            <a:ext cx="7635240" cy="5120640"/>
          </a:xfrm>
          <a:prstGeom prst="roundRect">
            <a:avLst>
              <a:gd name="adj" fmla="val 714"/>
            </a:avLst>
          </a:prstGeom>
          <a:solidFill>
            <a:schemeClr val="tx2"/>
          </a:solidFill>
          <a:ln/>
        </p:spPr>
      </p:sp>
      <p:sp>
        <p:nvSpPr>
          <p:cNvPr id="4" name="demoCode2"/>
          <p:cNvSpPr txBox="1"/>
          <p:nvPr/>
        </p:nvSpPr>
        <p:spPr>
          <a:xfrm>
            <a:off x="548640" y="1325880"/>
            <a:ext cx="7360920" cy="4937760"/>
          </a:xfrm>
          <a:prstGeom prst="rect">
            <a:avLst/>
          </a:prstGeom>
          <a:noFill/>
          <a:ln/>
        </p:spPr>
        <p:txBody>
          <a:bodyPr wrap="square" lIns="0" tIns="0" rIns="0" bIns="0" rtlCol="0" anchor="t"/>
          <a:lstStyle/>
          <a:p>
            <a:pPr indent="0" marL="0">
              <a:spcAft>
                <a:spcPts val="300"/>
              </a:spcAft>
              <a:buNone/>
            </a:pPr>
            <a:r>
              <a:rPr lang="en-US" sz="1600" b="1" dirty="0">
                <a:solidFill>
                  <a:srgbClr val="FFFFFF"/>
                </a:solidFill>
                <a:latin typeface="Courier New" pitchFamily="34" charset="0"/>
                <a:ea typeface="Courier New" pitchFamily="34" charset="-122"/>
                <a:cs typeface="Courier New" pitchFamily="34" charset="-120"/>
              </a:rPr>
              <a:t>Prompt 3</a:t>
            </a:r>
            <a:endParaRPr lang="en-US" sz="1600" dirty="0"/>
          </a:p>
          <a:p>
            <a:pPr indent="0" marL="0">
              <a:spcAft>
                <a:spcPts val="300"/>
              </a:spcAft>
              <a:buNone/>
            </a:pPr>
            <a:r>
              <a:rPr lang="en-US" sz="1600" dirty="0">
                <a:solidFill>
                  <a:srgbClr val="E8F1F2"/>
                </a:solidFill>
                <a:latin typeface="Courier New" pitchFamily="34" charset="0"/>
                <a:ea typeface="Courier New" pitchFamily="34" charset="-122"/>
                <a:cs typeface="Courier New" pitchFamily="34" charset="-120"/>
              </a:rPr>
              <a:t>&gt; Trace participant 51456's left-hippocampus volume from FreeSurfer back to the scan and the software it came from. Say which links are recorded in the graph and which are only inferred.</a:t>
            </a:r>
            <a:endParaRPr lang="en-US" sz="1600" dirty="0"/>
          </a:p>
          <a:p>
            <a:pPr indent="0" marL="0">
              <a:spcAft>
                <a:spcPts val="300"/>
              </a:spcAft>
              <a:buNone/>
            </a:pPr>
            <a:r>
              <a:rPr lang="en-US" sz="1600" b="1" dirty="0">
                <a:solidFill>
                  <a:srgbClr val="FFFFFF"/>
                </a:solidFill>
                <a:latin typeface="Courier New" pitchFamily="34" charset="0"/>
                <a:ea typeface="Courier New" pitchFamily="34" charset="-122"/>
                <a:cs typeface="Courier New" pitchFamily="34" charset="-120"/>
              </a:rPr>
              <a:t>Prompt 4</a:t>
            </a:r>
            <a:endParaRPr lang="en-US" sz="1600" dirty="0"/>
          </a:p>
          <a:p>
            <a:pPr indent="0" marL="0">
              <a:spcAft>
                <a:spcPts val="300"/>
              </a:spcAft>
              <a:buNone/>
            </a:pPr>
            <a:r>
              <a:rPr lang="en-US" sz="1600" dirty="0">
                <a:solidFill>
                  <a:srgbClr val="E8F1F2"/>
                </a:solidFill>
                <a:latin typeface="Courier New" pitchFamily="34" charset="0"/>
                <a:ea typeface="Courier New" pitchFamily="34" charset="-122"/>
                <a:cs typeface="Courier New" pitchFamily="34" charset="-120"/>
              </a:rPr>
              <a:t>&gt; If we tightened the head-motion rule to mean framewise displacement below 0.15 mm, which participants would be excluded, and which results in our graph depend on them?</a:t>
            </a:r>
            <a:endParaRPr lang="en-US" sz="1600" dirty="0"/>
          </a:p>
        </p:txBody>
      </p:sp>
      <p:sp>
        <p:nvSpPr>
          <p:cNvPr id="5" name="text316"/>
          <p:cNvSpPr txBox="1"/>
          <p:nvPr/>
        </p:nvSpPr>
        <p:spPr>
          <a:xfrm>
            <a:off x="8229600" y="1234440"/>
            <a:ext cx="3566160" cy="365760"/>
          </a:xfrm>
          <a:prstGeom prst="rect">
            <a:avLst/>
          </a:prstGeom>
          <a:noFill/>
          <a:ln/>
        </p:spPr>
        <p:txBody>
          <a:bodyPr wrap="square" lIns="0" tIns="0" rIns="0" bIns="0" rtlCol="0" anchor="t"/>
          <a:lstStyle/>
          <a:p>
            <a:pPr indent="0" marL="0">
              <a:buNone/>
            </a:pPr>
            <a:r>
              <a:rPr lang="en-US" sz="1800" b="1" dirty="0">
                <a:solidFill>
                  <a:schemeClr val="tx2"/>
                </a:solidFill>
              </a:rPr>
              <a:t>Expected output (tested)</a:t>
            </a:r>
            <a:endParaRPr lang="en-US" sz="1800" dirty="0"/>
          </a:p>
        </p:txBody>
      </p:sp>
      <p:sp>
        <p:nvSpPr>
          <p:cNvPr id="6" name="shape317"/>
          <p:cNvSpPr/>
          <p:nvPr/>
        </p:nvSpPr>
        <p:spPr>
          <a:xfrm>
            <a:off x="8229600" y="1645920"/>
            <a:ext cx="3566160" cy="4709160"/>
          </a:xfrm>
          <a:prstGeom prst="roundRect">
            <a:avLst>
              <a:gd name="adj" fmla="val 1282"/>
            </a:avLst>
          </a:prstGeom>
          <a:solidFill>
            <a:schemeClr val="bg2"/>
          </a:solidFill>
          <a:ln w="19050">
            <a:solidFill>
              <a:srgbClr val="C9D3D7"/>
            </a:solidFill>
            <a:prstDash val="solid"/>
          </a:ln>
        </p:spPr>
      </p:sp>
      <p:sp>
        <p:nvSpPr>
          <p:cNvPr id="7" name="demoOut2"/>
          <p:cNvSpPr txBox="1"/>
          <p:nvPr/>
        </p:nvSpPr>
        <p:spPr>
          <a:xfrm>
            <a:off x="8339328" y="1737360"/>
            <a:ext cx="3346704" cy="4526280"/>
          </a:xfrm>
          <a:prstGeom prst="rect">
            <a:avLst/>
          </a:prstGeom>
          <a:noFill/>
          <a:ln/>
        </p:spPr>
        <p:txBody>
          <a:bodyPr wrap="square" lIns="0" tIns="0" rIns="0" bIns="0" rtlCol="0" anchor="t"/>
          <a:lstStyle/>
          <a:p>
            <a:pPr indent="0" marL="0">
              <a:spcAft>
                <a:spcPts val="400"/>
              </a:spcAft>
              <a:buNone/>
            </a:pPr>
            <a:r>
              <a:rPr lang="en-US" sz="1600" b="1" dirty="0">
                <a:solidFill>
                  <a:schemeClr val="accent1"/>
                </a:solidFill>
                <a:latin typeface="Calibri" pitchFamily="34" charset="0"/>
                <a:ea typeface="Calibri" pitchFamily="34" charset="-122"/>
                <a:cs typeface="Calibri" pitchFamily="34" charset="-120"/>
              </a:rPr>
              <a:t>Prompt 3 · 162 s</a:t>
            </a:r>
            <a:endParaRPr lang="en-US" sz="1600" dirty="0"/>
          </a:p>
          <a:p>
            <a:pPr indent="0" marL="0">
              <a:spcAft>
                <a:spcPts val="400"/>
              </a:spcAft>
              <a:buNone/>
            </a:pPr>
            <a:r>
              <a:rPr lang="en-US" sz="1600" dirty="0">
                <a:solidFill>
                  <a:schemeClr val="tx1"/>
                </a:solidFill>
                <a:latin typeface="Courier New" pitchFamily="34" charset="0"/>
                <a:ea typeface="Courier New" pitchFamily="34" charset="-122"/>
                <a:cs typeface="Courier New" pitchFamily="34" charset="-120"/>
              </a:rPr>
              <a:t>“fs:fs_003343 = 4513.9”</a:t>
            </a:r>
            <a:endParaRPr lang="en-US" sz="1600" dirty="0"/>
          </a:p>
          <a:p>
            <a:pPr indent="0" marL="0">
              <a:spcAft>
                <a:spcPts val="400"/>
              </a:spcAft>
              <a:buNone/>
            </a:pPr>
            <a:r>
              <a:rPr lang="en-US" sz="1600" dirty="0">
                <a:solidFill>
                  <a:schemeClr val="tx1"/>
                </a:solidFill>
                <a:latin typeface="Courier New" pitchFamily="34" charset="0"/>
                <a:ea typeface="Courier New" pitchFamily="34" charset="-122"/>
                <a:cs typeface="Courier New" pitchFamily="34" charset="-120"/>
              </a:rPr>
              <a:t>“T1w scan ↔ FreeSurfer activity … Not recorded.”</a:t>
            </a:r>
            <a:endParaRPr lang="en-US" sz="1600" dirty="0"/>
          </a:p>
          <a:p>
            <a:pPr indent="0" marL="0">
              <a:spcAft>
                <a:spcPts val="400"/>
              </a:spcAft>
              <a:buNone/>
            </a:pPr>
            <a:r>
              <a:rPr lang="en-US" sz="1600" b="1" dirty="0">
                <a:solidFill>
                  <a:schemeClr val="accent1"/>
                </a:solidFill>
                <a:latin typeface="Calibri" pitchFamily="34" charset="0"/>
                <a:ea typeface="Calibri" pitchFamily="34" charset="-122"/>
                <a:cs typeface="Calibri" pitchFamily="34" charset="-120"/>
              </a:rPr>
              <a:t>Prompt 4 · 55 s</a:t>
            </a:r>
            <a:endParaRPr lang="en-US" sz="1600" dirty="0"/>
          </a:p>
          <a:p>
            <a:pPr indent="0" marL="0">
              <a:spcAft>
                <a:spcPts val="400"/>
              </a:spcAft>
              <a:buNone/>
            </a:pPr>
            <a:r>
              <a:rPr lang="en-US" sz="1600" dirty="0">
                <a:solidFill>
                  <a:schemeClr val="tx1"/>
                </a:solidFill>
                <a:latin typeface="Courier New" pitchFamily="34" charset="0"/>
                <a:ea typeface="Courier New" pitchFamily="34" charset="-122"/>
                <a:cs typeface="Courier New" pitchFamily="34" charset="-120"/>
              </a:rPr>
              <a:t>“51456 | autism | 0.1862 mm”</a:t>
            </a:r>
            <a:endParaRPr lang="en-US" sz="1600" dirty="0"/>
          </a:p>
          <a:p>
            <a:pPr indent="0" marL="0">
              <a:spcAft>
                <a:spcPts val="400"/>
              </a:spcAft>
              <a:buNone/>
            </a:pPr>
            <a:r>
              <a:rPr lang="en-US" sz="1600" dirty="0">
                <a:solidFill>
                  <a:schemeClr val="tx1"/>
                </a:solidFill>
                <a:latin typeface="Courier New" pitchFamily="34" charset="0"/>
                <a:ea typeface="Courier New" pitchFamily="34" charset="-122"/>
                <a:cs typeface="Courier New" pitchFamily="34" charset="-120"/>
              </a:rPr>
              <a:t>“51469 | autism | 0.1559 mm”</a:t>
            </a:r>
            <a:endParaRPr lang="en-US" sz="1600" dirty="0"/>
          </a:p>
          <a:p>
            <a:pPr indent="0" marL="0">
              <a:spcAft>
                <a:spcPts val="400"/>
              </a:spcAft>
              <a:buNone/>
            </a:pPr>
            <a:r>
              <a:rPr lang="en-US" sz="1600" dirty="0">
                <a:solidFill>
                  <a:schemeClr val="tx1"/>
                </a:solidFill>
                <a:latin typeface="Courier New" pitchFamily="34" charset="0"/>
                <a:ea typeface="Courier New" pitchFamily="34" charset="-122"/>
                <a:cs typeface="Courier New" pitchFamily="34" charset="-120"/>
              </a:rPr>
              <a:t>“17 autism / 19 control”</a:t>
            </a:r>
            <a:endParaRPr lang="en-US" sz="1600" dirty="0"/>
          </a:p>
        </p:txBody>
      </p:sp>
      <p:pic>
        <p:nvPicPr>
          <p:cNvPr id="9" name="stripIcon22" descr="preencoded.png">    </p:cNvPr>
          <p:cNvPicPr>
            <a:picLocks noChangeAspect="1"/>
          </p:cNvPicPr>
          <p:nvPr/>
        </p:nvPicPr>
        <p:blipFill>
          <a:blip r:embed="rId1"/>
          <a:stretch>
            <a:fillRect/>
          </a:stretch>
        </p:blipFill>
        <p:spPr>
          <a:xfrm>
            <a:off x="548640" y="969264"/>
            <a:ext cx="182880" cy="182880"/>
          </a:xfrm>
          <a:prstGeom prst="rect">
            <a:avLst/>
          </a:prstGeom>
        </p:spPr>
      </p:pic>
      <p:sp>
        <p:nvSpPr>
          <p:cNvPr id="10" name="strip22"/>
          <p:cNvSpPr txBox="1"/>
          <p:nvPr/>
        </p:nvSpPr>
        <p:spPr>
          <a:xfrm>
            <a:off x="804672" y="914400"/>
            <a:ext cx="10972800" cy="292608"/>
          </a:xfrm>
          <a:prstGeom prst="rect">
            <a:avLst/>
          </a:prstGeom>
          <a:noFill/>
          <a:ln/>
        </p:spPr>
        <p:txBody>
          <a:bodyPr wrap="square" lIns="0" tIns="0" rIns="0" bIns="0" rtlCol="0" anchor="ctr"/>
          <a:lstStyle/>
          <a:p>
            <a:pPr indent="0" marL="0">
              <a:buNone/>
            </a:pPr>
            <a:r>
              <a:rPr lang="en-US" sz="1200" b="1" dirty="0">
                <a:solidFill>
                  <a:schemeClr val="accent1"/>
                </a:solidFill>
              </a:rPr>
              <a:t>In the graph: </a:t>
            </a:r>
            <a:pPr indent="0" marL="0">
              <a:buNone/>
            </a:pPr>
            <a:r>
              <a:rPr lang="en-US" sz="1200" dirty="0">
                <a:solidFill>
                  <a:schemeClr val="accent3"/>
                </a:solidFill>
              </a:rPr>
              <a:t>SPARQL over the demo store's named graphs (urn:g:phenotype, urn:g:repronim, urn:g:cohort), as in the tested transcript</a:t>
            </a:r>
            <a:endParaRPr lang="en-US" sz="1200" dirty="0"/>
          </a:p>
        </p:txBody>
      </p:sp>
      <p:sp>
        <p:nvSpPr>
          <p:cNvPr id="11" name="tagDot22"/>
          <p:cNvSpPr/>
          <p:nvPr/>
        </p:nvSpPr>
        <p:spPr>
          <a:xfrm>
            <a:off x="9326880" y="82296"/>
            <a:ext cx="128016" cy="128016"/>
          </a:xfrm>
          <a:prstGeom prst="ellipse">
            <a:avLst/>
          </a:prstGeom>
          <a:solidFill>
            <a:schemeClr val="accent2"/>
          </a:solidFill>
          <a:ln/>
        </p:spPr>
      </p:sp>
      <p:sp>
        <p:nvSpPr>
          <p:cNvPr id="12" name="tag22"/>
          <p:cNvSpPr txBox="1"/>
          <p:nvPr/>
        </p:nvSpPr>
        <p:spPr>
          <a:xfrm>
            <a:off x="9509760" y="18288"/>
            <a:ext cx="2286000" cy="256032"/>
          </a:xfrm>
          <a:prstGeom prst="rect">
            <a:avLst/>
          </a:prstGeom>
          <a:noFill/>
          <a:ln/>
        </p:spPr>
        <p:txBody>
          <a:bodyPr wrap="square" lIns="0" tIns="0" rIns="0" bIns="0" rtlCol="0" anchor="ctr"/>
          <a:lstStyle/>
          <a:p>
            <a:pPr indent="0" marL="0">
              <a:buNone/>
            </a:pPr>
            <a:r>
              <a:rPr lang="en-US" sz="1200" i="1" dirty="0">
                <a:solidFill>
                  <a:schemeClr val="accent3"/>
                </a:solidFill>
              </a:rPr>
              <a:t>With an assistant</a:t>
            </a:r>
            <a:endParaRPr lang="en-US" sz="1200" dirty="0"/>
          </a:p>
        </p:txBody>
      </p:sp>
      <p:sp>
        <p:nvSpPr>
          <p:cNvPr id="13" name="badge22_A"/>
          <p:cNvSpPr txBox="1"/>
          <p:nvPr/>
        </p:nvSpPr>
        <p:spPr>
          <a:xfrm>
            <a:off x="274320"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A</a:t>
            </a:r>
            <a:endParaRPr lang="en-US" sz="1100" dirty="0"/>
          </a:p>
        </p:txBody>
      </p:sp>
      <p:sp>
        <p:nvSpPr>
          <p:cNvPr id="14" name="badge22_L"/>
          <p:cNvSpPr txBox="1"/>
          <p:nvPr/>
        </p:nvSpPr>
        <p:spPr>
          <a:xfrm>
            <a:off x="576072"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L</a:t>
            </a:r>
            <a:endParaRPr lang="en-US" sz="1100" dirty="0"/>
          </a:p>
        </p:txBody>
      </p:sp>
      <p:sp>
        <p:nvSpPr>
          <p:cNvPr id="15" name="data22"/>
          <p:cNvSpPr txBox="1"/>
          <p:nvPr/>
        </p:nvSpPr>
        <p:spPr>
          <a:xfrm>
            <a:off x="1819656" y="6473952"/>
            <a:ext cx="9336024" cy="301752"/>
          </a:xfrm>
          <a:prstGeom prst="rect">
            <a:avLst/>
          </a:prstGeom>
          <a:noFill/>
          <a:ln/>
        </p:spPr>
        <p:txBody>
          <a:bodyPr wrap="square" lIns="0" tIns="0" rIns="0" bIns="0" rtlCol="0" anchor="ctr"/>
          <a:lstStyle/>
          <a:p>
            <a:pPr indent="0" marL="0">
              <a:buNone/>
            </a:pPr>
            <a:r>
              <a:rPr lang="en-US" sz="1100" dirty="0">
                <a:solidFill>
                  <a:srgbClr val="5E7A88"/>
                </a:solidFill>
              </a:rPr>
              <a:t>Data: ABIDE I, Caltech site (ABIDE Preprocessed; ReproNim simple2 NIDM, commit e0dff17)</a:t>
            </a:r>
            <a:endParaRPr lang="en-US" sz="1100" dirty="0"/>
          </a:p>
        </p:txBody>
      </p:sp>
      <p:sp>
        <p:nvSpPr>
          <p:cNvPr id="16" name="badge22_check"/>
          <p:cNvSpPr txBox="1"/>
          <p:nvPr/>
        </p:nvSpPr>
        <p:spPr>
          <a:xfrm>
            <a:off x="932688" y="6473952"/>
            <a:ext cx="749808" cy="301752"/>
          </a:xfrm>
          <a:prstGeom prst="rect">
            <a:avLst/>
          </a:prstGeom>
          <a:noFill/>
          <a:ln/>
        </p:spPr>
        <p:txBody>
          <a:bodyPr wrap="square" lIns="0" tIns="0" rIns="0" bIns="0" rtlCol="0" anchor="ctr"/>
          <a:lstStyle/>
          <a:p>
            <a:pPr indent="0" marL="0">
              <a:buNone/>
            </a:pPr>
            <a:r>
              <a:rPr lang="en-US" sz="1100" i="1" dirty="0">
                <a:solidFill>
                  <a:srgbClr val="5E7A88"/>
                </a:solidFill>
              </a:rPr>
              <a:t>validated</a:t>
            </a:r>
            <a:endParaRPr lang="en-US" sz="11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
            <a:ext cx="11064240" cy="713232"/>
          </a:xfrm>
          <a:prstGeom prst="rect">
            <a:avLst/>
          </a:prstGeom>
          <a:noFill/>
          <a:ln/>
        </p:spPr>
        <p:txBody>
          <a:bodyPr wrap="square" rtlCol="0" anchor="ctr"/>
          <a:lstStyle/>
          <a:p>
            <a:pPr algn="l" indent="0" marL="0">
              <a:buNone/>
            </a:pPr>
            <a:r>
              <a:rPr lang="en-US" sz="3200" b="1" dirty="0">
                <a:solidFill>
                  <a:schemeClr val="tx2"/>
                </a:solidFill>
              </a:rPr>
              <a:t>The lecture's own provenance graph</a:t>
            </a:r>
            <a:endParaRPr lang="en-US" sz="3200" dirty="0"/>
          </a:p>
        </p:txBody>
      </p:sp>
      <p:sp>
        <p:nvSpPr>
          <p:cNvPr id="3" name="shape318"/>
          <p:cNvSpPr txBox="1"/>
          <p:nvPr/>
        </p:nvSpPr>
        <p:spPr>
          <a:xfrm>
            <a:off x="457200" y="2057400"/>
            <a:ext cx="2103120" cy="868680"/>
          </a:xfrm>
          <a:prstGeom prst="roundRect">
            <a:avLst>
              <a:gd name="adj" fmla="val 42105"/>
            </a:avLst>
          </a:prstGeom>
          <a:solidFill>
            <a:schemeClr val="tx2"/>
          </a:solidFill>
          <a:ln/>
        </p:spPr>
        <p:txBody>
          <a:bodyPr wrap="square" lIns="50800" tIns="50800" rIns="50800" bIns="50800" rtlCol="0" anchor="ctr"/>
          <a:lstStyle/>
          <a:p>
            <a:pPr algn="ctr" indent="0" marL="0">
              <a:buNone/>
            </a:pPr>
            <a:r>
              <a:rPr lang="en-US" sz="1500" b="1" dirty="0">
                <a:solidFill>
                  <a:schemeClr val="bg1"/>
                </a:solidFill>
              </a:rPr>
              <a:t>a slide</a:t>
            </a:r>
            <a:endParaRPr lang="en-US" sz="1800" dirty="0"/>
          </a:p>
          <a:p>
            <a:pPr algn="ctr" indent="0" marL="0">
              <a:buNone/>
            </a:pPr>
            <a:r>
              <a:rPr lang="en-US" sz="1200" dirty="0">
                <a:solidFill>
                  <a:schemeClr val="accent4"/>
                </a:solidFill>
              </a:rPr>
              <a:t>“Joining graphs …”</a:t>
            </a:r>
            <a:endParaRPr lang="en-US" sz="1800" dirty="0"/>
          </a:p>
        </p:txBody>
      </p:sp>
      <p:sp>
        <p:nvSpPr>
          <p:cNvPr id="4" name="shape319"/>
          <p:cNvSpPr txBox="1"/>
          <p:nvPr/>
        </p:nvSpPr>
        <p:spPr>
          <a:xfrm>
            <a:off x="3291840" y="1481328"/>
            <a:ext cx="2377440" cy="713232"/>
          </a:xfrm>
          <a:prstGeom prst="roundRect">
            <a:avLst>
              <a:gd name="adj" fmla="val 51282"/>
            </a:avLst>
          </a:prstGeom>
          <a:solidFill>
            <a:schemeClr val="accent4"/>
          </a:solidFill>
          <a:ln/>
        </p:spPr>
        <p:txBody>
          <a:bodyPr wrap="square" lIns="50800" tIns="50800" rIns="50800" bIns="50800" rtlCol="0" anchor="ctr"/>
          <a:lstStyle/>
          <a:p>
            <a:pPr algn="ctr" indent="0" marL="0">
              <a:buNone/>
            </a:pPr>
            <a:r>
              <a:rPr lang="en-US" sz="1500" b="1" dirty="0">
                <a:solidFill>
                  <a:schemeClr val="tx2"/>
                </a:solidFill>
              </a:rPr>
              <a:t>production activity</a:t>
            </a:r>
            <a:endParaRPr lang="en-US" sz="1800" dirty="0"/>
          </a:p>
          <a:p>
            <a:pPr algn="ctr" indent="0" marL="0">
              <a:buNone/>
            </a:pPr>
            <a:r>
              <a:rPr lang="en-US" sz="1200" dirty="0">
                <a:solidFill>
                  <a:schemeClr val="accent3"/>
                </a:solidFill>
              </a:rPr>
              <a:t>A: agent ran code</a:t>
            </a:r>
            <a:endParaRPr lang="en-US" sz="1800" dirty="0"/>
          </a:p>
        </p:txBody>
      </p:sp>
      <p:sp>
        <p:nvSpPr>
          <p:cNvPr id="5" name="shape320"/>
          <p:cNvSpPr txBox="1"/>
          <p:nvPr/>
        </p:nvSpPr>
        <p:spPr>
          <a:xfrm>
            <a:off x="6080760" y="1481328"/>
            <a:ext cx="1965960" cy="713232"/>
          </a:xfrm>
          <a:prstGeom prst="roundRect">
            <a:avLst>
              <a:gd name="adj" fmla="val 51282"/>
            </a:avLst>
          </a:prstGeom>
          <a:solidFill>
            <a:schemeClr val="accent4"/>
          </a:solidFill>
          <a:ln/>
        </p:spPr>
        <p:txBody>
          <a:bodyPr wrap="square" lIns="50800" tIns="50800" rIns="50800" bIns="50800" rtlCol="0" anchor="ctr"/>
          <a:lstStyle/>
          <a:p>
            <a:pPr algn="ctr" indent="0" marL="0">
              <a:buNone/>
            </a:pPr>
            <a:r>
              <a:rPr lang="en-US" sz="1500" b="1" dirty="0">
                <a:solidFill>
                  <a:schemeClr val="tx2"/>
                </a:solidFill>
              </a:rPr>
              <a:t>agent</a:t>
            </a:r>
            <a:endParaRPr lang="en-US" sz="1800" dirty="0"/>
          </a:p>
          <a:p>
            <a:pPr algn="ctr" indent="0" marL="0">
              <a:buNone/>
            </a:pPr>
            <a:r>
              <a:rPr lang="en-US" sz="1200" dirty="0">
                <a:solidFill>
                  <a:schemeClr val="accent3"/>
                </a:solidFill>
              </a:rPr>
              <a:t>coding agent</a:t>
            </a:r>
            <a:endParaRPr lang="en-US" sz="1800" dirty="0"/>
          </a:p>
        </p:txBody>
      </p:sp>
      <p:sp>
        <p:nvSpPr>
          <p:cNvPr id="6" name="shape321"/>
          <p:cNvSpPr txBox="1"/>
          <p:nvPr/>
        </p:nvSpPr>
        <p:spPr>
          <a:xfrm>
            <a:off x="3291840" y="2331720"/>
            <a:ext cx="2377440" cy="777240"/>
          </a:xfrm>
          <a:prstGeom prst="roundRect">
            <a:avLst>
              <a:gd name="adj" fmla="val 47059"/>
            </a:avLst>
          </a:prstGeom>
          <a:solidFill>
            <a:schemeClr val="bg2"/>
          </a:solidFill>
          <a:ln/>
        </p:spPr>
        <p:txBody>
          <a:bodyPr wrap="square" lIns="50800" tIns="50800" rIns="50800" bIns="50800" rtlCol="0" anchor="ctr"/>
          <a:lstStyle/>
          <a:p>
            <a:pPr algn="ctr" indent="0" marL="0">
              <a:buNone/>
            </a:pPr>
            <a:r>
              <a:rPr lang="en-US" sz="1500" b="1" dirty="0">
                <a:solidFill>
                  <a:schemeClr val="tx2"/>
                </a:solidFill>
              </a:rPr>
              <a:t>results/simple2.json</a:t>
            </a:r>
            <a:endParaRPr lang="en-US" sz="1800" dirty="0"/>
          </a:p>
          <a:p>
            <a:pPr algn="ctr" indent="0" marL="0">
              <a:buNone/>
            </a:pPr>
            <a:r>
              <a:rPr lang="en-US" sz="1200" dirty="0">
                <a:solidFill>
                  <a:schemeClr val="accent3"/>
                </a:solidFill>
              </a:rPr>
              <a:t>a result file</a:t>
            </a:r>
            <a:endParaRPr lang="en-US" sz="1800" dirty="0"/>
          </a:p>
        </p:txBody>
      </p:sp>
      <p:sp>
        <p:nvSpPr>
          <p:cNvPr id="7" name="shape322"/>
          <p:cNvSpPr txBox="1"/>
          <p:nvPr/>
        </p:nvSpPr>
        <p:spPr>
          <a:xfrm>
            <a:off x="3291840" y="3337560"/>
            <a:ext cx="2377440" cy="777240"/>
          </a:xfrm>
          <a:prstGeom prst="roundRect">
            <a:avLst>
              <a:gd name="adj" fmla="val 47059"/>
            </a:avLst>
          </a:prstGeom>
          <a:solidFill>
            <a:schemeClr val="accent5"/>
          </a:solidFill>
          <a:ln/>
        </p:spPr>
        <p:txBody>
          <a:bodyPr wrap="square" lIns="50800" tIns="50800" rIns="50800" bIns="50800" rtlCol="0" anchor="ctr"/>
          <a:lstStyle/>
          <a:p>
            <a:pPr algn="ctr" indent="0" marL="0">
              <a:buNone/>
            </a:pPr>
            <a:r>
              <a:rPr lang="en-US" sz="1500" b="1" dirty="0">
                <a:solidFill>
                  <a:schemeClr val="tx2"/>
                </a:solidFill>
              </a:rPr>
              <a:t>assessment</a:t>
            </a:r>
            <a:endParaRPr lang="en-US" sz="1800" dirty="0"/>
          </a:p>
          <a:p>
            <a:pPr algn="ctr" indent="0" marL="0">
              <a:buNone/>
            </a:pPr>
            <a:r>
              <a:rPr lang="en-US" sz="1200" dirty="0">
                <a:solidFill>
                  <a:schemeClr val="accent3"/>
                </a:solidFill>
              </a:rPr>
              <a:t>re-run · validated</a:t>
            </a:r>
            <a:endParaRPr lang="en-US" sz="1800" dirty="0"/>
          </a:p>
        </p:txBody>
      </p:sp>
      <p:sp>
        <p:nvSpPr>
          <p:cNvPr id="8" name="shape323"/>
          <p:cNvSpPr txBox="1"/>
          <p:nvPr/>
        </p:nvSpPr>
        <p:spPr>
          <a:xfrm>
            <a:off x="5989320" y="3337560"/>
            <a:ext cx="2103120" cy="777240"/>
          </a:xfrm>
          <a:prstGeom prst="roundRect">
            <a:avLst>
              <a:gd name="adj" fmla="val 47059"/>
            </a:avLst>
          </a:prstGeom>
          <a:solidFill>
            <a:schemeClr val="bg2"/>
          </a:solidFill>
          <a:ln/>
        </p:spPr>
        <p:txBody>
          <a:bodyPr wrap="square" lIns="50800" tIns="50800" rIns="50800" bIns="50800" rtlCol="0" anchor="ctr"/>
          <a:lstStyle/>
          <a:p>
            <a:pPr algn="ctr" indent="0" marL="0">
              <a:buNone/>
            </a:pPr>
            <a:r>
              <a:rPr lang="en-US" sz="1500" b="1" dirty="0">
                <a:solidFill>
                  <a:schemeClr val="tx2"/>
                </a:solidFill>
              </a:rPr>
              <a:t>clean_room_verify</a:t>
            </a:r>
            <a:endParaRPr lang="en-US" sz="1800" dirty="0"/>
          </a:p>
          <a:p>
            <a:pPr algn="ctr" indent="0" marL="0">
              <a:buNone/>
            </a:pPr>
            <a:r>
              <a:rPr lang="en-US" sz="1200" dirty="0">
                <a:solidFill>
                  <a:schemeClr val="accent3"/>
                </a:solidFill>
              </a:rPr>
              <a:t>evidence (.json)</a:t>
            </a:r>
            <a:endParaRPr lang="en-US" sz="1800" dirty="0"/>
          </a:p>
        </p:txBody>
      </p:sp>
      <p:sp>
        <p:nvSpPr>
          <p:cNvPr id="9" name="curve324"/>
          <p:cNvSpPr/>
          <p:nvPr/>
        </p:nvSpPr>
        <p:spPr>
          <a:xfrm>
            <a:off x="2560320" y="1828800"/>
            <a:ext cx="731520" cy="457200"/>
          </a:xfrm>
          <a:custGeom>
            <a:avLst/>
            <a:gdLst/>
            <a:ahLst/>
            <a:cxnLst/>
            <a:rect l="l" t="t" r="r" b="b"/>
            <a:pathLst>
              <a:path w="731520" h="457200">
                <a:moveTo>
                  <a:pt x="0" y="457200"/>
                </a:moveTo>
                <a:cubicBezTo>
                  <a:pt x="365760" y="457200"/>
                  <a:pt x="365760" y="0"/>
                  <a:pt x="731520" y="0"/>
                </a:cubicBezTo>
              </a:path>
            </a:pathLst>
          </a:custGeom>
          <a:ln w="25400">
            <a:solidFill>
              <a:schemeClr val="accent1"/>
            </a:solidFill>
            <a:prstDash val="solid"/>
            <a:tailEnd type="triangle"/>
          </a:ln>
        </p:spPr>
      </p:sp>
      <p:sp>
        <p:nvSpPr>
          <p:cNvPr id="10" name="text325"/>
          <p:cNvSpPr txBox="1"/>
          <p:nvPr/>
        </p:nvSpPr>
        <p:spPr>
          <a:xfrm>
            <a:off x="2011680" y="1600200"/>
            <a:ext cx="1463040" cy="274320"/>
          </a:xfrm>
          <a:prstGeom prst="rect">
            <a:avLst/>
          </a:prstGeom>
          <a:noFill/>
          <a:ln/>
        </p:spPr>
        <p:txBody>
          <a:bodyPr wrap="square" lIns="0" tIns="0" rIns="0" bIns="0" rtlCol="0" anchor="t"/>
          <a:lstStyle/>
          <a:p>
            <a:pPr algn="ctr" indent="0" marL="0">
              <a:buNone/>
            </a:pPr>
            <a:r>
              <a:rPr lang="en-US" sz="1200" i="1" dirty="0">
                <a:solidFill>
                  <a:schemeClr val="accent1"/>
                </a:solidFill>
              </a:rPr>
              <a:t>wasGeneratedBy</a:t>
            </a:r>
            <a:endParaRPr lang="en-US" sz="1200" dirty="0"/>
          </a:p>
        </p:txBody>
      </p:sp>
      <p:sp>
        <p:nvSpPr>
          <p:cNvPr id="11" name="arrow326"/>
          <p:cNvSpPr/>
          <p:nvPr/>
        </p:nvSpPr>
        <p:spPr>
          <a:xfrm>
            <a:off x="5669280" y="1837944"/>
            <a:ext cx="411480" cy="914"/>
          </a:xfrm>
          <a:prstGeom prst="line">
            <a:avLst/>
          </a:prstGeom>
          <a:noFill/>
          <a:ln w="25400">
            <a:solidFill>
              <a:schemeClr val="accent1"/>
            </a:solidFill>
            <a:prstDash val="solid"/>
            <a:tailEnd type="triangle"/>
          </a:ln>
        </p:spPr>
      </p:sp>
      <p:sp>
        <p:nvSpPr>
          <p:cNvPr id="12" name="text327"/>
          <p:cNvSpPr txBox="1"/>
          <p:nvPr/>
        </p:nvSpPr>
        <p:spPr>
          <a:xfrm>
            <a:off x="5120640" y="1243584"/>
            <a:ext cx="1463040" cy="274320"/>
          </a:xfrm>
          <a:prstGeom prst="rect">
            <a:avLst/>
          </a:prstGeom>
          <a:noFill/>
          <a:ln/>
        </p:spPr>
        <p:txBody>
          <a:bodyPr wrap="square" lIns="0" tIns="0" rIns="0" bIns="0" rtlCol="0" anchor="t"/>
          <a:lstStyle/>
          <a:p>
            <a:pPr algn="ctr" indent="0" marL="0">
              <a:buNone/>
            </a:pPr>
            <a:r>
              <a:rPr lang="en-US" sz="1200" i="1" dirty="0">
                <a:solidFill>
                  <a:schemeClr val="accent1"/>
                </a:solidFill>
              </a:rPr>
              <a:t>associatedWith</a:t>
            </a:r>
            <a:endParaRPr lang="en-US" sz="1200" dirty="0"/>
          </a:p>
        </p:txBody>
      </p:sp>
      <p:sp>
        <p:nvSpPr>
          <p:cNvPr id="13" name="arrow328"/>
          <p:cNvSpPr/>
          <p:nvPr/>
        </p:nvSpPr>
        <p:spPr>
          <a:xfrm>
            <a:off x="2560320" y="2724912"/>
            <a:ext cx="731520" cy="914"/>
          </a:xfrm>
          <a:prstGeom prst="line">
            <a:avLst/>
          </a:prstGeom>
          <a:noFill/>
          <a:ln w="25400">
            <a:solidFill>
              <a:schemeClr val="accent1"/>
            </a:solidFill>
            <a:prstDash val="solid"/>
            <a:tailEnd type="triangle"/>
          </a:ln>
        </p:spPr>
      </p:sp>
      <p:sp>
        <p:nvSpPr>
          <p:cNvPr id="14" name="text329"/>
          <p:cNvSpPr txBox="1"/>
          <p:nvPr/>
        </p:nvSpPr>
        <p:spPr>
          <a:xfrm>
            <a:off x="2240280" y="2743200"/>
            <a:ext cx="1463040" cy="274320"/>
          </a:xfrm>
          <a:prstGeom prst="rect">
            <a:avLst/>
          </a:prstGeom>
          <a:noFill/>
          <a:ln/>
        </p:spPr>
        <p:txBody>
          <a:bodyPr wrap="square" lIns="0" tIns="0" rIns="0" bIns="0" rtlCol="0" anchor="t"/>
          <a:lstStyle/>
          <a:p>
            <a:pPr algn="ctr" indent="0" marL="0">
              <a:buNone/>
            </a:pPr>
            <a:r>
              <a:rPr lang="en-US" sz="1200" i="1" dirty="0">
                <a:solidFill>
                  <a:schemeClr val="accent1"/>
                </a:solidFill>
              </a:rPr>
              <a:t>wasDerivedFrom</a:t>
            </a:r>
            <a:endParaRPr lang="en-US" sz="1200" dirty="0"/>
          </a:p>
        </p:txBody>
      </p:sp>
      <p:sp>
        <p:nvSpPr>
          <p:cNvPr id="15" name="curve330"/>
          <p:cNvSpPr/>
          <p:nvPr/>
        </p:nvSpPr>
        <p:spPr>
          <a:xfrm>
            <a:off x="2560320" y="2788920"/>
            <a:ext cx="731520" cy="941832"/>
          </a:xfrm>
          <a:custGeom>
            <a:avLst/>
            <a:gdLst/>
            <a:ahLst/>
            <a:cxnLst/>
            <a:rect l="l" t="t" r="r" b="b"/>
            <a:pathLst>
              <a:path w="731520" h="941832">
                <a:moveTo>
                  <a:pt x="731520" y="941832"/>
                </a:moveTo>
                <a:cubicBezTo>
                  <a:pt x="365760" y="941832"/>
                  <a:pt x="365760" y="0"/>
                  <a:pt x="0" y="0"/>
                </a:cubicBezTo>
              </a:path>
            </a:pathLst>
          </a:custGeom>
          <a:ln w="25400">
            <a:solidFill>
              <a:schemeClr val="accent2"/>
            </a:solidFill>
            <a:prstDash val="solid"/>
            <a:tailEnd type="triangle"/>
          </a:ln>
        </p:spPr>
      </p:sp>
      <p:sp>
        <p:nvSpPr>
          <p:cNvPr id="16" name="text331"/>
          <p:cNvSpPr txBox="1"/>
          <p:nvPr/>
        </p:nvSpPr>
        <p:spPr>
          <a:xfrm>
            <a:off x="2103120" y="3520440"/>
            <a:ext cx="1188720" cy="274320"/>
          </a:xfrm>
          <a:prstGeom prst="rect">
            <a:avLst/>
          </a:prstGeom>
          <a:noFill/>
          <a:ln/>
        </p:spPr>
        <p:txBody>
          <a:bodyPr wrap="square" lIns="0" tIns="0" rIns="0" bIns="0" rtlCol="0" anchor="t"/>
          <a:lstStyle/>
          <a:p>
            <a:pPr algn="ctr" indent="0" marL="0">
              <a:buNone/>
            </a:pPr>
            <a:r>
              <a:rPr lang="en-US" sz="1200" i="1" dirty="0">
                <a:solidFill>
                  <a:schemeClr val="accent1"/>
                </a:solidFill>
              </a:rPr>
              <a:t>assesses</a:t>
            </a:r>
            <a:endParaRPr lang="en-US" sz="1200" dirty="0"/>
          </a:p>
        </p:txBody>
      </p:sp>
      <p:sp>
        <p:nvSpPr>
          <p:cNvPr id="17" name="arrow332"/>
          <p:cNvSpPr/>
          <p:nvPr/>
        </p:nvSpPr>
        <p:spPr>
          <a:xfrm>
            <a:off x="5669280" y="3730752"/>
            <a:ext cx="320040" cy="914"/>
          </a:xfrm>
          <a:prstGeom prst="line">
            <a:avLst/>
          </a:prstGeom>
          <a:noFill/>
          <a:ln w="25400">
            <a:solidFill>
              <a:schemeClr val="accent1"/>
            </a:solidFill>
            <a:prstDash val="solid"/>
            <a:tailEnd type="triangle"/>
          </a:ln>
        </p:spPr>
      </p:sp>
      <p:sp>
        <p:nvSpPr>
          <p:cNvPr id="18" name="text333"/>
          <p:cNvSpPr txBox="1"/>
          <p:nvPr/>
        </p:nvSpPr>
        <p:spPr>
          <a:xfrm>
            <a:off x="5120640" y="4114800"/>
            <a:ext cx="1463040" cy="274320"/>
          </a:xfrm>
          <a:prstGeom prst="rect">
            <a:avLst/>
          </a:prstGeom>
          <a:noFill/>
          <a:ln/>
        </p:spPr>
        <p:txBody>
          <a:bodyPr wrap="square" lIns="0" tIns="0" rIns="0" bIns="0" rtlCol="0" anchor="t"/>
          <a:lstStyle/>
          <a:p>
            <a:pPr algn="ctr" indent="0" marL="0">
              <a:buNone/>
            </a:pPr>
            <a:r>
              <a:rPr lang="en-US" sz="1200" i="1" dirty="0">
                <a:solidFill>
                  <a:schemeClr val="accent1"/>
                </a:solidFill>
              </a:rPr>
              <a:t>wasDerivedFrom</a:t>
            </a:r>
            <a:endParaRPr lang="en-US" sz="1200" dirty="0"/>
          </a:p>
        </p:txBody>
      </p:sp>
      <p:sp>
        <p:nvSpPr>
          <p:cNvPr id="19" name="shape334"/>
          <p:cNvSpPr/>
          <p:nvPr/>
        </p:nvSpPr>
        <p:spPr>
          <a:xfrm>
            <a:off x="8183880" y="1261872"/>
            <a:ext cx="3611880" cy="1024128"/>
          </a:xfrm>
          <a:prstGeom prst="roundRect">
            <a:avLst>
              <a:gd name="adj" fmla="val 4464"/>
            </a:avLst>
          </a:prstGeom>
          <a:solidFill>
            <a:schemeClr val="tx2"/>
          </a:solidFill>
          <a:ln/>
        </p:spPr>
      </p:sp>
      <p:sp>
        <p:nvSpPr>
          <p:cNvPr id="20" name="provQuery"/>
          <p:cNvSpPr txBox="1"/>
          <p:nvPr/>
        </p:nvSpPr>
        <p:spPr>
          <a:xfrm>
            <a:off x="8275320" y="1307592"/>
            <a:ext cx="3474720" cy="932688"/>
          </a:xfrm>
          <a:prstGeom prst="rect">
            <a:avLst/>
          </a:prstGeom>
          <a:noFill/>
          <a:ln/>
        </p:spPr>
        <p:txBody>
          <a:bodyPr wrap="square" lIns="0" tIns="0" rIns="0" bIns="0" rtlCol="0" anchor="t"/>
          <a:lstStyle/>
          <a:p>
            <a:pPr indent="0" marL="0">
              <a:buNone/>
            </a:pPr>
            <a:r>
              <a:rPr lang="en-US" sz="1200" dirty="0">
                <a:solidFill>
                  <a:srgbClr val="E8F1F2"/>
                </a:solidFill>
                <a:latin typeface="Courier New" pitchFamily="34" charset="0"/>
                <a:ea typeface="Courier New" pitchFamily="34" charset="-122"/>
                <a:cs typeface="Courier New" pitchFamily="34" charset="-120"/>
              </a:rPr>
              <a:t>SELECT ?status (COUNT(?slide) AS ?n)</a:t>
            </a:r>
            <a:endParaRPr lang="en-US" sz="1200" dirty="0"/>
          </a:p>
          <a:p>
            <a:pPr indent="0" marL="0">
              <a:buNone/>
            </a:pPr>
            <a:r>
              <a:rPr lang="en-US" sz="1200" dirty="0">
                <a:solidFill>
                  <a:srgbClr val="E8F1F2"/>
                </a:solidFill>
                <a:latin typeface="Courier New" pitchFamily="34" charset="0"/>
                <a:ea typeface="Courier New" pitchFamily="34" charset="-122"/>
                <a:cs typeface="Courier New" pitchFamily="34" charset="-120"/>
              </a:rPr>
              <a:t>WHERE { ?a talk:assesses ?slide ;</a:t>
            </a:r>
            <a:endParaRPr lang="en-US" sz="1200" dirty="0"/>
          </a:p>
          <a:p>
            <a:pPr indent="0" marL="0">
              <a:buNone/>
            </a:pPr>
            <a:r>
              <a:rPr lang="en-US" sz="1200" dirty="0">
                <a:solidFill>
                  <a:srgbClr val="E8F1F2"/>
                </a:solidFill>
                <a:latin typeface="Courier New" pitchFamily="34" charset="0"/>
                <a:ea typeface="Courier New" pitchFamily="34" charset="-122"/>
                <a:cs typeface="Courier New" pitchFamily="34" charset="-120"/>
              </a:rPr>
              <a:t>           talk:checkingLabel ?status }</a:t>
            </a:r>
            <a:endParaRPr lang="en-US" sz="1200" dirty="0"/>
          </a:p>
          <a:p>
            <a:pPr indent="0" marL="0">
              <a:buNone/>
            </a:pPr>
            <a:r>
              <a:rPr lang="en-US" sz="1200" dirty="0">
                <a:solidFill>
                  <a:srgbClr val="E8F1F2"/>
                </a:solidFill>
                <a:latin typeface="Courier New" pitchFamily="34" charset="0"/>
                <a:ea typeface="Courier New" pitchFamily="34" charset="-122"/>
                <a:cs typeface="Courier New" pitchFamily="34" charset="-120"/>
              </a:rPr>
              <a:t>GROUP BY ?status</a:t>
            </a:r>
            <a:endParaRPr lang="en-US" sz="1200" dirty="0"/>
          </a:p>
        </p:txBody>
      </p:sp>
      <p:sp>
        <p:nvSpPr>
          <p:cNvPr id="21" name="shape335"/>
          <p:cNvSpPr/>
          <p:nvPr/>
        </p:nvSpPr>
        <p:spPr>
          <a:xfrm>
            <a:off x="8183880" y="2359152"/>
            <a:ext cx="3611880" cy="1920240"/>
          </a:xfrm>
          <a:prstGeom prst="roundRect">
            <a:avLst>
              <a:gd name="adj" fmla="val 2381"/>
            </a:avLst>
          </a:prstGeom>
          <a:solidFill>
            <a:schemeClr val="bg2"/>
          </a:solidFill>
          <a:ln w="19050">
            <a:solidFill>
              <a:srgbClr val="C9D3D7"/>
            </a:solidFill>
            <a:prstDash val="solid"/>
          </a:ln>
        </p:spPr>
      </p:sp>
      <p:sp>
        <p:nvSpPr>
          <p:cNvPr id="22" name="provAnswer"/>
          <p:cNvSpPr txBox="1"/>
          <p:nvPr/>
        </p:nvSpPr>
        <p:spPr>
          <a:xfrm>
            <a:off x="8275320" y="2404872"/>
            <a:ext cx="3474720" cy="1828800"/>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15  validated</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15  reviewed</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15  re-run · validated</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5  unverified</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3  re-run</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2  re-run · reviewed</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1  re-run (UMAP-derived values differ slightly across machines)</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1  re-run (UMAP differed ≤ 0.011)</a:t>
            </a:r>
            <a:endParaRPr lang="en-US" sz="1200" dirty="0"/>
          </a:p>
        </p:txBody>
      </p:sp>
      <p:sp>
        <p:nvSpPr>
          <p:cNvPr id="23" name="text336"/>
          <p:cNvSpPr txBox="1"/>
          <p:nvPr/>
        </p:nvSpPr>
        <p:spPr>
          <a:xfrm>
            <a:off x="502920" y="4343400"/>
            <a:ext cx="5394960" cy="320040"/>
          </a:xfrm>
          <a:prstGeom prst="rect">
            <a:avLst/>
          </a:prstGeom>
          <a:noFill/>
          <a:ln/>
        </p:spPr>
        <p:txBody>
          <a:bodyPr wrap="square" lIns="0" tIns="0" rIns="0" bIns="0" rtlCol="0" anchor="t"/>
          <a:lstStyle/>
          <a:p>
            <a:pPr indent="0" marL="0">
              <a:buNone/>
            </a:pPr>
            <a:r>
              <a:rPr lang="en-US" sz="1600" b="1" dirty="0">
                <a:solidFill>
                  <a:schemeClr val="accent2"/>
                </a:solidFill>
              </a:rPr>
              <a:t>Caught by the speaker</a:t>
            </a:r>
            <a:endParaRPr lang="en-US" sz="1600" dirty="0"/>
          </a:p>
        </p:txBody>
      </p:sp>
      <p:sp>
        <p:nvSpPr>
          <p:cNvPr id="24" name="text337"/>
          <p:cNvSpPr txBox="1"/>
          <p:nvPr/>
        </p:nvSpPr>
        <p:spPr>
          <a:xfrm>
            <a:off x="6263640" y="4343400"/>
            <a:ext cx="5394960" cy="320040"/>
          </a:xfrm>
          <a:prstGeom prst="rect">
            <a:avLst/>
          </a:prstGeom>
          <a:noFill/>
          <a:ln/>
        </p:spPr>
        <p:txBody>
          <a:bodyPr wrap="square" lIns="0" tIns="0" rIns="0" bIns="0" rtlCol="0" anchor="t"/>
          <a:lstStyle/>
          <a:p>
            <a:pPr indent="0" marL="0">
              <a:buNone/>
            </a:pPr>
            <a:r>
              <a:rPr lang="en-US" sz="1600" b="1" dirty="0">
                <a:solidFill>
                  <a:schemeClr val="accent1"/>
                </a:solidFill>
              </a:rPr>
              <a:t>Caught by automated checks</a:t>
            </a:r>
            <a:endParaRPr lang="en-US" sz="1600" dirty="0"/>
          </a:p>
        </p:txBody>
      </p:sp>
      <p:sp>
        <p:nvSpPr>
          <p:cNvPr id="25" name="caughtSpeaker"/>
          <p:cNvSpPr txBox="1"/>
          <p:nvPr/>
        </p:nvSpPr>
        <p:spPr>
          <a:xfrm>
            <a:off x="502920" y="4709160"/>
            <a:ext cx="5486400" cy="1645920"/>
          </a:xfrm>
          <a:prstGeom prst="rect">
            <a:avLst/>
          </a:prstGeom>
          <a:noFill/>
          <a:ln/>
        </p:spPr>
        <p:txBody>
          <a:bodyPr wrap="square" lIns="0" tIns="0" rIns="0" bIns="0" rtlCol="0" anchor="t"/>
          <a:lstStyle/>
          <a:p>
            <a:pPr marL="342900" indent="-342900">
              <a:spcAft>
                <a:spcPts val="300"/>
              </a:spcAft>
              <a:buSzPct val="100000"/>
              <a:buChar char="•"/>
            </a:pPr>
            <a:r>
              <a:rPr lang="en-US" sz="1500" dirty="0">
                <a:solidFill>
                  <a:schemeClr val="tx1"/>
                </a:solidFill>
              </a:rPr>
              <a:t>Consent wording: scoped consent, not “no consent”</a:t>
            </a:r>
            <a:endParaRPr lang="en-US" sz="1500" dirty="0"/>
          </a:p>
          <a:p>
            <a:pPr marL="342900" indent="-342900">
              <a:spcAft>
                <a:spcPts val="300"/>
              </a:spcAft>
              <a:buSzPct val="100000"/>
              <a:buChar char="•"/>
            </a:pPr>
            <a:r>
              <a:rPr lang="en-US" sz="1500" dirty="0">
                <a:solidFill>
                  <a:schemeClr val="tx1"/>
                </a:solidFill>
              </a:rPr>
              <a:t>Kim 2023 question paraphrased wrongly; fixed from source</a:t>
            </a:r>
            <a:endParaRPr lang="en-US" sz="1500" dirty="0"/>
          </a:p>
          <a:p>
            <a:pPr marL="342900" indent="-342900">
              <a:spcAft>
                <a:spcPts val="300"/>
              </a:spcAft>
              <a:buSzPct val="100000"/>
              <a:buChar char="•"/>
            </a:pPr>
            <a:r>
              <a:rPr lang="en-US" sz="1500" dirty="0">
                <a:solidFill>
                  <a:schemeClr val="tx1"/>
                </a:solidFill>
              </a:rPr>
              <a:t>AbstractAtlas links dropped, then restored</a:t>
            </a:r>
            <a:endParaRPr lang="en-US" sz="1500" dirty="0"/>
          </a:p>
          <a:p>
            <a:pPr marL="342900" indent="-342900">
              <a:spcAft>
                <a:spcPts val="300"/>
              </a:spcAft>
              <a:buSzPct val="100000"/>
              <a:buChar char="•"/>
            </a:pPr>
            <a:r>
              <a:rPr lang="en-US" sz="1500" dirty="0">
                <a:solidFill>
                  <a:schemeClr val="tx1"/>
                </a:solidFill>
              </a:rPr>
              <a:t>LLM-style footers and titles removed</a:t>
            </a:r>
            <a:endParaRPr lang="en-US" sz="1500" dirty="0"/>
          </a:p>
        </p:txBody>
      </p:sp>
      <p:sp>
        <p:nvSpPr>
          <p:cNvPr id="26" name="caughtChecks"/>
          <p:cNvSpPr txBox="1"/>
          <p:nvPr/>
        </p:nvSpPr>
        <p:spPr>
          <a:xfrm>
            <a:off x="6263640" y="4709160"/>
            <a:ext cx="5486400" cy="1645920"/>
          </a:xfrm>
          <a:prstGeom prst="rect">
            <a:avLst/>
          </a:prstGeom>
          <a:noFill/>
          <a:ln/>
        </p:spPr>
        <p:txBody>
          <a:bodyPr wrap="square" lIns="0" tIns="0" rIns="0" bIns="0" rtlCol="0" anchor="t"/>
          <a:lstStyle/>
          <a:p>
            <a:pPr marL="342900" indent="-342900">
              <a:spcAft>
                <a:spcPts val="300"/>
              </a:spcAft>
              <a:buSzPct val="100000"/>
              <a:buChar char="•"/>
            </a:pPr>
            <a:r>
              <a:rPr lang="en-US" sz="1500" dirty="0">
                <a:solidFill>
                  <a:schemeClr val="tx1"/>
                </a:solidFill>
              </a:rPr>
              <a:t>Failed ORCD job: invalid p-values</a:t>
            </a:r>
            <a:endParaRPr lang="en-US" sz="1500" dirty="0"/>
          </a:p>
          <a:p>
            <a:pPr marL="342900" indent="-342900">
              <a:spcAft>
                <a:spcPts val="300"/>
              </a:spcAft>
              <a:buSzPct val="100000"/>
              <a:buChar char="•"/>
            </a:pPr>
            <a:r>
              <a:rPr lang="en-US" sz="1500" dirty="0">
                <a:solidFill>
                  <a:schemeClr val="tx1"/>
                </a:solidFill>
              </a:rPr>
              <a:t>Clean rebuild caught a blocked download (HTTP 403)</a:t>
            </a:r>
            <a:endParaRPr lang="en-US" sz="1500" dirty="0"/>
          </a:p>
          <a:p>
            <a:pPr marL="342900" indent="-342900">
              <a:spcAft>
                <a:spcPts val="300"/>
              </a:spcAft>
              <a:buSzPct val="100000"/>
              <a:buChar char="•"/>
            </a:pPr>
            <a:r>
              <a:rPr lang="en-US" sz="1500" dirty="0">
                <a:solidFill>
                  <a:schemeClr val="tx1"/>
                </a:solidFill>
              </a:rPr>
              <a:t>Two agents reconstructed the same cohorts differently</a:t>
            </a:r>
            <a:endParaRPr lang="en-US" sz="1500" dirty="0"/>
          </a:p>
          <a:p>
            <a:pPr marL="342900" indent="-342900">
              <a:spcAft>
                <a:spcPts val="300"/>
              </a:spcAft>
              <a:buSzPct val="100000"/>
              <a:buChar char="•"/>
            </a:pPr>
            <a:r>
              <a:rPr lang="en-US" sz="1500" dirty="0">
                <a:solidFill>
                  <a:schemeClr val="tx1"/>
                </a:solidFill>
              </a:rPr>
              <a:t>UMAP values drift across machines; all else matched</a:t>
            </a:r>
            <a:endParaRPr lang="en-US" sz="1500" dirty="0"/>
          </a:p>
        </p:txBody>
      </p:sp>
      <p:pic>
        <p:nvPicPr>
          <p:cNvPr id="28" name="stripIcon23" descr="preencoded.png">    </p:cNvPr>
          <p:cNvPicPr>
            <a:picLocks noChangeAspect="1"/>
          </p:cNvPicPr>
          <p:nvPr/>
        </p:nvPicPr>
        <p:blipFill>
          <a:blip r:embed="rId1"/>
          <a:stretch>
            <a:fillRect/>
          </a:stretch>
        </p:blipFill>
        <p:spPr>
          <a:xfrm>
            <a:off x="548640" y="969264"/>
            <a:ext cx="182880" cy="182880"/>
          </a:xfrm>
          <a:prstGeom prst="rect">
            <a:avLst/>
          </a:prstGeom>
        </p:spPr>
      </p:pic>
      <p:sp>
        <p:nvSpPr>
          <p:cNvPr id="29" name="strip23"/>
          <p:cNvSpPr txBox="1"/>
          <p:nvPr/>
        </p:nvSpPr>
        <p:spPr>
          <a:xfrm>
            <a:off x="804672" y="914400"/>
            <a:ext cx="10972800" cy="292608"/>
          </a:xfrm>
          <a:prstGeom prst="rect">
            <a:avLst/>
          </a:prstGeom>
          <a:noFill/>
          <a:ln/>
        </p:spPr>
        <p:txBody>
          <a:bodyPr wrap="square" lIns="0" tIns="0" rIns="0" bIns="0" rtlCol="0" anchor="ctr"/>
          <a:lstStyle/>
          <a:p>
            <a:pPr indent="0" marL="0">
              <a:buNone/>
            </a:pPr>
            <a:r>
              <a:rPr lang="en-US" sz="1200" b="1" dirty="0">
                <a:solidFill>
                  <a:schemeClr val="accent1"/>
                </a:solidFill>
              </a:rPr>
              <a:t>In the graph: </a:t>
            </a:r>
            <a:pPr indent="0" marL="0">
              <a:buNone/>
            </a:pPr>
            <a:r>
              <a:rPr lang="en-US" sz="1200" dirty="0">
                <a:solidFill>
                  <a:schemeClr val="accent3"/>
                </a:solidFill>
              </a:rPr>
              <a:t>talk_provenance.ttl, written by slides/build_deck.js; query run with pyoxigraph (slides/prov_query.py)</a:t>
            </a:r>
            <a:endParaRPr lang="en-US" sz="1200" dirty="0"/>
          </a:p>
        </p:txBody>
      </p:sp>
      <p:sp>
        <p:nvSpPr>
          <p:cNvPr id="30" name="tagDot23"/>
          <p:cNvSpPr/>
          <p:nvPr/>
        </p:nvSpPr>
        <p:spPr>
          <a:xfrm>
            <a:off x="9326880" y="82296"/>
            <a:ext cx="128016" cy="128016"/>
          </a:xfrm>
          <a:prstGeom prst="ellipse">
            <a:avLst/>
          </a:prstGeom>
          <a:solidFill>
            <a:schemeClr val="accent2"/>
          </a:solidFill>
          <a:ln/>
        </p:spPr>
      </p:sp>
      <p:sp>
        <p:nvSpPr>
          <p:cNvPr id="31" name="tag23"/>
          <p:cNvSpPr txBox="1"/>
          <p:nvPr/>
        </p:nvSpPr>
        <p:spPr>
          <a:xfrm>
            <a:off x="9509760" y="18288"/>
            <a:ext cx="2286000" cy="256032"/>
          </a:xfrm>
          <a:prstGeom prst="rect">
            <a:avLst/>
          </a:prstGeom>
          <a:noFill/>
          <a:ln/>
        </p:spPr>
        <p:txBody>
          <a:bodyPr wrap="square" lIns="0" tIns="0" rIns="0" bIns="0" rtlCol="0" anchor="ctr"/>
          <a:lstStyle/>
          <a:p>
            <a:pPr indent="0" marL="0">
              <a:buNone/>
            </a:pPr>
            <a:r>
              <a:rPr lang="en-US" sz="1200" i="1" dirty="0">
                <a:solidFill>
                  <a:schemeClr val="accent3"/>
                </a:solidFill>
              </a:rPr>
              <a:t>With an assistant</a:t>
            </a:r>
            <a:endParaRPr lang="en-US" sz="1200" dirty="0"/>
          </a:p>
        </p:txBody>
      </p:sp>
      <p:sp>
        <p:nvSpPr>
          <p:cNvPr id="32" name="badge23_H"/>
          <p:cNvSpPr txBox="1"/>
          <p:nvPr/>
        </p:nvSpPr>
        <p:spPr>
          <a:xfrm>
            <a:off x="274320"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H</a:t>
            </a:r>
            <a:endParaRPr lang="en-US" sz="1100" dirty="0"/>
          </a:p>
        </p:txBody>
      </p:sp>
      <p:sp>
        <p:nvSpPr>
          <p:cNvPr id="33" name="badge23_L"/>
          <p:cNvSpPr txBox="1"/>
          <p:nvPr/>
        </p:nvSpPr>
        <p:spPr>
          <a:xfrm>
            <a:off x="576072"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L</a:t>
            </a:r>
            <a:endParaRPr lang="en-US" sz="1100" dirty="0"/>
          </a:p>
        </p:txBody>
      </p:sp>
      <p:sp>
        <p:nvSpPr>
          <p:cNvPr id="34" name="badge23_check"/>
          <p:cNvSpPr txBox="1"/>
          <p:nvPr/>
        </p:nvSpPr>
        <p:spPr>
          <a:xfrm>
            <a:off x="932688" y="6473952"/>
            <a:ext cx="676656" cy="301752"/>
          </a:xfrm>
          <a:prstGeom prst="rect">
            <a:avLst/>
          </a:prstGeom>
          <a:noFill/>
          <a:ln/>
        </p:spPr>
        <p:txBody>
          <a:bodyPr wrap="square" lIns="0" tIns="0" rIns="0" bIns="0" rtlCol="0" anchor="ctr"/>
          <a:lstStyle/>
          <a:p>
            <a:pPr indent="0" marL="0">
              <a:buNone/>
            </a:pPr>
            <a:r>
              <a:rPr lang="en-US" sz="1100" i="1" dirty="0">
                <a:solidFill>
                  <a:srgbClr val="5E7A88"/>
                </a:solidFill>
              </a:rPr>
              <a:t>reviewed</a:t>
            </a:r>
            <a:endParaRPr lang="en-US" sz="11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
            <a:ext cx="11064240" cy="713232"/>
          </a:xfrm>
          <a:prstGeom prst="rect">
            <a:avLst/>
          </a:prstGeom>
          <a:noFill/>
          <a:ln/>
        </p:spPr>
        <p:txBody>
          <a:bodyPr wrap="square" rtlCol="0" anchor="ctr"/>
          <a:lstStyle/>
          <a:p>
            <a:pPr algn="l" indent="0" marL="0">
              <a:buNone/>
            </a:pPr>
            <a:r>
              <a:rPr lang="en-US" sz="3200" b="1" dirty="0">
                <a:solidFill>
                  <a:schemeClr val="tx2"/>
                </a:solidFill>
              </a:rPr>
              <a:t>Practices to adopt now</a:t>
            </a:r>
            <a:endParaRPr lang="en-US" sz="3200" dirty="0"/>
          </a:p>
        </p:txBody>
      </p:sp>
      <p:sp>
        <p:nvSpPr>
          <p:cNvPr id="3" name="shape338"/>
          <p:cNvSpPr/>
          <p:nvPr/>
        </p:nvSpPr>
        <p:spPr>
          <a:xfrm>
            <a:off x="548640" y="1298448"/>
            <a:ext cx="237744" cy="237744"/>
          </a:xfrm>
          <a:prstGeom prst="ellipse">
            <a:avLst/>
          </a:prstGeom>
          <a:solidFill>
            <a:schemeClr val="accent1"/>
          </a:solidFill>
          <a:ln/>
        </p:spPr>
      </p:sp>
      <p:sp>
        <p:nvSpPr>
          <p:cNvPr id="4" name="text339"/>
          <p:cNvSpPr txBox="1"/>
          <p:nvPr/>
        </p:nvSpPr>
        <p:spPr>
          <a:xfrm>
            <a:off x="868680" y="1216152"/>
            <a:ext cx="4572000" cy="384048"/>
          </a:xfrm>
          <a:prstGeom prst="rect">
            <a:avLst/>
          </a:prstGeom>
          <a:noFill/>
          <a:ln/>
        </p:spPr>
        <p:txBody>
          <a:bodyPr wrap="square" lIns="0" tIns="0" rIns="0" bIns="0" rtlCol="0" anchor="ctr"/>
          <a:lstStyle/>
          <a:p>
            <a:pPr indent="0" marL="0">
              <a:buNone/>
            </a:pPr>
            <a:r>
              <a:rPr lang="en-US" sz="1600" dirty="0">
                <a:solidFill>
                  <a:schemeClr val="tx2"/>
                </a:solidFill>
              </a:rPr>
              <a:t>Objective 1: represent results as a graph</a:t>
            </a:r>
            <a:endParaRPr lang="en-US" sz="1600" dirty="0"/>
          </a:p>
        </p:txBody>
      </p:sp>
      <p:sp>
        <p:nvSpPr>
          <p:cNvPr id="5" name="shape340"/>
          <p:cNvSpPr/>
          <p:nvPr/>
        </p:nvSpPr>
        <p:spPr>
          <a:xfrm>
            <a:off x="5760720" y="1298448"/>
            <a:ext cx="237744" cy="237744"/>
          </a:xfrm>
          <a:prstGeom prst="ellipse">
            <a:avLst/>
          </a:prstGeom>
          <a:solidFill>
            <a:schemeClr val="tx2"/>
          </a:solidFill>
          <a:ln/>
        </p:spPr>
      </p:sp>
      <p:sp>
        <p:nvSpPr>
          <p:cNvPr id="6" name="text341"/>
          <p:cNvSpPr txBox="1"/>
          <p:nvPr/>
        </p:nvSpPr>
        <p:spPr>
          <a:xfrm>
            <a:off x="6080760" y="1216152"/>
            <a:ext cx="4572000" cy="384048"/>
          </a:xfrm>
          <a:prstGeom prst="rect">
            <a:avLst/>
          </a:prstGeom>
          <a:noFill/>
          <a:ln/>
        </p:spPr>
        <p:txBody>
          <a:bodyPr wrap="square" lIns="0" tIns="0" rIns="0" bIns="0" rtlCol="0" anchor="ctr"/>
          <a:lstStyle/>
          <a:p>
            <a:pPr indent="0" marL="0">
              <a:buNone/>
            </a:pPr>
            <a:r>
              <a:rPr lang="en-US" sz="1600" dirty="0">
                <a:solidFill>
                  <a:schemeClr val="tx2"/>
                </a:solidFill>
              </a:rPr>
              <a:t>Objective 2: connect across graphs</a:t>
            </a:r>
            <a:endParaRPr lang="en-US" sz="1600" dirty="0"/>
          </a:p>
        </p:txBody>
      </p:sp>
      <p:sp>
        <p:nvSpPr>
          <p:cNvPr id="7" name="curve342"/>
          <p:cNvSpPr/>
          <p:nvPr/>
        </p:nvSpPr>
        <p:spPr>
          <a:xfrm>
            <a:off x="914400" y="2834640"/>
            <a:ext cx="10332720" cy="1645920"/>
          </a:xfrm>
          <a:custGeom>
            <a:avLst/>
            <a:gdLst/>
            <a:ahLst/>
            <a:cxnLst/>
            <a:rect l="l" t="t" r="r" b="b"/>
            <a:pathLst>
              <a:path w="10332720" h="1645920">
                <a:moveTo>
                  <a:pt x="0" y="0"/>
                </a:moveTo>
                <a:cubicBezTo>
                  <a:pt x="5166360" y="0"/>
                  <a:pt x="5166360" y="1645920"/>
                  <a:pt x="10332720" y="1645920"/>
                </a:cubicBezTo>
              </a:path>
            </a:pathLst>
          </a:custGeom>
          <a:ln w="177800">
            <a:solidFill>
              <a:srgbClr val="C9DCDC"/>
            </a:solidFill>
            <a:prstDash val="solid"/>
          </a:ln>
        </p:spPr>
      </p:sp>
      <p:sp>
        <p:nvSpPr>
          <p:cNvPr id="8" name="shape343"/>
          <p:cNvSpPr/>
          <p:nvPr/>
        </p:nvSpPr>
        <p:spPr>
          <a:xfrm>
            <a:off x="984446" y="2316550"/>
            <a:ext cx="1051560" cy="1051560"/>
          </a:xfrm>
          <a:prstGeom prst="ellipse">
            <a:avLst/>
          </a:prstGeom>
          <a:solidFill>
            <a:schemeClr val="accent1"/>
          </a:solidFill>
          <a:ln w="38100">
            <a:solidFill>
              <a:schemeClr val="bg1"/>
            </a:solidFill>
            <a:prstDash val="solid"/>
          </a:ln>
        </p:spPr>
      </p:sp>
      <p:pic>
        <p:nvPicPr>
          <p:cNvPr id="9" name="pIcon344" descr="preencoded.png">    </p:cNvPr>
          <p:cNvPicPr>
            <a:picLocks noChangeAspect="1"/>
          </p:cNvPicPr>
          <p:nvPr/>
        </p:nvPicPr>
        <p:blipFill>
          <a:blip r:embed="rId1"/>
          <a:stretch>
            <a:fillRect/>
          </a:stretch>
        </p:blipFill>
        <p:spPr>
          <a:xfrm>
            <a:off x="1254194" y="2586298"/>
            <a:ext cx="512064" cy="512064"/>
          </a:xfrm>
          <a:prstGeom prst="rect">
            <a:avLst/>
          </a:prstGeom>
        </p:spPr>
      </p:pic>
      <p:sp>
        <p:nvSpPr>
          <p:cNvPr id="10" name="text345"/>
          <p:cNvSpPr txBox="1"/>
          <p:nvPr/>
        </p:nvSpPr>
        <p:spPr>
          <a:xfrm>
            <a:off x="365760" y="3459550"/>
            <a:ext cx="3017520" cy="1051560"/>
          </a:xfrm>
          <a:prstGeom prst="rect">
            <a:avLst/>
          </a:prstGeom>
          <a:noFill/>
          <a:ln/>
        </p:spPr>
        <p:txBody>
          <a:bodyPr wrap="square" lIns="0" tIns="0" rIns="0" bIns="0" rtlCol="0" anchor="t"/>
          <a:lstStyle/>
          <a:p>
            <a:pPr algn="ctr" indent="0" marL="0">
              <a:buNone/>
            </a:pPr>
            <a:r>
              <a:rPr lang="en-US" sz="2200" b="1" dirty="0">
                <a:solidFill>
                  <a:schemeClr val="tx2"/>
                </a:solidFill>
              </a:rPr>
              <a:t>Pin your data</a:t>
            </a:r>
            <a:endParaRPr lang="en-US" sz="1800" dirty="0"/>
          </a:p>
          <a:p>
            <a:pPr algn="ctr" indent="0" marL="0">
              <a:buNone/>
            </a:pPr>
            <a:r>
              <a:rPr lang="en-US" sz="1700" dirty="0">
                <a:solidFill>
                  <a:schemeClr val="accent3"/>
                </a:solidFill>
              </a:rPr>
              <a:t>commit or DataLad version, hashes</a:t>
            </a:r>
            <a:endParaRPr lang="en-US" sz="1800" dirty="0"/>
          </a:p>
        </p:txBody>
      </p:sp>
      <p:sp>
        <p:nvSpPr>
          <p:cNvPr id="11" name="shape346"/>
          <p:cNvSpPr/>
          <p:nvPr/>
        </p:nvSpPr>
        <p:spPr>
          <a:xfrm>
            <a:off x="3646868" y="2604029"/>
            <a:ext cx="1051560" cy="1051560"/>
          </a:xfrm>
          <a:prstGeom prst="ellipse">
            <a:avLst/>
          </a:prstGeom>
          <a:solidFill>
            <a:schemeClr val="accent1"/>
          </a:solidFill>
          <a:ln w="38100">
            <a:solidFill>
              <a:schemeClr val="bg1"/>
            </a:solidFill>
            <a:prstDash val="solid"/>
          </a:ln>
        </p:spPr>
      </p:sp>
      <p:pic>
        <p:nvPicPr>
          <p:cNvPr id="12" name="pIcon347" descr="preencoded.png">    </p:cNvPr>
          <p:cNvPicPr>
            <a:picLocks noChangeAspect="1"/>
          </p:cNvPicPr>
          <p:nvPr/>
        </p:nvPicPr>
        <p:blipFill>
          <a:blip r:embed="rId2"/>
          <a:stretch>
            <a:fillRect/>
          </a:stretch>
        </p:blipFill>
        <p:spPr>
          <a:xfrm>
            <a:off x="3916616" y="2873777"/>
            <a:ext cx="512064" cy="512064"/>
          </a:xfrm>
          <a:prstGeom prst="rect">
            <a:avLst/>
          </a:prstGeom>
        </p:spPr>
      </p:pic>
      <p:sp>
        <p:nvSpPr>
          <p:cNvPr id="13" name="text348"/>
          <p:cNvSpPr txBox="1"/>
          <p:nvPr/>
        </p:nvSpPr>
        <p:spPr>
          <a:xfrm>
            <a:off x="2663888" y="1461029"/>
            <a:ext cx="3017520" cy="1051560"/>
          </a:xfrm>
          <a:prstGeom prst="rect">
            <a:avLst/>
          </a:prstGeom>
          <a:noFill/>
          <a:ln/>
        </p:spPr>
        <p:txBody>
          <a:bodyPr wrap="square" lIns="0" tIns="0" rIns="0" bIns="0" rtlCol="0" anchor="b"/>
          <a:lstStyle/>
          <a:p>
            <a:pPr algn="ctr" indent="0" marL="0">
              <a:buNone/>
            </a:pPr>
            <a:r>
              <a:rPr lang="en-US" sz="2200" b="1" dirty="0">
                <a:solidFill>
                  <a:schemeClr val="tx2"/>
                </a:solidFill>
              </a:rPr>
              <a:t>Save the manifest</a:t>
            </a:r>
            <a:endParaRPr lang="en-US" sz="1800" dirty="0"/>
          </a:p>
          <a:p>
            <a:pPr algn="ctr" indent="0" marL="0">
              <a:buNone/>
            </a:pPr>
            <a:r>
              <a:rPr lang="en-US" sz="1700" dirty="0">
                <a:solidFill>
                  <a:schemeClr val="accent3"/>
                </a:solidFill>
              </a:rPr>
              <a:t>included, excluded, and the rule</a:t>
            </a:r>
            <a:endParaRPr lang="en-US" sz="1800" dirty="0"/>
          </a:p>
        </p:txBody>
      </p:sp>
      <p:sp>
        <p:nvSpPr>
          <p:cNvPr id="14" name="shape349"/>
          <p:cNvSpPr/>
          <p:nvPr/>
        </p:nvSpPr>
        <p:spPr>
          <a:xfrm>
            <a:off x="5554980" y="3131820"/>
            <a:ext cx="1051560" cy="1051560"/>
          </a:xfrm>
          <a:prstGeom prst="ellipse">
            <a:avLst/>
          </a:prstGeom>
          <a:solidFill>
            <a:schemeClr val="accent1"/>
          </a:solidFill>
          <a:ln w="38100">
            <a:solidFill>
              <a:schemeClr val="bg1"/>
            </a:solidFill>
            <a:prstDash val="solid"/>
          </a:ln>
        </p:spPr>
      </p:sp>
      <p:pic>
        <p:nvPicPr>
          <p:cNvPr id="15" name="pIcon350" descr="preencoded.png">    </p:cNvPr>
          <p:cNvPicPr>
            <a:picLocks noChangeAspect="1"/>
          </p:cNvPicPr>
          <p:nvPr/>
        </p:nvPicPr>
        <p:blipFill>
          <a:blip r:embed="rId3"/>
          <a:stretch>
            <a:fillRect/>
          </a:stretch>
        </p:blipFill>
        <p:spPr>
          <a:xfrm>
            <a:off x="5824728" y="3401568"/>
            <a:ext cx="512064" cy="512064"/>
          </a:xfrm>
          <a:prstGeom prst="rect">
            <a:avLst/>
          </a:prstGeom>
        </p:spPr>
      </p:pic>
      <p:sp>
        <p:nvSpPr>
          <p:cNvPr id="16" name="text351"/>
          <p:cNvSpPr txBox="1"/>
          <p:nvPr/>
        </p:nvSpPr>
        <p:spPr>
          <a:xfrm>
            <a:off x="4572000" y="4274820"/>
            <a:ext cx="3017520" cy="1051560"/>
          </a:xfrm>
          <a:prstGeom prst="rect">
            <a:avLst/>
          </a:prstGeom>
          <a:noFill/>
          <a:ln/>
        </p:spPr>
        <p:txBody>
          <a:bodyPr wrap="square" lIns="0" tIns="0" rIns="0" bIns="0" rtlCol="0" anchor="t"/>
          <a:lstStyle/>
          <a:p>
            <a:pPr algn="ctr" indent="0" marL="0">
              <a:buNone/>
            </a:pPr>
            <a:r>
              <a:rPr lang="en-US" sz="2200" b="1" dirty="0">
                <a:solidFill>
                  <a:schemeClr val="tx2"/>
                </a:solidFill>
              </a:rPr>
              <a:t>Scope each claim</a:t>
            </a:r>
            <a:endParaRPr lang="en-US" sz="1800" dirty="0"/>
          </a:p>
          <a:p>
            <a:pPr algn="ctr" indent="0" marL="0">
              <a:buNone/>
            </a:pPr>
            <a:r>
              <a:rPr lang="en-US" sz="1700" dirty="0">
                <a:solidFill>
                  <a:schemeClr val="accent3"/>
                </a:solidFill>
              </a:rPr>
              <a:t>population, measure, contrast, evaluation</a:t>
            </a:r>
            <a:endParaRPr lang="en-US" sz="1800" dirty="0"/>
          </a:p>
        </p:txBody>
      </p:sp>
      <p:sp>
        <p:nvSpPr>
          <p:cNvPr id="17" name="shape352"/>
          <p:cNvSpPr/>
          <p:nvPr/>
        </p:nvSpPr>
        <p:spPr>
          <a:xfrm>
            <a:off x="7463092" y="3659611"/>
            <a:ext cx="1051560" cy="1051560"/>
          </a:xfrm>
          <a:prstGeom prst="ellipse">
            <a:avLst/>
          </a:prstGeom>
          <a:solidFill>
            <a:schemeClr val="accent1"/>
          </a:solidFill>
          <a:ln w="38100">
            <a:solidFill>
              <a:schemeClr val="bg1"/>
            </a:solidFill>
            <a:prstDash val="solid"/>
          </a:ln>
        </p:spPr>
      </p:sp>
      <p:pic>
        <p:nvPicPr>
          <p:cNvPr id="18" name="pIcon353" descr="preencoded.png">    </p:cNvPr>
          <p:cNvPicPr>
            <a:picLocks noChangeAspect="1"/>
          </p:cNvPicPr>
          <p:nvPr/>
        </p:nvPicPr>
        <p:blipFill>
          <a:blip r:embed="rId4"/>
          <a:stretch>
            <a:fillRect/>
          </a:stretch>
        </p:blipFill>
        <p:spPr>
          <a:xfrm>
            <a:off x="7732840" y="3929359"/>
            <a:ext cx="512064" cy="512064"/>
          </a:xfrm>
          <a:prstGeom prst="rect">
            <a:avLst/>
          </a:prstGeom>
        </p:spPr>
      </p:pic>
      <p:sp>
        <p:nvSpPr>
          <p:cNvPr id="19" name="text354"/>
          <p:cNvSpPr txBox="1"/>
          <p:nvPr/>
        </p:nvSpPr>
        <p:spPr>
          <a:xfrm>
            <a:off x="6480112" y="2516611"/>
            <a:ext cx="3017520" cy="1051560"/>
          </a:xfrm>
          <a:prstGeom prst="rect">
            <a:avLst/>
          </a:prstGeom>
          <a:noFill/>
          <a:ln/>
        </p:spPr>
        <p:txBody>
          <a:bodyPr wrap="square" lIns="0" tIns="0" rIns="0" bIns="0" rtlCol="0" anchor="b"/>
          <a:lstStyle/>
          <a:p>
            <a:pPr algn="ctr" indent="0" marL="0">
              <a:buNone/>
            </a:pPr>
            <a:r>
              <a:rPr lang="en-US" sz="2200" b="1" dirty="0">
                <a:solidFill>
                  <a:schemeClr val="tx2"/>
                </a:solidFill>
              </a:rPr>
              <a:t>Recompute one value</a:t>
            </a:r>
            <a:endParaRPr lang="en-US" sz="1800" dirty="0"/>
          </a:p>
          <a:p>
            <a:pPr algn="ctr" indent="0" marL="0">
              <a:buNone/>
            </a:pPr>
            <a:r>
              <a:rPr lang="en-US" sz="1700" dirty="0">
                <a:solidFill>
                  <a:schemeClr val="accent3"/>
                </a:solidFill>
              </a:rPr>
              <a:t>from source, before trusting a table</a:t>
            </a:r>
            <a:endParaRPr lang="en-US" sz="1800" dirty="0"/>
          </a:p>
        </p:txBody>
      </p:sp>
      <p:sp>
        <p:nvSpPr>
          <p:cNvPr id="20" name="shape355"/>
          <p:cNvSpPr/>
          <p:nvPr/>
        </p:nvSpPr>
        <p:spPr>
          <a:xfrm>
            <a:off x="10125514" y="3947090"/>
            <a:ext cx="1051560" cy="1051560"/>
          </a:xfrm>
          <a:prstGeom prst="ellipse">
            <a:avLst/>
          </a:prstGeom>
          <a:solidFill>
            <a:schemeClr val="tx2"/>
          </a:solidFill>
          <a:ln w="38100">
            <a:solidFill>
              <a:schemeClr val="bg1"/>
            </a:solidFill>
            <a:prstDash val="solid"/>
          </a:ln>
        </p:spPr>
      </p:sp>
      <p:pic>
        <p:nvPicPr>
          <p:cNvPr id="21" name="pIcon356" descr="preencoded.png">    </p:cNvPr>
          <p:cNvPicPr>
            <a:picLocks noChangeAspect="1"/>
          </p:cNvPicPr>
          <p:nvPr/>
        </p:nvPicPr>
        <p:blipFill>
          <a:blip r:embed="rId5"/>
          <a:stretch>
            <a:fillRect/>
          </a:stretch>
        </p:blipFill>
        <p:spPr>
          <a:xfrm>
            <a:off x="10395262" y="4216838"/>
            <a:ext cx="512064" cy="512064"/>
          </a:xfrm>
          <a:prstGeom prst="rect">
            <a:avLst/>
          </a:prstGeom>
        </p:spPr>
      </p:pic>
      <p:sp>
        <p:nvSpPr>
          <p:cNvPr id="22" name="text357"/>
          <p:cNvSpPr txBox="1"/>
          <p:nvPr/>
        </p:nvSpPr>
        <p:spPr>
          <a:xfrm>
            <a:off x="8823960" y="5090090"/>
            <a:ext cx="3017520" cy="1051560"/>
          </a:xfrm>
          <a:prstGeom prst="rect">
            <a:avLst/>
          </a:prstGeom>
          <a:noFill/>
          <a:ln/>
        </p:spPr>
        <p:txBody>
          <a:bodyPr wrap="square" lIns="0" tIns="0" rIns="0" bIns="0" rtlCol="0" anchor="t"/>
          <a:lstStyle/>
          <a:p>
            <a:pPr algn="ctr" indent="0" marL="0">
              <a:buNone/>
            </a:pPr>
            <a:r>
              <a:rPr lang="en-US" sz="2200" b="1" dirty="0">
                <a:solidFill>
                  <a:schemeClr val="tx2"/>
                </a:solidFill>
              </a:rPr>
              <a:t>Use shared identifiers and terms</a:t>
            </a:r>
            <a:endParaRPr lang="en-US" sz="1800" dirty="0"/>
          </a:p>
          <a:p>
            <a:pPr algn="ctr" indent="0" marL="0">
              <a:buNone/>
            </a:pPr>
            <a:r>
              <a:rPr lang="en-US" sz="1700" dirty="0">
                <a:solidFill>
                  <a:schemeClr val="accent3"/>
                </a:solidFill>
              </a:rPr>
              <a:t>IDs for papers, people and tools; shared variable terms</a:t>
            </a:r>
            <a:endParaRPr lang="en-US" sz="1800" dirty="0"/>
          </a:p>
        </p:txBody>
      </p:sp>
      <p:pic>
        <p:nvPicPr>
          <p:cNvPr id="24" name="stripIcon24" descr="preencoded.png">    </p:cNvPr>
          <p:cNvPicPr>
            <a:picLocks noChangeAspect="1"/>
          </p:cNvPicPr>
          <p:nvPr/>
        </p:nvPicPr>
        <p:blipFill>
          <a:blip r:embed="rId6"/>
          <a:stretch>
            <a:fillRect/>
          </a:stretch>
        </p:blipFill>
        <p:spPr>
          <a:xfrm>
            <a:off x="548640" y="969264"/>
            <a:ext cx="182880" cy="182880"/>
          </a:xfrm>
          <a:prstGeom prst="rect">
            <a:avLst/>
          </a:prstGeom>
        </p:spPr>
      </p:pic>
      <p:sp>
        <p:nvSpPr>
          <p:cNvPr id="25" name="strip24"/>
          <p:cNvSpPr txBox="1"/>
          <p:nvPr/>
        </p:nvSpPr>
        <p:spPr>
          <a:xfrm>
            <a:off x="804672" y="914400"/>
            <a:ext cx="10972800" cy="292608"/>
          </a:xfrm>
          <a:prstGeom prst="rect">
            <a:avLst/>
          </a:prstGeom>
          <a:noFill/>
          <a:ln/>
        </p:spPr>
        <p:txBody>
          <a:bodyPr wrap="square" lIns="0" tIns="0" rIns="0" bIns="0" rtlCol="0" anchor="ctr"/>
          <a:lstStyle/>
          <a:p>
            <a:pPr indent="0" marL="0">
              <a:buNone/>
            </a:pPr>
            <a:r>
              <a:rPr lang="en-US" sz="1200" b="1" dirty="0">
                <a:solidFill>
                  <a:schemeClr val="accent1"/>
                </a:solidFill>
              </a:rPr>
              <a:t>In the graph: </a:t>
            </a:r>
            <a:pPr indent="0" marL="0">
              <a:buNone/>
            </a:pPr>
            <a:r>
              <a:rPr lang="en-US" sz="1200" dirty="0">
                <a:solidFill>
                  <a:schemeClr val="accent3"/>
                </a:solidFill>
              </a:rPr>
              <a:t>Each practice adds a record: dataset version, cohort membership list, claim scope, derivation activity, shared identifiers</a:t>
            </a:r>
            <a:endParaRPr lang="en-US" sz="1200" dirty="0"/>
          </a:p>
        </p:txBody>
      </p:sp>
      <p:sp>
        <p:nvSpPr>
          <p:cNvPr id="26" name="tagDot24"/>
          <p:cNvSpPr/>
          <p:nvPr/>
        </p:nvSpPr>
        <p:spPr>
          <a:xfrm>
            <a:off x="9326880" y="82296"/>
            <a:ext cx="128016" cy="128016"/>
          </a:xfrm>
          <a:prstGeom prst="ellipse">
            <a:avLst/>
          </a:prstGeom>
          <a:solidFill>
            <a:schemeClr val="accent3"/>
          </a:solidFill>
          <a:ln/>
        </p:spPr>
      </p:sp>
      <p:sp>
        <p:nvSpPr>
          <p:cNvPr id="27" name="tag24"/>
          <p:cNvSpPr txBox="1"/>
          <p:nvPr/>
        </p:nvSpPr>
        <p:spPr>
          <a:xfrm>
            <a:off x="9509760" y="18288"/>
            <a:ext cx="2286000" cy="256032"/>
          </a:xfrm>
          <a:prstGeom prst="rect">
            <a:avLst/>
          </a:prstGeom>
          <a:noFill/>
          <a:ln/>
        </p:spPr>
        <p:txBody>
          <a:bodyPr wrap="square" lIns="0" tIns="0" rIns="0" bIns="0" rtlCol="0" anchor="ctr"/>
          <a:lstStyle/>
          <a:p>
            <a:pPr indent="0" marL="0">
              <a:buNone/>
            </a:pPr>
            <a:r>
              <a:rPr lang="en-US" sz="1200" i="1" dirty="0">
                <a:solidFill>
                  <a:schemeClr val="accent3"/>
                </a:solidFill>
              </a:rPr>
              <a:t>Objectives 1 and 2</a:t>
            </a:r>
            <a:endParaRPr lang="en-US" sz="1200" dirty="0"/>
          </a:p>
        </p:txBody>
      </p:sp>
      <p:sp>
        <p:nvSpPr>
          <p:cNvPr id="28" name="badge24_H"/>
          <p:cNvSpPr txBox="1"/>
          <p:nvPr/>
        </p:nvSpPr>
        <p:spPr>
          <a:xfrm>
            <a:off x="274320"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H</a:t>
            </a:r>
            <a:endParaRPr lang="en-US" sz="1100" dirty="0"/>
          </a:p>
        </p:txBody>
      </p:sp>
      <p:sp>
        <p:nvSpPr>
          <p:cNvPr id="29" name="badge24_L"/>
          <p:cNvSpPr txBox="1"/>
          <p:nvPr/>
        </p:nvSpPr>
        <p:spPr>
          <a:xfrm>
            <a:off x="576072"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L</a:t>
            </a:r>
            <a:endParaRPr lang="en-US" sz="1100" dirty="0"/>
          </a:p>
        </p:txBody>
      </p:sp>
      <p:sp>
        <p:nvSpPr>
          <p:cNvPr id="30" name="badge24_check"/>
          <p:cNvSpPr txBox="1"/>
          <p:nvPr/>
        </p:nvSpPr>
        <p:spPr>
          <a:xfrm>
            <a:off x="932688" y="6473952"/>
            <a:ext cx="676656" cy="301752"/>
          </a:xfrm>
          <a:prstGeom prst="rect">
            <a:avLst/>
          </a:prstGeom>
          <a:noFill/>
          <a:ln/>
        </p:spPr>
        <p:txBody>
          <a:bodyPr wrap="square" lIns="0" tIns="0" rIns="0" bIns="0" rtlCol="0" anchor="ctr"/>
          <a:lstStyle/>
          <a:p>
            <a:pPr indent="0" marL="0">
              <a:buNone/>
            </a:pPr>
            <a:r>
              <a:rPr lang="en-US" sz="1100" i="1" dirty="0">
                <a:solidFill>
                  <a:srgbClr val="5E7A88"/>
                </a:solidFill>
              </a:rPr>
              <a:t>reviewed</a:t>
            </a:r>
            <a:endParaRPr lang="en-US" sz="11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515600" cy="1737360"/>
          </a:xfrm>
          <a:prstGeom prst="rect">
            <a:avLst/>
          </a:prstGeom>
          <a:noFill/>
          <a:ln/>
        </p:spPr>
        <p:txBody>
          <a:bodyPr wrap="square" rtlCol="0" anchor="b"/>
          <a:lstStyle/>
          <a:p>
            <a:pPr algn="l" indent="0" marL="0">
              <a:buNone/>
            </a:pPr>
            <a:r>
              <a:rPr lang="en-US" sz="4000" b="1" dirty="0">
                <a:solidFill>
                  <a:schemeClr val="bg1"/>
                </a:solidFill>
              </a:rPr>
              <a:t>Discussion</a:t>
            </a:r>
            <a:endParaRPr lang="en-US" sz="4000" dirty="0"/>
          </a:p>
        </p:txBody>
      </p:sp>
      <p:sp>
        <p:nvSpPr>
          <p:cNvPr id="3" name="Text 0"/>
          <p:cNvSpPr/>
          <p:nvPr>
            <p:ph idx="101" type="body" hasCustomPrompt="1"/>
          </p:nvPr>
        </p:nvSpPr>
        <p:spPr>
          <a:xfrm>
            <a:off x="731520" y="3749040"/>
            <a:ext cx="10515600" cy="2194560"/>
          </a:xfrm>
          <a:prstGeom prst="rect">
            <a:avLst/>
          </a:prstGeom>
          <a:noFill/>
          <a:ln/>
        </p:spPr>
        <p:txBody>
          <a:bodyPr wrap="square" rtlCol="0" anchor="t"/>
          <a:lstStyle/>
          <a:p>
            <a:pPr algn="l" indent="0" marL="0">
              <a:buNone/>
            </a:pPr>
            <a:r>
              <a:rPr lang="en-US" sz="2600" b="1" dirty="0">
                <a:solidFill>
                  <a:schemeClr val="bg2"/>
                </a:solidFill>
              </a:rPr>
              <a:t>Which links between your lab's graph and others would you need before using work done with an AI assistant?</a:t>
            </a:r>
            <a:endParaRPr lang="en-US" sz="2000" dirty="0"/>
          </a:p>
          <a:p>
            <a:pPr algn="l" indent="0" marL="0">
              <a:buNone/>
            </a:pPr>
            <a:r>
              <a:rPr lang="en-US" sz="1200" dirty="0">
                <a:solidFill>
                  <a:schemeClr val="bg2"/>
                </a:solidFill>
              </a:rPr>
              <a:t> </a:t>
            </a:r>
            <a:endParaRPr lang="en-US" sz="2000" dirty="0"/>
          </a:p>
          <a:p>
            <a:pPr algn="l" indent="0" marL="0">
              <a:buNone/>
            </a:pPr>
            <a:r>
              <a:rPr lang="en-US" sz="2200" b="1" dirty="0">
                <a:solidFill>
                  <a:schemeClr val="bg2"/>
                </a:solidFill>
              </a:rPr>
              <a:t>Packages with code, graphs and results:</a:t>
            </a:r>
            <a:endParaRPr lang="en-US" sz="2000" dirty="0"/>
          </a:p>
          <a:p>
            <a:pPr algn="l" indent="0" marL="0">
              <a:buNone/>
            </a:pPr>
            <a:r>
              <a:rPr lang="en-US" sz="2000" dirty="0">
                <a:solidFill>
                  <a:schemeClr val="bg2"/>
                </a:solidFill>
              </a:rPr>
              <a:t>CNP_Dataset_Publication_Knowledge_Graph.zip</a:t>
            </a:r>
            <a:endParaRPr lang="en-US" sz="2000" dirty="0"/>
          </a:p>
          <a:p>
            <a:pPr algn="l" indent="0" marL="0">
              <a:buNone/>
            </a:pPr>
            <a:r>
              <a:rPr lang="en-US" sz="2000" dirty="0">
                <a:solidFill>
                  <a:schemeClr val="bg2"/>
                </a:solidFill>
              </a:rPr>
              <a:t>ABIDE_Collaboration_Knowledge_Graph.zip</a:t>
            </a:r>
            <a:endParaRPr lang="en-US" sz="2000" dirty="0"/>
          </a:p>
          <a:p>
            <a:pPr algn="l" indent="0" marL="0">
              <a:buNone/>
            </a:pPr>
            <a:r>
              <a:rPr lang="en-US" sz="2000" dirty="0">
                <a:solidFill>
                  <a:schemeClr val="bg2"/>
                </a:solidFill>
              </a:rPr>
              <a:t>github.com/sensein/agent_skills · abstractatlas.brainkb.org</a:t>
            </a:r>
            <a:endParaRPr lang="en-US" sz="2000" dirty="0"/>
          </a:p>
        </p:txBody>
      </p:sp>
      <p:sp>
        <p:nvSpPr>
          <p:cNvPr id="5" name="badge25_H"/>
          <p:cNvSpPr txBox="1"/>
          <p:nvPr/>
        </p:nvSpPr>
        <p:spPr>
          <a:xfrm>
            <a:off x="274320" y="6492240"/>
            <a:ext cx="265176" cy="265176"/>
          </a:xfrm>
          <a:prstGeom prst="ellipse">
            <a:avLst/>
          </a:prstGeom>
          <a:solidFill>
            <a:srgbClr val="2F4A57"/>
          </a:solidFill>
          <a:ln/>
        </p:spPr>
        <p:txBody>
          <a:bodyPr wrap="square" lIns="0" tIns="0" rIns="0" bIns="0" rtlCol="0" anchor="ctr"/>
          <a:lstStyle/>
          <a:p>
            <a:pPr algn="ctr" indent="0" marL="0">
              <a:buNone/>
            </a:pPr>
            <a:r>
              <a:rPr lang="en-US" sz="1100" b="1" dirty="0">
                <a:solidFill>
                  <a:srgbClr val="FFFFFF"/>
                </a:solidFill>
              </a:rPr>
              <a:t>H</a:t>
            </a:r>
            <a:endParaRPr lang="en-US" sz="1100" dirty="0"/>
          </a:p>
        </p:txBody>
      </p:sp>
      <p:sp>
        <p:nvSpPr>
          <p:cNvPr id="6" name="badge25_L"/>
          <p:cNvSpPr txBox="1"/>
          <p:nvPr/>
        </p:nvSpPr>
        <p:spPr>
          <a:xfrm>
            <a:off x="576072" y="6492240"/>
            <a:ext cx="265176" cy="265176"/>
          </a:xfrm>
          <a:prstGeom prst="ellipse">
            <a:avLst/>
          </a:prstGeom>
          <a:solidFill>
            <a:srgbClr val="2F4A57"/>
          </a:solidFill>
          <a:ln/>
        </p:spPr>
        <p:txBody>
          <a:bodyPr wrap="square" lIns="0" tIns="0" rIns="0" bIns="0" rtlCol="0" anchor="ctr"/>
          <a:lstStyle/>
          <a:p>
            <a:pPr algn="ctr" indent="0" marL="0">
              <a:buNone/>
            </a:pPr>
            <a:r>
              <a:rPr lang="en-US" sz="1100" b="1" dirty="0">
                <a:solidFill>
                  <a:srgbClr val="FFFFFF"/>
                </a:solidFill>
              </a:rPr>
              <a:t>L</a:t>
            </a:r>
            <a:endParaRPr lang="en-US" sz="1100" dirty="0"/>
          </a:p>
        </p:txBody>
      </p:sp>
      <p:sp>
        <p:nvSpPr>
          <p:cNvPr id="7" name="badge25_check"/>
          <p:cNvSpPr txBox="1"/>
          <p:nvPr/>
        </p:nvSpPr>
        <p:spPr>
          <a:xfrm>
            <a:off x="932688" y="6473952"/>
            <a:ext cx="676656" cy="301752"/>
          </a:xfrm>
          <a:prstGeom prst="rect">
            <a:avLst/>
          </a:prstGeom>
          <a:noFill/>
          <a:ln/>
        </p:spPr>
        <p:txBody>
          <a:bodyPr wrap="square" lIns="0" tIns="0" rIns="0" bIns="0" rtlCol="0" anchor="ctr"/>
          <a:lstStyle/>
          <a:p>
            <a:pPr indent="0" marL="0">
              <a:buNone/>
            </a:pPr>
            <a:r>
              <a:rPr lang="en-US" sz="1100" i="1" dirty="0">
                <a:solidFill>
                  <a:srgbClr val="C9D3D7"/>
                </a:solidFill>
              </a:rPr>
              <a:t>reviewed</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692640" cy="731520"/>
          </a:xfrm>
          <a:prstGeom prst="rect">
            <a:avLst/>
          </a:prstGeom>
          <a:noFill/>
          <a:ln/>
        </p:spPr>
        <p:txBody>
          <a:bodyPr wrap="square" rtlCol="0" anchor="ctr"/>
          <a:lstStyle/>
          <a:p>
            <a:pPr algn="l" indent="0" marL="0">
              <a:buNone/>
            </a:pPr>
            <a:r>
              <a:rPr lang="en-US" sz="2600" b="1" dirty="0">
                <a:solidFill>
                  <a:schemeClr val="tx2"/>
                </a:solidFill>
              </a:rPr>
              <a:t>Poll: participant count in ds000030</a:t>
            </a:r>
            <a:endParaRPr lang="en-US" sz="2600" dirty="0"/>
          </a:p>
        </p:txBody>
      </p:sp>
      <p:sp>
        <p:nvSpPr>
          <p:cNvPr id="3" name="shape358"/>
          <p:cNvSpPr txBox="1"/>
          <p:nvPr/>
        </p:nvSpPr>
        <p:spPr>
          <a:xfrm>
            <a:off x="594360" y="1600200"/>
            <a:ext cx="1783080" cy="1783080"/>
          </a:xfrm>
          <a:prstGeom prst="ellipse">
            <a:avLst/>
          </a:prstGeom>
          <a:solidFill>
            <a:schemeClr val="bg2"/>
          </a:solidFill>
          <a:ln w="19050">
            <a:solidFill>
              <a:srgbClr val="C9D3D7"/>
            </a:solidFill>
            <a:prstDash val="solid"/>
          </a:ln>
        </p:spPr>
        <p:txBody>
          <a:bodyPr wrap="square" lIns="50800" tIns="50800" rIns="50800" bIns="50800" rtlCol="0" anchor="ctr"/>
          <a:lstStyle/>
          <a:p>
            <a:pPr algn="ctr" indent="0" marL="0">
              <a:buNone/>
            </a:pPr>
            <a:r>
              <a:rPr lang="en-US" sz="5000" b="1" dirty="0">
                <a:solidFill>
                  <a:schemeClr val="tx2"/>
                </a:solidFill>
              </a:rPr>
              <a:t>259</a:t>
            </a:r>
            <a:endParaRPr lang="en-US" sz="1800" dirty="0"/>
          </a:p>
          <a:p>
            <a:pPr algn="ctr" indent="0" marL="0">
              <a:buNone/>
            </a:pPr>
            <a:r>
              <a:rPr lang="en-US" sz="2400" dirty="0">
                <a:solidFill>
                  <a:schemeClr val="accent3"/>
                </a:solidFill>
              </a:rPr>
              <a:t>A</a:t>
            </a:r>
            <a:endParaRPr lang="en-US" sz="1800" dirty="0"/>
          </a:p>
        </p:txBody>
      </p:sp>
      <p:sp>
        <p:nvSpPr>
          <p:cNvPr id="4" name="shape359"/>
          <p:cNvSpPr txBox="1"/>
          <p:nvPr/>
        </p:nvSpPr>
        <p:spPr>
          <a:xfrm>
            <a:off x="2468880" y="3429000"/>
            <a:ext cx="1783080" cy="1783080"/>
          </a:xfrm>
          <a:prstGeom prst="ellipse">
            <a:avLst/>
          </a:prstGeom>
          <a:solidFill>
            <a:schemeClr val="bg2"/>
          </a:solidFill>
          <a:ln w="19050">
            <a:solidFill>
              <a:srgbClr val="C9D3D7"/>
            </a:solidFill>
            <a:prstDash val="solid"/>
          </a:ln>
        </p:spPr>
        <p:txBody>
          <a:bodyPr wrap="square" lIns="50800" tIns="50800" rIns="50800" bIns="50800" rtlCol="0" anchor="ctr"/>
          <a:lstStyle/>
          <a:p>
            <a:pPr algn="ctr" indent="0" marL="0">
              <a:buNone/>
            </a:pPr>
            <a:r>
              <a:rPr lang="en-US" sz="5000" b="1" dirty="0">
                <a:solidFill>
                  <a:schemeClr val="tx2"/>
                </a:solidFill>
              </a:rPr>
              <a:t>290</a:t>
            </a:r>
            <a:endParaRPr lang="en-US" sz="1800" dirty="0"/>
          </a:p>
          <a:p>
            <a:pPr algn="ctr" indent="0" marL="0">
              <a:buNone/>
            </a:pPr>
            <a:r>
              <a:rPr lang="en-US" sz="2400" dirty="0">
                <a:solidFill>
                  <a:schemeClr val="accent3"/>
                </a:solidFill>
              </a:rPr>
              <a:t>B</a:t>
            </a:r>
            <a:endParaRPr lang="en-US" sz="1800" dirty="0"/>
          </a:p>
        </p:txBody>
      </p:sp>
      <p:sp>
        <p:nvSpPr>
          <p:cNvPr id="5" name="shape360"/>
          <p:cNvSpPr txBox="1"/>
          <p:nvPr/>
        </p:nvSpPr>
        <p:spPr>
          <a:xfrm>
            <a:off x="4343400" y="1600200"/>
            <a:ext cx="1783080" cy="1783080"/>
          </a:xfrm>
          <a:prstGeom prst="ellipse">
            <a:avLst/>
          </a:prstGeom>
          <a:solidFill>
            <a:schemeClr val="bg2"/>
          </a:solidFill>
          <a:ln w="19050">
            <a:solidFill>
              <a:srgbClr val="C9D3D7"/>
            </a:solidFill>
            <a:prstDash val="solid"/>
          </a:ln>
        </p:spPr>
        <p:txBody>
          <a:bodyPr wrap="square" lIns="50800" tIns="50800" rIns="50800" bIns="50800" rtlCol="0" anchor="ctr"/>
          <a:lstStyle/>
          <a:p>
            <a:pPr algn="ctr" indent="0" marL="0">
              <a:buNone/>
            </a:pPr>
            <a:r>
              <a:rPr lang="en-US" sz="5000" b="1" dirty="0">
                <a:solidFill>
                  <a:schemeClr val="tx2"/>
                </a:solidFill>
              </a:rPr>
              <a:t>94</a:t>
            </a:r>
            <a:endParaRPr lang="en-US" sz="1800" dirty="0"/>
          </a:p>
          <a:p>
            <a:pPr algn="ctr" indent="0" marL="0">
              <a:buNone/>
            </a:pPr>
            <a:r>
              <a:rPr lang="en-US" sz="2400" dirty="0">
                <a:solidFill>
                  <a:schemeClr val="accent3"/>
                </a:solidFill>
              </a:rPr>
              <a:t>C</a:t>
            </a:r>
            <a:endParaRPr lang="en-US" sz="1800" dirty="0"/>
          </a:p>
        </p:txBody>
      </p:sp>
      <p:sp>
        <p:nvSpPr>
          <p:cNvPr id="6" name="shape361"/>
          <p:cNvSpPr txBox="1"/>
          <p:nvPr/>
        </p:nvSpPr>
        <p:spPr>
          <a:xfrm>
            <a:off x="6217920" y="3429000"/>
            <a:ext cx="1783080" cy="1783080"/>
          </a:xfrm>
          <a:prstGeom prst="ellipse">
            <a:avLst/>
          </a:prstGeom>
          <a:solidFill>
            <a:schemeClr val="bg2"/>
          </a:solidFill>
          <a:ln w="19050">
            <a:solidFill>
              <a:srgbClr val="C9D3D7"/>
            </a:solidFill>
            <a:prstDash val="solid"/>
          </a:ln>
        </p:spPr>
        <p:txBody>
          <a:bodyPr wrap="square" lIns="50800" tIns="50800" rIns="50800" bIns="50800" rtlCol="0" anchor="ctr"/>
          <a:lstStyle/>
          <a:p>
            <a:pPr algn="ctr" indent="0" marL="0">
              <a:buNone/>
            </a:pPr>
            <a:r>
              <a:rPr lang="en-US" sz="5000" b="1" dirty="0">
                <a:solidFill>
                  <a:schemeClr val="tx2"/>
                </a:solidFill>
              </a:rPr>
              <a:t>272</a:t>
            </a:r>
            <a:endParaRPr lang="en-US" sz="1800" dirty="0"/>
          </a:p>
          <a:p>
            <a:pPr algn="ctr" indent="0" marL="0">
              <a:buNone/>
            </a:pPr>
            <a:r>
              <a:rPr lang="en-US" sz="2400" dirty="0">
                <a:solidFill>
                  <a:schemeClr val="accent3"/>
                </a:solidFill>
              </a:rPr>
              <a:t>D</a:t>
            </a:r>
            <a:endParaRPr lang="en-US" sz="1800" dirty="0"/>
          </a:p>
        </p:txBody>
      </p:sp>
      <p:sp>
        <p:nvSpPr>
          <p:cNvPr id="7" name="shape362"/>
          <p:cNvSpPr txBox="1"/>
          <p:nvPr/>
        </p:nvSpPr>
        <p:spPr>
          <a:xfrm>
            <a:off x="8092440" y="1600200"/>
            <a:ext cx="1783080" cy="1783080"/>
          </a:xfrm>
          <a:prstGeom prst="ellipse">
            <a:avLst/>
          </a:prstGeom>
          <a:solidFill>
            <a:schemeClr val="bg2"/>
          </a:solidFill>
          <a:ln w="19050">
            <a:solidFill>
              <a:srgbClr val="C9D3D7"/>
            </a:solidFill>
            <a:prstDash val="solid"/>
          </a:ln>
        </p:spPr>
        <p:txBody>
          <a:bodyPr wrap="square" lIns="50800" tIns="50800" rIns="50800" bIns="50800" rtlCol="0" anchor="ctr"/>
          <a:lstStyle/>
          <a:p>
            <a:pPr algn="ctr" indent="0" marL="0">
              <a:buNone/>
            </a:pPr>
            <a:r>
              <a:rPr lang="en-US" sz="5000" b="1" dirty="0">
                <a:solidFill>
                  <a:schemeClr val="tx2"/>
                </a:solidFill>
              </a:rPr>
              <a:t>255</a:t>
            </a:r>
            <a:endParaRPr lang="en-US" sz="1800" dirty="0"/>
          </a:p>
          <a:p>
            <a:pPr algn="ctr" indent="0" marL="0">
              <a:buNone/>
            </a:pPr>
            <a:r>
              <a:rPr lang="en-US" sz="2400" dirty="0">
                <a:solidFill>
                  <a:schemeClr val="accent3"/>
                </a:solidFill>
              </a:rPr>
              <a:t>E</a:t>
            </a:r>
            <a:endParaRPr lang="en-US" sz="1800" dirty="0"/>
          </a:p>
        </p:txBody>
      </p:sp>
      <p:sp>
        <p:nvSpPr>
          <p:cNvPr id="8" name="shape363"/>
          <p:cNvSpPr txBox="1"/>
          <p:nvPr/>
        </p:nvSpPr>
        <p:spPr>
          <a:xfrm>
            <a:off x="9966960" y="3429000"/>
            <a:ext cx="1783080" cy="1783080"/>
          </a:xfrm>
          <a:prstGeom prst="ellipse">
            <a:avLst/>
          </a:prstGeom>
          <a:solidFill>
            <a:schemeClr val="bg2"/>
          </a:solidFill>
          <a:ln w="19050">
            <a:solidFill>
              <a:srgbClr val="C9D3D7"/>
            </a:solidFill>
            <a:prstDash val="solid"/>
          </a:ln>
        </p:spPr>
        <p:txBody>
          <a:bodyPr wrap="square" lIns="50800" tIns="50800" rIns="50800" bIns="50800" rtlCol="0" anchor="ctr"/>
          <a:lstStyle/>
          <a:p>
            <a:pPr algn="ctr" indent="0" marL="0">
              <a:buNone/>
            </a:pPr>
            <a:r>
              <a:rPr lang="en-US" sz="5000" b="1" dirty="0">
                <a:solidFill>
                  <a:schemeClr val="tx2"/>
                </a:solidFill>
              </a:rPr>
              <a:t>261</a:t>
            </a:r>
            <a:endParaRPr lang="en-US" sz="1800" dirty="0"/>
          </a:p>
          <a:p>
            <a:pPr algn="ctr" indent="0" marL="0">
              <a:buNone/>
            </a:pPr>
            <a:r>
              <a:rPr lang="en-US" sz="2400" dirty="0">
                <a:solidFill>
                  <a:schemeClr val="accent3"/>
                </a:solidFill>
              </a:rPr>
              <a:t>F</a:t>
            </a:r>
            <a:endParaRPr lang="en-US" sz="1800" dirty="0"/>
          </a:p>
        </p:txBody>
      </p:sp>
      <p:sp>
        <p:nvSpPr>
          <p:cNvPr id="9" name="text364"/>
          <p:cNvSpPr txBox="1"/>
          <p:nvPr/>
        </p:nvSpPr>
        <p:spPr>
          <a:xfrm>
            <a:off x="640080" y="5852160"/>
            <a:ext cx="10058400" cy="457200"/>
          </a:xfrm>
          <a:prstGeom prst="rect">
            <a:avLst/>
          </a:prstGeom>
          <a:noFill/>
          <a:ln/>
        </p:spPr>
        <p:txBody>
          <a:bodyPr wrap="square" lIns="0" tIns="0" rIns="0" bIns="0" rtlCol="0" anchor="t"/>
          <a:lstStyle/>
          <a:p>
            <a:pPr indent="0" marL="0">
              <a:buNone/>
            </a:pPr>
            <a:r>
              <a:rPr lang="en-US" sz="2200" i="1" dirty="0">
                <a:solidFill>
                  <a:schemeClr val="accent2"/>
                </a:solidFill>
              </a:rPr>
              <a:t>Hold up a letter, A–F</a:t>
            </a:r>
            <a:endParaRPr lang="en-US" sz="2200" dirty="0"/>
          </a:p>
        </p:txBody>
      </p:sp>
      <p:sp>
        <p:nvSpPr>
          <p:cNvPr id="11" name="badge26_P"/>
          <p:cNvSpPr txBox="1"/>
          <p:nvPr/>
        </p:nvSpPr>
        <p:spPr>
          <a:xfrm>
            <a:off x="274320"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P</a:t>
            </a:r>
            <a:endParaRPr lang="en-US" sz="1100" dirty="0"/>
          </a:p>
        </p:txBody>
      </p:sp>
      <p:sp>
        <p:nvSpPr>
          <p:cNvPr id="12" name="badge26_R"/>
          <p:cNvSpPr txBox="1"/>
          <p:nvPr/>
        </p:nvSpPr>
        <p:spPr>
          <a:xfrm>
            <a:off x="576072"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R</a:t>
            </a:r>
            <a:endParaRPr lang="en-US" sz="1100" dirty="0"/>
          </a:p>
        </p:txBody>
      </p:sp>
      <p:sp>
        <p:nvSpPr>
          <p:cNvPr id="13" name="data26"/>
          <p:cNvSpPr txBox="1"/>
          <p:nvPr/>
        </p:nvSpPr>
        <p:spPr>
          <a:xfrm>
            <a:off x="2478024" y="6473952"/>
            <a:ext cx="8677656" cy="301752"/>
          </a:xfrm>
          <a:prstGeom prst="rect">
            <a:avLst/>
          </a:prstGeom>
          <a:noFill/>
          <a:ln/>
        </p:spPr>
        <p:txBody>
          <a:bodyPr wrap="square" lIns="0" tIns="0" rIns="0" bIns="0" rtlCol="0" anchor="ctr"/>
          <a:lstStyle/>
          <a:p>
            <a:pPr indent="0" marL="0">
              <a:buNone/>
            </a:pPr>
            <a:r>
              <a:rPr lang="en-US" sz="1100" dirty="0">
                <a:solidFill>
                  <a:srgbClr val="5E7A88"/>
                </a:solidFill>
              </a:rPr>
              <a:t>Data: ds000030 (UCLA CNP), OpenNeuro, commit 4070b6e</a:t>
            </a:r>
            <a:endParaRPr lang="en-US" sz="1100" dirty="0"/>
          </a:p>
        </p:txBody>
      </p:sp>
      <p:sp>
        <p:nvSpPr>
          <p:cNvPr id="14" name="badge26_check"/>
          <p:cNvSpPr txBox="1"/>
          <p:nvPr/>
        </p:nvSpPr>
        <p:spPr>
          <a:xfrm>
            <a:off x="932688" y="6473952"/>
            <a:ext cx="1408176" cy="301752"/>
          </a:xfrm>
          <a:prstGeom prst="rect">
            <a:avLst/>
          </a:prstGeom>
          <a:noFill/>
          <a:ln/>
        </p:spPr>
        <p:txBody>
          <a:bodyPr wrap="square" lIns="0" tIns="0" rIns="0" bIns="0" rtlCol="0" anchor="ctr"/>
          <a:lstStyle/>
          <a:p>
            <a:pPr indent="0" marL="0">
              <a:buNone/>
            </a:pPr>
            <a:r>
              <a:rPr lang="en-US" sz="1100" i="1" dirty="0">
                <a:solidFill>
                  <a:srgbClr val="5E7A88"/>
                </a:solidFill>
              </a:rPr>
              <a:t>re-run · validated</a:t>
            </a:r>
            <a:endParaRPr lang="en-US" sz="11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692640" cy="731520"/>
          </a:xfrm>
          <a:prstGeom prst="rect">
            <a:avLst/>
          </a:prstGeom>
          <a:noFill/>
          <a:ln/>
        </p:spPr>
        <p:txBody>
          <a:bodyPr wrap="square" rtlCol="0" anchor="ctr"/>
          <a:lstStyle/>
          <a:p>
            <a:pPr algn="l" indent="0" marL="0">
              <a:buNone/>
            </a:pPr>
            <a:r>
              <a:rPr lang="en-US" sz="2600" b="1" dirty="0">
                <a:solidFill>
                  <a:schemeClr val="tx2"/>
                </a:solidFill>
              </a:rPr>
              <a:t>Participant counts in ds000030 by scope</a:t>
            </a:r>
            <a:endParaRPr lang="en-US" sz="2600" dirty="0"/>
          </a:p>
        </p:txBody>
      </p:sp>
      <p:sp>
        <p:nvSpPr>
          <p:cNvPr id="3" name="shape365"/>
          <p:cNvSpPr txBox="1"/>
          <p:nvPr/>
        </p:nvSpPr>
        <p:spPr>
          <a:xfrm>
            <a:off x="502920" y="1600200"/>
            <a:ext cx="1828800" cy="1828800"/>
          </a:xfrm>
          <a:prstGeom prst="ellipse">
            <a:avLst/>
          </a:prstGeom>
          <a:solidFill>
            <a:schemeClr val="tx2"/>
          </a:solidFill>
          <a:ln/>
        </p:spPr>
        <p:txBody>
          <a:bodyPr wrap="square" lIns="50800" tIns="50800" rIns="50800" bIns="50800" rtlCol="0" anchor="ctr"/>
          <a:lstStyle/>
          <a:p>
            <a:pPr algn="ctr" indent="0" marL="0">
              <a:buNone/>
            </a:pPr>
            <a:r>
              <a:rPr lang="en-US" sz="4400" b="1" dirty="0">
                <a:solidFill>
                  <a:schemeClr val="bg1"/>
                </a:solidFill>
              </a:rPr>
              <a:t>290</a:t>
            </a:r>
            <a:endParaRPr lang="en-US" sz="4400" dirty="0"/>
          </a:p>
        </p:txBody>
      </p:sp>
      <p:sp>
        <p:nvSpPr>
          <p:cNvPr id="4" name="text366"/>
          <p:cNvSpPr txBox="1"/>
          <p:nvPr/>
        </p:nvSpPr>
        <p:spPr>
          <a:xfrm>
            <a:off x="530352" y="3538728"/>
            <a:ext cx="1773936" cy="914400"/>
          </a:xfrm>
          <a:prstGeom prst="rect">
            <a:avLst/>
          </a:prstGeom>
          <a:noFill/>
          <a:ln/>
        </p:spPr>
        <p:txBody>
          <a:bodyPr wrap="square" lIns="0" tIns="0" rIns="0" bIns="0" rtlCol="0" anchor="t"/>
          <a:lstStyle/>
          <a:p>
            <a:pPr algn="ctr" indent="0" marL="0">
              <a:buNone/>
            </a:pPr>
            <a:r>
              <a:rPr lang="en-US" sz="1700" dirty="0">
                <a:solidFill>
                  <a:schemeClr val="tx1"/>
                </a:solidFill>
              </a:rPr>
              <a:t>Dataset description: sum of group counts</a:t>
            </a:r>
            <a:endParaRPr lang="en-US" sz="1700" dirty="0"/>
          </a:p>
        </p:txBody>
      </p:sp>
      <p:sp>
        <p:nvSpPr>
          <p:cNvPr id="5" name="shape367"/>
          <p:cNvSpPr txBox="1"/>
          <p:nvPr/>
        </p:nvSpPr>
        <p:spPr>
          <a:xfrm>
            <a:off x="2454651" y="2015739"/>
            <a:ext cx="1765818" cy="1765818"/>
          </a:xfrm>
          <a:prstGeom prst="ellipse">
            <a:avLst/>
          </a:prstGeom>
          <a:solidFill>
            <a:schemeClr val="accent1"/>
          </a:solidFill>
          <a:ln/>
        </p:spPr>
        <p:txBody>
          <a:bodyPr wrap="square" lIns="50800" tIns="50800" rIns="50800" bIns="50800" rtlCol="0" anchor="ctr"/>
          <a:lstStyle/>
          <a:p>
            <a:pPr algn="ctr" indent="0" marL="0">
              <a:buNone/>
            </a:pPr>
            <a:r>
              <a:rPr lang="en-US" sz="4400" b="1" dirty="0">
                <a:solidFill>
                  <a:schemeClr val="bg1"/>
                </a:solidFill>
              </a:rPr>
              <a:t>272</a:t>
            </a:r>
            <a:endParaRPr lang="en-US" sz="4400" dirty="0"/>
          </a:p>
        </p:txBody>
      </p:sp>
      <p:sp>
        <p:nvSpPr>
          <p:cNvPr id="6" name="text368"/>
          <p:cNvSpPr txBox="1"/>
          <p:nvPr/>
        </p:nvSpPr>
        <p:spPr>
          <a:xfrm>
            <a:off x="2450592" y="3891285"/>
            <a:ext cx="1773936" cy="914400"/>
          </a:xfrm>
          <a:prstGeom prst="rect">
            <a:avLst/>
          </a:prstGeom>
          <a:noFill/>
          <a:ln/>
        </p:spPr>
        <p:txBody>
          <a:bodyPr wrap="square" lIns="0" tIns="0" rIns="0" bIns="0" rtlCol="0" anchor="t"/>
          <a:lstStyle/>
          <a:p>
            <a:pPr algn="ctr" indent="0" marL="0">
              <a:buNone/>
            </a:pPr>
            <a:r>
              <a:rPr lang="en-US" sz="1700" dirty="0">
                <a:solidFill>
                  <a:schemeClr val="tx1"/>
                </a:solidFill>
              </a:rPr>
              <a:t>participants.tsv at the pinned commit</a:t>
            </a:r>
            <a:endParaRPr lang="en-US" sz="1700" dirty="0"/>
          </a:p>
        </p:txBody>
      </p:sp>
      <p:sp>
        <p:nvSpPr>
          <p:cNvPr id="7" name="shape369"/>
          <p:cNvSpPr txBox="1"/>
          <p:nvPr/>
        </p:nvSpPr>
        <p:spPr>
          <a:xfrm>
            <a:off x="4394135" y="2419031"/>
            <a:ext cx="1727330" cy="1727330"/>
          </a:xfrm>
          <a:prstGeom prst="ellipse">
            <a:avLst/>
          </a:prstGeom>
          <a:solidFill>
            <a:schemeClr val="accent1"/>
          </a:solidFill>
          <a:ln/>
        </p:spPr>
        <p:txBody>
          <a:bodyPr wrap="square" lIns="50800" tIns="50800" rIns="50800" bIns="50800" rtlCol="0" anchor="ctr"/>
          <a:lstStyle/>
          <a:p>
            <a:pPr algn="ctr" indent="0" marL="0">
              <a:buNone/>
            </a:pPr>
            <a:r>
              <a:rPr lang="en-US" sz="4400" b="1" dirty="0">
                <a:solidFill>
                  <a:schemeClr val="bg1"/>
                </a:solidFill>
              </a:rPr>
              <a:t>261</a:t>
            </a:r>
            <a:endParaRPr lang="en-US" sz="4400" dirty="0"/>
          </a:p>
        </p:txBody>
      </p:sp>
      <p:sp>
        <p:nvSpPr>
          <p:cNvPr id="8" name="text370"/>
          <p:cNvSpPr txBox="1"/>
          <p:nvPr/>
        </p:nvSpPr>
        <p:spPr>
          <a:xfrm>
            <a:off x="4370832" y="4256089"/>
            <a:ext cx="1773936" cy="914400"/>
          </a:xfrm>
          <a:prstGeom prst="rect">
            <a:avLst/>
          </a:prstGeom>
          <a:noFill/>
          <a:ln/>
        </p:spPr>
        <p:txBody>
          <a:bodyPr wrap="square" lIns="0" tIns="0" rIns="0" bIns="0" rtlCol="0" anchor="t"/>
          <a:lstStyle/>
          <a:p>
            <a:pPr algn="ctr" indent="0" marL="0">
              <a:buNone/>
            </a:pPr>
            <a:r>
              <a:rPr lang="en-US" sz="1700" dirty="0">
                <a:solidFill>
                  <a:schemeClr val="tx1"/>
                </a:solidFill>
              </a:rPr>
              <a:t>T1w + resting BOLD files present</a:t>
            </a:r>
            <a:endParaRPr lang="en-US" sz="1700" dirty="0"/>
          </a:p>
        </p:txBody>
      </p:sp>
      <p:sp>
        <p:nvSpPr>
          <p:cNvPr id="9" name="shape371"/>
          <p:cNvSpPr txBox="1"/>
          <p:nvPr/>
        </p:nvSpPr>
        <p:spPr>
          <a:xfrm>
            <a:off x="6317874" y="2806578"/>
            <a:ext cx="1720332" cy="1720332"/>
          </a:xfrm>
          <a:prstGeom prst="ellipse">
            <a:avLst/>
          </a:prstGeom>
          <a:solidFill>
            <a:schemeClr val="accent1"/>
          </a:solidFill>
          <a:ln/>
        </p:spPr>
        <p:txBody>
          <a:bodyPr wrap="square" lIns="50800" tIns="50800" rIns="50800" bIns="50800" rtlCol="0" anchor="ctr"/>
          <a:lstStyle/>
          <a:p>
            <a:pPr algn="ctr" indent="0" marL="0">
              <a:buNone/>
            </a:pPr>
            <a:r>
              <a:rPr lang="en-US" sz="4400" b="1" dirty="0">
                <a:solidFill>
                  <a:schemeClr val="bg1"/>
                </a:solidFill>
              </a:rPr>
              <a:t>259</a:t>
            </a:r>
            <a:endParaRPr lang="en-US" sz="4400" dirty="0"/>
          </a:p>
        </p:txBody>
      </p:sp>
      <p:sp>
        <p:nvSpPr>
          <p:cNvPr id="10" name="text372"/>
          <p:cNvSpPr txBox="1"/>
          <p:nvPr/>
        </p:nvSpPr>
        <p:spPr>
          <a:xfrm>
            <a:off x="6291072" y="4636638"/>
            <a:ext cx="1773936" cy="914400"/>
          </a:xfrm>
          <a:prstGeom prst="rect">
            <a:avLst/>
          </a:prstGeom>
          <a:noFill/>
          <a:ln/>
        </p:spPr>
        <p:txBody>
          <a:bodyPr wrap="square" lIns="0" tIns="0" rIns="0" bIns="0" rtlCol="0" anchor="t"/>
          <a:lstStyle/>
          <a:p>
            <a:pPr algn="ctr" indent="0" marL="0">
              <a:buNone/>
            </a:pPr>
            <a:r>
              <a:rPr lang="en-US" sz="1700" dirty="0">
                <a:solidFill>
                  <a:schemeClr val="tx1"/>
                </a:solidFill>
              </a:rPr>
              <a:t>T1w + stop-signal files present</a:t>
            </a:r>
            <a:endParaRPr lang="en-US" sz="1700" dirty="0"/>
          </a:p>
        </p:txBody>
      </p:sp>
      <p:sp>
        <p:nvSpPr>
          <p:cNvPr id="11" name="shape373"/>
          <p:cNvSpPr txBox="1"/>
          <p:nvPr/>
        </p:nvSpPr>
        <p:spPr>
          <a:xfrm>
            <a:off x="8245112" y="3197624"/>
            <a:ext cx="1706336" cy="1706336"/>
          </a:xfrm>
          <a:prstGeom prst="ellipse">
            <a:avLst/>
          </a:prstGeom>
          <a:solidFill>
            <a:schemeClr val="accent1"/>
          </a:solidFill>
          <a:ln/>
        </p:spPr>
        <p:txBody>
          <a:bodyPr wrap="square" lIns="50800" tIns="50800" rIns="50800" bIns="50800" rtlCol="0" anchor="ctr"/>
          <a:lstStyle/>
          <a:p>
            <a:pPr algn="ctr" indent="0" marL="0">
              <a:buNone/>
            </a:pPr>
            <a:r>
              <a:rPr lang="en-US" sz="4400" b="1" dirty="0">
                <a:solidFill>
                  <a:schemeClr val="bg1"/>
                </a:solidFill>
              </a:rPr>
              <a:t>255</a:t>
            </a:r>
            <a:endParaRPr lang="en-US" sz="4400" dirty="0"/>
          </a:p>
        </p:txBody>
      </p:sp>
      <p:sp>
        <p:nvSpPr>
          <p:cNvPr id="12" name="text374"/>
          <p:cNvSpPr txBox="1"/>
          <p:nvPr/>
        </p:nvSpPr>
        <p:spPr>
          <a:xfrm>
            <a:off x="8211312" y="5013688"/>
            <a:ext cx="1773936" cy="914400"/>
          </a:xfrm>
          <a:prstGeom prst="rect">
            <a:avLst/>
          </a:prstGeom>
          <a:noFill/>
          <a:ln/>
        </p:spPr>
        <p:txBody>
          <a:bodyPr wrap="square" lIns="0" tIns="0" rIns="0" bIns="0" rtlCol="0" anchor="t"/>
          <a:lstStyle/>
          <a:p>
            <a:pPr algn="ctr" indent="0" marL="0">
              <a:buNone/>
            </a:pPr>
            <a:r>
              <a:rPr lang="en-US" sz="1700" dirty="0">
                <a:solidFill>
                  <a:schemeClr val="tx1"/>
                </a:solidFill>
              </a:rPr>
              <a:t>2017 stop-signal analysis cohort</a:t>
            </a:r>
            <a:endParaRPr lang="en-US" sz="1700" dirty="0"/>
          </a:p>
        </p:txBody>
      </p:sp>
      <p:sp>
        <p:nvSpPr>
          <p:cNvPr id="13" name="shape375"/>
          <p:cNvSpPr txBox="1"/>
          <p:nvPr/>
        </p:nvSpPr>
        <p:spPr>
          <a:xfrm>
            <a:off x="10447020" y="3863340"/>
            <a:ext cx="1143000" cy="1143000"/>
          </a:xfrm>
          <a:prstGeom prst="ellipse">
            <a:avLst/>
          </a:prstGeom>
          <a:solidFill>
            <a:schemeClr val="accent1"/>
          </a:solidFill>
          <a:ln/>
        </p:spPr>
        <p:txBody>
          <a:bodyPr wrap="square" lIns="50800" tIns="50800" rIns="50800" bIns="50800" rtlCol="0" anchor="ctr"/>
          <a:lstStyle/>
          <a:p>
            <a:pPr algn="ctr" indent="0" marL="0">
              <a:buNone/>
            </a:pPr>
            <a:r>
              <a:rPr lang="en-US" sz="4400" b="1" dirty="0">
                <a:solidFill>
                  <a:schemeClr val="bg1"/>
                </a:solidFill>
              </a:rPr>
              <a:t>94</a:t>
            </a:r>
            <a:endParaRPr lang="en-US" sz="4400" dirty="0"/>
          </a:p>
        </p:txBody>
      </p:sp>
      <p:sp>
        <p:nvSpPr>
          <p:cNvPr id="14" name="text376"/>
          <p:cNvSpPr txBox="1"/>
          <p:nvPr/>
        </p:nvSpPr>
        <p:spPr>
          <a:xfrm>
            <a:off x="10131552" y="5116068"/>
            <a:ext cx="1773936" cy="914400"/>
          </a:xfrm>
          <a:prstGeom prst="rect">
            <a:avLst/>
          </a:prstGeom>
          <a:noFill/>
          <a:ln/>
        </p:spPr>
        <p:txBody>
          <a:bodyPr wrap="square" lIns="0" tIns="0" rIns="0" bIns="0" rtlCol="0" anchor="t"/>
          <a:lstStyle/>
          <a:p>
            <a:pPr algn="ctr" indent="0" marL="0">
              <a:buNone/>
            </a:pPr>
            <a:r>
              <a:rPr lang="en-US" sz="1700" dirty="0">
                <a:solidFill>
                  <a:schemeClr val="tx1"/>
                </a:solidFill>
              </a:rPr>
              <a:t>2023 matched UCLA analysis cohort</a:t>
            </a:r>
            <a:endParaRPr lang="en-US" sz="1700" dirty="0"/>
          </a:p>
        </p:txBody>
      </p:sp>
      <p:sp>
        <p:nvSpPr>
          <p:cNvPr id="15" name="arrow377"/>
          <p:cNvSpPr/>
          <p:nvPr/>
        </p:nvSpPr>
        <p:spPr>
          <a:xfrm>
            <a:off x="822960" y="6035040"/>
            <a:ext cx="10058400" cy="914"/>
          </a:xfrm>
          <a:prstGeom prst="line">
            <a:avLst/>
          </a:prstGeom>
          <a:noFill/>
          <a:ln w="25400">
            <a:solidFill>
              <a:schemeClr val="accent3"/>
            </a:solidFill>
            <a:prstDash val="solid"/>
            <a:tailEnd type="triangle"/>
          </a:ln>
        </p:spPr>
      </p:sp>
      <p:sp>
        <p:nvSpPr>
          <p:cNvPr id="16" name="text378"/>
          <p:cNvSpPr txBox="1"/>
          <p:nvPr/>
        </p:nvSpPr>
        <p:spPr>
          <a:xfrm>
            <a:off x="822960" y="6062472"/>
            <a:ext cx="2743200" cy="365760"/>
          </a:xfrm>
          <a:prstGeom prst="rect">
            <a:avLst/>
          </a:prstGeom>
          <a:noFill/>
          <a:ln/>
        </p:spPr>
        <p:txBody>
          <a:bodyPr wrap="square" lIns="0" tIns="0" rIns="0" bIns="0" rtlCol="0" anchor="t"/>
          <a:lstStyle/>
          <a:p>
            <a:pPr indent="0" marL="0">
              <a:buNone/>
            </a:pPr>
            <a:r>
              <a:rPr lang="en-US" sz="1600" i="1" dirty="0">
                <a:solidFill>
                  <a:schemeClr val="accent3"/>
                </a:solidFill>
              </a:rPr>
              <a:t>broadest scope</a:t>
            </a:r>
            <a:endParaRPr lang="en-US" sz="1600" dirty="0"/>
          </a:p>
        </p:txBody>
      </p:sp>
      <p:sp>
        <p:nvSpPr>
          <p:cNvPr id="17" name="text379"/>
          <p:cNvSpPr txBox="1"/>
          <p:nvPr/>
        </p:nvSpPr>
        <p:spPr>
          <a:xfrm>
            <a:off x="8138160" y="6062472"/>
            <a:ext cx="2743200" cy="365760"/>
          </a:xfrm>
          <a:prstGeom prst="rect">
            <a:avLst/>
          </a:prstGeom>
          <a:noFill/>
          <a:ln/>
        </p:spPr>
        <p:txBody>
          <a:bodyPr wrap="square" lIns="0" tIns="0" rIns="0" bIns="0" rtlCol="0" anchor="t"/>
          <a:lstStyle/>
          <a:p>
            <a:pPr algn="r" indent="0" marL="0">
              <a:buNone/>
            </a:pPr>
            <a:r>
              <a:rPr lang="en-US" sz="1600" i="1" dirty="0">
                <a:solidFill>
                  <a:schemeClr val="accent3"/>
                </a:solidFill>
              </a:rPr>
              <a:t>narrowest scope</a:t>
            </a:r>
            <a:endParaRPr lang="en-US" sz="1600" dirty="0"/>
          </a:p>
        </p:txBody>
      </p:sp>
      <p:sp>
        <p:nvSpPr>
          <p:cNvPr id="19" name="badge27_P"/>
          <p:cNvSpPr txBox="1"/>
          <p:nvPr/>
        </p:nvSpPr>
        <p:spPr>
          <a:xfrm>
            <a:off x="274320"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P</a:t>
            </a:r>
            <a:endParaRPr lang="en-US" sz="1100" dirty="0"/>
          </a:p>
        </p:txBody>
      </p:sp>
      <p:sp>
        <p:nvSpPr>
          <p:cNvPr id="20" name="badge27_R"/>
          <p:cNvSpPr txBox="1"/>
          <p:nvPr/>
        </p:nvSpPr>
        <p:spPr>
          <a:xfrm>
            <a:off x="576072"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R</a:t>
            </a:r>
            <a:endParaRPr lang="en-US" sz="1100" dirty="0"/>
          </a:p>
        </p:txBody>
      </p:sp>
      <p:sp>
        <p:nvSpPr>
          <p:cNvPr id="21" name="data27"/>
          <p:cNvSpPr txBox="1"/>
          <p:nvPr/>
        </p:nvSpPr>
        <p:spPr>
          <a:xfrm>
            <a:off x="2478024" y="6473952"/>
            <a:ext cx="8677656" cy="301752"/>
          </a:xfrm>
          <a:prstGeom prst="rect">
            <a:avLst/>
          </a:prstGeom>
          <a:noFill/>
          <a:ln/>
        </p:spPr>
        <p:txBody>
          <a:bodyPr wrap="square" lIns="0" tIns="0" rIns="0" bIns="0" rtlCol="0" anchor="ctr"/>
          <a:lstStyle/>
          <a:p>
            <a:pPr indent="0" marL="0">
              <a:buNone/>
            </a:pPr>
            <a:r>
              <a:rPr lang="en-US" sz="1100" dirty="0">
                <a:solidFill>
                  <a:srgbClr val="5E7A88"/>
                </a:solidFill>
              </a:rPr>
              <a:t>Data: ds000030 (UCLA CNP, commit 4070b6e); Gorgolewski 2017 and Kim 2023 cohorts</a:t>
            </a:r>
            <a:endParaRPr lang="en-US" sz="1100" dirty="0"/>
          </a:p>
        </p:txBody>
      </p:sp>
      <p:sp>
        <p:nvSpPr>
          <p:cNvPr id="22" name="badge27_check"/>
          <p:cNvSpPr txBox="1"/>
          <p:nvPr/>
        </p:nvSpPr>
        <p:spPr>
          <a:xfrm>
            <a:off x="932688" y="6473952"/>
            <a:ext cx="1408176" cy="301752"/>
          </a:xfrm>
          <a:prstGeom prst="rect">
            <a:avLst/>
          </a:prstGeom>
          <a:noFill/>
          <a:ln/>
        </p:spPr>
        <p:txBody>
          <a:bodyPr wrap="square" lIns="0" tIns="0" rIns="0" bIns="0" rtlCol="0" anchor="ctr"/>
          <a:lstStyle/>
          <a:p>
            <a:pPr indent="0" marL="0">
              <a:buNone/>
            </a:pPr>
            <a:r>
              <a:rPr lang="en-US" sz="1100" i="1" dirty="0">
                <a:solidFill>
                  <a:srgbClr val="5E7A88"/>
                </a:solidFill>
              </a:rPr>
              <a:t>re-run · validated</a:t>
            </a:r>
            <a:endParaRPr lang="en-US" sz="11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692640" cy="731520"/>
          </a:xfrm>
          <a:prstGeom prst="rect">
            <a:avLst/>
          </a:prstGeom>
          <a:noFill/>
          <a:ln/>
        </p:spPr>
        <p:txBody>
          <a:bodyPr wrap="square" rtlCol="0" anchor="ctr"/>
          <a:lstStyle/>
          <a:p>
            <a:pPr algn="l" indent="0" marL="0">
              <a:buNone/>
            </a:pPr>
            <a:r>
              <a:rPr lang="en-US" sz="2600" b="1" dirty="0">
                <a:solidFill>
                  <a:schemeClr val="tx2"/>
                </a:solidFill>
              </a:rPr>
              <a:t>Types of knowledge and where they are recorded</a:t>
            </a:r>
            <a:endParaRPr lang="en-US" sz="2600" dirty="0"/>
          </a:p>
        </p:txBody>
      </p:sp>
      <p:sp>
        <p:nvSpPr>
          <p:cNvPr id="3" name="shape380"/>
          <p:cNvSpPr/>
          <p:nvPr/>
        </p:nvSpPr>
        <p:spPr>
          <a:xfrm>
            <a:off x="411480" y="1783080"/>
            <a:ext cx="5257800" cy="4800600"/>
          </a:xfrm>
          <a:prstGeom prst="ellipse">
            <a:avLst/>
          </a:prstGeom>
          <a:solidFill>
            <a:schemeClr val="accent4">
              <a:alpha val="85000"/>
            </a:schemeClr>
          </a:solidFill>
          <a:ln w="25400">
            <a:solidFill>
              <a:schemeClr val="accent1"/>
            </a:solidFill>
            <a:prstDash val="solid"/>
          </a:ln>
        </p:spPr>
      </p:sp>
      <p:sp>
        <p:nvSpPr>
          <p:cNvPr id="4" name="shape381"/>
          <p:cNvSpPr/>
          <p:nvPr/>
        </p:nvSpPr>
        <p:spPr>
          <a:xfrm>
            <a:off x="4434840" y="2240280"/>
            <a:ext cx="3611880" cy="3840480"/>
          </a:xfrm>
          <a:prstGeom prst="ellipse">
            <a:avLst/>
          </a:prstGeom>
          <a:solidFill>
            <a:schemeClr val="accent6">
              <a:alpha val="85000"/>
            </a:schemeClr>
          </a:solidFill>
          <a:ln w="25400">
            <a:solidFill>
              <a:schemeClr val="tx2"/>
            </a:solidFill>
            <a:prstDash val="solid"/>
          </a:ln>
        </p:spPr>
      </p:sp>
      <p:sp>
        <p:nvSpPr>
          <p:cNvPr id="5" name="shape382"/>
          <p:cNvSpPr/>
          <p:nvPr/>
        </p:nvSpPr>
        <p:spPr>
          <a:xfrm>
            <a:off x="7726680" y="2514600"/>
            <a:ext cx="2468880" cy="3291840"/>
          </a:xfrm>
          <a:prstGeom prst="ellipse">
            <a:avLst/>
          </a:prstGeom>
          <a:solidFill>
            <a:schemeClr val="bg2">
              <a:alpha val="85000"/>
            </a:schemeClr>
          </a:solidFill>
          <a:ln w="25400">
            <a:solidFill>
              <a:schemeClr val="accent3"/>
            </a:solidFill>
            <a:prstDash val="solid"/>
          </a:ln>
        </p:spPr>
      </p:sp>
      <p:sp>
        <p:nvSpPr>
          <p:cNvPr id="6" name="shape383"/>
          <p:cNvSpPr/>
          <p:nvPr/>
        </p:nvSpPr>
        <p:spPr>
          <a:xfrm>
            <a:off x="9875520" y="2743200"/>
            <a:ext cx="1920240" cy="2834640"/>
          </a:xfrm>
          <a:prstGeom prst="ellipse">
            <a:avLst/>
          </a:prstGeom>
          <a:solidFill>
            <a:schemeClr val="accent5">
              <a:alpha val="85000"/>
            </a:schemeClr>
          </a:solidFill>
          <a:ln w="25400">
            <a:solidFill>
              <a:schemeClr val="accent2"/>
            </a:solidFill>
            <a:prstDash val="solid"/>
          </a:ln>
        </p:spPr>
      </p:sp>
      <p:sp>
        <p:nvSpPr>
          <p:cNvPr id="7" name="shape384"/>
          <p:cNvSpPr/>
          <p:nvPr/>
        </p:nvSpPr>
        <p:spPr>
          <a:xfrm>
            <a:off x="502920" y="1188720"/>
            <a:ext cx="502920" cy="502920"/>
          </a:xfrm>
          <a:prstGeom prst="ellipse">
            <a:avLst/>
          </a:prstGeom>
          <a:solidFill>
            <a:schemeClr val="accent1"/>
          </a:solidFill>
          <a:ln/>
        </p:spPr>
      </p:sp>
      <p:pic>
        <p:nvPicPr>
          <p:cNvPr id="8" name="setIcon385" descr="preencoded.png">    </p:cNvPr>
          <p:cNvPicPr>
            <a:picLocks noChangeAspect="1"/>
          </p:cNvPicPr>
          <p:nvPr/>
        </p:nvPicPr>
        <p:blipFill>
          <a:blip r:embed="rId1"/>
          <a:stretch>
            <a:fillRect/>
          </a:stretch>
        </p:blipFill>
        <p:spPr>
          <a:xfrm>
            <a:off x="621792" y="1307592"/>
            <a:ext cx="265176" cy="265176"/>
          </a:xfrm>
          <a:prstGeom prst="rect">
            <a:avLst/>
          </a:prstGeom>
        </p:spPr>
      </p:pic>
      <p:sp>
        <p:nvSpPr>
          <p:cNvPr id="9" name="text386"/>
          <p:cNvSpPr txBox="1"/>
          <p:nvPr/>
        </p:nvSpPr>
        <p:spPr>
          <a:xfrm>
            <a:off x="1069848" y="1143000"/>
            <a:ext cx="2926080" cy="594360"/>
          </a:xfrm>
          <a:prstGeom prst="rect">
            <a:avLst/>
          </a:prstGeom>
          <a:noFill/>
          <a:ln/>
        </p:spPr>
        <p:txBody>
          <a:bodyPr wrap="square" lIns="0" tIns="0" rIns="0" bIns="0" rtlCol="0" anchor="ctr"/>
          <a:lstStyle/>
          <a:p>
            <a:pPr indent="0" marL="0">
              <a:buNone/>
            </a:pPr>
            <a:r>
              <a:rPr lang="en-US" sz="1800" b="1" dirty="0">
                <a:solidFill>
                  <a:schemeClr val="accent1"/>
                </a:solidFill>
              </a:rPr>
              <a:t>Graph</a:t>
            </a:r>
            <a:endParaRPr lang="en-US" sz="1800" dirty="0"/>
          </a:p>
          <a:p>
            <a:pPr indent="0" marL="0">
              <a:buNone/>
            </a:pPr>
            <a:r>
              <a:rPr lang="en-US" sz="1400" dirty="0">
                <a:solidFill>
                  <a:schemeClr val="accent3"/>
                </a:solidFill>
              </a:rPr>
              <a:t>records you query</a:t>
            </a:r>
            <a:endParaRPr lang="en-US" sz="1800" dirty="0"/>
          </a:p>
        </p:txBody>
      </p:sp>
      <p:sp>
        <p:nvSpPr>
          <p:cNvPr id="10" name="shape387"/>
          <p:cNvSpPr/>
          <p:nvPr/>
        </p:nvSpPr>
        <p:spPr>
          <a:xfrm>
            <a:off x="4480560" y="1581912"/>
            <a:ext cx="502920" cy="502920"/>
          </a:xfrm>
          <a:prstGeom prst="ellipse">
            <a:avLst/>
          </a:prstGeom>
          <a:solidFill>
            <a:schemeClr val="tx2"/>
          </a:solidFill>
          <a:ln/>
        </p:spPr>
      </p:sp>
      <p:pic>
        <p:nvPicPr>
          <p:cNvPr id="11" name="setIcon388" descr="preencoded.png">    </p:cNvPr>
          <p:cNvPicPr>
            <a:picLocks noChangeAspect="1"/>
          </p:cNvPicPr>
          <p:nvPr/>
        </p:nvPicPr>
        <p:blipFill>
          <a:blip r:embed="rId2"/>
          <a:stretch>
            <a:fillRect/>
          </a:stretch>
        </p:blipFill>
        <p:spPr>
          <a:xfrm>
            <a:off x="4599432" y="1700784"/>
            <a:ext cx="265176" cy="265176"/>
          </a:xfrm>
          <a:prstGeom prst="rect">
            <a:avLst/>
          </a:prstGeom>
        </p:spPr>
      </p:pic>
      <p:sp>
        <p:nvSpPr>
          <p:cNvPr id="12" name="text389"/>
          <p:cNvSpPr txBox="1"/>
          <p:nvPr/>
        </p:nvSpPr>
        <p:spPr>
          <a:xfrm>
            <a:off x="5047488" y="1536192"/>
            <a:ext cx="2377440" cy="594360"/>
          </a:xfrm>
          <a:prstGeom prst="rect">
            <a:avLst/>
          </a:prstGeom>
          <a:noFill/>
          <a:ln/>
        </p:spPr>
        <p:txBody>
          <a:bodyPr wrap="square" lIns="0" tIns="0" rIns="0" bIns="0" rtlCol="0" anchor="ctr"/>
          <a:lstStyle/>
          <a:p>
            <a:pPr indent="0" marL="0">
              <a:buNone/>
            </a:pPr>
            <a:r>
              <a:rPr lang="en-US" sz="1800" b="1" dirty="0">
                <a:solidFill>
                  <a:schemeClr val="tx2"/>
                </a:solidFill>
              </a:rPr>
              <a:t>Skill</a:t>
            </a:r>
            <a:endParaRPr lang="en-US" sz="1800" dirty="0"/>
          </a:p>
          <a:p>
            <a:pPr indent="0" marL="0">
              <a:buNone/>
            </a:pPr>
            <a:r>
              <a:rPr lang="en-US" sz="1400" dirty="0">
                <a:solidFill>
                  <a:schemeClr val="accent3"/>
                </a:solidFill>
              </a:rPr>
              <a:t>procedure you follow</a:t>
            </a:r>
            <a:endParaRPr lang="en-US" sz="1800" dirty="0"/>
          </a:p>
        </p:txBody>
      </p:sp>
      <p:sp>
        <p:nvSpPr>
          <p:cNvPr id="13" name="shape390"/>
          <p:cNvSpPr/>
          <p:nvPr/>
        </p:nvSpPr>
        <p:spPr>
          <a:xfrm>
            <a:off x="7772400" y="1856232"/>
            <a:ext cx="502920" cy="502920"/>
          </a:xfrm>
          <a:prstGeom prst="ellipse">
            <a:avLst/>
          </a:prstGeom>
          <a:solidFill>
            <a:schemeClr val="accent3"/>
          </a:solidFill>
          <a:ln/>
        </p:spPr>
      </p:sp>
      <p:pic>
        <p:nvPicPr>
          <p:cNvPr id="14" name="setIcon391" descr="preencoded.png">    </p:cNvPr>
          <p:cNvPicPr>
            <a:picLocks noChangeAspect="1"/>
          </p:cNvPicPr>
          <p:nvPr/>
        </p:nvPicPr>
        <p:blipFill>
          <a:blip r:embed="rId3"/>
          <a:stretch>
            <a:fillRect/>
          </a:stretch>
        </p:blipFill>
        <p:spPr>
          <a:xfrm>
            <a:off x="7891272" y="1975104"/>
            <a:ext cx="265176" cy="265176"/>
          </a:xfrm>
          <a:prstGeom prst="rect">
            <a:avLst/>
          </a:prstGeom>
        </p:spPr>
      </p:pic>
      <p:sp>
        <p:nvSpPr>
          <p:cNvPr id="15" name="text392"/>
          <p:cNvSpPr txBox="1"/>
          <p:nvPr/>
        </p:nvSpPr>
        <p:spPr>
          <a:xfrm>
            <a:off x="8339328" y="1810512"/>
            <a:ext cx="1508760" cy="594360"/>
          </a:xfrm>
          <a:prstGeom prst="rect">
            <a:avLst/>
          </a:prstGeom>
          <a:noFill/>
          <a:ln/>
        </p:spPr>
        <p:txBody>
          <a:bodyPr wrap="square" lIns="0" tIns="0" rIns="0" bIns="0" rtlCol="0" anchor="ctr"/>
          <a:lstStyle/>
          <a:p>
            <a:pPr indent="0" marL="0">
              <a:buNone/>
            </a:pPr>
            <a:r>
              <a:rPr lang="en-US" sz="1800" b="1" dirty="0">
                <a:solidFill>
                  <a:schemeClr val="accent3"/>
                </a:solidFill>
              </a:rPr>
              <a:t>Harness check</a:t>
            </a:r>
            <a:endParaRPr lang="en-US" sz="1800" dirty="0"/>
          </a:p>
          <a:p>
            <a:pPr indent="0" marL="0">
              <a:buNone/>
            </a:pPr>
            <a:r>
              <a:rPr lang="en-US" sz="1400" dirty="0">
                <a:solidFill>
                  <a:schemeClr val="accent3"/>
                </a:solidFill>
              </a:rPr>
              <a:t>test that runs</a:t>
            </a:r>
            <a:endParaRPr lang="en-US" sz="1800" dirty="0"/>
          </a:p>
        </p:txBody>
      </p:sp>
      <p:sp>
        <p:nvSpPr>
          <p:cNvPr id="16" name="shape393"/>
          <p:cNvSpPr/>
          <p:nvPr/>
        </p:nvSpPr>
        <p:spPr>
          <a:xfrm>
            <a:off x="9921240" y="2084832"/>
            <a:ext cx="502920" cy="502920"/>
          </a:xfrm>
          <a:prstGeom prst="ellipse">
            <a:avLst/>
          </a:prstGeom>
          <a:solidFill>
            <a:schemeClr val="accent2"/>
          </a:solidFill>
          <a:ln/>
        </p:spPr>
      </p:sp>
      <p:pic>
        <p:nvPicPr>
          <p:cNvPr id="17" name="setIcon394" descr="preencoded.png">    </p:cNvPr>
          <p:cNvPicPr>
            <a:picLocks noChangeAspect="1"/>
          </p:cNvPicPr>
          <p:nvPr/>
        </p:nvPicPr>
        <p:blipFill>
          <a:blip r:embed="rId4"/>
          <a:stretch>
            <a:fillRect/>
          </a:stretch>
        </p:blipFill>
        <p:spPr>
          <a:xfrm>
            <a:off x="10040112" y="2203704"/>
            <a:ext cx="265176" cy="265176"/>
          </a:xfrm>
          <a:prstGeom prst="rect">
            <a:avLst/>
          </a:prstGeom>
        </p:spPr>
      </p:pic>
      <p:sp>
        <p:nvSpPr>
          <p:cNvPr id="18" name="text395"/>
          <p:cNvSpPr txBox="1"/>
          <p:nvPr/>
        </p:nvSpPr>
        <p:spPr>
          <a:xfrm>
            <a:off x="10488168" y="2039112"/>
            <a:ext cx="2377440" cy="594360"/>
          </a:xfrm>
          <a:prstGeom prst="rect">
            <a:avLst/>
          </a:prstGeom>
          <a:noFill/>
          <a:ln/>
        </p:spPr>
        <p:txBody>
          <a:bodyPr wrap="square" lIns="0" tIns="0" rIns="0" bIns="0" rtlCol="0" anchor="ctr"/>
          <a:lstStyle/>
          <a:p>
            <a:pPr indent="0" marL="0">
              <a:buNone/>
            </a:pPr>
            <a:r>
              <a:rPr lang="en-US" sz="1800" b="1" dirty="0">
                <a:solidFill>
                  <a:schemeClr val="accent2"/>
                </a:solidFill>
              </a:rPr>
              <a:t>Human review</a:t>
            </a:r>
            <a:endParaRPr lang="en-US" sz="1800" dirty="0"/>
          </a:p>
          <a:p>
            <a:pPr indent="0" marL="0">
              <a:buNone/>
            </a:pPr>
            <a:r>
              <a:rPr lang="en-US" sz="1400" dirty="0">
                <a:solidFill>
                  <a:schemeClr val="accent3"/>
                </a:solidFill>
              </a:rPr>
              <a:t>judgement you record</a:t>
            </a:r>
            <a:endParaRPr lang="en-US" sz="1800" dirty="0"/>
          </a:p>
        </p:txBody>
      </p:sp>
      <p:sp>
        <p:nvSpPr>
          <p:cNvPr id="19" name="text396"/>
          <p:cNvSpPr txBox="1"/>
          <p:nvPr/>
        </p:nvSpPr>
        <p:spPr>
          <a:xfrm>
            <a:off x="868680" y="2331720"/>
            <a:ext cx="3520440" cy="411480"/>
          </a:xfrm>
          <a:prstGeom prst="rect">
            <a:avLst/>
          </a:prstGeom>
          <a:noFill/>
          <a:ln/>
        </p:spPr>
        <p:txBody>
          <a:bodyPr wrap="square" lIns="0" tIns="0" rIns="0" bIns="0" rtlCol="0" anchor="ctr"/>
          <a:lstStyle/>
          <a:p>
            <a:pPr algn="ctr" indent="0" marL="0">
              <a:buNone/>
            </a:pPr>
            <a:r>
              <a:rPr lang="en-US" sz="1600" b="1" dirty="0">
                <a:solidFill>
                  <a:schemeClr val="tx2"/>
                </a:solidFill>
              </a:rPr>
              <a:t>Observations, facts</a:t>
            </a:r>
            <a:endParaRPr lang="en-US" sz="1800" dirty="0"/>
          </a:p>
        </p:txBody>
      </p:sp>
      <p:sp>
        <p:nvSpPr>
          <p:cNvPr id="20" name="text397"/>
          <p:cNvSpPr txBox="1"/>
          <p:nvPr/>
        </p:nvSpPr>
        <p:spPr>
          <a:xfrm>
            <a:off x="868680" y="2862072"/>
            <a:ext cx="3520440" cy="411480"/>
          </a:xfrm>
          <a:prstGeom prst="rect">
            <a:avLst/>
          </a:prstGeom>
          <a:noFill/>
          <a:ln/>
        </p:spPr>
        <p:txBody>
          <a:bodyPr wrap="square" lIns="0" tIns="0" rIns="0" bIns="0" rtlCol="0" anchor="ctr"/>
          <a:lstStyle/>
          <a:p>
            <a:pPr algn="ctr" indent="0" marL="0">
              <a:buNone/>
            </a:pPr>
            <a:r>
              <a:rPr lang="en-US" sz="1600" b="1" dirty="0">
                <a:solidFill>
                  <a:schemeClr val="tx2"/>
                </a:solidFill>
              </a:rPr>
              <a:t>Definitions</a:t>
            </a:r>
            <a:pPr algn="ctr" indent="0" marL="0">
              <a:buNone/>
            </a:pPr>
            <a:r>
              <a:rPr lang="en-US" sz="1400" i="1" dirty="0">
                <a:solidFill>
                  <a:schemeClr val="accent2"/>
                </a:solidFill>
              </a:rPr>
              <a:t>  + ontology</a:t>
            </a:r>
            <a:endParaRPr lang="en-US" sz="1800" dirty="0"/>
          </a:p>
        </p:txBody>
      </p:sp>
      <p:sp>
        <p:nvSpPr>
          <p:cNvPr id="21" name="text398"/>
          <p:cNvSpPr txBox="1"/>
          <p:nvPr/>
        </p:nvSpPr>
        <p:spPr>
          <a:xfrm>
            <a:off x="868680" y="3392424"/>
            <a:ext cx="3520440" cy="411480"/>
          </a:xfrm>
          <a:prstGeom prst="rect">
            <a:avLst/>
          </a:prstGeom>
          <a:noFill/>
          <a:ln/>
        </p:spPr>
        <p:txBody>
          <a:bodyPr wrap="square" lIns="0" tIns="0" rIns="0" bIns="0" rtlCol="0" anchor="ctr"/>
          <a:lstStyle/>
          <a:p>
            <a:pPr algn="ctr" indent="0" marL="0">
              <a:buNone/>
            </a:pPr>
            <a:r>
              <a:rPr lang="en-US" sz="1600" b="1" dirty="0">
                <a:solidFill>
                  <a:schemeClr val="tx2"/>
                </a:solidFill>
              </a:rPr>
              <a:t>Theories, hypotheses</a:t>
            </a:r>
            <a:endParaRPr lang="en-US" sz="1800" dirty="0"/>
          </a:p>
        </p:txBody>
      </p:sp>
      <p:sp>
        <p:nvSpPr>
          <p:cNvPr id="22" name="text399"/>
          <p:cNvSpPr txBox="1"/>
          <p:nvPr/>
        </p:nvSpPr>
        <p:spPr>
          <a:xfrm>
            <a:off x="868680" y="3922776"/>
            <a:ext cx="3520440" cy="411480"/>
          </a:xfrm>
          <a:prstGeom prst="rect">
            <a:avLst/>
          </a:prstGeom>
          <a:noFill/>
          <a:ln/>
        </p:spPr>
        <p:txBody>
          <a:bodyPr wrap="square" lIns="0" tIns="0" rIns="0" bIns="0" rtlCol="0" anchor="ctr"/>
          <a:lstStyle/>
          <a:p>
            <a:pPr algn="ctr" indent="0" marL="0">
              <a:buNone/>
            </a:pPr>
            <a:r>
              <a:rPr lang="en-US" sz="1600" b="1" dirty="0">
                <a:solidFill>
                  <a:schemeClr val="tx2"/>
                </a:solidFill>
              </a:rPr>
              <a:t>Findings, claims</a:t>
            </a:r>
            <a:endParaRPr lang="en-US" sz="1800" dirty="0"/>
          </a:p>
        </p:txBody>
      </p:sp>
      <p:sp>
        <p:nvSpPr>
          <p:cNvPr id="23" name="text400"/>
          <p:cNvSpPr txBox="1"/>
          <p:nvPr/>
        </p:nvSpPr>
        <p:spPr>
          <a:xfrm>
            <a:off x="868680" y="4453128"/>
            <a:ext cx="3520440" cy="411480"/>
          </a:xfrm>
          <a:prstGeom prst="rect">
            <a:avLst/>
          </a:prstGeom>
          <a:noFill/>
          <a:ln/>
        </p:spPr>
        <p:txBody>
          <a:bodyPr wrap="square" lIns="0" tIns="0" rIns="0" bIns="0" rtlCol="0" anchor="ctr"/>
          <a:lstStyle/>
          <a:p>
            <a:pPr algn="ctr" indent="0" marL="0">
              <a:buNone/>
            </a:pPr>
            <a:r>
              <a:rPr lang="en-US" sz="1600" b="1" dirty="0">
                <a:solidFill>
                  <a:schemeClr val="tx2"/>
                </a:solidFill>
              </a:rPr>
              <a:t>Methods</a:t>
            </a:r>
            <a:pPr algn="ctr" indent="0" marL="0">
              <a:buNone/>
            </a:pPr>
            <a:r>
              <a:rPr lang="en-US" sz="1400" i="1" dirty="0">
                <a:solidFill>
                  <a:schemeClr val="accent2"/>
                </a:solidFill>
              </a:rPr>
              <a:t>  + docs</a:t>
            </a:r>
            <a:endParaRPr lang="en-US" sz="1800" dirty="0"/>
          </a:p>
        </p:txBody>
      </p:sp>
      <p:sp>
        <p:nvSpPr>
          <p:cNvPr id="24" name="text401"/>
          <p:cNvSpPr txBox="1"/>
          <p:nvPr/>
        </p:nvSpPr>
        <p:spPr>
          <a:xfrm>
            <a:off x="868680" y="4983480"/>
            <a:ext cx="3520440" cy="411480"/>
          </a:xfrm>
          <a:prstGeom prst="rect">
            <a:avLst/>
          </a:prstGeom>
          <a:noFill/>
          <a:ln/>
        </p:spPr>
        <p:txBody>
          <a:bodyPr wrap="square" lIns="0" tIns="0" rIns="0" bIns="0" rtlCol="0" anchor="ctr"/>
          <a:lstStyle/>
          <a:p>
            <a:pPr algn="ctr" indent="0" marL="0">
              <a:buNone/>
            </a:pPr>
            <a:r>
              <a:rPr lang="en-US" sz="1600" b="1" dirty="0">
                <a:solidFill>
                  <a:schemeClr val="tx2"/>
                </a:solidFill>
              </a:rPr>
              <a:t>Disagreement</a:t>
            </a:r>
            <a:endParaRPr lang="en-US" sz="1800" dirty="0"/>
          </a:p>
        </p:txBody>
      </p:sp>
      <p:sp>
        <p:nvSpPr>
          <p:cNvPr id="25" name="text402"/>
          <p:cNvSpPr txBox="1"/>
          <p:nvPr/>
        </p:nvSpPr>
        <p:spPr>
          <a:xfrm>
            <a:off x="868680" y="5513832"/>
            <a:ext cx="3520440" cy="411480"/>
          </a:xfrm>
          <a:prstGeom prst="rect">
            <a:avLst/>
          </a:prstGeom>
          <a:noFill/>
          <a:ln/>
        </p:spPr>
        <p:txBody>
          <a:bodyPr wrap="square" lIns="0" tIns="0" rIns="0" bIns="0" rtlCol="0" anchor="ctr"/>
          <a:lstStyle/>
          <a:p>
            <a:pPr algn="ctr" indent="0" marL="0">
              <a:buNone/>
            </a:pPr>
            <a:r>
              <a:rPr lang="en-US" sz="1600" b="1" dirty="0">
                <a:solidFill>
                  <a:schemeClr val="tx2"/>
                </a:solidFill>
              </a:rPr>
              <a:t>Currency</a:t>
            </a:r>
            <a:endParaRPr lang="en-US" sz="1800" dirty="0"/>
          </a:p>
        </p:txBody>
      </p:sp>
      <p:sp>
        <p:nvSpPr>
          <p:cNvPr id="26" name="text403"/>
          <p:cNvSpPr txBox="1"/>
          <p:nvPr/>
        </p:nvSpPr>
        <p:spPr>
          <a:xfrm>
            <a:off x="4434840" y="3611880"/>
            <a:ext cx="1234440" cy="685800"/>
          </a:xfrm>
          <a:prstGeom prst="rect">
            <a:avLst/>
          </a:prstGeom>
          <a:noFill/>
          <a:ln/>
        </p:spPr>
        <p:txBody>
          <a:bodyPr wrap="square" lIns="0" tIns="0" rIns="0" bIns="0" rtlCol="0" anchor="ctr"/>
          <a:lstStyle/>
          <a:p>
            <a:pPr algn="ctr" indent="0" marL="0">
              <a:buNone/>
            </a:pPr>
            <a:r>
              <a:rPr lang="en-US" sz="1600" b="1" dirty="0">
                <a:solidFill>
                  <a:schemeClr val="tx2"/>
                </a:solidFill>
              </a:rPr>
              <a:t>Local</a:t>
            </a:r>
            <a:endParaRPr lang="en-US" sz="1600" dirty="0"/>
          </a:p>
          <a:p>
            <a:pPr algn="ctr" indent="0" marL="0">
              <a:buNone/>
            </a:pPr>
            <a:r>
              <a:rPr lang="en-US" sz="1600" b="1" dirty="0">
                <a:solidFill>
                  <a:schemeClr val="tx2"/>
                </a:solidFill>
              </a:rPr>
              <a:t>knowledge</a:t>
            </a:r>
            <a:endParaRPr lang="en-US" sz="1600" dirty="0"/>
          </a:p>
        </p:txBody>
      </p:sp>
      <p:sp>
        <p:nvSpPr>
          <p:cNvPr id="27" name="text404"/>
          <p:cNvSpPr txBox="1"/>
          <p:nvPr/>
        </p:nvSpPr>
        <p:spPr>
          <a:xfrm>
            <a:off x="5715000" y="3246120"/>
            <a:ext cx="2011680" cy="411480"/>
          </a:xfrm>
          <a:prstGeom prst="rect">
            <a:avLst/>
          </a:prstGeom>
          <a:noFill/>
          <a:ln/>
        </p:spPr>
        <p:txBody>
          <a:bodyPr wrap="square" lIns="0" tIns="0" rIns="0" bIns="0" rtlCol="0" anchor="ctr"/>
          <a:lstStyle/>
          <a:p>
            <a:pPr algn="ctr" indent="0" marL="0">
              <a:buNone/>
            </a:pPr>
            <a:r>
              <a:rPr lang="en-US" sz="1600" b="1" dirty="0">
                <a:solidFill>
                  <a:schemeClr val="tx2"/>
                </a:solidFill>
              </a:rPr>
              <a:t>Know-how</a:t>
            </a:r>
            <a:endParaRPr lang="en-US" sz="1800" dirty="0"/>
          </a:p>
        </p:txBody>
      </p:sp>
      <p:sp>
        <p:nvSpPr>
          <p:cNvPr id="28" name="text405"/>
          <p:cNvSpPr txBox="1"/>
          <p:nvPr/>
        </p:nvSpPr>
        <p:spPr>
          <a:xfrm>
            <a:off x="5715000" y="3794760"/>
            <a:ext cx="2011680" cy="411480"/>
          </a:xfrm>
          <a:prstGeom prst="rect">
            <a:avLst/>
          </a:prstGeom>
          <a:noFill/>
          <a:ln/>
        </p:spPr>
        <p:txBody>
          <a:bodyPr wrap="square" lIns="0" tIns="0" rIns="0" bIns="0" rtlCol="0" anchor="ctr"/>
          <a:lstStyle/>
          <a:p>
            <a:pPr algn="ctr" indent="0" marL="0">
              <a:buNone/>
            </a:pPr>
            <a:r>
              <a:rPr lang="en-US" sz="1600" b="1" dirty="0">
                <a:solidFill>
                  <a:schemeClr val="tx2"/>
                </a:solidFill>
              </a:rPr>
              <a:t>Best practices</a:t>
            </a:r>
            <a:endParaRPr lang="en-US" sz="1800" dirty="0"/>
          </a:p>
        </p:txBody>
      </p:sp>
      <p:sp>
        <p:nvSpPr>
          <p:cNvPr id="29" name="text406"/>
          <p:cNvSpPr txBox="1"/>
          <p:nvPr/>
        </p:nvSpPr>
        <p:spPr>
          <a:xfrm>
            <a:off x="5715000" y="4343400"/>
            <a:ext cx="2011680" cy="411480"/>
          </a:xfrm>
          <a:prstGeom prst="rect">
            <a:avLst/>
          </a:prstGeom>
          <a:noFill/>
          <a:ln/>
        </p:spPr>
        <p:txBody>
          <a:bodyPr wrap="square" lIns="0" tIns="0" rIns="0" bIns="0" rtlCol="0" anchor="ctr"/>
          <a:lstStyle/>
          <a:p>
            <a:pPr algn="ctr" indent="0" marL="0">
              <a:buNone/>
            </a:pPr>
            <a:r>
              <a:rPr lang="en-US" sz="1600" b="1" dirty="0">
                <a:solidFill>
                  <a:schemeClr val="tx2"/>
                </a:solidFill>
              </a:rPr>
              <a:t>Heuristics</a:t>
            </a:r>
            <a:endParaRPr lang="en-US" sz="1800" dirty="0"/>
          </a:p>
        </p:txBody>
      </p:sp>
      <p:sp>
        <p:nvSpPr>
          <p:cNvPr id="30" name="text407"/>
          <p:cNvSpPr txBox="1"/>
          <p:nvPr/>
        </p:nvSpPr>
        <p:spPr>
          <a:xfrm>
            <a:off x="7909560" y="3291840"/>
            <a:ext cx="2103120" cy="1737360"/>
          </a:xfrm>
          <a:prstGeom prst="rect">
            <a:avLst/>
          </a:prstGeom>
          <a:noFill/>
          <a:ln/>
        </p:spPr>
        <p:txBody>
          <a:bodyPr wrap="square" lIns="0" tIns="0" rIns="0" bIns="0" rtlCol="0" anchor="ctr"/>
          <a:lstStyle/>
          <a:p>
            <a:pPr algn="ctr" indent="0" marL="0">
              <a:buNone/>
            </a:pPr>
            <a:r>
              <a:rPr lang="en-US" sz="1600" b="1" dirty="0">
                <a:solidFill>
                  <a:schemeClr val="tx2"/>
                </a:solidFill>
              </a:rPr>
              <a:t>Failure modes</a:t>
            </a:r>
            <a:endParaRPr lang="en-US" sz="1600" dirty="0"/>
          </a:p>
          <a:p>
            <a:pPr algn="ctr" indent="0" marL="0">
              <a:buNone/>
            </a:pPr>
            <a:r>
              <a:rPr lang="en-US" sz="1000" dirty="0">
                <a:solidFill>
                  <a:schemeClr val="tx2"/>
                </a:solidFill>
              </a:rPr>
              <a:t> </a:t>
            </a:r>
            <a:endParaRPr lang="en-US" sz="1600" dirty="0"/>
          </a:p>
          <a:p>
            <a:pPr algn="ctr" indent="0" marL="0">
              <a:buNone/>
            </a:pPr>
            <a:r>
              <a:rPr lang="en-US" sz="1600" b="1" dirty="0">
                <a:solidFill>
                  <a:schemeClr val="tx2"/>
                </a:solidFill>
              </a:rPr>
              <a:t>Acceptance</a:t>
            </a:r>
            <a:endParaRPr lang="en-US" sz="1600" dirty="0"/>
          </a:p>
          <a:p>
            <a:pPr algn="ctr" indent="0" marL="0">
              <a:buNone/>
            </a:pPr>
            <a:r>
              <a:rPr lang="en-US" sz="1600" b="1" dirty="0">
                <a:solidFill>
                  <a:schemeClr val="tx2"/>
                </a:solidFill>
              </a:rPr>
              <a:t>criteria</a:t>
            </a:r>
            <a:endParaRPr lang="en-US" sz="1600" dirty="0"/>
          </a:p>
        </p:txBody>
      </p:sp>
      <p:sp>
        <p:nvSpPr>
          <p:cNvPr id="31" name="text408"/>
          <p:cNvSpPr txBox="1"/>
          <p:nvPr/>
        </p:nvSpPr>
        <p:spPr>
          <a:xfrm>
            <a:off x="10195560" y="3840480"/>
            <a:ext cx="1463040" cy="685800"/>
          </a:xfrm>
          <a:prstGeom prst="rect">
            <a:avLst/>
          </a:prstGeom>
          <a:noFill/>
          <a:ln/>
        </p:spPr>
        <p:txBody>
          <a:bodyPr wrap="square" lIns="0" tIns="0" rIns="0" bIns="0" rtlCol="0" anchor="ctr"/>
          <a:lstStyle/>
          <a:p>
            <a:pPr algn="ctr" indent="0" marL="0">
              <a:buNone/>
            </a:pPr>
            <a:r>
              <a:rPr lang="en-US" sz="1600" b="1" dirty="0">
                <a:solidFill>
                  <a:schemeClr val="tx2"/>
                </a:solidFill>
              </a:rPr>
              <a:t>Tacit</a:t>
            </a:r>
            <a:endParaRPr lang="en-US" sz="1600" dirty="0"/>
          </a:p>
          <a:p>
            <a:pPr algn="ctr" indent="0" marL="0">
              <a:buNone/>
            </a:pPr>
            <a:r>
              <a:rPr lang="en-US" sz="1600" b="1" dirty="0">
                <a:solidFill>
                  <a:schemeClr val="tx2"/>
                </a:solidFill>
              </a:rPr>
              <a:t>judgement</a:t>
            </a:r>
            <a:endParaRPr lang="en-US" sz="1600" dirty="0"/>
          </a:p>
        </p:txBody>
      </p:sp>
      <p:sp>
        <p:nvSpPr>
          <p:cNvPr id="33" name="badge28_H"/>
          <p:cNvSpPr txBox="1"/>
          <p:nvPr/>
        </p:nvSpPr>
        <p:spPr>
          <a:xfrm>
            <a:off x="274320"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H</a:t>
            </a:r>
            <a:endParaRPr lang="en-US" sz="1100" dirty="0"/>
          </a:p>
        </p:txBody>
      </p:sp>
      <p:sp>
        <p:nvSpPr>
          <p:cNvPr id="34" name="badge28_L"/>
          <p:cNvSpPr txBox="1"/>
          <p:nvPr/>
        </p:nvSpPr>
        <p:spPr>
          <a:xfrm>
            <a:off x="576072"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L</a:t>
            </a:r>
            <a:endParaRPr lang="en-US" sz="1100" dirty="0"/>
          </a:p>
        </p:txBody>
      </p:sp>
      <p:sp>
        <p:nvSpPr>
          <p:cNvPr id="35" name="badge28_R"/>
          <p:cNvSpPr txBox="1"/>
          <p:nvPr/>
        </p:nvSpPr>
        <p:spPr>
          <a:xfrm>
            <a:off x="877824"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R</a:t>
            </a:r>
            <a:endParaRPr lang="en-US" sz="1100" dirty="0"/>
          </a:p>
        </p:txBody>
      </p:sp>
      <p:sp>
        <p:nvSpPr>
          <p:cNvPr id="36" name="badge28_check"/>
          <p:cNvSpPr txBox="1"/>
          <p:nvPr/>
        </p:nvSpPr>
        <p:spPr>
          <a:xfrm>
            <a:off x="1234440" y="6473952"/>
            <a:ext cx="676656" cy="301752"/>
          </a:xfrm>
          <a:prstGeom prst="rect">
            <a:avLst/>
          </a:prstGeom>
          <a:noFill/>
          <a:ln/>
        </p:spPr>
        <p:txBody>
          <a:bodyPr wrap="square" lIns="0" tIns="0" rIns="0" bIns="0" rtlCol="0" anchor="ctr"/>
          <a:lstStyle/>
          <a:p>
            <a:pPr indent="0" marL="0">
              <a:buNone/>
            </a:pPr>
            <a:r>
              <a:rPr lang="en-US" sz="1100" i="1" dirty="0">
                <a:solidFill>
                  <a:srgbClr val="5E7A88"/>
                </a:solidFill>
              </a:rPr>
              <a:t>reviewed</a:t>
            </a:r>
            <a:endParaRPr lang="en-US" sz="11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692640" cy="731520"/>
          </a:xfrm>
          <a:prstGeom prst="rect">
            <a:avLst/>
          </a:prstGeom>
          <a:noFill/>
          <a:ln/>
        </p:spPr>
        <p:txBody>
          <a:bodyPr wrap="square" rtlCol="0" anchor="ctr"/>
          <a:lstStyle/>
          <a:p>
            <a:pPr algn="l" indent="0" marL="0">
              <a:buNone/>
            </a:pPr>
            <a:r>
              <a:rPr lang="en-US" sz="2600" b="1" dirty="0">
                <a:solidFill>
                  <a:schemeClr val="tx2"/>
                </a:solidFill>
              </a:rPr>
              <a:t>Recomputing a derived score from source items</a:t>
            </a:r>
            <a:endParaRPr lang="en-US" sz="2600" dirty="0"/>
          </a:p>
        </p:txBody>
      </p:sp>
      <p:sp>
        <p:nvSpPr>
          <p:cNvPr id="3" name="text409"/>
          <p:cNvSpPr txBox="1"/>
          <p:nvPr/>
        </p:nvSpPr>
        <p:spPr>
          <a:xfrm>
            <a:off x="548640" y="1417320"/>
            <a:ext cx="6217920" cy="457200"/>
          </a:xfrm>
          <a:prstGeom prst="rect">
            <a:avLst/>
          </a:prstGeom>
          <a:noFill/>
          <a:ln/>
        </p:spPr>
        <p:txBody>
          <a:bodyPr wrap="square" lIns="0" tIns="0" rIns="0" bIns="0" rtlCol="0" anchor="t"/>
          <a:lstStyle/>
          <a:p>
            <a:pPr indent="0" marL="0">
              <a:buNone/>
            </a:pPr>
            <a:r>
              <a:rPr lang="en-US" sz="2400" b="1" dirty="0">
                <a:solidFill>
                  <a:schemeClr val="tx2"/>
                </a:solidFill>
              </a:rPr>
              <a:t>sub-10159 · Barratt parcel 1</a:t>
            </a:r>
            <a:endParaRPr lang="en-US" sz="2400" dirty="0"/>
          </a:p>
        </p:txBody>
      </p:sp>
      <p:sp>
        <p:nvSpPr>
          <p:cNvPr id="4" name="shape410"/>
          <p:cNvSpPr txBox="1"/>
          <p:nvPr/>
        </p:nvSpPr>
        <p:spPr>
          <a:xfrm>
            <a:off x="548640" y="2194560"/>
            <a:ext cx="1508760" cy="1508760"/>
          </a:xfrm>
          <a:prstGeom prst="ellipse">
            <a:avLst/>
          </a:prstGeom>
          <a:solidFill>
            <a:schemeClr val="accent4"/>
          </a:solidFill>
          <a:ln/>
        </p:spPr>
        <p:txBody>
          <a:bodyPr wrap="square" lIns="50800" tIns="50800" rIns="50800" bIns="50800" rtlCol="0" anchor="ctr"/>
          <a:lstStyle/>
          <a:p>
            <a:pPr algn="ctr" indent="0" marL="0">
              <a:buNone/>
            </a:pPr>
            <a:r>
              <a:rPr lang="en-US" sz="1600" dirty="0">
                <a:solidFill>
                  <a:schemeClr val="tx2"/>
                </a:solidFill>
              </a:rPr>
              <a:t>item 19</a:t>
            </a:r>
            <a:endParaRPr lang="en-US" sz="1800" dirty="0"/>
          </a:p>
          <a:p>
            <a:pPr algn="ctr" indent="0" marL="0">
              <a:buNone/>
            </a:pPr>
            <a:r>
              <a:rPr lang="en-US" sz="3600" b="1" dirty="0">
                <a:solidFill>
                  <a:schemeClr val="tx2"/>
                </a:solidFill>
              </a:rPr>
              <a:t>2</a:t>
            </a:r>
            <a:endParaRPr lang="en-US" sz="1800" dirty="0"/>
          </a:p>
        </p:txBody>
      </p:sp>
      <p:sp>
        <p:nvSpPr>
          <p:cNvPr id="5" name="shape411"/>
          <p:cNvSpPr txBox="1"/>
          <p:nvPr/>
        </p:nvSpPr>
        <p:spPr>
          <a:xfrm>
            <a:off x="2194560" y="2194560"/>
            <a:ext cx="1508760" cy="1508760"/>
          </a:xfrm>
          <a:prstGeom prst="ellipse">
            <a:avLst/>
          </a:prstGeom>
          <a:solidFill>
            <a:schemeClr val="accent4"/>
          </a:solidFill>
          <a:ln/>
        </p:spPr>
        <p:txBody>
          <a:bodyPr wrap="square" lIns="50800" tIns="50800" rIns="50800" bIns="50800" rtlCol="0" anchor="ctr"/>
          <a:lstStyle/>
          <a:p>
            <a:pPr algn="ctr" indent="0" marL="0">
              <a:buNone/>
            </a:pPr>
            <a:r>
              <a:rPr lang="en-US" sz="1600" dirty="0">
                <a:solidFill>
                  <a:schemeClr val="tx2"/>
                </a:solidFill>
              </a:rPr>
              <a:t>item 17</a:t>
            </a:r>
            <a:endParaRPr lang="en-US" sz="1800" dirty="0"/>
          </a:p>
          <a:p>
            <a:pPr algn="ctr" indent="0" marL="0">
              <a:buNone/>
            </a:pPr>
            <a:r>
              <a:rPr lang="en-US" sz="3600" b="1" dirty="0">
                <a:solidFill>
                  <a:schemeClr val="tx2"/>
                </a:solidFill>
              </a:rPr>
              <a:t>2</a:t>
            </a:r>
            <a:endParaRPr lang="en-US" sz="1800" dirty="0"/>
          </a:p>
        </p:txBody>
      </p:sp>
      <p:sp>
        <p:nvSpPr>
          <p:cNvPr id="6" name="shape412"/>
          <p:cNvSpPr txBox="1"/>
          <p:nvPr/>
        </p:nvSpPr>
        <p:spPr>
          <a:xfrm>
            <a:off x="3840480" y="2514600"/>
            <a:ext cx="1554480" cy="868680"/>
          </a:xfrm>
          <a:prstGeom prst="chevron">
            <a:avLst/>
          </a:prstGeom>
          <a:solidFill>
            <a:schemeClr val="tx2"/>
          </a:solidFill>
          <a:ln/>
        </p:spPr>
        <p:txBody>
          <a:bodyPr wrap="square" lIns="0" tIns="0" rIns="0" bIns="0" rtlCol="0" anchor="ctr"/>
          <a:lstStyle/>
          <a:p>
            <a:pPr algn="ctr" indent="0" marL="0">
              <a:buNone/>
            </a:pPr>
            <a:r>
              <a:rPr lang="en-US" sz="1800" b="1" dirty="0">
                <a:solidFill>
                  <a:schemeClr val="bg1"/>
                </a:solidFill>
              </a:rPr>
              <a:t>mean</a:t>
            </a:r>
            <a:endParaRPr lang="en-US" sz="1800" dirty="0"/>
          </a:p>
        </p:txBody>
      </p:sp>
      <p:sp>
        <p:nvSpPr>
          <p:cNvPr id="7" name="shape413"/>
          <p:cNvSpPr txBox="1"/>
          <p:nvPr/>
        </p:nvSpPr>
        <p:spPr>
          <a:xfrm>
            <a:off x="5532120" y="2194560"/>
            <a:ext cx="1508760" cy="1508760"/>
          </a:xfrm>
          <a:prstGeom prst="ellipse">
            <a:avLst/>
          </a:prstGeom>
          <a:solidFill>
            <a:schemeClr val="accent1"/>
          </a:solidFill>
          <a:ln/>
        </p:spPr>
        <p:txBody>
          <a:bodyPr wrap="square" lIns="50800" tIns="50800" rIns="50800" bIns="50800" rtlCol="0" anchor="ctr"/>
          <a:lstStyle/>
          <a:p>
            <a:pPr algn="ctr" indent="0" marL="0">
              <a:buNone/>
            </a:pPr>
            <a:r>
              <a:rPr lang="en-US" sz="1600" dirty="0">
                <a:solidFill>
                  <a:schemeClr val="bg1"/>
                </a:solidFill>
              </a:rPr>
              <a:t>result</a:t>
            </a:r>
            <a:endParaRPr lang="en-US" sz="1800" dirty="0"/>
          </a:p>
          <a:p>
            <a:pPr algn="ctr" indent="0" marL="0">
              <a:buNone/>
            </a:pPr>
            <a:r>
              <a:rPr lang="en-US" sz="3600" b="1" dirty="0">
                <a:solidFill>
                  <a:schemeClr val="bg1"/>
                </a:solidFill>
              </a:rPr>
              <a:t>2</a:t>
            </a:r>
            <a:endParaRPr lang="en-US" sz="1800" dirty="0"/>
          </a:p>
        </p:txBody>
      </p:sp>
      <p:sp>
        <p:nvSpPr>
          <p:cNvPr id="8" name="shape415"/>
          <p:cNvSpPr/>
          <p:nvPr/>
        </p:nvSpPr>
        <p:spPr>
          <a:xfrm>
            <a:off x="548640" y="4160520"/>
            <a:ext cx="685800" cy="685800"/>
          </a:xfrm>
          <a:prstGeom prst="ellipse">
            <a:avLst/>
          </a:prstGeom>
          <a:solidFill>
            <a:schemeClr val="accent1"/>
          </a:solidFill>
          <a:ln/>
        </p:spPr>
      </p:sp>
      <p:pic>
        <p:nvPicPr>
          <p:cNvPr id="9" name="check415" descr="preencoded.png">    </p:cNvPr>
          <p:cNvPicPr>
            <a:picLocks noChangeAspect="1"/>
          </p:cNvPicPr>
          <p:nvPr/>
        </p:nvPicPr>
        <p:blipFill>
          <a:blip r:embed="rId1"/>
          <a:stretch>
            <a:fillRect/>
          </a:stretch>
        </p:blipFill>
        <p:spPr>
          <a:xfrm>
            <a:off x="731520" y="4343400"/>
            <a:ext cx="320040" cy="320040"/>
          </a:xfrm>
          <a:prstGeom prst="rect">
            <a:avLst/>
          </a:prstGeom>
        </p:spPr>
      </p:pic>
      <p:sp>
        <p:nvSpPr>
          <p:cNvPr id="10" name="text416"/>
          <p:cNvSpPr txBox="1"/>
          <p:nvPr/>
        </p:nvSpPr>
        <p:spPr>
          <a:xfrm>
            <a:off x="1417320" y="4160520"/>
            <a:ext cx="5212080" cy="685800"/>
          </a:xfrm>
          <a:prstGeom prst="rect">
            <a:avLst/>
          </a:prstGeom>
          <a:noFill/>
          <a:ln/>
        </p:spPr>
        <p:txBody>
          <a:bodyPr wrap="square" lIns="0" tIns="0" rIns="0" bIns="0" rtlCol="0" anchor="ctr"/>
          <a:lstStyle/>
          <a:p>
            <a:pPr indent="0" marL="0">
              <a:buNone/>
            </a:pPr>
            <a:r>
              <a:rPr lang="en-US" sz="2400" dirty="0">
                <a:solidFill>
                  <a:schemeClr val="tx1"/>
                </a:solidFill>
              </a:rPr>
              <a:t>matches the reported value, 2</a:t>
            </a:r>
            <a:endParaRPr lang="en-US" sz="2400" dirty="0"/>
          </a:p>
        </p:txBody>
      </p:sp>
      <p:sp>
        <p:nvSpPr>
          <p:cNvPr id="11" name="text417"/>
          <p:cNvSpPr txBox="1"/>
          <p:nvPr/>
        </p:nvSpPr>
        <p:spPr>
          <a:xfrm>
            <a:off x="548640" y="5166360"/>
            <a:ext cx="6126480" cy="548640"/>
          </a:xfrm>
          <a:prstGeom prst="rect">
            <a:avLst/>
          </a:prstGeom>
          <a:noFill/>
          <a:ln/>
        </p:spPr>
        <p:txBody>
          <a:bodyPr wrap="square" lIns="0" tIns="0" rIns="0" bIns="0" rtlCol="0" anchor="ctr"/>
          <a:lstStyle/>
          <a:p>
            <a:pPr indent="0" marL="0">
              <a:buNone/>
            </a:pPr>
            <a:r>
              <a:rPr lang="en-US" sz="2000" dirty="0">
                <a:solidFill>
                  <a:schemeClr val="accent3"/>
                </a:solidFill>
              </a:rPr>
              <a:t>Dictionary formula: mean of items 19 and 17</a:t>
            </a:r>
            <a:endParaRPr lang="en-US" sz="2000" dirty="0"/>
          </a:p>
        </p:txBody>
      </p:sp>
      <p:sp>
        <p:nvSpPr>
          <p:cNvPr id="12" name="shape418"/>
          <p:cNvSpPr/>
          <p:nvPr/>
        </p:nvSpPr>
        <p:spPr>
          <a:xfrm>
            <a:off x="7406640" y="1325880"/>
            <a:ext cx="3931920" cy="3931920"/>
          </a:xfrm>
          <a:prstGeom prst="blockArc">
            <a:avLst>
              <a:gd name="adj1" fmla="val 16200000"/>
              <a:gd name="adj2" fmla="val 16170000"/>
              <a:gd name="adj3" fmla="val 6000"/>
            </a:avLst>
          </a:prstGeom>
          <a:solidFill>
            <a:schemeClr val="accent1"/>
          </a:solidFill>
          <a:ln/>
        </p:spPr>
      </p:sp>
      <p:sp>
        <p:nvSpPr>
          <p:cNvPr id="13" name="text419"/>
          <p:cNvSpPr txBox="1"/>
          <p:nvPr/>
        </p:nvSpPr>
        <p:spPr>
          <a:xfrm>
            <a:off x="7406640" y="1325880"/>
            <a:ext cx="3931920" cy="3931920"/>
          </a:xfrm>
          <a:prstGeom prst="rect">
            <a:avLst/>
          </a:prstGeom>
          <a:noFill/>
          <a:ln/>
        </p:spPr>
        <p:txBody>
          <a:bodyPr wrap="square" lIns="0" tIns="0" rIns="0" bIns="0" rtlCol="0" anchor="ctr"/>
          <a:lstStyle/>
          <a:p>
            <a:pPr algn="ctr" indent="0" marL="0">
              <a:buNone/>
            </a:pPr>
            <a:r>
              <a:rPr lang="en-US" sz="4800" b="1" dirty="0">
                <a:solidFill>
                  <a:schemeClr val="accent1"/>
                </a:solidFill>
              </a:rPr>
              <a:t>272 / 272</a:t>
            </a:r>
            <a:endParaRPr lang="en-US" sz="4800" dirty="0"/>
          </a:p>
        </p:txBody>
      </p:sp>
      <p:sp>
        <p:nvSpPr>
          <p:cNvPr id="14" name="text420"/>
          <p:cNvSpPr txBox="1"/>
          <p:nvPr/>
        </p:nvSpPr>
        <p:spPr>
          <a:xfrm>
            <a:off x="7178040" y="5440680"/>
            <a:ext cx="4389120" cy="868680"/>
          </a:xfrm>
          <a:prstGeom prst="rect">
            <a:avLst/>
          </a:prstGeom>
          <a:noFill/>
          <a:ln/>
        </p:spPr>
        <p:txBody>
          <a:bodyPr wrap="square" lIns="0" tIns="0" rIns="0" bIns="0" rtlCol="0" anchor="t"/>
          <a:lstStyle/>
          <a:p>
            <a:pPr algn="ctr" indent="0" marL="0">
              <a:buNone/>
            </a:pPr>
            <a:r>
              <a:rPr lang="en-US" sz="2200" dirty="0">
                <a:solidFill>
                  <a:schemeClr val="tx1"/>
                </a:solidFill>
              </a:rPr>
              <a:t>reported scores reproduced from their item responses</a:t>
            </a:r>
            <a:endParaRPr lang="en-US" sz="2200" dirty="0"/>
          </a:p>
        </p:txBody>
      </p:sp>
      <p:sp>
        <p:nvSpPr>
          <p:cNvPr id="16" name="badge29_P"/>
          <p:cNvSpPr txBox="1"/>
          <p:nvPr/>
        </p:nvSpPr>
        <p:spPr>
          <a:xfrm>
            <a:off x="274320"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P</a:t>
            </a:r>
            <a:endParaRPr lang="en-US" sz="1100" dirty="0"/>
          </a:p>
        </p:txBody>
      </p:sp>
      <p:sp>
        <p:nvSpPr>
          <p:cNvPr id="17" name="badge29_R"/>
          <p:cNvSpPr txBox="1"/>
          <p:nvPr/>
        </p:nvSpPr>
        <p:spPr>
          <a:xfrm>
            <a:off x="576072"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R</a:t>
            </a:r>
            <a:endParaRPr lang="en-US" sz="1100" dirty="0"/>
          </a:p>
        </p:txBody>
      </p:sp>
      <p:sp>
        <p:nvSpPr>
          <p:cNvPr id="18" name="data29"/>
          <p:cNvSpPr txBox="1"/>
          <p:nvPr/>
        </p:nvSpPr>
        <p:spPr>
          <a:xfrm>
            <a:off x="1600200" y="6473952"/>
            <a:ext cx="9555480" cy="301752"/>
          </a:xfrm>
          <a:prstGeom prst="rect">
            <a:avLst/>
          </a:prstGeom>
          <a:noFill/>
          <a:ln/>
        </p:spPr>
        <p:txBody>
          <a:bodyPr wrap="square" lIns="0" tIns="0" rIns="0" bIns="0" rtlCol="0" anchor="ctr"/>
          <a:lstStyle/>
          <a:p>
            <a:pPr indent="0" marL="0">
              <a:buNone/>
            </a:pPr>
            <a:r>
              <a:rPr lang="en-US" sz="1100" dirty="0">
                <a:solidFill>
                  <a:srgbClr val="5E7A88"/>
                </a:solidFill>
              </a:rPr>
              <a:t>Data: ds000030 (UCLA CNP), OpenNeuro, commit 4070b6e</a:t>
            </a:r>
            <a:endParaRPr lang="en-US" sz="1100" dirty="0"/>
          </a:p>
        </p:txBody>
      </p:sp>
      <p:sp>
        <p:nvSpPr>
          <p:cNvPr id="19" name="badge29_check"/>
          <p:cNvSpPr txBox="1"/>
          <p:nvPr/>
        </p:nvSpPr>
        <p:spPr>
          <a:xfrm>
            <a:off x="932688" y="6473952"/>
            <a:ext cx="530352" cy="301752"/>
          </a:xfrm>
          <a:prstGeom prst="rect">
            <a:avLst/>
          </a:prstGeom>
          <a:noFill/>
          <a:ln/>
        </p:spPr>
        <p:txBody>
          <a:bodyPr wrap="square" lIns="0" tIns="0" rIns="0" bIns="0" rtlCol="0" anchor="ctr"/>
          <a:lstStyle/>
          <a:p>
            <a:pPr indent="0" marL="0">
              <a:buNone/>
            </a:pPr>
            <a:r>
              <a:rPr lang="en-US" sz="1100" i="1" dirty="0">
                <a:solidFill>
                  <a:srgbClr val="5E7A88"/>
                </a:solidFill>
              </a:rPr>
              <a:t>re-run</a:t>
            </a:r>
            <a:endParaRPr lang="en-US" sz="11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692640" cy="731520"/>
          </a:xfrm>
          <a:prstGeom prst="rect">
            <a:avLst/>
          </a:prstGeom>
          <a:noFill/>
          <a:ln/>
        </p:spPr>
        <p:txBody>
          <a:bodyPr wrap="square" rtlCol="0" anchor="ctr"/>
          <a:lstStyle/>
          <a:p>
            <a:pPr algn="l" indent="0" marL="0">
              <a:buNone/>
            </a:pPr>
            <a:r>
              <a:rPr lang="en-US" sz="2600" b="1" dirty="0">
                <a:solidFill>
                  <a:schemeClr val="tx2"/>
                </a:solidFill>
              </a:rPr>
              <a:t>Checking agent outputs against the graph</a:t>
            </a:r>
            <a:endParaRPr lang="en-US" sz="2600" dirty="0"/>
          </a:p>
        </p:txBody>
      </p:sp>
      <p:sp>
        <p:nvSpPr>
          <p:cNvPr id="3" name="card421"/>
          <p:cNvSpPr txBox="1"/>
          <p:nvPr/>
        </p:nvSpPr>
        <p:spPr>
          <a:xfrm>
            <a:off x="548640" y="1325880"/>
            <a:ext cx="5440680" cy="2240280"/>
          </a:xfrm>
          <a:prstGeom prst="roundRect">
            <a:avLst>
              <a:gd name="adj" fmla="val 3265"/>
            </a:avLst>
          </a:prstGeom>
          <a:solidFill>
            <a:schemeClr val="accent4"/>
          </a:solidFill>
          <a:ln/>
        </p:spPr>
        <p:txBody>
          <a:bodyPr wrap="square" lIns="203200" tIns="203200" rIns="203200" bIns="203200" rtlCol="0" anchor="t"/>
          <a:lstStyle/>
          <a:p>
            <a:pPr algn="l" indent="0" marL="0">
              <a:buNone/>
            </a:pPr>
            <a:r>
              <a:rPr lang="en-US" sz="2400" b="1" dirty="0">
                <a:solidFill>
                  <a:schemeClr val="accent1"/>
                </a:solidFill>
              </a:rPr>
              <a:t>The skill, once per version</a:t>
            </a:r>
            <a:endParaRPr lang="en-US" sz="2200" dirty="0"/>
          </a:p>
          <a:p>
            <a:pPr algn="l" marL="342900" indent="-342900">
              <a:buSzPct val="100000"/>
              <a:buChar char="•"/>
            </a:pPr>
            <a:r>
              <a:rPr lang="en-US" sz="2200" dirty="0">
                <a:solidFill>
                  <a:schemeClr val="tx1"/>
                </a:solidFill>
              </a:rPr>
              <a:t>held-out cases with human answers</a:t>
            </a:r>
            <a:endParaRPr lang="en-US" sz="2200" dirty="0"/>
          </a:p>
          <a:p>
            <a:pPr algn="l" marL="342900" indent="-342900">
              <a:buSzPct val="100000"/>
              <a:buChar char="•"/>
            </a:pPr>
            <a:r>
              <a:rPr lang="en-US" sz="2200" dirty="0">
                <a:solidFill>
                  <a:schemeClr val="tx1"/>
                </a:solidFill>
              </a:rPr>
              <a:t>injected faults it must catch</a:t>
            </a:r>
            <a:endParaRPr lang="en-US" sz="2200" dirty="0"/>
          </a:p>
        </p:txBody>
      </p:sp>
      <p:sp>
        <p:nvSpPr>
          <p:cNvPr id="4" name="card422"/>
          <p:cNvSpPr txBox="1"/>
          <p:nvPr/>
        </p:nvSpPr>
        <p:spPr>
          <a:xfrm>
            <a:off x="6199632" y="1325880"/>
            <a:ext cx="5440680" cy="2240280"/>
          </a:xfrm>
          <a:prstGeom prst="roundRect">
            <a:avLst>
              <a:gd name="adj" fmla="val 3265"/>
            </a:avLst>
          </a:prstGeom>
          <a:solidFill>
            <a:schemeClr val="accent5"/>
          </a:solidFill>
          <a:ln/>
        </p:spPr>
        <p:txBody>
          <a:bodyPr wrap="square" lIns="203200" tIns="203200" rIns="203200" bIns="203200" rtlCol="0" anchor="t"/>
          <a:lstStyle/>
          <a:p>
            <a:pPr algn="l" indent="0" marL="0">
              <a:buNone/>
            </a:pPr>
            <a:r>
              <a:rPr lang="en-US" sz="2400" b="1" dirty="0">
                <a:solidFill>
                  <a:schemeClr val="accent2"/>
                </a:solidFill>
              </a:rPr>
              <a:t>Each output, every time</a:t>
            </a:r>
            <a:endParaRPr lang="en-US" sz="2200" dirty="0"/>
          </a:p>
          <a:p>
            <a:pPr algn="l" marL="342900" indent="-342900">
              <a:buSzPct val="100000"/>
              <a:buChar char="•"/>
            </a:pPr>
            <a:r>
              <a:rPr lang="en-US" sz="2200" dirty="0">
                <a:solidFill>
                  <a:schemeClr val="tx1"/>
                </a:solidFill>
              </a:rPr>
              <a:t>check against the source</a:t>
            </a:r>
            <a:endParaRPr lang="en-US" sz="2200" dirty="0"/>
          </a:p>
          <a:p>
            <a:pPr algn="l" marL="342900" indent="-342900">
              <a:buSzPct val="100000"/>
              <a:buChar char="•"/>
            </a:pPr>
            <a:r>
              <a:rPr lang="en-US" sz="2200" dirty="0">
                <a:solidFill>
                  <a:schemeClr val="tx1"/>
                </a:solidFill>
              </a:rPr>
              <a:t>keep cohort, direction, method</a:t>
            </a:r>
            <a:endParaRPr lang="en-US" sz="2200" dirty="0"/>
          </a:p>
        </p:txBody>
      </p:sp>
      <p:sp>
        <p:nvSpPr>
          <p:cNvPr id="5" name="text423"/>
          <p:cNvSpPr txBox="1"/>
          <p:nvPr/>
        </p:nvSpPr>
        <p:spPr>
          <a:xfrm>
            <a:off x="548640" y="3840480"/>
            <a:ext cx="10972800" cy="457200"/>
          </a:xfrm>
          <a:prstGeom prst="rect">
            <a:avLst/>
          </a:prstGeom>
          <a:noFill/>
          <a:ln/>
        </p:spPr>
        <p:txBody>
          <a:bodyPr wrap="square" lIns="0" tIns="0" rIns="0" bIns="0" rtlCol="0" anchor="t"/>
          <a:lstStyle/>
          <a:p>
            <a:pPr indent="0" marL="0">
              <a:buNone/>
            </a:pPr>
            <a:r>
              <a:rPr lang="en-US" sz="2200" b="1" dirty="0">
                <a:solidFill>
                  <a:schemeClr val="tx2"/>
                </a:solidFill>
              </a:rPr>
              <a:t>Faults we injected, and what caught them</a:t>
            </a:r>
            <a:endParaRPr lang="en-US" sz="2200" dirty="0"/>
          </a:p>
        </p:txBody>
      </p:sp>
      <p:sp>
        <p:nvSpPr>
          <p:cNvPr id="6" name="card424"/>
          <p:cNvSpPr txBox="1"/>
          <p:nvPr/>
        </p:nvSpPr>
        <p:spPr>
          <a:xfrm>
            <a:off x="548640" y="4434840"/>
            <a:ext cx="2651760" cy="1691640"/>
          </a:xfrm>
          <a:prstGeom prst="roundRect">
            <a:avLst>
              <a:gd name="adj" fmla="val 4324"/>
            </a:avLst>
          </a:prstGeom>
          <a:solidFill>
            <a:schemeClr val="bg2"/>
          </a:solidFill>
          <a:ln w="19050">
            <a:solidFill>
              <a:srgbClr val="C9D3D7"/>
            </a:solidFill>
            <a:prstDash val="solid"/>
          </a:ln>
        </p:spPr>
        <p:txBody>
          <a:bodyPr wrap="square" lIns="127000" tIns="127000" rIns="127000" bIns="127000" rtlCol="0" anchor="ctr"/>
          <a:lstStyle/>
          <a:p>
            <a:pPr algn="ctr" indent="0" marL="0">
              <a:buNone/>
            </a:pPr>
            <a:r>
              <a:rPr lang="en-US" sz="2000" b="1" dirty="0">
                <a:solidFill>
                  <a:schemeClr val="tx1"/>
                </a:solidFill>
              </a:rPr>
              <a:t>Wrong offsets</a:t>
            </a:r>
            <a:endParaRPr lang="en-US" sz="1800" dirty="0"/>
          </a:p>
          <a:p>
            <a:pPr algn="ctr" indent="0" marL="0">
              <a:buNone/>
            </a:pPr>
            <a:r>
              <a:rPr lang="en-US" sz="1800" dirty="0">
                <a:solidFill>
                  <a:schemeClr val="accent1"/>
                </a:solidFill>
              </a:rPr>
              <a:t>repaired and marked</a:t>
            </a:r>
            <a:endParaRPr lang="en-US" sz="1800" dirty="0"/>
          </a:p>
        </p:txBody>
      </p:sp>
      <p:sp>
        <p:nvSpPr>
          <p:cNvPr id="7" name="card425"/>
          <p:cNvSpPr txBox="1"/>
          <p:nvPr/>
        </p:nvSpPr>
        <p:spPr>
          <a:xfrm>
            <a:off x="3346704" y="4434840"/>
            <a:ext cx="2651760" cy="1691640"/>
          </a:xfrm>
          <a:prstGeom prst="roundRect">
            <a:avLst>
              <a:gd name="adj" fmla="val 4324"/>
            </a:avLst>
          </a:prstGeom>
          <a:solidFill>
            <a:schemeClr val="bg2"/>
          </a:solidFill>
          <a:ln w="19050">
            <a:solidFill>
              <a:srgbClr val="C9D3D7"/>
            </a:solidFill>
            <a:prstDash val="solid"/>
          </a:ln>
        </p:spPr>
        <p:txBody>
          <a:bodyPr wrap="square" lIns="127000" tIns="127000" rIns="127000" bIns="127000" rtlCol="0" anchor="ctr"/>
          <a:lstStyle/>
          <a:p>
            <a:pPr algn="ctr" indent="0" marL="0">
              <a:buNone/>
            </a:pPr>
            <a:r>
              <a:rPr lang="en-US" sz="2000" b="1" dirty="0">
                <a:solidFill>
                  <a:schemeClr val="tx1"/>
                </a:solidFill>
              </a:rPr>
              <a:t>Invented quote</a:t>
            </a:r>
            <a:endParaRPr lang="en-US" sz="1800" dirty="0"/>
          </a:p>
          <a:p>
            <a:pPr algn="ctr" indent="0" marL="0">
              <a:buNone/>
            </a:pPr>
            <a:r>
              <a:rPr lang="en-US" sz="1800" dirty="0">
                <a:solidFill>
                  <a:schemeClr val="accent1"/>
                </a:solidFill>
              </a:rPr>
              <a:t>dropped</a:t>
            </a:r>
            <a:endParaRPr lang="en-US" sz="1800" dirty="0"/>
          </a:p>
        </p:txBody>
      </p:sp>
      <p:sp>
        <p:nvSpPr>
          <p:cNvPr id="8" name="card426"/>
          <p:cNvSpPr txBox="1"/>
          <p:nvPr/>
        </p:nvSpPr>
        <p:spPr>
          <a:xfrm>
            <a:off x="6144768" y="4434840"/>
            <a:ext cx="2651760" cy="1691640"/>
          </a:xfrm>
          <a:prstGeom prst="roundRect">
            <a:avLst>
              <a:gd name="adj" fmla="val 4324"/>
            </a:avLst>
          </a:prstGeom>
          <a:solidFill>
            <a:schemeClr val="bg2"/>
          </a:solidFill>
          <a:ln w="19050">
            <a:solidFill>
              <a:srgbClr val="C9D3D7"/>
            </a:solidFill>
            <a:prstDash val="solid"/>
          </a:ln>
        </p:spPr>
        <p:txBody>
          <a:bodyPr wrap="square" lIns="127000" tIns="127000" rIns="127000" bIns="127000" rtlCol="0" anchor="ctr"/>
          <a:lstStyle/>
          <a:p>
            <a:pPr algn="ctr" indent="0" marL="0">
              <a:buNone/>
            </a:pPr>
            <a:r>
              <a:rPr lang="en-US" sz="2000" b="1" dirty="0">
                <a:solidFill>
                  <a:schemeClr val="tx1"/>
                </a:solidFill>
              </a:rPr>
              <a:t>Number as text</a:t>
            </a:r>
            <a:endParaRPr lang="en-US" sz="1800" dirty="0"/>
          </a:p>
          <a:p>
            <a:pPr algn="ctr" indent="0" marL="0">
              <a:buNone/>
            </a:pPr>
            <a:r>
              <a:rPr lang="en-US" sz="1800" dirty="0">
                <a:solidFill>
                  <a:schemeClr val="accent1"/>
                </a:solidFill>
              </a:rPr>
              <a:t>schema rejects</a:t>
            </a:r>
            <a:endParaRPr lang="en-US" sz="1800" dirty="0"/>
          </a:p>
        </p:txBody>
      </p:sp>
      <p:sp>
        <p:nvSpPr>
          <p:cNvPr id="9" name="card427"/>
          <p:cNvSpPr txBox="1"/>
          <p:nvPr/>
        </p:nvSpPr>
        <p:spPr>
          <a:xfrm>
            <a:off x="8942832" y="4434840"/>
            <a:ext cx="2651760" cy="1691640"/>
          </a:xfrm>
          <a:prstGeom prst="roundRect">
            <a:avLst>
              <a:gd name="adj" fmla="val 4324"/>
            </a:avLst>
          </a:prstGeom>
          <a:solidFill>
            <a:schemeClr val="bg2"/>
          </a:solidFill>
          <a:ln w="19050">
            <a:solidFill>
              <a:srgbClr val="C9D3D7"/>
            </a:solidFill>
            <a:prstDash val="solid"/>
          </a:ln>
        </p:spPr>
        <p:txBody>
          <a:bodyPr wrap="square" lIns="127000" tIns="127000" rIns="127000" bIns="127000" rtlCol="0" anchor="ctr"/>
          <a:lstStyle/>
          <a:p>
            <a:pPr algn="ctr" indent="0" marL="0">
              <a:buNone/>
            </a:pPr>
            <a:r>
              <a:rPr lang="en-US" sz="2000" b="1" dirty="0">
                <a:solidFill>
                  <a:schemeClr val="tx1"/>
                </a:solidFill>
              </a:rPr>
              <a:t>Source edge removed</a:t>
            </a:r>
            <a:endParaRPr lang="en-US" sz="1800" dirty="0"/>
          </a:p>
          <a:p>
            <a:pPr algn="ctr" indent="0" marL="0">
              <a:buNone/>
            </a:pPr>
            <a:r>
              <a:rPr lang="en-US" sz="1800" dirty="0">
                <a:solidFill>
                  <a:schemeClr val="accent1"/>
                </a:solidFill>
              </a:rPr>
              <a:t>SHACL rejects</a:t>
            </a:r>
            <a:endParaRPr lang="en-US" sz="1800" dirty="0"/>
          </a:p>
        </p:txBody>
      </p:sp>
      <p:sp>
        <p:nvSpPr>
          <p:cNvPr id="11" name="badge30_P"/>
          <p:cNvSpPr txBox="1"/>
          <p:nvPr/>
        </p:nvSpPr>
        <p:spPr>
          <a:xfrm>
            <a:off x="274320"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P</a:t>
            </a:r>
            <a:endParaRPr lang="en-US" sz="1100" dirty="0"/>
          </a:p>
        </p:txBody>
      </p:sp>
      <p:sp>
        <p:nvSpPr>
          <p:cNvPr id="12" name="badge30_R"/>
          <p:cNvSpPr txBox="1"/>
          <p:nvPr/>
        </p:nvSpPr>
        <p:spPr>
          <a:xfrm>
            <a:off x="576072"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R</a:t>
            </a:r>
            <a:endParaRPr lang="en-US" sz="1100" dirty="0"/>
          </a:p>
        </p:txBody>
      </p:sp>
      <p:sp>
        <p:nvSpPr>
          <p:cNvPr id="13" name="data30"/>
          <p:cNvSpPr txBox="1"/>
          <p:nvPr/>
        </p:nvSpPr>
        <p:spPr>
          <a:xfrm>
            <a:off x="2478024" y="6473952"/>
            <a:ext cx="8677656" cy="301752"/>
          </a:xfrm>
          <a:prstGeom prst="rect">
            <a:avLst/>
          </a:prstGeom>
          <a:noFill/>
          <a:ln/>
        </p:spPr>
        <p:txBody>
          <a:bodyPr wrap="square" lIns="0" tIns="0" rIns="0" bIns="0" rtlCol="0" anchor="ctr"/>
          <a:lstStyle/>
          <a:p>
            <a:pPr indent="0" marL="0">
              <a:buNone/>
            </a:pPr>
            <a:r>
              <a:rPr lang="en-US" sz="1100" dirty="0">
                <a:solidFill>
                  <a:srgbClr val="5E7A88"/>
                </a:solidFill>
              </a:rPr>
              <a:t>Data: ds000030 (UCLA CNP), OpenNeuro, commit 4070b6e</a:t>
            </a:r>
            <a:endParaRPr lang="en-US" sz="1100" dirty="0"/>
          </a:p>
        </p:txBody>
      </p:sp>
      <p:sp>
        <p:nvSpPr>
          <p:cNvPr id="14" name="badge30_check"/>
          <p:cNvSpPr txBox="1"/>
          <p:nvPr/>
        </p:nvSpPr>
        <p:spPr>
          <a:xfrm>
            <a:off x="932688" y="6473952"/>
            <a:ext cx="1408176" cy="301752"/>
          </a:xfrm>
          <a:prstGeom prst="rect">
            <a:avLst/>
          </a:prstGeom>
          <a:noFill/>
          <a:ln/>
        </p:spPr>
        <p:txBody>
          <a:bodyPr wrap="square" lIns="0" tIns="0" rIns="0" bIns="0" rtlCol="0" anchor="ctr"/>
          <a:lstStyle/>
          <a:p>
            <a:pPr indent="0" marL="0">
              <a:buNone/>
            </a:pPr>
            <a:r>
              <a:rPr lang="en-US" sz="1100" i="1" dirty="0">
                <a:solidFill>
                  <a:srgbClr val="5E7A88"/>
                </a:solidFill>
              </a:rPr>
              <a:t>re-run · validated</a:t>
            </a:r>
            <a:endParaRPr lang="en-US" sz="11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692640" cy="731520"/>
          </a:xfrm>
          <a:prstGeom prst="rect">
            <a:avLst/>
          </a:prstGeom>
          <a:noFill/>
          <a:ln/>
        </p:spPr>
        <p:txBody>
          <a:bodyPr wrap="square" rtlCol="0" anchor="ctr"/>
          <a:lstStyle/>
          <a:p>
            <a:pPr algn="l" indent="0" marL="0">
              <a:buNone/>
            </a:pPr>
            <a:r>
              <a:rPr lang="en-US" sz="2600" b="1" dirty="0">
                <a:solidFill>
                  <a:schemeClr val="tx2"/>
                </a:solidFill>
              </a:rPr>
              <a:t>Graph, search and Brain Researcher: a small comparison</a:t>
            </a:r>
            <a:endParaRPr lang="en-US" sz="26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3383280"/>
                <a:gridCol w="3657600"/>
                <a:gridCol w="4023360"/>
              </a:tblGrid>
              <a:tr h="658368">
                <a:tc>
                  <a:txBody>
                    <a:bodyPr/>
                    <a:lstStyle/>
                    <a:p>
                      <a:pPr indent="0" marL="0">
                        <a:buNone/>
                      </a:pPr>
                      <a:r>
                        <a:rPr lang="en-US" sz="1600" b="1" dirty="0">
                          <a:solidFill>
                            <a:schemeClr val="bg1"/>
                          </a:solidFill>
                        </a:rPr>
                        <a:t>Question</a:t>
                      </a:r>
                      <a:endParaRPr lang="en-US" sz="16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accent1"/>
                    </a:solidFill>
                  </a:tcPr>
                </a:tc>
                <a:tc>
                  <a:txBody>
                    <a:bodyPr/>
                    <a:lstStyle/>
                    <a:p>
                      <a:pPr indent="0" marL="0">
                        <a:buNone/>
                      </a:pPr>
                      <a:r>
                        <a:rPr lang="en-US" sz="1600" b="1" dirty="0">
                          <a:solidFill>
                            <a:schemeClr val="bg1"/>
                          </a:solidFill>
                        </a:rPr>
                        <a:t>Our graph (gold)</a:t>
                      </a:r>
                      <a:endParaRPr lang="en-US" sz="16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accent1"/>
                    </a:solidFill>
                  </a:tcPr>
                </a:tc>
                <a:tc>
                  <a:txBody>
                    <a:bodyPr/>
                    <a:lstStyle/>
                    <a:p>
                      <a:pPr indent="0" marL="0">
                        <a:buNone/>
                      </a:pPr>
                      <a:r>
                        <a:rPr lang="en-US" sz="1600" b="1" dirty="0">
                          <a:solidFill>
                            <a:schemeClr val="bg1"/>
                          </a:solidFill>
                        </a:rPr>
                        <a:t>Brain Researcher (MCP tools only)</a:t>
                      </a:r>
                      <a:endParaRPr lang="en-US" sz="16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accent1"/>
                    </a:solidFill>
                  </a:tcPr>
                </a:tc>
              </a:tr>
              <a:tr h="658368">
                <a:tc>
                  <a:txBody>
                    <a:bodyPr/>
                    <a:lstStyle/>
                    <a:p>
                      <a:pPr indent="0" marL="0">
                        <a:buNone/>
                      </a:pPr>
                      <a:r>
                        <a:rPr lang="en-US" sz="1600" dirty="0">
                          <a:solidFill>
                            <a:schemeClr val="tx1"/>
                          </a:solidFill>
                        </a:rPr>
                        <a:t>Analyst B's QC cohort</a:t>
                      </a:r>
                      <a:endParaRPr lang="en-US" sz="16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767 (348 ASD, 419 TD)</a:t>
                      </a:r>
                      <a:endParaRPr lang="en-US" sz="16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Not answerable: one ABIDE node, 2,226 subjects</a:t>
                      </a:r>
                      <a:endParaRPr lang="en-US" sz="16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r h="658368">
                <a:tc>
                  <a:txBody>
                    <a:bodyPr/>
                    <a:lstStyle/>
                    <a:p>
                      <a:pPr indent="0" marL="0">
                        <a:buNone/>
                      </a:pPr>
                      <a:r>
                        <a:rPr lang="en-US" sz="1600" dirty="0">
                          <a:solidFill>
                            <a:schemeClr val="tx1"/>
                          </a:solidFill>
                        </a:rPr>
                        <a:t>A–B overlap; excluded by stricter QC</a:t>
                      </a:r>
                      <a:endParaRPr lang="en-US" sz="16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441 (A within B); 63 excluded</a:t>
                      </a:r>
                      <a:endParaRPr lang="en-US" sz="16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Not answerable: neither paper in its graph</a:t>
                      </a:r>
                      <a:endParaRPr lang="en-US" sz="16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r>
              <a:tr h="658368">
                <a:tc>
                  <a:txBody>
                    <a:bodyPr/>
                    <a:lstStyle/>
                    <a:p>
                      <a:pPr indent="0" marL="0">
                        <a:buNone/>
                      </a:pPr>
                      <a:r>
                        <a:rPr lang="en-US" sz="1600" dirty="0">
                          <a:solidFill>
                            <a:schemeClr val="tx1"/>
                          </a:solidFill>
                        </a:rPr>
                        <a:t>Trace one connectivity feature</a:t>
                      </a:r>
                      <a:endParaRPr lang="en-US" sz="16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Time series URL + hash, C-PAC settings, raw scan</a:t>
                      </a:r>
                      <a:endParaRPr lang="en-US" sz="16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Dataset level only: landing page, generic C-PAC node</a:t>
                      </a:r>
                      <a:endParaRPr lang="en-US" sz="16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r h="658368">
                <a:tc>
                  <a:txBody>
                    <a:bodyPr/>
                    <a:lstStyle/>
                    <a:p>
                      <a:pPr indent="0" marL="0">
                        <a:buNone/>
                      </a:pPr>
                      <a:r>
                        <a:rPr lang="en-US" sz="1600" dirty="0">
                          <a:solidFill>
                            <a:schemeClr val="tx1"/>
                          </a:solidFill>
                        </a:rPr>
                        <a:t>Results to re-check after QC change</a:t>
                      </a:r>
                      <a:endParaRPr lang="en-US" sz="16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91 flagged by traversal; 0 of 9 changed</a:t>
                      </a:r>
                      <a:endParaRPr lang="en-US" sz="16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Not answerable</a:t>
                      </a:r>
                      <a:endParaRPr lang="en-US" sz="16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r>
              <a:tr h="658368">
                <a:tc>
                  <a:txBody>
                    <a:bodyPr/>
                    <a:lstStyle/>
                    <a:p>
                      <a:pPr indent="0" marL="0">
                        <a:buNone/>
                      </a:pPr>
                      <a:r>
                        <a:rPr lang="en-US" sz="1600" dirty="0">
                          <a:solidFill>
                            <a:schemeClr val="tx1"/>
                          </a:solidFill>
                        </a:rPr>
                        <a:t>Does A's effect hold at held-out sites?</a:t>
                      </a:r>
                      <a:endParaRPr lang="en-US" sz="16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Not established (pooled d −0.08)</a:t>
                      </a:r>
                      <a:endParaRPr lang="en-US" sz="16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Not answerable: no matching nodes</a:t>
                      </a:r>
                      <a:endParaRPr lang="en-US" sz="16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r h="658368">
                <a:tc>
                  <a:txBody>
                    <a:bodyPr/>
                    <a:lstStyle/>
                    <a:p>
                      <a:pPr indent="0" marL="0">
                        <a:buNone/>
                      </a:pPr>
                      <a:r>
                        <a:rPr lang="en-US" sz="1600" dirty="0">
                          <a:solidFill>
                            <a:schemeClr val="tx1"/>
                          </a:solidFill>
                        </a:rPr>
                        <a:t>Who reviewed what, on what evidence?</a:t>
                      </a:r>
                      <a:endParaRPr lang="en-US" sz="16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Six attributed assessments</a:t>
                      </a:r>
                      <a:endParaRPr lang="en-US" sz="16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Not answerable</a:t>
                      </a:r>
                      <a:endParaRPr lang="en-US" sz="16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r>
            </a:tbl>
          </a:graphicData>
        </a:graphic>
      </p:graphicFrame>
      <p:sp>
        <p:nvSpPr>
          <p:cNvPr id="5" name="badge31_M"/>
          <p:cNvSpPr txBox="1"/>
          <p:nvPr/>
        </p:nvSpPr>
        <p:spPr>
          <a:xfrm>
            <a:off x="274320"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M</a:t>
            </a:r>
            <a:endParaRPr lang="en-US" sz="1100" dirty="0"/>
          </a:p>
        </p:txBody>
      </p:sp>
      <p:sp>
        <p:nvSpPr>
          <p:cNvPr id="6" name="badge31_A"/>
          <p:cNvSpPr txBox="1"/>
          <p:nvPr/>
        </p:nvSpPr>
        <p:spPr>
          <a:xfrm>
            <a:off x="576072"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A</a:t>
            </a:r>
            <a:endParaRPr lang="en-US" sz="1100" dirty="0"/>
          </a:p>
        </p:txBody>
      </p:sp>
      <p:sp>
        <p:nvSpPr>
          <p:cNvPr id="7" name="data31"/>
          <p:cNvSpPr txBox="1"/>
          <p:nvPr/>
        </p:nvSpPr>
        <p:spPr>
          <a:xfrm>
            <a:off x="1746504" y="6473952"/>
            <a:ext cx="9409176" cy="301752"/>
          </a:xfrm>
          <a:prstGeom prst="rect">
            <a:avLst/>
          </a:prstGeom>
          <a:noFill/>
          <a:ln/>
        </p:spPr>
        <p:txBody>
          <a:bodyPr wrap="square" lIns="0" tIns="0" rIns="0" bIns="0" rtlCol="0" anchor="ctr"/>
          <a:lstStyle/>
          <a:p>
            <a:pPr indent="0" marL="0">
              <a:buNone/>
            </a:pPr>
            <a:r>
              <a:rPr lang="en-US" sz="1100" dirty="0">
                <a:solidFill>
                  <a:srgbClr val="5E7A88"/>
                </a:solidFill>
              </a:rPr>
              <a:t>Data: ABIDE I (ABIDE Preprocessed, C-PAC); Brain Researcher KG</a:t>
            </a:r>
            <a:endParaRPr lang="en-US" sz="1100" dirty="0"/>
          </a:p>
        </p:txBody>
      </p:sp>
      <p:sp>
        <p:nvSpPr>
          <p:cNvPr id="8" name="badge31_check"/>
          <p:cNvSpPr txBox="1"/>
          <p:nvPr/>
        </p:nvSpPr>
        <p:spPr>
          <a:xfrm>
            <a:off x="932688" y="6473952"/>
            <a:ext cx="676656" cy="301752"/>
          </a:xfrm>
          <a:prstGeom prst="rect">
            <a:avLst/>
          </a:prstGeom>
          <a:noFill/>
          <a:ln/>
        </p:spPr>
        <p:txBody>
          <a:bodyPr wrap="square" lIns="0" tIns="0" rIns="0" bIns="0" rtlCol="0" anchor="ctr"/>
          <a:lstStyle/>
          <a:p>
            <a:pPr indent="0" marL="0">
              <a:buNone/>
            </a:pPr>
            <a:r>
              <a:rPr lang="en-US" sz="1100" i="1" dirty="0">
                <a:solidFill>
                  <a:srgbClr val="5E7A88"/>
                </a:solidFill>
              </a:rPr>
              <a:t>reviewed</a:t>
            </a:r>
            <a:endParaRPr lang="en-US" sz="11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692640" cy="731520"/>
          </a:xfrm>
          <a:prstGeom prst="rect">
            <a:avLst/>
          </a:prstGeom>
          <a:noFill/>
          <a:ln/>
        </p:spPr>
        <p:txBody>
          <a:bodyPr wrap="square" rtlCol="0" anchor="ctr"/>
          <a:lstStyle/>
          <a:p>
            <a:pPr algn="l" indent="0" marL="0">
              <a:buNone/>
            </a:pPr>
            <a:r>
              <a:rPr lang="en-US" sz="2600" b="1" dirty="0">
                <a:solidFill>
                  <a:schemeClr val="tx2"/>
                </a:solidFill>
              </a:rPr>
              <a:t>Scope of the ds000030 extraction</a:t>
            </a:r>
            <a:endParaRPr lang="en-US" sz="26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3200400"/>
                <a:gridCol w="7863840"/>
              </a:tblGrid>
              <a:tr h="566928">
                <a:tc>
                  <a:txBody>
                    <a:bodyPr/>
                    <a:lstStyle/>
                    <a:p>
                      <a:pPr indent="0" marL="0">
                        <a:buNone/>
                      </a:pPr>
                      <a:r>
                        <a:rPr lang="en-US" sz="1800" b="1" dirty="0">
                          <a:solidFill>
                            <a:schemeClr val="bg1"/>
                          </a:solidFill>
                        </a:rPr>
                        <a:t>Layer</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accent1"/>
                    </a:solidFill>
                  </a:tcPr>
                </a:tc>
                <a:tc>
                  <a:txBody>
                    <a:bodyPr/>
                    <a:lstStyle/>
                    <a:p>
                      <a:pPr indent="0" marL="0">
                        <a:buNone/>
                      </a:pPr>
                      <a:r>
                        <a:rPr lang="en-US" sz="1800" b="1" dirty="0">
                          <a:solidFill>
                            <a:schemeClr val="bg1"/>
                          </a:solidFill>
                        </a:rPr>
                        <a:t>Completed work</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accent1"/>
                    </a:solidFill>
                  </a:tcPr>
                </a:tc>
              </a:tr>
              <a:tr h="566928">
                <a:tc>
                  <a:txBody>
                    <a:bodyPr/>
                    <a:lstStyle/>
                    <a:p>
                      <a:pPr indent="0" marL="0">
                        <a:buNone/>
                      </a:pPr>
                      <a:r>
                        <a:rPr lang="en-US" sz="1800" dirty="0">
                          <a:solidFill>
                            <a:schemeClr val="tx1"/>
                          </a:solidFill>
                        </a:rPr>
                        <a:t>Phenotype tables</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52 tables, 1,983 columns, 272 participants</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r h="566928">
                <a:tc>
                  <a:txBody>
                    <a:bodyPr/>
                    <a:lstStyle/>
                    <a:p>
                      <a:pPr indent="0" marL="0">
                        <a:buNone/>
                      </a:pPr>
                      <a:r>
                        <a:rPr lang="en-US" sz="1800" dirty="0">
                          <a:solidFill>
                            <a:schemeClr val="tx1"/>
                          </a:solidFill>
                        </a:rPr>
                        <a:t>Observed / missing cells</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411,584 values / 127,792 missing cells</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r>
              <a:tr h="566928">
                <a:tc>
                  <a:txBody>
                    <a:bodyPr/>
                    <a:lstStyle/>
                    <a:p>
                      <a:pPr indent="0" marL="0">
                        <a:buNone/>
                      </a:pPr>
                      <a:r>
                        <a:rPr lang="en-US" sz="1800" dirty="0">
                          <a:solidFill>
                            <a:schemeClr val="tx1"/>
                          </a:solidFill>
                        </a:rPr>
                        <a:t>MRI inventory</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2,531 file pointers, plus selected metadata</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r h="566928">
                <a:tc>
                  <a:txBody>
                    <a:bodyPr/>
                    <a:lstStyle/>
                    <a:p>
                      <a:pPr indent="0" marL="0">
                        <a:buNone/>
                      </a:pPr>
                      <a:r>
                        <a:rPr lang="en-US" sz="1800" dirty="0">
                          <a:solidFill>
                            <a:schemeClr val="tx1"/>
                          </a:solidFill>
                        </a:rPr>
                        <a:t>Papers</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Three related papers, selected claims and methods</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r>
              <a:tr h="566928">
                <a:tc>
                  <a:txBody>
                    <a:bodyPr/>
                    <a:lstStyle/>
                    <a:p>
                      <a:pPr indent="0" marL="0">
                        <a:buNone/>
                      </a:pPr>
                      <a:r>
                        <a:rPr lang="en-US" sz="1800" dirty="0">
                          <a:solidFill>
                            <a:schemeClr val="tx1"/>
                          </a:solidFill>
                        </a:rPr>
                        <a:t>Graph size</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834,327 NIDM triples before the claim bridge</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bl>
          </a:graphicData>
        </a:graphic>
      </p:graphicFrame>
      <p:sp>
        <p:nvSpPr>
          <p:cNvPr id="5" name="badge32_P"/>
          <p:cNvSpPr txBox="1"/>
          <p:nvPr/>
        </p:nvSpPr>
        <p:spPr>
          <a:xfrm>
            <a:off x="274320"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P</a:t>
            </a:r>
            <a:endParaRPr lang="en-US" sz="1100" dirty="0"/>
          </a:p>
        </p:txBody>
      </p:sp>
      <p:sp>
        <p:nvSpPr>
          <p:cNvPr id="6" name="data32"/>
          <p:cNvSpPr txBox="1"/>
          <p:nvPr/>
        </p:nvSpPr>
        <p:spPr>
          <a:xfrm>
            <a:off x="1298448" y="6473952"/>
            <a:ext cx="9857232" cy="301752"/>
          </a:xfrm>
          <a:prstGeom prst="rect">
            <a:avLst/>
          </a:prstGeom>
          <a:noFill/>
          <a:ln/>
        </p:spPr>
        <p:txBody>
          <a:bodyPr wrap="square" lIns="0" tIns="0" rIns="0" bIns="0" rtlCol="0" anchor="ctr"/>
          <a:lstStyle/>
          <a:p>
            <a:pPr indent="0" marL="0">
              <a:buNone/>
            </a:pPr>
            <a:r>
              <a:rPr lang="en-US" sz="1100" dirty="0">
                <a:solidFill>
                  <a:srgbClr val="5E7A88"/>
                </a:solidFill>
              </a:rPr>
              <a:t>Data: ds000030 (UCLA CNP), OpenNeuro, commit 4070b6e</a:t>
            </a:r>
            <a:endParaRPr lang="en-US" sz="1100" dirty="0"/>
          </a:p>
        </p:txBody>
      </p:sp>
      <p:sp>
        <p:nvSpPr>
          <p:cNvPr id="7" name="badge32_check"/>
          <p:cNvSpPr txBox="1"/>
          <p:nvPr/>
        </p:nvSpPr>
        <p:spPr>
          <a:xfrm>
            <a:off x="630936" y="6473952"/>
            <a:ext cx="530352" cy="301752"/>
          </a:xfrm>
          <a:prstGeom prst="rect">
            <a:avLst/>
          </a:prstGeom>
          <a:noFill/>
          <a:ln/>
        </p:spPr>
        <p:txBody>
          <a:bodyPr wrap="square" lIns="0" tIns="0" rIns="0" bIns="0" rtlCol="0" anchor="ctr"/>
          <a:lstStyle/>
          <a:p>
            <a:pPr indent="0" marL="0">
              <a:buNone/>
            </a:pPr>
            <a:r>
              <a:rPr lang="en-US" sz="1100" i="1" dirty="0">
                <a:solidFill>
                  <a:srgbClr val="5E7A88"/>
                </a:solidFill>
              </a:rPr>
              <a:t>re-run</a:t>
            </a:r>
            <a:endParaRPr lang="en-US" sz="11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692640" cy="731520"/>
          </a:xfrm>
          <a:prstGeom prst="rect">
            <a:avLst/>
          </a:prstGeom>
          <a:noFill/>
          <a:ln/>
        </p:spPr>
        <p:txBody>
          <a:bodyPr wrap="square" rtlCol="0" anchor="ctr"/>
          <a:lstStyle/>
          <a:p>
            <a:pPr algn="l" indent="0" marL="0">
              <a:buNone/>
            </a:pPr>
            <a:r>
              <a:rPr lang="en-US" sz="2600" b="1" dirty="0">
                <a:solidFill>
                  <a:schemeClr val="tx2"/>
                </a:solidFill>
              </a:rPr>
              <a:t>NIDM and PROV roles for each record</a:t>
            </a:r>
            <a:endParaRPr lang="en-US" sz="26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4114800"/>
                <a:gridCol w="6949440"/>
              </a:tblGrid>
              <a:tr h="566928">
                <a:tc>
                  <a:txBody>
                    <a:bodyPr/>
                    <a:lstStyle/>
                    <a:p>
                      <a:pPr indent="0" marL="0">
                        <a:buNone/>
                      </a:pPr>
                      <a:r>
                        <a:rPr lang="en-US" sz="1800" b="1" dirty="0">
                          <a:solidFill>
                            <a:schemeClr val="bg1"/>
                          </a:solidFill>
                        </a:rPr>
                        <a:t>Record</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accent1"/>
                    </a:solidFill>
                  </a:tcPr>
                </a:tc>
                <a:tc>
                  <a:txBody>
                    <a:bodyPr/>
                    <a:lstStyle/>
                    <a:p>
                      <a:pPr indent="0" marL="0">
                        <a:buNone/>
                      </a:pPr>
                      <a:r>
                        <a:rPr lang="en-US" sz="1800" b="1" dirty="0">
                          <a:solidFill>
                            <a:schemeClr val="bg1"/>
                          </a:solidFill>
                        </a:rPr>
                        <a:t>NIDM / PROV representation</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accent1"/>
                    </a:solidFill>
                  </a:tcPr>
                </a:tc>
              </a:tr>
              <a:tr h="566928">
                <a:tc>
                  <a:txBody>
                    <a:bodyPr/>
                    <a:lstStyle/>
                    <a:p>
                      <a:pPr indent="0" marL="0">
                        <a:buNone/>
                      </a:pPr>
                      <a:r>
                        <a:rPr lang="en-US" sz="1800" dirty="0">
                          <a:solidFill>
                            <a:schemeClr val="tx1"/>
                          </a:solidFill>
                        </a:rPr>
                        <a:t>Participant and visit</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prov:Person and nidm:Session</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r h="566928">
                <a:tc>
                  <a:txBody>
                    <a:bodyPr/>
                    <a:lstStyle/>
                    <a:p>
                      <a:pPr indent="0" marL="0">
                        <a:buNone/>
                      </a:pPr>
                      <a:r>
                        <a:rPr lang="en-US" sz="1800" dirty="0">
                          <a:solidFill>
                            <a:schemeClr val="tx1"/>
                          </a:solidFill>
                        </a:rPr>
                        <a:t>Questionnaire or scan</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nidm:Acquisition activity</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r>
              <a:tr h="566928">
                <a:tc>
                  <a:txBody>
                    <a:bodyPr/>
                    <a:lstStyle/>
                    <a:p>
                      <a:pPr indent="0" marL="0">
                        <a:buNone/>
                      </a:pPr>
                      <a:r>
                        <a:rPr lang="en-US" sz="1800" dirty="0">
                          <a:solidFill>
                            <a:schemeClr val="tx1"/>
                          </a:solidFill>
                        </a:rPr>
                        <a:t>Variable definition and value</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nidm:DataElement on an AcquisitionObject</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r h="566928">
                <a:tc>
                  <a:txBody>
                    <a:bodyPr/>
                    <a:lstStyle/>
                    <a:p>
                      <a:pPr indent="0" marL="0">
                        <a:buNone/>
                      </a:pPr>
                      <a:r>
                        <a:rPr lang="en-US" sz="1800" dirty="0">
                          <a:solidFill>
                            <a:schemeClr val="tx1"/>
                          </a:solidFill>
                        </a:rPr>
                        <a:t>Processing and its output</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nidm:Derivative and DerivativeObject</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r>
            </a:tbl>
          </a:graphicData>
        </a:graphic>
      </p:graphicFrame>
      <p:sp>
        <p:nvSpPr>
          <p:cNvPr id="5" name="badge33_P"/>
          <p:cNvSpPr txBox="1"/>
          <p:nvPr/>
        </p:nvSpPr>
        <p:spPr>
          <a:xfrm>
            <a:off x="274320"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P</a:t>
            </a:r>
            <a:endParaRPr lang="en-US" sz="1100" dirty="0"/>
          </a:p>
        </p:txBody>
      </p:sp>
      <p:sp>
        <p:nvSpPr>
          <p:cNvPr id="6" name="badge33_R"/>
          <p:cNvSpPr txBox="1"/>
          <p:nvPr/>
        </p:nvSpPr>
        <p:spPr>
          <a:xfrm>
            <a:off x="576072"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R</a:t>
            </a:r>
            <a:endParaRPr lang="en-US" sz="1100" dirty="0"/>
          </a:p>
        </p:txBody>
      </p:sp>
      <p:sp>
        <p:nvSpPr>
          <p:cNvPr id="7" name="data33"/>
          <p:cNvSpPr txBox="1"/>
          <p:nvPr/>
        </p:nvSpPr>
        <p:spPr>
          <a:xfrm>
            <a:off x="1600200" y="6473952"/>
            <a:ext cx="9555480" cy="301752"/>
          </a:xfrm>
          <a:prstGeom prst="rect">
            <a:avLst/>
          </a:prstGeom>
          <a:noFill/>
          <a:ln/>
        </p:spPr>
        <p:txBody>
          <a:bodyPr wrap="square" lIns="0" tIns="0" rIns="0" bIns="0" rtlCol="0" anchor="ctr"/>
          <a:lstStyle/>
          <a:p>
            <a:pPr indent="0" marL="0">
              <a:buNone/>
            </a:pPr>
            <a:r>
              <a:rPr lang="en-US" sz="1100" dirty="0">
                <a:solidFill>
                  <a:srgbClr val="5E7A88"/>
                </a:solidFill>
              </a:rPr>
              <a:t>Data: ds000030 (UCLA CNP), OpenNeuro, commit 4070b6e</a:t>
            </a:r>
            <a:endParaRPr lang="en-US" sz="1100" dirty="0"/>
          </a:p>
        </p:txBody>
      </p:sp>
      <p:sp>
        <p:nvSpPr>
          <p:cNvPr id="8" name="badge33_check"/>
          <p:cNvSpPr txBox="1"/>
          <p:nvPr/>
        </p:nvSpPr>
        <p:spPr>
          <a:xfrm>
            <a:off x="932688" y="6473952"/>
            <a:ext cx="530352" cy="301752"/>
          </a:xfrm>
          <a:prstGeom prst="rect">
            <a:avLst/>
          </a:prstGeom>
          <a:noFill/>
          <a:ln/>
        </p:spPr>
        <p:txBody>
          <a:bodyPr wrap="square" lIns="0" tIns="0" rIns="0" bIns="0" rtlCol="0" anchor="ctr"/>
          <a:lstStyle/>
          <a:p>
            <a:pPr indent="0" marL="0">
              <a:buNone/>
            </a:pPr>
            <a:r>
              <a:rPr lang="en-US" sz="1100" i="1" dirty="0">
                <a:solidFill>
                  <a:srgbClr val="5E7A88"/>
                </a:solidFill>
              </a:rPr>
              <a:t>re-run</a:t>
            </a:r>
            <a:endParaRPr lang="en-US" sz="11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692640" cy="731520"/>
          </a:xfrm>
          <a:prstGeom prst="rect">
            <a:avLst/>
          </a:prstGeom>
          <a:noFill/>
          <a:ln/>
        </p:spPr>
        <p:txBody>
          <a:bodyPr wrap="square" rtlCol="0" anchor="ctr"/>
          <a:lstStyle/>
          <a:p>
            <a:pPr algn="l" indent="0" marL="0">
              <a:buNone/>
            </a:pPr>
            <a:r>
              <a:rPr lang="en-US" sz="2600" b="1" dirty="0">
                <a:solidFill>
                  <a:schemeClr val="tx2"/>
                </a:solidFill>
              </a:rPr>
              <a:t>Requirements for joining behaviour to image-derived measures</a:t>
            </a:r>
            <a:endParaRPr lang="en-US" sz="26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4114800"/>
                <a:gridCol w="6949440"/>
              </a:tblGrid>
              <a:tr h="566928">
                <a:tc>
                  <a:txBody>
                    <a:bodyPr/>
                    <a:lstStyle/>
                    <a:p>
                      <a:pPr indent="0" marL="0">
                        <a:buNone/>
                      </a:pPr>
                      <a:r>
                        <a:rPr lang="en-US" sz="1800" b="1" dirty="0">
                          <a:solidFill>
                            <a:schemeClr val="bg1"/>
                          </a:solidFill>
                        </a:rPr>
                        <a:t>Link required</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accent1"/>
                    </a:solidFill>
                  </a:tcPr>
                </a:tc>
                <a:tc>
                  <a:txBody>
                    <a:bodyPr/>
                    <a:lstStyle/>
                    <a:p>
                      <a:pPr indent="0" marL="0">
                        <a:buNone/>
                      </a:pPr>
                      <a:r>
                        <a:rPr lang="en-US" sz="1800" b="1" dirty="0">
                          <a:solidFill>
                            <a:schemeClr val="bg1"/>
                          </a:solidFill>
                        </a:rPr>
                        <a:t>State in ds000030</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accent1"/>
                    </a:solidFill>
                  </a:tcPr>
                </a:tc>
              </a:tr>
              <a:tr h="566928">
                <a:tc>
                  <a:txBody>
                    <a:bodyPr/>
                    <a:lstStyle/>
                    <a:p>
                      <a:pPr indent="0" marL="0">
                        <a:buNone/>
                      </a:pPr>
                      <a:r>
                        <a:rPr lang="en-US" sz="1800" dirty="0">
                          <a:solidFill>
                            <a:schemeClr val="tx1"/>
                          </a:solidFill>
                        </a:rPr>
                        <a:t>Same participant and visit</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Participant IDs available; time alignment unresolved</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r h="566928">
                <a:tc>
                  <a:txBody>
                    <a:bodyPr/>
                    <a:lstStyle/>
                    <a:p>
                      <a:pPr indent="0" marL="0">
                        <a:buNone/>
                      </a:pPr>
                      <a:r>
                        <a:rPr lang="en-US" sz="1800" dirty="0">
                          <a:solidFill>
                            <a:schemeClr val="tx1"/>
                          </a:solidFill>
                        </a:rPr>
                        <a:t>Imaging measure definition</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Region, atlas, laterality, units and method required</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r>
              <a:tr h="566928">
                <a:tc>
                  <a:txBody>
                    <a:bodyPr/>
                    <a:lstStyle/>
                    <a:p>
                      <a:pPr indent="0" marL="0">
                        <a:buNone/>
                      </a:pPr>
                      <a:r>
                        <a:rPr lang="en-US" sz="1800" dirty="0">
                          <a:solidFill>
                            <a:schemeClr val="tx1"/>
                          </a:solidFill>
                        </a:rPr>
                        <a:t>Derived value to original image</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Stats file, processing record and source image required</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r h="566928">
                <a:tc>
                  <a:txBody>
                    <a:bodyPr/>
                    <a:lstStyle/>
                    <a:p>
                      <a:pPr indent="0" marL="0">
                        <a:buNone/>
                      </a:pPr>
                      <a:r>
                        <a:rPr lang="en-US" sz="1800" dirty="0">
                          <a:solidFill>
                            <a:schemeClr val="tx1"/>
                          </a:solidFill>
                        </a:rPr>
                        <a:t>Example future join</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SSRT with thickness or regional volume</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r>
            </a:tbl>
          </a:graphicData>
        </a:graphic>
      </p:graphicFrame>
      <p:sp>
        <p:nvSpPr>
          <p:cNvPr id="5" name="badge34_P"/>
          <p:cNvSpPr txBox="1"/>
          <p:nvPr/>
        </p:nvSpPr>
        <p:spPr>
          <a:xfrm>
            <a:off x="274320"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P</a:t>
            </a:r>
            <a:endParaRPr lang="en-US" sz="1100" dirty="0"/>
          </a:p>
        </p:txBody>
      </p:sp>
      <p:sp>
        <p:nvSpPr>
          <p:cNvPr id="6" name="data34"/>
          <p:cNvSpPr txBox="1"/>
          <p:nvPr/>
        </p:nvSpPr>
        <p:spPr>
          <a:xfrm>
            <a:off x="1591056" y="6473952"/>
            <a:ext cx="9564624" cy="301752"/>
          </a:xfrm>
          <a:prstGeom prst="rect">
            <a:avLst/>
          </a:prstGeom>
          <a:noFill/>
          <a:ln/>
        </p:spPr>
        <p:txBody>
          <a:bodyPr wrap="square" lIns="0" tIns="0" rIns="0" bIns="0" rtlCol="0" anchor="ctr"/>
          <a:lstStyle/>
          <a:p>
            <a:pPr indent="0" marL="0">
              <a:buNone/>
            </a:pPr>
            <a:r>
              <a:rPr lang="en-US" sz="1100" dirty="0">
                <a:solidFill>
                  <a:srgbClr val="5E7A88"/>
                </a:solidFill>
              </a:rPr>
              <a:t>Data: ds000030 (UCLA CNP), OpenNeuro, commit 4070b6e</a:t>
            </a:r>
            <a:endParaRPr lang="en-US" sz="1100" dirty="0"/>
          </a:p>
        </p:txBody>
      </p:sp>
      <p:sp>
        <p:nvSpPr>
          <p:cNvPr id="7" name="badge34_check"/>
          <p:cNvSpPr txBox="1"/>
          <p:nvPr/>
        </p:nvSpPr>
        <p:spPr>
          <a:xfrm>
            <a:off x="630936" y="6473952"/>
            <a:ext cx="822960" cy="301752"/>
          </a:xfrm>
          <a:prstGeom prst="rect">
            <a:avLst/>
          </a:prstGeom>
          <a:noFill/>
          <a:ln/>
        </p:spPr>
        <p:txBody>
          <a:bodyPr wrap="square" lIns="0" tIns="0" rIns="0" bIns="0" rtlCol="0" anchor="ctr"/>
          <a:lstStyle/>
          <a:p>
            <a:pPr indent="0" marL="0">
              <a:buNone/>
            </a:pPr>
            <a:r>
              <a:rPr lang="en-US" sz="1100" i="1" dirty="0">
                <a:solidFill>
                  <a:srgbClr val="5E7A88"/>
                </a:solidFill>
              </a:rPr>
              <a:t>unverified</a:t>
            </a:r>
            <a:endParaRPr lang="en-US" sz="11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692640" cy="731520"/>
          </a:xfrm>
          <a:prstGeom prst="rect">
            <a:avLst/>
          </a:prstGeom>
          <a:noFill/>
          <a:ln/>
        </p:spPr>
        <p:txBody>
          <a:bodyPr wrap="square" rtlCol="0" anchor="ctr"/>
          <a:lstStyle/>
          <a:p>
            <a:pPr algn="l" indent="0" marL="0">
              <a:buNone/>
            </a:pPr>
            <a:r>
              <a:rPr lang="en-US" sz="2600" b="1" dirty="0">
                <a:solidFill>
                  <a:schemeClr val="tx2"/>
                </a:solidFill>
              </a:rPr>
              <a:t>Research questions and results of the three papers</a:t>
            </a:r>
            <a:endParaRPr lang="en-US" sz="26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3200400"/>
                <a:gridCol w="7863840"/>
              </a:tblGrid>
              <a:tr h="566928">
                <a:tc>
                  <a:txBody>
                    <a:bodyPr/>
                    <a:lstStyle/>
                    <a:p>
                      <a:pPr indent="0" marL="0">
                        <a:buNone/>
                      </a:pPr>
                      <a:r>
                        <a:rPr lang="en-US" sz="1800" b="1" dirty="0">
                          <a:solidFill>
                            <a:schemeClr val="bg1"/>
                          </a:solidFill>
                        </a:rPr>
                        <a:t>Paper / result</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accent1"/>
                    </a:solidFill>
                  </a:tcPr>
                </a:tc>
                <a:tc>
                  <a:txBody>
                    <a:bodyPr/>
                    <a:lstStyle/>
                    <a:p>
                      <a:pPr indent="0" marL="0">
                        <a:buNone/>
                      </a:pPr>
                      <a:r>
                        <a:rPr lang="en-US" sz="1800" b="1" dirty="0">
                          <a:solidFill>
                            <a:schemeClr val="bg1"/>
                          </a:solidFill>
                        </a:rPr>
                        <a:t>Question, result and scope</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accent1"/>
                    </a:solidFill>
                  </a:tcPr>
                </a:tc>
              </a:tr>
              <a:tr h="566928">
                <a:tc>
                  <a:txBody>
                    <a:bodyPr/>
                    <a:lstStyle/>
                    <a:p>
                      <a:pPr indent="0" marL="0">
                        <a:buNone/>
                      </a:pPr>
                      <a:r>
                        <a:rPr lang="en-US" sz="1800" dirty="0">
                          <a:solidFill>
                            <a:schemeClr val="tx1"/>
                          </a:solidFill>
                        </a:rPr>
                        <a:t>Poldrack 2016</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Data descriptor: enables dimensional study across diagnoses</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r h="566928">
                <a:tc>
                  <a:txBody>
                    <a:bodyPr/>
                    <a:lstStyle/>
                    <a:p>
                      <a:pPr indent="0" marL="0">
                        <a:buNone/>
                      </a:pPr>
                      <a:r>
                        <a:rPr lang="en-US" sz="1800" dirty="0">
                          <a:solidFill>
                            <a:schemeClr val="tx1"/>
                          </a:solidFill>
                        </a:rPr>
                        <a:t>Gorgolewski 2017</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Reusable preprocessing and QC outputs</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r>
              <a:tr h="566928">
                <a:tc>
                  <a:txBody>
                    <a:bodyPr/>
                    <a:lstStyle/>
                    <a:p>
                      <a:pPr indent="0" marL="0">
                        <a:buNone/>
                      </a:pPr>
                      <a:r>
                        <a:rPr lang="en-US" sz="1800" dirty="0">
                          <a:solidFill>
                            <a:schemeClr val="tx1"/>
                          </a:solidFill>
                        </a:rPr>
                        <a:t>Kim 2023</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Which direction of connectivity change is associated with schizophrenia; cross-dataset transfer</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r h="566928">
                <a:tc>
                  <a:txBody>
                    <a:bodyPr/>
                    <a:lstStyle/>
                    <a:p>
                      <a:pPr indent="0" marL="0">
                        <a:buNone/>
                      </a:pPr>
                      <a:r>
                        <a:rPr lang="en-US" sz="1800" dirty="0">
                          <a:solidFill>
                            <a:schemeClr val="tx1"/>
                          </a:solidFill>
                        </a:rPr>
                        <a:t>Kim 70.2%</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UCLA, both directions, leave-one-out</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r>
              <a:tr h="566928">
                <a:tc>
                  <a:txBody>
                    <a:bodyPr/>
                    <a:lstStyle/>
                    <a:p>
                      <a:pPr indent="0" marL="0">
                        <a:buNone/>
                      </a:pPr>
                      <a:r>
                        <a:rPr lang="en-US" sz="1800" dirty="0">
                          <a:solidFill>
                            <a:schemeClr val="tx1"/>
                          </a:solidFill>
                        </a:rPr>
                        <a:t>Kim 61.5%</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Train UCLA, test COBRE, decreased connectivity</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r h="566928">
                <a:tc>
                  <a:txBody>
                    <a:bodyPr/>
                    <a:lstStyle/>
                    <a:p>
                      <a:pPr indent="0" marL="0">
                        <a:buNone/>
                      </a:pPr>
                      <a:r>
                        <a:rPr lang="en-US" sz="1800" dirty="0">
                          <a:solidFill>
                            <a:schemeClr val="tx1"/>
                          </a:solidFill>
                        </a:rPr>
                        <a:t>Kim reverse transfer</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No above-chance predictions reported</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r>
            </a:tbl>
          </a:graphicData>
        </a:graphic>
      </p:graphicFrame>
      <p:sp>
        <p:nvSpPr>
          <p:cNvPr id="5" name="badge35_P"/>
          <p:cNvSpPr txBox="1"/>
          <p:nvPr/>
        </p:nvSpPr>
        <p:spPr>
          <a:xfrm>
            <a:off x="274320"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P</a:t>
            </a:r>
            <a:endParaRPr lang="en-US" sz="1100" dirty="0"/>
          </a:p>
        </p:txBody>
      </p:sp>
      <p:sp>
        <p:nvSpPr>
          <p:cNvPr id="6" name="badge35_R"/>
          <p:cNvSpPr txBox="1"/>
          <p:nvPr/>
        </p:nvSpPr>
        <p:spPr>
          <a:xfrm>
            <a:off x="576072"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R</a:t>
            </a:r>
            <a:endParaRPr lang="en-US" sz="1100" dirty="0"/>
          </a:p>
        </p:txBody>
      </p:sp>
      <p:sp>
        <p:nvSpPr>
          <p:cNvPr id="7" name="data35"/>
          <p:cNvSpPr txBox="1"/>
          <p:nvPr/>
        </p:nvSpPr>
        <p:spPr>
          <a:xfrm>
            <a:off x="1819656" y="6473952"/>
            <a:ext cx="9336024" cy="301752"/>
          </a:xfrm>
          <a:prstGeom prst="rect">
            <a:avLst/>
          </a:prstGeom>
          <a:noFill/>
          <a:ln/>
        </p:spPr>
        <p:txBody>
          <a:bodyPr wrap="square" lIns="0" tIns="0" rIns="0" bIns="0" rtlCol="0" anchor="ctr"/>
          <a:lstStyle/>
          <a:p>
            <a:pPr indent="0" marL="0">
              <a:buNone/>
            </a:pPr>
            <a:r>
              <a:rPr lang="en-US" sz="1100" dirty="0">
                <a:solidFill>
                  <a:srgbClr val="5E7A88"/>
                </a:solidFill>
              </a:rPr>
              <a:t>Data: ds000030 (UCLA CNP, commit 4070b6e); Poldrack 2016, Gorgolewski 2017, Kim 2023</a:t>
            </a:r>
            <a:endParaRPr lang="en-US" sz="1100" dirty="0"/>
          </a:p>
        </p:txBody>
      </p:sp>
      <p:sp>
        <p:nvSpPr>
          <p:cNvPr id="8" name="badge35_check"/>
          <p:cNvSpPr txBox="1"/>
          <p:nvPr/>
        </p:nvSpPr>
        <p:spPr>
          <a:xfrm>
            <a:off x="932688" y="6473952"/>
            <a:ext cx="749808" cy="301752"/>
          </a:xfrm>
          <a:prstGeom prst="rect">
            <a:avLst/>
          </a:prstGeom>
          <a:noFill/>
          <a:ln/>
        </p:spPr>
        <p:txBody>
          <a:bodyPr wrap="square" lIns="0" tIns="0" rIns="0" bIns="0" rtlCol="0" anchor="ctr"/>
          <a:lstStyle/>
          <a:p>
            <a:pPr indent="0" marL="0">
              <a:buNone/>
            </a:pPr>
            <a:r>
              <a:rPr lang="en-US" sz="1100" i="1" dirty="0">
                <a:solidFill>
                  <a:srgbClr val="5E7A88"/>
                </a:solidFill>
              </a:rPr>
              <a:t>validated</a:t>
            </a:r>
            <a:endParaRPr lang="en-US" sz="11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692640" cy="731520"/>
          </a:xfrm>
          <a:prstGeom prst="rect">
            <a:avLst/>
          </a:prstGeom>
          <a:noFill/>
          <a:ln/>
        </p:spPr>
        <p:txBody>
          <a:bodyPr wrap="square" rtlCol="0" anchor="ctr"/>
          <a:lstStyle/>
          <a:p>
            <a:pPr algn="l" indent="0" marL="0">
              <a:buNone/>
            </a:pPr>
            <a:r>
              <a:rPr lang="en-US" sz="2600" b="1" dirty="0">
                <a:solidFill>
                  <a:schemeClr val="tx2"/>
                </a:solidFill>
              </a:rPr>
              <a:t>StructSense extraction pilot</a:t>
            </a:r>
            <a:endParaRPr lang="en-US" sz="26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3200400"/>
                <a:gridCol w="7863840"/>
              </a:tblGrid>
              <a:tr h="566928">
                <a:tc>
                  <a:txBody>
                    <a:bodyPr/>
                    <a:lstStyle/>
                    <a:p>
                      <a:pPr indent="0" marL="0">
                        <a:buNone/>
                      </a:pPr>
                      <a:r>
                        <a:rPr lang="en-US" sz="1800" b="1" dirty="0">
                          <a:solidFill>
                            <a:schemeClr val="bg1"/>
                          </a:solidFill>
                        </a:rPr>
                        <a:t>Stage</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accent1"/>
                    </a:solidFill>
                  </a:tcPr>
                </a:tc>
                <a:tc>
                  <a:txBody>
                    <a:bodyPr/>
                    <a:lstStyle/>
                    <a:p>
                      <a:pPr indent="0" marL="0">
                        <a:buNone/>
                      </a:pPr>
                      <a:r>
                        <a:rPr lang="en-US" sz="1800" b="1" dirty="0">
                          <a:solidFill>
                            <a:schemeClr val="bg1"/>
                          </a:solidFill>
                        </a:rPr>
                        <a:t>What actually ran</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accent1"/>
                    </a:solidFill>
                  </a:tcPr>
                </a:tc>
              </a:tr>
              <a:tr h="566928">
                <a:tc>
                  <a:txBody>
                    <a:bodyPr/>
                    <a:lstStyle/>
                    <a:p>
                      <a:pPr indent="0" marL="0">
                        <a:buNone/>
                      </a:pPr>
                      <a:r>
                        <a:rPr lang="en-US" sz="1800" dirty="0">
                          <a:solidFill>
                            <a:schemeClr val="tx1"/>
                          </a:solidFill>
                        </a:rPr>
                        <a:t>Contract</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Frozen schema for claims, scope and evidence</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r h="566928">
                <a:tc>
                  <a:txBody>
                    <a:bodyPr/>
                    <a:lstStyle/>
                    <a:p>
                      <a:pPr indent="0" marL="0">
                        <a:buNone/>
                      </a:pPr>
                      <a:r>
                        <a:rPr lang="en-US" sz="1800" dirty="0">
                          <a:solidFill>
                            <a:schemeClr val="tx1"/>
                          </a:solidFill>
                        </a:rPr>
                        <a:t>Extraction</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Host-model extraction of six bounded records</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r>
              <a:tr h="566928">
                <a:tc>
                  <a:txBody>
                    <a:bodyPr/>
                    <a:lstStyle/>
                    <a:p>
                      <a:pPr indent="0" marL="0">
                        <a:buNone/>
                      </a:pPr>
                      <a:r>
                        <a:rPr lang="en-US" sz="1800" dirty="0">
                          <a:solidFill>
                            <a:schemeClr val="tx1"/>
                          </a:solidFill>
                        </a:rPr>
                        <a:t>Alignment and review</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Explicit vocabulary lookup and source review</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r h="566928">
                <a:tc>
                  <a:txBody>
                    <a:bodyPr/>
                    <a:lstStyle/>
                    <a:p>
                      <a:pPr indent="0" marL="0">
                        <a:buNone/>
                      </a:pPr>
                      <a:r>
                        <a:rPr lang="en-US" sz="1800" dirty="0">
                          <a:solidFill>
                            <a:schemeClr val="tx1"/>
                          </a:solidFill>
                        </a:rPr>
                        <a:t>Validation</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Upstream span code, Ajv schema, RDF checks</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r>
              <a:tr h="566928">
                <a:tc>
                  <a:txBody>
                    <a:bodyPr/>
                    <a:lstStyle/>
                    <a:p>
                      <a:pPr indent="0" marL="0">
                        <a:buNone/>
                      </a:pPr>
                      <a:r>
                        <a:rPr lang="en-US" sz="1800" dirty="0">
                          <a:solidFill>
                            <a:schemeClr val="tx1"/>
                          </a:solidFill>
                        </a:rPr>
                        <a:t>Example record</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Statement, scope, exact span + hash, open gap</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bl>
          </a:graphicData>
        </a:graphic>
      </p:graphicFrame>
      <p:sp>
        <p:nvSpPr>
          <p:cNvPr id="5" name="badge36_P"/>
          <p:cNvSpPr txBox="1"/>
          <p:nvPr/>
        </p:nvSpPr>
        <p:spPr>
          <a:xfrm>
            <a:off x="274320"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P</a:t>
            </a:r>
            <a:endParaRPr lang="en-US" sz="1100" dirty="0"/>
          </a:p>
        </p:txBody>
      </p:sp>
      <p:sp>
        <p:nvSpPr>
          <p:cNvPr id="6" name="data36"/>
          <p:cNvSpPr txBox="1"/>
          <p:nvPr/>
        </p:nvSpPr>
        <p:spPr>
          <a:xfrm>
            <a:off x="1517904" y="6473952"/>
            <a:ext cx="9637776" cy="301752"/>
          </a:xfrm>
          <a:prstGeom prst="rect">
            <a:avLst/>
          </a:prstGeom>
          <a:noFill/>
          <a:ln/>
        </p:spPr>
        <p:txBody>
          <a:bodyPr wrap="square" lIns="0" tIns="0" rIns="0" bIns="0" rtlCol="0" anchor="ctr"/>
          <a:lstStyle/>
          <a:p>
            <a:pPr indent="0" marL="0">
              <a:buNone/>
            </a:pPr>
            <a:r>
              <a:rPr lang="en-US" sz="1100" dirty="0">
                <a:solidFill>
                  <a:srgbClr val="5E7A88"/>
                </a:solidFill>
              </a:rPr>
              <a:t>Data: ds000030 (UCLA CNP, commit 4070b6e); Gorgolewski 2017, Kim 2023</a:t>
            </a:r>
            <a:endParaRPr lang="en-US" sz="1100" dirty="0"/>
          </a:p>
        </p:txBody>
      </p:sp>
      <p:sp>
        <p:nvSpPr>
          <p:cNvPr id="7" name="badge36_check"/>
          <p:cNvSpPr txBox="1"/>
          <p:nvPr/>
        </p:nvSpPr>
        <p:spPr>
          <a:xfrm>
            <a:off x="630936" y="6473952"/>
            <a:ext cx="749808" cy="301752"/>
          </a:xfrm>
          <a:prstGeom prst="rect">
            <a:avLst/>
          </a:prstGeom>
          <a:noFill/>
          <a:ln/>
        </p:spPr>
        <p:txBody>
          <a:bodyPr wrap="square" lIns="0" tIns="0" rIns="0" bIns="0" rtlCol="0" anchor="ctr"/>
          <a:lstStyle/>
          <a:p>
            <a:pPr indent="0" marL="0">
              <a:buNone/>
            </a:pPr>
            <a:r>
              <a:rPr lang="en-US" sz="1100" i="1" dirty="0">
                <a:solidFill>
                  <a:srgbClr val="5E7A88"/>
                </a:solidFill>
              </a:rPr>
              <a:t>validated</a:t>
            </a:r>
            <a:endParaRPr lang="en-US" sz="11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692640" cy="731520"/>
          </a:xfrm>
          <a:prstGeom prst="rect">
            <a:avLst/>
          </a:prstGeom>
          <a:noFill/>
          <a:ln/>
        </p:spPr>
        <p:txBody>
          <a:bodyPr wrap="square" rtlCol="0" anchor="ctr"/>
          <a:lstStyle/>
          <a:p>
            <a:pPr algn="l" indent="0" marL="0">
              <a:buNone/>
            </a:pPr>
            <a:r>
              <a:rPr lang="en-US" sz="2600" b="1" dirty="0">
                <a:solidFill>
                  <a:schemeClr val="tx2"/>
                </a:solidFill>
              </a:rPr>
              <a:t>Attribution across collaborators</a:t>
            </a:r>
            <a:endParaRPr lang="en-US" sz="26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4114800"/>
                <a:gridCol w="6949440"/>
              </a:tblGrid>
              <a:tr h="566928">
                <a:tc>
                  <a:txBody>
                    <a:bodyPr/>
                    <a:lstStyle/>
                    <a:p>
                      <a:pPr indent="0" marL="0">
                        <a:buNone/>
                      </a:pPr>
                      <a:r>
                        <a:rPr lang="en-US" sz="1800" b="1" dirty="0">
                          <a:solidFill>
                            <a:schemeClr val="bg1"/>
                          </a:solidFill>
                        </a:rPr>
                        <a:t>Question the graph can answer</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accent1"/>
                    </a:solidFill>
                  </a:tcPr>
                </a:tc>
                <a:tc>
                  <a:txBody>
                    <a:bodyPr/>
                    <a:lstStyle/>
                    <a:p>
                      <a:pPr indent="0" marL="0">
                        <a:buNone/>
                      </a:pPr>
                      <a:r>
                        <a:rPr lang="en-US" sz="1800" b="1" dirty="0">
                          <a:solidFill>
                            <a:schemeClr val="bg1"/>
                          </a:solidFill>
                        </a:rPr>
                        <a:t>Required records and constraints</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accent1"/>
                    </a:solidFill>
                  </a:tcPr>
                </a:tc>
              </a:tr>
              <a:tr h="566928">
                <a:tc>
                  <a:txBody>
                    <a:bodyPr/>
                    <a:lstStyle/>
                    <a:p>
                      <a:pPr indent="0" marL="0">
                        <a:buNone/>
                      </a:pPr>
                      <a:r>
                        <a:rPr lang="en-US" sz="1800" dirty="0">
                          <a:solidFill>
                            <a:schemeClr val="tx1"/>
                          </a:solidFill>
                        </a:rPr>
                        <a:t>Who worked on this question?</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Person → activity → question, claim and outputs</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r h="566928">
                <a:tc>
                  <a:txBody>
                    <a:bodyPr/>
                    <a:lstStyle/>
                    <a:p>
                      <a:pPr indent="0" marL="0">
                        <a:buNone/>
                      </a:pPr>
                      <a:r>
                        <a:rPr lang="en-US" sz="1800" dirty="0">
                          <a:solidFill>
                            <a:schemeClr val="tx1"/>
                          </a:solidFill>
                        </a:rPr>
                        <a:t>Which claims inform another question?</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Reviewed relevance or support relation with scope</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r>
              <a:tr h="566928">
                <a:tc>
                  <a:txBody>
                    <a:bodyPr/>
                    <a:lstStyle/>
                    <a:p>
                      <a:pPr indent="0" marL="0">
                        <a:buNone/>
                      </a:pPr>
                      <a:r>
                        <a:rPr lang="en-US" sz="1800" dirty="0">
                          <a:solidFill>
                            <a:schemeClr val="tx1"/>
                          </a:solidFill>
                        </a:rPr>
                        <a:t>Who disagrees, and on what basis?</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Separate assessments, evidence and reviewer roles</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r h="566928">
                <a:tc>
                  <a:txBody>
                    <a:bodyPr/>
                    <a:lstStyle/>
                    <a:p>
                      <a:pPr indent="0" marL="0">
                        <a:buNone/>
                      </a:pPr>
                      <a:r>
                        <a:rPr lang="en-US" sz="1800" dirty="0">
                          <a:solidFill>
                            <a:schemeClr val="tx1"/>
                          </a:solidFill>
                        </a:rPr>
                        <a:t>What changes when evidence is corrected?</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Traverse affected claims, questions and work items</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r>
              <a:tr h="566928">
                <a:tc>
                  <a:txBody>
                    <a:bodyPr/>
                    <a:lstStyle/>
                    <a:p>
                      <a:pPr indent="0" marL="0">
                        <a:buNone/>
                      </a:pPr>
                      <a:r>
                        <a:rPr lang="en-US" sz="1800" dirty="0">
                          <a:solidFill>
                            <a:schemeClr val="tx1"/>
                          </a:solidFill>
                        </a:rPr>
                        <a:t>AbstractAtlas building blocks</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Semantic search, extracted claims with ECO codes, author records, cached provenance</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bl>
          </a:graphicData>
        </a:graphic>
      </p:graphicFrame>
      <p:sp>
        <p:nvSpPr>
          <p:cNvPr id="5" name="badge37_P"/>
          <p:cNvSpPr txBox="1"/>
          <p:nvPr/>
        </p:nvSpPr>
        <p:spPr>
          <a:xfrm>
            <a:off x="274320"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P</a:t>
            </a:r>
            <a:endParaRPr lang="en-US" sz="1100" dirty="0"/>
          </a:p>
        </p:txBody>
      </p:sp>
      <p:sp>
        <p:nvSpPr>
          <p:cNvPr id="6" name="badge37_R"/>
          <p:cNvSpPr txBox="1"/>
          <p:nvPr/>
        </p:nvSpPr>
        <p:spPr>
          <a:xfrm>
            <a:off x="576072"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R</a:t>
            </a:r>
            <a:endParaRPr lang="en-US" sz="1100" dirty="0"/>
          </a:p>
        </p:txBody>
      </p:sp>
      <p:sp>
        <p:nvSpPr>
          <p:cNvPr id="7" name="badge37_check"/>
          <p:cNvSpPr txBox="1"/>
          <p:nvPr/>
        </p:nvSpPr>
        <p:spPr>
          <a:xfrm>
            <a:off x="932688" y="6473952"/>
            <a:ext cx="822960" cy="301752"/>
          </a:xfrm>
          <a:prstGeom prst="rect">
            <a:avLst/>
          </a:prstGeom>
          <a:noFill/>
          <a:ln/>
        </p:spPr>
        <p:txBody>
          <a:bodyPr wrap="square" lIns="0" tIns="0" rIns="0" bIns="0" rtlCol="0" anchor="ctr"/>
          <a:lstStyle/>
          <a:p>
            <a:pPr indent="0" marL="0">
              <a:buNone/>
            </a:pPr>
            <a:r>
              <a:rPr lang="en-US" sz="1100" i="1" dirty="0">
                <a:solidFill>
                  <a:srgbClr val="5E7A88"/>
                </a:solidFill>
              </a:rPr>
              <a:t>unverified</a:t>
            </a:r>
            <a:endParaRPr lang="en-US" sz="11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692640" cy="731520"/>
          </a:xfrm>
          <a:prstGeom prst="rect">
            <a:avLst/>
          </a:prstGeom>
          <a:noFill/>
          <a:ln/>
        </p:spPr>
        <p:txBody>
          <a:bodyPr wrap="square" rtlCol="0" anchor="ctr"/>
          <a:lstStyle/>
          <a:p>
            <a:pPr algn="l" indent="0" marL="0">
              <a:buNone/>
            </a:pPr>
            <a:r>
              <a:rPr lang="en-US" sz="2600" b="1" dirty="0">
                <a:solidFill>
                  <a:schemeClr val="tx2"/>
                </a:solidFill>
              </a:rPr>
              <a:t>Design for a graph-versus-search comparison</a:t>
            </a:r>
            <a:endParaRPr lang="en-US" sz="26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4114800"/>
                <a:gridCol w="6949440"/>
              </a:tblGrid>
              <a:tr h="566928">
                <a:tc>
                  <a:txBody>
                    <a:bodyPr/>
                    <a:lstStyle/>
                    <a:p>
                      <a:pPr indent="0" marL="0">
                        <a:buNone/>
                      </a:pPr>
                      <a:r>
                        <a:rPr lang="en-US" sz="1800" b="1" dirty="0">
                          <a:solidFill>
                            <a:schemeClr val="bg1"/>
                          </a:solidFill>
                        </a:rPr>
                        <a:t>Controlled factor</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accent1"/>
                    </a:solidFill>
                  </a:tcPr>
                </a:tc>
                <a:tc>
                  <a:txBody>
                    <a:bodyPr/>
                    <a:lstStyle/>
                    <a:p>
                      <a:pPr indent="0" marL="0">
                        <a:buNone/>
                      </a:pPr>
                      <a:r>
                        <a:rPr lang="en-US" sz="1800" b="1" dirty="0">
                          <a:solidFill>
                            <a:schemeClr val="bg1"/>
                          </a:solidFill>
                        </a:rPr>
                        <a:t>Proposed experiment</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accent1"/>
                    </a:solidFill>
                  </a:tcPr>
                </a:tc>
              </a:tr>
              <a:tr h="566928">
                <a:tc>
                  <a:txBody>
                    <a:bodyPr/>
                    <a:lstStyle/>
                    <a:p>
                      <a:pPr indent="0" marL="0">
                        <a:buNone/>
                      </a:pPr>
                      <a:r>
                        <a:rPr lang="en-US" sz="1800" dirty="0">
                          <a:solidFill>
                            <a:schemeClr val="tx1"/>
                          </a:solidFill>
                        </a:rPr>
                        <a:t>Same corpus, model and tool budget</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Search only; skill only; graph only; both</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r h="566928">
                <a:tc>
                  <a:txBody>
                    <a:bodyPr/>
                    <a:lstStyle/>
                    <a:p>
                      <a:pPr indent="0" marL="0">
                        <a:buNone/>
                      </a:pPr>
                      <a:r>
                        <a:rPr lang="en-US" sz="1800" dirty="0">
                          <a:solidFill>
                            <a:schemeClr val="tx1"/>
                          </a:solidFill>
                        </a:rPr>
                        <a:t>Held-out questions</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Single fact, cohort join, lineage and contradiction</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r>
              <a:tr h="566928">
                <a:tc>
                  <a:txBody>
                    <a:bodyPr/>
                    <a:lstStyle/>
                    <a:p>
                      <a:pPr indent="0" marL="0">
                        <a:buNone/>
                      </a:pPr>
                      <a:r>
                        <a:rPr lang="en-US" sz="1800" dirty="0">
                          <a:solidFill>
                            <a:schemeClr val="tx1"/>
                          </a:solidFill>
                        </a:rPr>
                        <a:t>Scoring</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Correctness, evidence completeness, false claims</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r h="566928">
                <a:tc>
                  <a:txBody>
                    <a:bodyPr/>
                    <a:lstStyle/>
                    <a:p>
                      <a:pPr indent="0" marL="0">
                        <a:buNone/>
                      </a:pPr>
                      <a:r>
                        <a:rPr lang="en-US" sz="1800" dirty="0">
                          <a:solidFill>
                            <a:schemeClr val="tx1"/>
                          </a:solidFill>
                        </a:rPr>
                        <a:t>Longer agent sessions</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Constraint violations and recovery</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r>
            </a:tbl>
          </a:graphicData>
        </a:graphic>
      </p:graphicFrame>
      <p:sp>
        <p:nvSpPr>
          <p:cNvPr id="5" name="badge38_P"/>
          <p:cNvSpPr txBox="1"/>
          <p:nvPr/>
        </p:nvSpPr>
        <p:spPr>
          <a:xfrm>
            <a:off x="274320"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P</a:t>
            </a:r>
            <a:endParaRPr lang="en-US" sz="1100" dirty="0"/>
          </a:p>
        </p:txBody>
      </p:sp>
      <p:sp>
        <p:nvSpPr>
          <p:cNvPr id="6" name="badge38_check"/>
          <p:cNvSpPr txBox="1"/>
          <p:nvPr/>
        </p:nvSpPr>
        <p:spPr>
          <a:xfrm>
            <a:off x="630936" y="6473952"/>
            <a:ext cx="822960" cy="301752"/>
          </a:xfrm>
          <a:prstGeom prst="rect">
            <a:avLst/>
          </a:prstGeom>
          <a:noFill/>
          <a:ln/>
        </p:spPr>
        <p:txBody>
          <a:bodyPr wrap="square" lIns="0" tIns="0" rIns="0" bIns="0" rtlCol="0" anchor="ctr"/>
          <a:lstStyle/>
          <a:p>
            <a:pPr indent="0" marL="0">
              <a:buNone/>
            </a:pPr>
            <a:r>
              <a:rPr lang="en-US" sz="1100" i="1" dirty="0">
                <a:solidFill>
                  <a:srgbClr val="5E7A88"/>
                </a:solidFill>
              </a:rPr>
              <a:t>unverified</a:t>
            </a:r>
            <a:endParaRPr lang="en-US" sz="11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692640" cy="731520"/>
          </a:xfrm>
          <a:prstGeom prst="rect">
            <a:avLst/>
          </a:prstGeom>
          <a:noFill/>
          <a:ln/>
        </p:spPr>
        <p:txBody>
          <a:bodyPr wrap="square" rtlCol="0" anchor="ctr"/>
          <a:lstStyle/>
          <a:p>
            <a:pPr algn="l" indent="0" marL="0">
              <a:buNone/>
            </a:pPr>
            <a:r>
              <a:rPr lang="en-US" sz="2600" b="1" dirty="0">
                <a:solidFill>
                  <a:schemeClr val="tx2"/>
                </a:solidFill>
              </a:rPr>
              <a:t>Forms of drift and corresponding checks</a:t>
            </a:r>
            <a:endParaRPr lang="en-US" sz="26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4114800"/>
                <a:gridCol w="6949440"/>
              </a:tblGrid>
              <a:tr h="566928">
                <a:tc>
                  <a:txBody>
                    <a:bodyPr/>
                    <a:lstStyle/>
                    <a:p>
                      <a:pPr indent="0" marL="0">
                        <a:buNone/>
                      </a:pPr>
                      <a:r>
                        <a:rPr lang="en-US" sz="1800" b="1" dirty="0">
                          <a:solidFill>
                            <a:schemeClr val="bg1"/>
                          </a:solidFill>
                        </a:rPr>
                        <a:t>Drift</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accent1"/>
                    </a:solidFill>
                  </a:tcPr>
                </a:tc>
                <a:tc>
                  <a:txBody>
                    <a:bodyPr/>
                    <a:lstStyle/>
                    <a:p>
                      <a:pPr indent="0" marL="0">
                        <a:buNone/>
                      </a:pPr>
                      <a:r>
                        <a:rPr lang="en-US" sz="1800" b="1" dirty="0">
                          <a:solidFill>
                            <a:schemeClr val="bg1"/>
                          </a:solidFill>
                        </a:rPr>
                        <a:t>Enforcement mechanism</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accent1"/>
                    </a:solidFill>
                  </a:tcPr>
                </a:tc>
              </a:tr>
              <a:tr h="566928">
                <a:tc>
                  <a:txBody>
                    <a:bodyPr/>
                    <a:lstStyle/>
                    <a:p>
                      <a:pPr indent="0" marL="0">
                        <a:buNone/>
                      </a:pPr>
                      <a:r>
                        <a:rPr lang="en-US" sz="1800" dirty="0">
                          <a:solidFill>
                            <a:schemeClr val="tx1"/>
                          </a:solidFill>
                        </a:rPr>
                        <a:t>Dataset or skill version changes</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Pin and compare artifact hashes</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r h="566928">
                <a:tc>
                  <a:txBody>
                    <a:bodyPr/>
                    <a:lstStyle/>
                    <a:p>
                      <a:pPr indent="0" marL="0">
                        <a:buNone/>
                      </a:pPr>
                      <a:r>
                        <a:rPr lang="en-US" sz="1800" dirty="0">
                          <a:solidFill>
                            <a:schemeClr val="tx1"/>
                          </a:solidFill>
                        </a:rPr>
                        <a:t>A result loses its evaluation scope</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Require claim-to-evaluation links</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r>
              <a:tr h="566928">
                <a:tc>
                  <a:txBody>
                    <a:bodyPr/>
                    <a:lstStyle/>
                    <a:p>
                      <a:pPr indent="0" marL="0">
                        <a:buNone/>
                      </a:pPr>
                      <a:r>
                        <a:rPr lang="en-US" sz="1800" dirty="0">
                          <a:solidFill>
                            <a:schemeClr val="tx1"/>
                          </a:solidFill>
                        </a:rPr>
                        <a:t>A derivative loses its source</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Reject at the provenance gate</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r h="566928">
                <a:tc>
                  <a:txBody>
                    <a:bodyPr/>
                    <a:lstStyle/>
                    <a:p>
                      <a:pPr indent="0" marL="0">
                        <a:buNone/>
                      </a:pPr>
                      <a:r>
                        <a:rPr lang="en-US" sz="1800" dirty="0">
                          <a:solidFill>
                            <a:schemeClr val="tx1"/>
                          </a:solidFill>
                        </a:rPr>
                        <a:t>A report is treated as replication</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Preserve evidence status and review changes</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r>
              <a:tr h="566928">
                <a:tc>
                  <a:txBody>
                    <a:bodyPr/>
                    <a:lstStyle/>
                    <a:p>
                      <a:pPr indent="0" marL="0">
                        <a:buNone/>
                      </a:pPr>
                      <a:r>
                        <a:rPr lang="en-US" sz="1800" dirty="0">
                          <a:solidFill>
                            <a:schemeClr val="tx1"/>
                          </a:solidFill>
                        </a:rPr>
                        <a:t>Still required</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Image bytes, IDPs, paper manifests, held-out skill studies</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bl>
          </a:graphicData>
        </a:graphic>
      </p:graphicFrame>
      <p:sp>
        <p:nvSpPr>
          <p:cNvPr id="5" name="badge39_P"/>
          <p:cNvSpPr txBox="1"/>
          <p:nvPr/>
        </p:nvSpPr>
        <p:spPr>
          <a:xfrm>
            <a:off x="274320"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P</a:t>
            </a:r>
            <a:endParaRPr lang="en-US" sz="1100" dirty="0"/>
          </a:p>
        </p:txBody>
      </p:sp>
      <p:sp>
        <p:nvSpPr>
          <p:cNvPr id="6" name="badge39_check"/>
          <p:cNvSpPr txBox="1"/>
          <p:nvPr/>
        </p:nvSpPr>
        <p:spPr>
          <a:xfrm>
            <a:off x="630936" y="6473952"/>
            <a:ext cx="822960" cy="301752"/>
          </a:xfrm>
          <a:prstGeom prst="rect">
            <a:avLst/>
          </a:prstGeom>
          <a:noFill/>
          <a:ln/>
        </p:spPr>
        <p:txBody>
          <a:bodyPr wrap="square" lIns="0" tIns="0" rIns="0" bIns="0" rtlCol="0" anchor="ctr"/>
          <a:lstStyle/>
          <a:p>
            <a:pPr indent="0" marL="0">
              <a:buNone/>
            </a:pPr>
            <a:r>
              <a:rPr lang="en-US" sz="1100" i="1" dirty="0">
                <a:solidFill>
                  <a:srgbClr val="5E7A88"/>
                </a:solidFill>
              </a:rPr>
              <a:t>unverified</a:t>
            </a:r>
            <a:endParaRPr lang="en-US" sz="11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692640" cy="731520"/>
          </a:xfrm>
          <a:prstGeom prst="rect">
            <a:avLst/>
          </a:prstGeom>
          <a:noFill/>
          <a:ln/>
        </p:spPr>
        <p:txBody>
          <a:bodyPr wrap="square" rtlCol="0" anchor="ctr"/>
          <a:lstStyle/>
          <a:p>
            <a:pPr algn="l" indent="0" marL="0">
              <a:buNone/>
            </a:pPr>
            <a:r>
              <a:rPr lang="en-US" sz="2600" b="1" dirty="0">
                <a:solidFill>
                  <a:schemeClr val="tx2"/>
                </a:solidFill>
              </a:rPr>
              <a:t>Scan, events and phenotype details</a:t>
            </a:r>
            <a:endParaRPr lang="en-US" sz="2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4114800"/>
                <a:gridCol w="6949440"/>
              </a:tblGrid>
              <a:tr h="566928">
                <a:tc>
                  <a:txBody>
                    <a:bodyPr/>
                    <a:lstStyle/>
                    <a:p>
                      <a:pPr indent="0" marL="0">
                        <a:buNone/>
                      </a:pPr>
                      <a:r>
                        <a:rPr lang="en-US" sz="1800" b="1" dirty="0">
                          <a:solidFill>
                            <a:schemeClr val="bg1"/>
                          </a:solidFill>
                        </a:rPr>
                        <a:t>Record (sub-10159)</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accent1"/>
                    </a:solidFill>
                  </a:tcPr>
                </a:tc>
                <a:tc>
                  <a:txBody>
                    <a:bodyPr/>
                    <a:lstStyle/>
                    <a:p>
                      <a:pPr indent="0" marL="0">
                        <a:buNone/>
                      </a:pPr>
                      <a:r>
                        <a:rPr lang="en-US" sz="1800" b="1" dirty="0">
                          <a:solidFill>
                            <a:schemeClr val="bg1"/>
                          </a:solidFill>
                        </a:rPr>
                        <a:t>Observed value</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accent1"/>
                    </a:solidFill>
                  </a:tcPr>
                </a:tc>
              </a:tr>
              <a:tr h="566928">
                <a:tc>
                  <a:txBody>
                    <a:bodyPr/>
                    <a:lstStyle/>
                    <a:p>
                      <a:pPr indent="0" marL="0">
                        <a:buNone/>
                      </a:pPr>
                      <a:r>
                        <a:rPr lang="en-US" sz="1800" dirty="0">
                          <a:solidFill>
                            <a:schemeClr val="tx1"/>
                          </a:solidFill>
                        </a:rPr>
                        <a:t>Resting BOLD TR / TE</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2 s / 0.03 s, 3 T, scanner 35343</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r h="566928">
                <a:tc>
                  <a:txBody>
                    <a:bodyPr/>
                    <a:lstStyle/>
                    <a:p>
                      <a:pPr indent="0" marL="0">
                        <a:buNone/>
                      </a:pPr>
                      <a:r>
                        <a:rPr lang="en-US" sz="1800" dirty="0">
                          <a:solidFill>
                            <a:schemeClr val="tx1"/>
                          </a:solidFill>
                        </a:rPr>
                        <a:t>Stop-signal events</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256 rows: 96 GO, 32 STOP, 128 NULL</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r>
              <a:tr h="566928">
                <a:tc>
                  <a:txBody>
                    <a:bodyPr/>
                    <a:lstStyle/>
                    <a:p>
                      <a:pPr indent="0" marL="0">
                        <a:buNone/>
                      </a:pPr>
                      <a:r>
                        <a:rPr lang="en-US" sz="1800" dirty="0">
                          <a:solidFill>
                            <a:schemeClr val="tx1"/>
                          </a:solidFill>
                        </a:rPr>
                        <a:t>STOP outcomes</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17 successful, 15 unsuccessful</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r h="566928">
                <a:tc>
                  <a:txBody>
                    <a:bodyPr/>
                    <a:lstStyle/>
                    <a:p>
                      <a:pPr indent="0" marL="0">
                        <a:buNone/>
                      </a:pPr>
                      <a:r>
                        <a:rPr lang="en-US" sz="1800" dirty="0">
                          <a:solidFill>
                            <a:schemeClr val="tx1"/>
                          </a:solidFill>
                        </a:rPr>
                        <a:t>sst_ses_ssrt_quant / sst_ses_ssrt</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200.125 / 216.625, unit not specified</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r>
              <a:tr h="566928">
                <a:tc>
                  <a:txBody>
                    <a:bodyPr/>
                    <a:lstStyle/>
                    <a:p>
                      <a:pPr indent="0" marL="0">
                        <a:buNone/>
                      </a:pPr>
                      <a:r>
                        <a:rPr lang="en-US" sz="1800" dirty="0">
                          <a:solidFill>
                            <a:schemeClr val="tx1"/>
                          </a:solidFill>
                        </a:rPr>
                        <a:t>T1w TR / TE: paper vs JSON</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1.9 s / 2.26 ms vs 2.53 s / 3.31 ms</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bl>
          </a:graphicData>
        </a:graphic>
      </p:graphicFrame>
      <p:sp>
        <p:nvSpPr>
          <p:cNvPr id="5" name="badge40_P"/>
          <p:cNvSpPr txBox="1"/>
          <p:nvPr/>
        </p:nvSpPr>
        <p:spPr>
          <a:xfrm>
            <a:off x="274320"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P</a:t>
            </a:r>
            <a:endParaRPr lang="en-US" sz="1100" dirty="0"/>
          </a:p>
        </p:txBody>
      </p:sp>
      <p:sp>
        <p:nvSpPr>
          <p:cNvPr id="6" name="badge40_R"/>
          <p:cNvSpPr txBox="1"/>
          <p:nvPr/>
        </p:nvSpPr>
        <p:spPr>
          <a:xfrm>
            <a:off x="576072"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R</a:t>
            </a:r>
            <a:endParaRPr lang="en-US" sz="1100" dirty="0"/>
          </a:p>
        </p:txBody>
      </p:sp>
      <p:sp>
        <p:nvSpPr>
          <p:cNvPr id="7" name="data40"/>
          <p:cNvSpPr txBox="1"/>
          <p:nvPr/>
        </p:nvSpPr>
        <p:spPr>
          <a:xfrm>
            <a:off x="1819656" y="6473952"/>
            <a:ext cx="9336024" cy="301752"/>
          </a:xfrm>
          <a:prstGeom prst="rect">
            <a:avLst/>
          </a:prstGeom>
          <a:noFill/>
          <a:ln/>
        </p:spPr>
        <p:txBody>
          <a:bodyPr wrap="square" lIns="0" tIns="0" rIns="0" bIns="0" rtlCol="0" anchor="ctr"/>
          <a:lstStyle/>
          <a:p>
            <a:pPr indent="0" marL="0">
              <a:buNone/>
            </a:pPr>
            <a:r>
              <a:rPr lang="en-US" sz="1100" dirty="0">
                <a:solidFill>
                  <a:srgbClr val="5E7A88"/>
                </a:solidFill>
              </a:rPr>
              <a:t>Data: ds000030 (UCLA CNP), OpenNeuro, commit 4070b6e</a:t>
            </a:r>
            <a:endParaRPr lang="en-US" sz="1100" dirty="0"/>
          </a:p>
        </p:txBody>
      </p:sp>
      <p:sp>
        <p:nvSpPr>
          <p:cNvPr id="8" name="badge40_check"/>
          <p:cNvSpPr txBox="1"/>
          <p:nvPr/>
        </p:nvSpPr>
        <p:spPr>
          <a:xfrm>
            <a:off x="932688" y="6473952"/>
            <a:ext cx="749808" cy="301752"/>
          </a:xfrm>
          <a:prstGeom prst="rect">
            <a:avLst/>
          </a:prstGeom>
          <a:noFill/>
          <a:ln/>
        </p:spPr>
        <p:txBody>
          <a:bodyPr wrap="square" lIns="0" tIns="0" rIns="0" bIns="0" rtlCol="0" anchor="ctr"/>
          <a:lstStyle/>
          <a:p>
            <a:pPr indent="0" marL="0">
              <a:buNone/>
            </a:pPr>
            <a:r>
              <a:rPr lang="en-US" sz="1100" i="1" dirty="0">
                <a:solidFill>
                  <a:srgbClr val="5E7A88"/>
                </a:solidFill>
              </a:rPr>
              <a:t>validated</a:t>
            </a:r>
            <a:endParaRPr lang="en-US" sz="11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692640" cy="731520"/>
          </a:xfrm>
          <a:prstGeom prst="rect">
            <a:avLst/>
          </a:prstGeom>
          <a:noFill/>
          <a:ln/>
        </p:spPr>
        <p:txBody>
          <a:bodyPr wrap="square" rtlCol="0" anchor="ctr"/>
          <a:lstStyle/>
          <a:p>
            <a:pPr algn="l" indent="0" marL="0">
              <a:buNone/>
            </a:pPr>
            <a:r>
              <a:rPr lang="en-US" sz="2600" b="1" dirty="0">
                <a:solidFill>
                  <a:schemeClr val="tx2"/>
                </a:solidFill>
              </a:rPr>
              <a:t>Registration and cross-source joins</a:t>
            </a:r>
            <a:endParaRPr lang="en-US" sz="2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4114800"/>
                <a:gridCol w="6949440"/>
              </a:tblGrid>
              <a:tr h="566928">
                <a:tc>
                  <a:txBody>
                    <a:bodyPr/>
                    <a:lstStyle/>
                    <a:p>
                      <a:pPr indent="0" marL="0">
                        <a:buNone/>
                      </a:pPr>
                      <a:r>
                        <a:rPr lang="en-US" sz="1800" b="1" dirty="0">
                          <a:solidFill>
                            <a:schemeClr val="bg1"/>
                          </a:solidFill>
                        </a:rPr>
                        <a:t>Item</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accent1"/>
                    </a:solidFill>
                  </a:tcPr>
                </a:tc>
                <a:tc>
                  <a:txBody>
                    <a:bodyPr/>
                    <a:lstStyle/>
                    <a:p>
                      <a:pPr indent="0" marL="0">
                        <a:buNone/>
                      </a:pPr>
                      <a:r>
                        <a:rPr lang="en-US" sz="1800" b="1" dirty="0">
                          <a:solidFill>
                            <a:schemeClr val="bg1"/>
                          </a:solidFill>
                        </a:rPr>
                        <a:t>What the evidence supports</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accent1"/>
                    </a:solidFill>
                  </a:tcPr>
                </a:tc>
              </a:tr>
              <a:tr h="566928">
                <a:tc>
                  <a:txBody>
                    <a:bodyPr/>
                    <a:lstStyle/>
                    <a:p>
                      <a:pPr indent="0" marL="0">
                        <a:buNone/>
                      </a:pPr>
                      <a:r>
                        <a:rPr lang="en-US" sz="1800" dirty="0">
                          <a:solidFill>
                            <a:schemeClr val="tx1"/>
                          </a:solidFill>
                        </a:rPr>
                        <a:t>Functional → T1</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FreeSurfer BBR, 9 DOF (2017 paper)</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r h="566928">
                <a:tc>
                  <a:txBody>
                    <a:bodyPr/>
                    <a:lstStyle/>
                    <a:p>
                      <a:pPr indent="0" marL="0">
                        <a:buNone/>
                      </a:pPr>
                      <a:r>
                        <a:rPr lang="en-US" sz="1800" dirty="0">
                          <a:solidFill>
                            <a:schemeClr val="tx1"/>
                          </a:solidFill>
                        </a:rPr>
                        <a:t>T1 → MNI152NLin2009cAsym</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ANTs SyN with affine initialization</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r>
              <a:tr h="566928">
                <a:tc>
                  <a:txBody>
                    <a:bodyPr/>
                    <a:lstStyle/>
                    <a:p>
                      <a:pPr indent="0" marL="0">
                        <a:buNone/>
                      </a:pPr>
                      <a:r>
                        <a:rPr lang="en-US" sz="1800" dirty="0">
                          <a:solidFill>
                            <a:schemeClr val="tx1"/>
                          </a:solidFill>
                        </a:rPr>
                        <a:t>Seven missing-T1 IDs</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Same IDs in current metadata and 2017 Table 1</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r h="566928">
                <a:tc>
                  <a:txBody>
                    <a:bodyPr/>
                    <a:lstStyle/>
                    <a:p>
                      <a:pPr indent="0" marL="0">
                        <a:buNone/>
                      </a:pPr>
                      <a:r>
                        <a:rPr lang="en-US" sz="1800" dirty="0">
                          <a:solidFill>
                            <a:schemeClr val="tx1"/>
                          </a:solidFill>
                        </a:rPr>
                        <a:t>Kim 2023 and ds000030</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Explicit accession and version link</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r>
              <a:tr h="566928">
                <a:tc>
                  <a:txBody>
                    <a:bodyPr/>
                    <a:lstStyle/>
                    <a:p>
                      <a:pPr indent="0" marL="0">
                        <a:buNone/>
                      </a:pPr>
                      <a:r>
                        <a:rPr lang="en-US" sz="1800" dirty="0">
                          <a:solidFill>
                            <a:schemeClr val="tx1"/>
                          </a:solidFill>
                        </a:rPr>
                        <a:t>Kim 2023 and 2017 derivatives</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Reuse not established; different pipeline reported</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bl>
          </a:graphicData>
        </a:graphic>
      </p:graphicFrame>
      <p:sp>
        <p:nvSpPr>
          <p:cNvPr id="5" name="badge41_P"/>
          <p:cNvSpPr txBox="1"/>
          <p:nvPr/>
        </p:nvSpPr>
        <p:spPr>
          <a:xfrm>
            <a:off x="274320"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P</a:t>
            </a:r>
            <a:endParaRPr lang="en-US" sz="1100" dirty="0"/>
          </a:p>
        </p:txBody>
      </p:sp>
      <p:sp>
        <p:nvSpPr>
          <p:cNvPr id="6" name="badge41_R"/>
          <p:cNvSpPr txBox="1"/>
          <p:nvPr/>
        </p:nvSpPr>
        <p:spPr>
          <a:xfrm>
            <a:off x="576072"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R</a:t>
            </a:r>
            <a:endParaRPr lang="en-US" sz="1100" dirty="0"/>
          </a:p>
        </p:txBody>
      </p:sp>
      <p:sp>
        <p:nvSpPr>
          <p:cNvPr id="7" name="data41"/>
          <p:cNvSpPr txBox="1"/>
          <p:nvPr/>
        </p:nvSpPr>
        <p:spPr>
          <a:xfrm>
            <a:off x="1819656" y="6473952"/>
            <a:ext cx="9336024" cy="301752"/>
          </a:xfrm>
          <a:prstGeom prst="rect">
            <a:avLst/>
          </a:prstGeom>
          <a:noFill/>
          <a:ln/>
        </p:spPr>
        <p:txBody>
          <a:bodyPr wrap="square" lIns="0" tIns="0" rIns="0" bIns="0" rtlCol="0" anchor="ctr"/>
          <a:lstStyle/>
          <a:p>
            <a:pPr indent="0" marL="0">
              <a:buNone/>
            </a:pPr>
            <a:r>
              <a:rPr lang="en-US" sz="1100" dirty="0">
                <a:solidFill>
                  <a:srgbClr val="5E7A88"/>
                </a:solidFill>
              </a:rPr>
              <a:t>Data: ds000030 (UCLA CNP, commit 4070b6e); Gorgolewski 2017</a:t>
            </a:r>
            <a:endParaRPr lang="en-US" sz="1100" dirty="0"/>
          </a:p>
        </p:txBody>
      </p:sp>
      <p:sp>
        <p:nvSpPr>
          <p:cNvPr id="8" name="badge41_check"/>
          <p:cNvSpPr txBox="1"/>
          <p:nvPr/>
        </p:nvSpPr>
        <p:spPr>
          <a:xfrm>
            <a:off x="932688" y="6473952"/>
            <a:ext cx="749808" cy="301752"/>
          </a:xfrm>
          <a:prstGeom prst="rect">
            <a:avLst/>
          </a:prstGeom>
          <a:noFill/>
          <a:ln/>
        </p:spPr>
        <p:txBody>
          <a:bodyPr wrap="square" lIns="0" tIns="0" rIns="0" bIns="0" rtlCol="0" anchor="ctr"/>
          <a:lstStyle/>
          <a:p>
            <a:pPr indent="0" marL="0">
              <a:buNone/>
            </a:pPr>
            <a:r>
              <a:rPr lang="en-US" sz="1100" i="1" dirty="0">
                <a:solidFill>
                  <a:srgbClr val="5E7A88"/>
                </a:solidFill>
              </a:rPr>
              <a:t>validated</a:t>
            </a:r>
            <a:endParaRPr lang="en-US" sz="11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692640" cy="731520"/>
          </a:xfrm>
          <a:prstGeom prst="rect">
            <a:avLst/>
          </a:prstGeom>
          <a:noFill/>
          <a:ln/>
        </p:spPr>
        <p:txBody>
          <a:bodyPr wrap="square" rtlCol="0" anchor="ctr"/>
          <a:lstStyle/>
          <a:p>
            <a:pPr algn="l" indent="0" marL="0">
              <a:buNone/>
            </a:pPr>
            <a:r>
              <a:rPr lang="en-US" sz="2600" b="1" dirty="0">
                <a:solidFill>
                  <a:schemeClr val="tx2"/>
                </a:solidFill>
              </a:rPr>
              <a:t>Skills and pull requests referenced</a:t>
            </a:r>
            <a:endParaRPr lang="en-US" sz="2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4114800"/>
                <a:gridCol w="6949440"/>
              </a:tblGrid>
              <a:tr h="566928">
                <a:tc>
                  <a:txBody>
                    <a:bodyPr/>
                    <a:lstStyle/>
                    <a:p>
                      <a:pPr indent="0" marL="0">
                        <a:buNone/>
                      </a:pPr>
                      <a:r>
                        <a:rPr lang="en-US" sz="1800" b="1" dirty="0">
                          <a:solidFill>
                            <a:schemeClr val="bg1"/>
                          </a:solidFill>
                        </a:rPr>
                        <a:t>Skill / PR</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accent1"/>
                    </a:solidFill>
                  </a:tcPr>
                </a:tc>
                <a:tc>
                  <a:txBody>
                    <a:bodyPr/>
                    <a:lstStyle/>
                    <a:p>
                      <a:pPr indent="0" marL="0">
                        <a:buNone/>
                      </a:pPr>
                      <a:r>
                        <a:rPr lang="en-US" sz="1800" b="1" dirty="0">
                          <a:solidFill>
                            <a:schemeClr val="bg1"/>
                          </a:solidFill>
                        </a:rPr>
                        <a:t>Contribution</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accent1"/>
                    </a:solidFill>
                  </a:tcPr>
                </a:tc>
              </a:tr>
              <a:tr h="566928">
                <a:tc>
                  <a:txBody>
                    <a:bodyPr/>
                    <a:lstStyle/>
                    <a:p>
                      <a:pPr indent="0" marL="0">
                        <a:buNone/>
                      </a:pPr>
                      <a:r>
                        <a:rPr lang="en-US" sz="1800" dirty="0">
                          <a:solidFill>
                            <a:schemeClr val="tx1"/>
                          </a:solidFill>
                        </a:rPr>
                        <a:t>structsense</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Entities and source-stated relations with evidence</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r h="566928">
                <a:tc>
                  <a:txBody>
                    <a:bodyPr/>
                    <a:lstStyle/>
                    <a:p>
                      <a:pPr indent="0" marL="0">
                        <a:buNone/>
                      </a:pPr>
                      <a:r>
                        <a:rPr lang="en-US" sz="1800" dirty="0">
                          <a:solidFill>
                            <a:schemeClr val="tx1"/>
                          </a:solidFill>
                        </a:rPr>
                        <a:t>synthscholar</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Review protocols, corpus handling, retrieval provenance</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r>
              <a:tr h="566928">
                <a:tc>
                  <a:txBody>
                    <a:bodyPr/>
                    <a:lstStyle/>
                    <a:p>
                      <a:pPr indent="0" marL="0">
                        <a:buNone/>
                      </a:pPr>
                      <a:r>
                        <a:rPr lang="en-US" sz="1800" dirty="0">
                          <a:solidFill>
                            <a:schemeClr val="tx1"/>
                          </a:solidFill>
                        </a:rPr>
                        <a:t>labnb / duct / orcd-remote</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Run records, resource logs, remote execution</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r h="566928">
                <a:tc>
                  <a:txBody>
                    <a:bodyPr/>
                    <a:lstStyle/>
                    <a:p>
                      <a:pPr indent="0" marL="0">
                        <a:buNone/>
                      </a:pPr>
                      <a:r>
                        <a:rPr lang="en-US" sz="1800" dirty="0">
                          <a:solidFill>
                            <a:schemeClr val="tx1"/>
                          </a:solidFill>
                        </a:rPr>
                        <a:t>sensein PRs #33, #34, #36</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LinkML records, judge loop, MeSH search (open)</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r>
              <a:tr h="566928">
                <a:tc>
                  <a:txBody>
                    <a:bodyPr/>
                    <a:lstStyle/>
                    <a:p>
                      <a:pPr indent="0" marL="0">
                        <a:buNone/>
                      </a:pPr>
                      <a:r>
                        <a:rPr lang="en-US" sz="1800" dirty="0">
                          <a:solidFill>
                            <a:schemeClr val="tx1"/>
                          </a:solidFill>
                        </a:rPr>
                        <a:t>K-Dense datalad #227 / STAMPED #265</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Retrieval provenance (merged) / evidence map (open)</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bl>
          </a:graphicData>
        </a:graphic>
      </p:graphicFrame>
      <p:sp>
        <p:nvSpPr>
          <p:cNvPr id="5" name="badge42_P"/>
          <p:cNvSpPr txBox="1"/>
          <p:nvPr/>
        </p:nvSpPr>
        <p:spPr>
          <a:xfrm>
            <a:off x="274320"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P</a:t>
            </a:r>
            <a:endParaRPr lang="en-US" sz="1100" dirty="0"/>
          </a:p>
        </p:txBody>
      </p:sp>
      <p:sp>
        <p:nvSpPr>
          <p:cNvPr id="6" name="badge42_R"/>
          <p:cNvSpPr txBox="1"/>
          <p:nvPr/>
        </p:nvSpPr>
        <p:spPr>
          <a:xfrm>
            <a:off x="576072"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R</a:t>
            </a:r>
            <a:endParaRPr lang="en-US" sz="1100" dirty="0"/>
          </a:p>
        </p:txBody>
      </p:sp>
      <p:sp>
        <p:nvSpPr>
          <p:cNvPr id="7" name="badge42_check"/>
          <p:cNvSpPr txBox="1"/>
          <p:nvPr/>
        </p:nvSpPr>
        <p:spPr>
          <a:xfrm>
            <a:off x="932688" y="6473952"/>
            <a:ext cx="749808" cy="301752"/>
          </a:xfrm>
          <a:prstGeom prst="rect">
            <a:avLst/>
          </a:prstGeom>
          <a:noFill/>
          <a:ln/>
        </p:spPr>
        <p:txBody>
          <a:bodyPr wrap="square" lIns="0" tIns="0" rIns="0" bIns="0" rtlCol="0" anchor="ctr"/>
          <a:lstStyle/>
          <a:p>
            <a:pPr indent="0" marL="0">
              <a:buNone/>
            </a:pPr>
            <a:r>
              <a:rPr lang="en-US" sz="1100" i="1" dirty="0">
                <a:solidFill>
                  <a:srgbClr val="5E7A88"/>
                </a:solidFill>
              </a:rPr>
              <a:t>validated</a:t>
            </a:r>
            <a:endParaRPr lang="en-US" sz="11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692640" cy="731520"/>
          </a:xfrm>
          <a:prstGeom prst="rect">
            <a:avLst/>
          </a:prstGeom>
          <a:noFill/>
          <a:ln/>
        </p:spPr>
        <p:txBody>
          <a:bodyPr wrap="square" rtlCol="0" anchor="ctr"/>
          <a:lstStyle/>
          <a:p>
            <a:pPr algn="l" indent="0" marL="0">
              <a:buNone/>
            </a:pPr>
            <a:r>
              <a:rPr lang="en-US" sz="2600" b="1" dirty="0">
                <a:solidFill>
                  <a:schemeClr val="tx2"/>
                </a:solidFill>
              </a:rPr>
              <a:t>Brain Researcher: reported benchmarks</a:t>
            </a:r>
            <a:endParaRPr lang="en-US" sz="2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5577840"/>
                <a:gridCol w="2743200"/>
                <a:gridCol w="2743200"/>
              </a:tblGrid>
              <a:tr h="566928">
                <a:tc>
                  <a:txBody>
                    <a:bodyPr/>
                    <a:lstStyle/>
                    <a:p>
                      <a:pPr indent="0" marL="0">
                        <a:buNone/>
                      </a:pPr>
                      <a:r>
                        <a:rPr lang="en-US" sz="1800" b="1" dirty="0">
                          <a:solidFill>
                            <a:schemeClr val="bg1"/>
                          </a:solidFill>
                        </a:rPr>
                        <a:t>Reported benchmark</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accent1"/>
                    </a:solidFill>
                  </a:tcPr>
                </a:tc>
                <a:tc>
                  <a:txBody>
                    <a:bodyPr/>
                    <a:lstStyle/>
                    <a:p>
                      <a:pPr indent="0" marL="0">
                        <a:buNone/>
                      </a:pPr>
                      <a:r>
                        <a:rPr lang="en-US" sz="1800" b="1" dirty="0">
                          <a:solidFill>
                            <a:schemeClr val="bg1"/>
                          </a:solidFill>
                        </a:rPr>
                        <a:t>Without BR</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accent1"/>
                    </a:solidFill>
                  </a:tcPr>
                </a:tc>
                <a:tc>
                  <a:txBody>
                    <a:bodyPr/>
                    <a:lstStyle/>
                    <a:p>
                      <a:pPr indent="0" marL="0">
                        <a:buNone/>
                      </a:pPr>
                      <a:r>
                        <a:rPr lang="en-US" sz="1800" b="1" dirty="0">
                          <a:solidFill>
                            <a:schemeClr val="bg1"/>
                          </a:solidFill>
                        </a:rPr>
                        <a:t>With BR</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accent1"/>
                    </a:solidFill>
                  </a:tcPr>
                </a:tc>
              </a:tr>
              <a:tr h="566928">
                <a:tc>
                  <a:txBody>
                    <a:bodyPr/>
                    <a:lstStyle/>
                    <a:p>
                      <a:pPr indent="0" marL="0">
                        <a:buNone/>
                      </a:pPr>
                      <a:r>
                        <a:rPr lang="en-US" sz="1800" dirty="0">
                          <a:solidFill>
                            <a:schemeClr val="tx1"/>
                          </a:solidFill>
                        </a:rPr>
                        <a:t>First-choice route/tool selection</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23.3%</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93.6%</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r h="566928">
                <a:tc>
                  <a:txBody>
                    <a:bodyPr/>
                    <a:lstStyle/>
                    <a:p>
                      <a:pPr indent="0" marL="0">
                        <a:buNone/>
                      </a:pPr>
                      <a:r>
                        <a:rPr lang="en-US" sz="1800" dirty="0">
                          <a:solidFill>
                            <a:schemeClr val="tx1"/>
                          </a:solidFill>
                        </a:rPr>
                        <a:t>Verified evidence grounding</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4.6%</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22.0%</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r>
              <a:tr h="566928">
                <a:tc>
                  <a:txBody>
                    <a:bodyPr/>
                    <a:lstStyle/>
                    <a:p>
                      <a:pPr indent="0" marL="0">
                        <a:buNone/>
                      </a:pPr>
                      <a:r>
                        <a:rPr lang="en-US" sz="1800" dirty="0">
                          <a:solidFill>
                            <a:schemeClr val="tx1"/>
                          </a:solidFill>
                        </a:rPr>
                        <a:t>Source</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Chen et al., arXiv:2608.19902v1</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preprint</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bl>
          </a:graphicData>
        </a:graphic>
      </p:graphicFrame>
      <p:sp>
        <p:nvSpPr>
          <p:cNvPr id="5" name="badge43_P"/>
          <p:cNvSpPr txBox="1"/>
          <p:nvPr/>
        </p:nvSpPr>
        <p:spPr>
          <a:xfrm>
            <a:off x="274320"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P</a:t>
            </a:r>
            <a:endParaRPr lang="en-US" sz="1100" dirty="0"/>
          </a:p>
        </p:txBody>
      </p:sp>
      <p:sp>
        <p:nvSpPr>
          <p:cNvPr id="6" name="badge43_R"/>
          <p:cNvSpPr txBox="1"/>
          <p:nvPr/>
        </p:nvSpPr>
        <p:spPr>
          <a:xfrm>
            <a:off x="576072"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R</a:t>
            </a:r>
            <a:endParaRPr lang="en-US" sz="1100" dirty="0"/>
          </a:p>
        </p:txBody>
      </p:sp>
      <p:sp>
        <p:nvSpPr>
          <p:cNvPr id="7" name="badge43_check"/>
          <p:cNvSpPr txBox="1"/>
          <p:nvPr/>
        </p:nvSpPr>
        <p:spPr>
          <a:xfrm>
            <a:off x="932688" y="6473952"/>
            <a:ext cx="749808" cy="301752"/>
          </a:xfrm>
          <a:prstGeom prst="rect">
            <a:avLst/>
          </a:prstGeom>
          <a:noFill/>
          <a:ln/>
        </p:spPr>
        <p:txBody>
          <a:bodyPr wrap="square" lIns="0" tIns="0" rIns="0" bIns="0" rtlCol="0" anchor="ctr"/>
          <a:lstStyle/>
          <a:p>
            <a:pPr indent="0" marL="0">
              <a:buNone/>
            </a:pPr>
            <a:r>
              <a:rPr lang="en-US" sz="1100" i="1" dirty="0">
                <a:solidFill>
                  <a:srgbClr val="5E7A88"/>
                </a:solidFill>
              </a:rPr>
              <a:t>validated</a:t>
            </a:r>
            <a:endParaRPr lang="en-US" sz="11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692640" cy="731520"/>
          </a:xfrm>
          <a:prstGeom prst="rect">
            <a:avLst/>
          </a:prstGeom>
          <a:noFill/>
          <a:ln/>
        </p:spPr>
        <p:txBody>
          <a:bodyPr wrap="square" rtlCol="0" anchor="ctr"/>
          <a:lstStyle/>
          <a:p>
            <a:pPr algn="l" indent="0" marL="0">
              <a:buNone/>
            </a:pPr>
            <a:r>
              <a:rPr lang="en-US" sz="2600" b="1" dirty="0">
                <a:solidFill>
                  <a:schemeClr val="tx2"/>
                </a:solidFill>
              </a:rPr>
              <a:t>Workshop connections</a:t>
            </a:r>
            <a:endParaRPr lang="en-US" sz="2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4114800"/>
                <a:gridCol w="6949440"/>
              </a:tblGrid>
              <a:tr h="566928">
                <a:tc>
                  <a:txBody>
                    <a:bodyPr/>
                    <a:lstStyle/>
                    <a:p>
                      <a:pPr indent="0" marL="0">
                        <a:buNone/>
                      </a:pPr>
                      <a:r>
                        <a:rPr lang="en-US" sz="1800" b="1" dirty="0">
                          <a:solidFill>
                            <a:schemeClr val="bg1"/>
                          </a:solidFill>
                        </a:rPr>
                        <a:t>Earlier session</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accent1"/>
                    </a:solidFill>
                  </a:tcPr>
                </a:tc>
                <a:tc>
                  <a:txBody>
                    <a:bodyPr/>
                    <a:lstStyle/>
                    <a:p>
                      <a:pPr indent="0" marL="0">
                        <a:buNone/>
                      </a:pPr>
                      <a:r>
                        <a:rPr lang="en-US" sz="1800" b="1" dirty="0">
                          <a:solidFill>
                            <a:schemeClr val="bg1"/>
                          </a:solidFill>
                        </a:rPr>
                        <a:t>Reusable artifact this talk adds</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accent1"/>
                    </a:solidFill>
                  </a:tcPr>
                </a:tc>
              </a:tr>
              <a:tr h="566928">
                <a:tc>
                  <a:txBody>
                    <a:bodyPr/>
                    <a:lstStyle/>
                    <a:p>
                      <a:pPr indent="0" marL="0">
                        <a:buNone/>
                      </a:pPr>
                      <a:r>
                        <a:rPr lang="en-US" sz="1800" dirty="0">
                          <a:solidFill>
                            <a:schemeClr val="tx1"/>
                          </a:solidFill>
                        </a:rPr>
                        <a:t>Brent: LLM interaction</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Task instructions with explicit inputs and outputs</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r h="566928">
                <a:tc>
                  <a:txBody>
                    <a:bodyPr/>
                    <a:lstStyle/>
                    <a:p>
                      <a:pPr indent="0" marL="0">
                        <a:buNone/>
                      </a:pPr>
                      <a:r>
                        <a:rPr lang="en-US" sz="1800" dirty="0">
                          <a:solidFill>
                            <a:schemeClr val="tx1"/>
                          </a:solidFill>
                        </a:rPr>
                        <a:t>JB: analytical flexibility</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Named alternatives and comparable evaluation records</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r>
              <a:tr h="566928">
                <a:tc>
                  <a:txBody>
                    <a:bodyPr/>
                    <a:lstStyle/>
                    <a:p>
                      <a:pPr indent="0" marL="0">
                        <a:buNone/>
                      </a:pPr>
                      <a:r>
                        <a:rPr lang="en-US" sz="1800" dirty="0">
                          <a:solidFill>
                            <a:schemeClr val="tx1"/>
                          </a:solidFill>
                        </a:rPr>
                        <a:t>Michelle: automation</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Validated inputs and inspectable tool execution</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r h="566928">
                <a:tc>
                  <a:txBody>
                    <a:bodyPr/>
                    <a:lstStyle/>
                    <a:p>
                      <a:pPr indent="0" marL="0">
                        <a:buNone/>
                      </a:pPr>
                      <a:r>
                        <a:rPr lang="en-US" sz="1800" dirty="0">
                          <a:solidFill>
                            <a:schemeClr val="tx1"/>
                          </a:solidFill>
                        </a:rPr>
                        <a:t>Yarik: STAMPED</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Versioned components and evidence for replayability</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r>
              <a:tr h="566928">
                <a:tc>
                  <a:txBody>
                    <a:bodyPr/>
                    <a:lstStyle/>
                    <a:p>
                      <a:pPr indent="0" marL="0">
                        <a:buNone/>
                      </a:pPr>
                      <a:r>
                        <a:rPr lang="en-US" sz="1800" dirty="0">
                          <a:solidFill>
                            <a:schemeClr val="tx1"/>
                          </a:solidFill>
                        </a:rPr>
                        <a:t>Johanna: Project-Pilot</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Reviewed changes to persistent skills and workflows</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bl>
          </a:graphicData>
        </a:graphic>
      </p:graphicFrame>
      <p:sp>
        <p:nvSpPr>
          <p:cNvPr id="5" name="badge44_P"/>
          <p:cNvSpPr txBox="1"/>
          <p:nvPr/>
        </p:nvSpPr>
        <p:spPr>
          <a:xfrm>
            <a:off x="274320"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P</a:t>
            </a:r>
            <a:endParaRPr lang="en-US" sz="1100" dirty="0"/>
          </a:p>
        </p:txBody>
      </p:sp>
      <p:sp>
        <p:nvSpPr>
          <p:cNvPr id="6" name="badge44_check"/>
          <p:cNvSpPr txBox="1"/>
          <p:nvPr/>
        </p:nvSpPr>
        <p:spPr>
          <a:xfrm>
            <a:off x="630936" y="6473952"/>
            <a:ext cx="822960" cy="301752"/>
          </a:xfrm>
          <a:prstGeom prst="rect">
            <a:avLst/>
          </a:prstGeom>
          <a:noFill/>
          <a:ln/>
        </p:spPr>
        <p:txBody>
          <a:bodyPr wrap="square" lIns="0" tIns="0" rIns="0" bIns="0" rtlCol="0" anchor="ctr"/>
          <a:lstStyle/>
          <a:p>
            <a:pPr indent="0" marL="0">
              <a:buNone/>
            </a:pPr>
            <a:r>
              <a:rPr lang="en-US" sz="1100" i="1" dirty="0">
                <a:solidFill>
                  <a:srgbClr val="5E7A88"/>
                </a:solidFill>
              </a:rPr>
              <a:t>unverified</a:t>
            </a:r>
            <a:endParaRPr lang="en-US" sz="11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692640" cy="731520"/>
          </a:xfrm>
          <a:prstGeom prst="rect">
            <a:avLst/>
          </a:prstGeom>
          <a:noFill/>
          <a:ln/>
        </p:spPr>
        <p:txBody>
          <a:bodyPr wrap="square" rtlCol="0" anchor="ctr"/>
          <a:lstStyle/>
          <a:p>
            <a:pPr algn="l" indent="0" marL="0">
              <a:buNone/>
            </a:pPr>
            <a:r>
              <a:rPr lang="en-US" sz="2600" b="1" dirty="0">
                <a:solidFill>
                  <a:schemeClr val="tx2"/>
                </a:solidFill>
              </a:rPr>
              <a:t>Sources</a:t>
            </a:r>
            <a:endParaRPr lang="en-US" sz="2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4114800"/>
                <a:gridCol w="6949440"/>
              </a:tblGrid>
              <a:tr h="566928">
                <a:tc>
                  <a:txBody>
                    <a:bodyPr/>
                    <a:lstStyle/>
                    <a:p>
                      <a:pPr indent="0" marL="0">
                        <a:buNone/>
                      </a:pPr>
                      <a:r>
                        <a:rPr lang="en-US" sz="1800" b="1" dirty="0">
                          <a:solidFill>
                            <a:schemeClr val="bg1"/>
                          </a:solidFill>
                        </a:rPr>
                        <a:t>Source</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accent1"/>
                    </a:solidFill>
                  </a:tcPr>
                </a:tc>
                <a:tc>
                  <a:txBody>
                    <a:bodyPr/>
                    <a:lstStyle/>
                    <a:p>
                      <a:pPr indent="0" marL="0">
                        <a:buNone/>
                      </a:pPr>
                      <a:r>
                        <a:rPr lang="en-US" sz="1800" b="1" dirty="0">
                          <a:solidFill>
                            <a:schemeClr val="bg1"/>
                          </a:solidFill>
                        </a:rPr>
                        <a:t>Locator</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accent1"/>
                    </a:solidFill>
                  </a:tcPr>
                </a:tc>
              </a:tr>
              <a:tr h="566928">
                <a:tc>
                  <a:txBody>
                    <a:bodyPr/>
                    <a:lstStyle/>
                    <a:p>
                      <a:pPr indent="0" marL="0">
                        <a:buNone/>
                      </a:pPr>
                      <a:r>
                        <a:rPr lang="en-US" sz="1800" dirty="0">
                          <a:solidFill>
                            <a:schemeClr val="tx1"/>
                          </a:solidFill>
                        </a:rPr>
                        <a:t>ds000030 metadata, pinned</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OpenNeuroDatasets/ds000030 @ 4070b6ee</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r h="566928">
                <a:tc>
                  <a:txBody>
                    <a:bodyPr/>
                    <a:lstStyle/>
                    <a:p>
                      <a:pPr indent="0" marL="0">
                        <a:buNone/>
                      </a:pPr>
                      <a:r>
                        <a:rPr lang="en-US" sz="1800" dirty="0">
                          <a:solidFill>
                            <a:schemeClr val="tx1"/>
                          </a:solidFill>
                        </a:rPr>
                        <a:t>Poldrack et al. 2016</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doi 10.1038/sdata.2016.110</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r>
              <a:tr h="566928">
                <a:tc>
                  <a:txBody>
                    <a:bodyPr/>
                    <a:lstStyle/>
                    <a:p>
                      <a:pPr indent="0" marL="0">
                        <a:buNone/>
                      </a:pPr>
                      <a:r>
                        <a:rPr lang="en-US" sz="1800" dirty="0">
                          <a:solidFill>
                            <a:schemeClr val="tx1"/>
                          </a:solidFill>
                        </a:rPr>
                        <a:t>Gorgolewski et al. 2017 v2</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doi 10.12688/f1000research.11964.2</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r h="566928">
                <a:tc>
                  <a:txBody>
                    <a:bodyPr/>
                    <a:lstStyle/>
                    <a:p>
                      <a:pPr indent="0" marL="0">
                        <a:buNone/>
                      </a:pPr>
                      <a:r>
                        <a:rPr lang="en-US" sz="1800" dirty="0">
                          <a:solidFill>
                            <a:schemeClr val="tx1"/>
                          </a:solidFill>
                        </a:rPr>
                        <a:t>Kim et al. 2023</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doi 10.3389/fpsyt.2023.1232015</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r>
              <a:tr h="566928">
                <a:tc>
                  <a:txBody>
                    <a:bodyPr/>
                    <a:lstStyle/>
                    <a:p>
                      <a:pPr indent="0" marL="0">
                        <a:buNone/>
                      </a:pPr>
                      <a:r>
                        <a:rPr lang="en-US" sz="1800" dirty="0">
                          <a:solidFill>
                            <a:schemeClr val="tx1"/>
                          </a:solidFill>
                        </a:rPr>
                        <a:t>Skills and harness</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sensein/agent_skills · K-Dense scientific-agent-skills · brain-researcher-public</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bl>
          </a:graphicData>
        </a:graphic>
      </p:graphicFrame>
      <p:sp>
        <p:nvSpPr>
          <p:cNvPr id="5" name="badge45_P"/>
          <p:cNvSpPr txBox="1"/>
          <p:nvPr/>
        </p:nvSpPr>
        <p:spPr>
          <a:xfrm>
            <a:off x="274320"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P</a:t>
            </a:r>
            <a:endParaRPr lang="en-US" sz="1100" dirty="0"/>
          </a:p>
        </p:txBody>
      </p:sp>
      <p:sp>
        <p:nvSpPr>
          <p:cNvPr id="6" name="badge45_R"/>
          <p:cNvSpPr txBox="1"/>
          <p:nvPr/>
        </p:nvSpPr>
        <p:spPr>
          <a:xfrm>
            <a:off x="576072"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R</a:t>
            </a:r>
            <a:endParaRPr lang="en-US" sz="1100" dirty="0"/>
          </a:p>
        </p:txBody>
      </p:sp>
      <p:sp>
        <p:nvSpPr>
          <p:cNvPr id="7" name="badge45_check"/>
          <p:cNvSpPr txBox="1"/>
          <p:nvPr/>
        </p:nvSpPr>
        <p:spPr>
          <a:xfrm>
            <a:off x="932688" y="6473952"/>
            <a:ext cx="749808" cy="301752"/>
          </a:xfrm>
          <a:prstGeom prst="rect">
            <a:avLst/>
          </a:prstGeom>
          <a:noFill/>
          <a:ln/>
        </p:spPr>
        <p:txBody>
          <a:bodyPr wrap="square" lIns="0" tIns="0" rIns="0" bIns="0" rtlCol="0" anchor="ctr"/>
          <a:lstStyle/>
          <a:p>
            <a:pPr indent="0" marL="0">
              <a:buNone/>
            </a:pPr>
            <a:r>
              <a:rPr lang="en-US" sz="1100" i="1" dirty="0">
                <a:solidFill>
                  <a:srgbClr val="5E7A88"/>
                </a:solidFill>
              </a:rPr>
              <a:t>validated</a:t>
            </a:r>
            <a:endParaRPr lang="en-US" sz="11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692640" cy="731520"/>
          </a:xfrm>
          <a:prstGeom prst="rect">
            <a:avLst/>
          </a:prstGeom>
          <a:noFill/>
          <a:ln/>
        </p:spPr>
        <p:txBody>
          <a:bodyPr wrap="square" rtlCol="0" anchor="ctr"/>
          <a:lstStyle/>
          <a:p>
            <a:pPr algn="l" indent="0" marL="0">
              <a:buNone/>
            </a:pPr>
            <a:r>
              <a:rPr lang="en-US" sz="2600" b="1" dirty="0">
                <a:solidFill>
                  <a:schemeClr val="tx2"/>
                </a:solidFill>
              </a:rPr>
              <a:t>Entities in a neuroimaging knowledge graph (1 of 2)</a:t>
            </a:r>
            <a:endParaRPr lang="en-US" sz="2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11064240" cy="914400"/>
        </p:xfrm>
        <a:graphic>
          <a:graphicData uri="http://schemas.openxmlformats.org/drawingml/2006/table">
            <a:tbl>
              <a:tblPr/>
              <a:tblGrid>
                <a:gridCol w="2103120"/>
                <a:gridCol w="2651760"/>
                <a:gridCol w="6309360"/>
              </a:tblGrid>
              <a:tr h="384048">
                <a:tc>
                  <a:txBody>
                    <a:bodyPr/>
                    <a:lstStyle/>
                    <a:p>
                      <a:pPr indent="0" marL="0">
                        <a:buNone/>
                      </a:pPr>
                      <a:r>
                        <a:rPr lang="en-US" sz="1400" b="1" dirty="0">
                          <a:solidFill>
                            <a:schemeClr val="bg1"/>
                          </a:solidFill>
                        </a:rPr>
                        <a:t>Group</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Kind</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Standards / examples</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accent1"/>
                    </a:solidFill>
                  </a:tcPr>
                </a:tc>
              </a:tr>
              <a:tr h="384048">
                <a:tc>
                  <a:txBody>
                    <a:bodyPr/>
                    <a:lstStyle/>
                    <a:p>
                      <a:pPr indent="0" marL="0">
                        <a:buNone/>
                      </a:pPr>
                      <a:r>
                        <a:rPr lang="en-US" sz="1400" dirty="0">
                          <a:solidFill>
                            <a:schemeClr val="tx1"/>
                          </a:solidFill>
                        </a:rPr>
                        <a:t>What was studied</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Datasets and versions ●</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BIDS, DataLad, OpenNeuro/DANDI/NDA accessions, DCAT</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r h="384048">
                <a:tc>
                  <a:txBody>
                    <a:bodyPr/>
                    <a:lstStyle/>
                    <a:p>
                      <a:pPr indent="0" marL="0">
                        <a:buNone/>
                      </a:pPr>
                      <a:r>
                        <a:rPr lang="en-US" sz="1400" dirty="0">
                          <a:solidFill>
                            <a:schemeClr val="tx1"/>
                          </a:solidFill>
                        </a:rPr>
                        <a:t>What was studied</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Participants, phenotypes ●</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NIDM-Experiment, ReproSchema, NIH CDEs, NDA data dictionary</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r>
              <a:tr h="384048">
                <a:tc>
                  <a:txBody>
                    <a:bodyPr/>
                    <a:lstStyle/>
                    <a:p>
                      <a:pPr indent="0" marL="0">
                        <a:buNone/>
                      </a:pPr>
                      <a:r>
                        <a:rPr lang="en-US" sz="1400" dirty="0">
                          <a:solidFill>
                            <a:schemeClr val="tx1"/>
                          </a:solidFill>
                        </a:rPr>
                        <a:t>What was studied</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Acquisitions, protocols ●</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BIDS sidecars, ReproIn, scanner/sequence parameters, ReproStim</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r h="384048">
                <a:tc>
                  <a:txBody>
                    <a:bodyPr/>
                    <a:lstStyle/>
                    <a:p>
                      <a:pPr indent="0" marL="0">
                        <a:buNone/>
                      </a:pPr>
                      <a:r>
                        <a:rPr lang="en-US" sz="1400" dirty="0">
                          <a:solidFill>
                            <a:schemeClr val="tx1"/>
                          </a:solidFill>
                        </a:rPr>
                        <a:t>What was studied</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Tasks and constructs</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Cognitive Atlas, CogPO, task events</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r>
              <a:tr h="384048">
                <a:tc>
                  <a:txBody>
                    <a:bodyPr/>
                    <a:lstStyle/>
                    <a:p>
                      <a:pPr indent="0" marL="0">
                        <a:buNone/>
                      </a:pPr>
                      <a:r>
                        <a:rPr lang="en-US" sz="1400" dirty="0">
                          <a:solidFill>
                            <a:schemeClr val="tx1"/>
                          </a:solidFill>
                        </a:rPr>
                        <a:t>How it was done</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Methods and software ●</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CodeMeta/schema.org, containers (ReproNim/containers, Neurodocker), Boutiques</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r h="384048">
                <a:tc>
                  <a:txBody>
                    <a:bodyPr/>
                    <a:lstStyle/>
                    <a:p>
                      <a:pPr indent="0" marL="0">
                        <a:buNone/>
                      </a:pPr>
                      <a:r>
                        <a:rPr lang="en-US" sz="1400" dirty="0">
                          <a:solidFill>
                            <a:schemeClr val="tx1"/>
                          </a:solidFill>
                        </a:rPr>
                        <a:t>How it was done</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How to apply a method ●</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Registration routes, compatible spaces, QC criteria, failure modes — skills with acceptance checks</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r>
              <a:tr h="384048">
                <a:tc>
                  <a:txBody>
                    <a:bodyPr/>
                    <a:lstStyle/>
                    <a:p>
                      <a:pPr indent="0" marL="0">
                        <a:buNone/>
                      </a:pPr>
                      <a:r>
                        <a:rPr lang="en-US" sz="1400" dirty="0">
                          <a:solidFill>
                            <a:schemeClr val="tx1"/>
                          </a:solidFill>
                        </a:rPr>
                        <a:t>How it was done</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Templates and spaces</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TemplateFlow (MNI152NLin2009cAsym, fsaverage), Julich/Allen, transform chains</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r h="384048">
                <a:tc>
                  <a:txBody>
                    <a:bodyPr/>
                    <a:lstStyle/>
                    <a:p>
                      <a:pPr indent="0" marL="0">
                        <a:buNone/>
                      </a:pPr>
                      <a:r>
                        <a:rPr lang="en-US" sz="1400" dirty="0">
                          <a:solidFill>
                            <a:schemeClr val="tx1"/>
                          </a:solidFill>
                        </a:rPr>
                        <a:t>How it was done</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Run provenance ●</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W3C PROV, NIDM, DataLad run records, ReproMan, BABS</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r>
              <a:tr h="384048">
                <a:tc>
                  <a:txBody>
                    <a:bodyPr/>
                    <a:lstStyle/>
                    <a:p>
                      <a:pPr indent="0" marL="0">
                        <a:buNone/>
                      </a:pPr>
                      <a:r>
                        <a:rPr lang="en-US" sz="1400" dirty="0">
                          <a:solidFill>
                            <a:schemeClr val="tx1"/>
                          </a:solidFill>
                        </a:rPr>
                        <a:t>How it was done</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Compute environments</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Container images, HPC profiles, seeds (reproseed)</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bl>
          </a:graphicData>
        </a:graphic>
      </p:graphicFrame>
      <p:sp>
        <p:nvSpPr>
          <p:cNvPr id="4" name="text428"/>
          <p:cNvSpPr txBox="1"/>
          <p:nvPr/>
        </p:nvSpPr>
        <p:spPr>
          <a:xfrm>
            <a:off x="2926080" y="6473952"/>
            <a:ext cx="7315200" cy="274320"/>
          </a:xfrm>
          <a:prstGeom prst="rect">
            <a:avLst/>
          </a:prstGeom>
          <a:noFill/>
          <a:ln/>
        </p:spPr>
        <p:txBody>
          <a:bodyPr wrap="square" lIns="0" tIns="0" rIns="0" bIns="0" rtlCol="0" anchor="t"/>
          <a:lstStyle/>
          <a:p>
            <a:pPr indent="0" marL="0">
              <a:buNone/>
            </a:pPr>
            <a:r>
              <a:rPr lang="en-US" sz="1300" i="1" dirty="0">
                <a:solidFill>
                  <a:schemeClr val="accent3"/>
                </a:solidFill>
              </a:rPr>
              <a:t>● populated in the ds000030 or ABIDE packages</a:t>
            </a:r>
            <a:endParaRPr lang="en-US" sz="1300" dirty="0"/>
          </a:p>
        </p:txBody>
      </p:sp>
      <p:sp>
        <p:nvSpPr>
          <p:cNvPr id="6" name="badge46_H"/>
          <p:cNvSpPr txBox="1"/>
          <p:nvPr/>
        </p:nvSpPr>
        <p:spPr>
          <a:xfrm>
            <a:off x="274320"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H</a:t>
            </a:r>
            <a:endParaRPr lang="en-US" sz="1100" dirty="0"/>
          </a:p>
        </p:txBody>
      </p:sp>
      <p:sp>
        <p:nvSpPr>
          <p:cNvPr id="7" name="badge46_L"/>
          <p:cNvSpPr txBox="1"/>
          <p:nvPr/>
        </p:nvSpPr>
        <p:spPr>
          <a:xfrm>
            <a:off x="576072"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L</a:t>
            </a:r>
            <a:endParaRPr lang="en-US" sz="1100" dirty="0"/>
          </a:p>
        </p:txBody>
      </p:sp>
      <p:sp>
        <p:nvSpPr>
          <p:cNvPr id="8" name="badge46_check"/>
          <p:cNvSpPr txBox="1"/>
          <p:nvPr/>
        </p:nvSpPr>
        <p:spPr>
          <a:xfrm>
            <a:off x="932688" y="6473952"/>
            <a:ext cx="676656" cy="301752"/>
          </a:xfrm>
          <a:prstGeom prst="rect">
            <a:avLst/>
          </a:prstGeom>
          <a:noFill/>
          <a:ln/>
        </p:spPr>
        <p:txBody>
          <a:bodyPr wrap="square" lIns="0" tIns="0" rIns="0" bIns="0" rtlCol="0" anchor="ctr"/>
          <a:lstStyle/>
          <a:p>
            <a:pPr indent="0" marL="0">
              <a:buNone/>
            </a:pPr>
            <a:r>
              <a:rPr lang="en-US" sz="1100" i="1" dirty="0">
                <a:solidFill>
                  <a:srgbClr val="5E7A88"/>
                </a:solidFill>
              </a:rPr>
              <a:t>reviewed</a:t>
            </a:r>
            <a:endParaRPr lang="en-US" sz="11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692640" cy="731520"/>
          </a:xfrm>
          <a:prstGeom prst="rect">
            <a:avLst/>
          </a:prstGeom>
          <a:noFill/>
          <a:ln/>
        </p:spPr>
        <p:txBody>
          <a:bodyPr wrap="square" rtlCol="0" anchor="ctr"/>
          <a:lstStyle/>
          <a:p>
            <a:pPr algn="l" indent="0" marL="0">
              <a:buNone/>
            </a:pPr>
            <a:r>
              <a:rPr lang="en-US" sz="2600" b="1" dirty="0">
                <a:solidFill>
                  <a:schemeClr val="tx2"/>
                </a:solidFill>
              </a:rPr>
              <a:t>Entities in a neuroimaging knowledge graph (2 of 2)</a:t>
            </a:r>
            <a:endParaRPr lang="en-US" sz="2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11064240" cy="914400"/>
        </p:xfrm>
        <a:graphic>
          <a:graphicData uri="http://schemas.openxmlformats.org/drawingml/2006/table">
            <a:tbl>
              <a:tblPr/>
              <a:tblGrid>
                <a:gridCol w="2103120"/>
                <a:gridCol w="2651760"/>
                <a:gridCol w="6309360"/>
              </a:tblGrid>
              <a:tr h="384048">
                <a:tc>
                  <a:txBody>
                    <a:bodyPr/>
                    <a:lstStyle/>
                    <a:p>
                      <a:pPr indent="0" marL="0">
                        <a:buNone/>
                      </a:pPr>
                      <a:r>
                        <a:rPr lang="en-US" sz="1400" b="1" dirty="0">
                          <a:solidFill>
                            <a:schemeClr val="bg1"/>
                          </a:solidFill>
                        </a:rPr>
                        <a:t>Group</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Kind</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Standards / examples</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accent1"/>
                    </a:solidFill>
                  </a:tcPr>
                </a:tc>
              </a:tr>
              <a:tr h="384048">
                <a:tc>
                  <a:txBody>
                    <a:bodyPr/>
                    <a:lstStyle/>
                    <a:p>
                      <a:pPr indent="0" marL="0">
                        <a:buNone/>
                      </a:pPr>
                      <a:r>
                        <a:rPr lang="en-US" sz="1400" dirty="0">
                          <a:solidFill>
                            <a:schemeClr val="tx1"/>
                          </a:solidFill>
                        </a:rPr>
                        <a:t>What was found</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Derivatives and IDPs ●</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BIDS-Derivatives, NIDM (FreeSurfer/ANTs/FSL → NIDM), MRIQC → NIDM</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r h="384048">
                <a:tc>
                  <a:txBody>
                    <a:bodyPr/>
                    <a:lstStyle/>
                    <a:p>
                      <a:pPr indent="0" marL="0">
                        <a:buNone/>
                      </a:pPr>
                      <a:r>
                        <a:rPr lang="en-US" sz="1400" dirty="0">
                          <a:solidFill>
                            <a:schemeClr val="tx1"/>
                          </a:solidFill>
                        </a:rPr>
                        <a:t>What was found</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Statistical results, maps</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NIDM-Results, NeuroVault, effect sizes with cohort</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r>
              <a:tr h="384048">
                <a:tc>
                  <a:txBody>
                    <a:bodyPr/>
                    <a:lstStyle/>
                    <a:p>
                      <a:pPr indent="0" marL="0">
                        <a:buNone/>
                      </a:pPr>
                      <a:r>
                        <a:rPr lang="en-US" sz="1400" dirty="0">
                          <a:solidFill>
                            <a:schemeClr val="tx1"/>
                          </a:solidFill>
                        </a:rPr>
                        <a:t>What was found</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Questions, hypotheses ●</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Preregistrations, research-question nodes</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r h="384048">
                <a:tc>
                  <a:txBody>
                    <a:bodyPr/>
                    <a:lstStyle/>
                    <a:p>
                      <a:pPr indent="0" marL="0">
                        <a:buNone/>
                      </a:pPr>
                      <a:r>
                        <a:rPr lang="en-US" sz="1400" dirty="0">
                          <a:solidFill>
                            <a:schemeClr val="tx1"/>
                          </a:solidFill>
                        </a:rPr>
                        <a:t>What was found</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Claims, with scope ●</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Population, measure, contrast, evaluation; ECO evidence codes; nanopublications</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r>
              <a:tr h="384048">
                <a:tc>
                  <a:txBody>
                    <a:bodyPr/>
                    <a:lstStyle/>
                    <a:p>
                      <a:pPr indent="0" marL="0">
                        <a:buNone/>
                      </a:pPr>
                      <a:r>
                        <a:rPr lang="en-US" sz="1400" dirty="0">
                          <a:solidFill>
                            <a:schemeClr val="tx1"/>
                          </a:solidFill>
                        </a:rPr>
                        <a:t>Who and in what context</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Publications ●</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DOI, PMID, sections and quotes as evidence locators</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r h="384048">
                <a:tc>
                  <a:txBody>
                    <a:bodyPr/>
                    <a:lstStyle/>
                    <a:p>
                      <a:pPr indent="0" marL="0">
                        <a:buNone/>
                      </a:pPr>
                      <a:r>
                        <a:rPr lang="en-US" sz="1400" dirty="0">
                          <a:solidFill>
                            <a:schemeClr val="tx1"/>
                          </a:solidFill>
                        </a:rPr>
                        <a:t>Who and in what context</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People and roles ●</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ORCID, ROR, CRediT, PROV qualified roles</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r>
              <a:tr h="384048">
                <a:tc>
                  <a:txBody>
                    <a:bodyPr/>
                    <a:lstStyle/>
                    <a:p>
                      <a:pPr indent="0" marL="0">
                        <a:buNone/>
                      </a:pPr>
                      <a:r>
                        <a:rPr lang="en-US" sz="1400" dirty="0">
                          <a:solidFill>
                            <a:schemeClr val="tx1"/>
                          </a:solidFill>
                        </a:rPr>
                        <a:t>Who and in what context</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Projects and funding</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NIH RePORTER grant IDs</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r h="384048">
                <a:tc>
                  <a:txBody>
                    <a:bodyPr/>
                    <a:lstStyle/>
                    <a:p>
                      <a:pPr indent="0" marL="0">
                        <a:buNone/>
                      </a:pPr>
                      <a:r>
                        <a:rPr lang="en-US" sz="1400" dirty="0">
                          <a:solidFill>
                            <a:schemeClr val="tx1"/>
                          </a:solidFill>
                        </a:rPr>
                        <a:t>Who and in what context</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Reviews and disputes ●</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Attributed assessments; who asserted what, on what evidence</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r>
              <a:tr h="384048">
                <a:tc>
                  <a:txBody>
                    <a:bodyPr/>
                    <a:lstStyle/>
                    <a:p>
                      <a:pPr indent="0" marL="0">
                        <a:buNone/>
                      </a:pPr>
                      <a:r>
                        <a:rPr lang="en-US" sz="1400" dirty="0">
                          <a:solidFill>
                            <a:schemeClr val="tx1"/>
                          </a:solidFill>
                        </a:rPr>
                        <a:t>Who and in what context</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Resources and activity ●</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Dated activity snapshots (commits, issues, citing papers) with age</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r h="384048">
                <a:tc>
                  <a:txBody>
                    <a:bodyPr/>
                    <a:lstStyle/>
                    <a:p>
                      <a:pPr indent="0" marL="0">
                        <a:buNone/>
                      </a:pPr>
                      <a:r>
                        <a:rPr lang="en-US" sz="1400" dirty="0">
                          <a:solidFill>
                            <a:schemeClr val="tx1"/>
                          </a:solidFill>
                        </a:rPr>
                        <a:t>Who and in what context</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Ontologies ●</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UBERON, InterLex/NeuroNames, NCIT, EDAM, ECO, SIO, nidm-terms</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r>
              <a:tr h="384048">
                <a:tc>
                  <a:txBody>
                    <a:bodyPr/>
                    <a:lstStyle/>
                    <a:p>
                      <a:pPr indent="0" marL="0">
                        <a:buNone/>
                      </a:pPr>
                      <a:r>
                        <a:rPr lang="en-US" sz="1400" dirty="0">
                          <a:solidFill>
                            <a:schemeClr val="tx1"/>
                          </a:solidFill>
                        </a:rPr>
                        <a:t>Who and in what context</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Consent, use, licences</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DUO, data use agreements, CC0/CC-BY</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bl>
          </a:graphicData>
        </a:graphic>
      </p:graphicFrame>
      <p:sp>
        <p:nvSpPr>
          <p:cNvPr id="4" name="text429"/>
          <p:cNvSpPr txBox="1"/>
          <p:nvPr/>
        </p:nvSpPr>
        <p:spPr>
          <a:xfrm>
            <a:off x="2926080" y="6473952"/>
            <a:ext cx="7315200" cy="274320"/>
          </a:xfrm>
          <a:prstGeom prst="rect">
            <a:avLst/>
          </a:prstGeom>
          <a:noFill/>
          <a:ln/>
        </p:spPr>
        <p:txBody>
          <a:bodyPr wrap="square" lIns="0" tIns="0" rIns="0" bIns="0" rtlCol="0" anchor="t"/>
          <a:lstStyle/>
          <a:p>
            <a:pPr indent="0" marL="0">
              <a:buNone/>
            </a:pPr>
            <a:r>
              <a:rPr lang="en-US" sz="1300" i="1" dirty="0">
                <a:solidFill>
                  <a:schemeClr val="accent3"/>
                </a:solidFill>
              </a:rPr>
              <a:t>● populated in the ds000030 or ABIDE packages</a:t>
            </a:r>
            <a:endParaRPr lang="en-US" sz="1300" dirty="0"/>
          </a:p>
        </p:txBody>
      </p:sp>
      <p:sp>
        <p:nvSpPr>
          <p:cNvPr id="6" name="badge47_H"/>
          <p:cNvSpPr txBox="1"/>
          <p:nvPr/>
        </p:nvSpPr>
        <p:spPr>
          <a:xfrm>
            <a:off x="274320"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H</a:t>
            </a:r>
            <a:endParaRPr lang="en-US" sz="1100" dirty="0"/>
          </a:p>
        </p:txBody>
      </p:sp>
      <p:sp>
        <p:nvSpPr>
          <p:cNvPr id="7" name="badge47_L"/>
          <p:cNvSpPr txBox="1"/>
          <p:nvPr/>
        </p:nvSpPr>
        <p:spPr>
          <a:xfrm>
            <a:off x="576072"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L</a:t>
            </a:r>
            <a:endParaRPr lang="en-US" sz="1100" dirty="0"/>
          </a:p>
        </p:txBody>
      </p:sp>
      <p:sp>
        <p:nvSpPr>
          <p:cNvPr id="8" name="badge47_check"/>
          <p:cNvSpPr txBox="1"/>
          <p:nvPr/>
        </p:nvSpPr>
        <p:spPr>
          <a:xfrm>
            <a:off x="932688" y="6473952"/>
            <a:ext cx="676656" cy="301752"/>
          </a:xfrm>
          <a:prstGeom prst="rect">
            <a:avLst/>
          </a:prstGeom>
          <a:noFill/>
          <a:ln/>
        </p:spPr>
        <p:txBody>
          <a:bodyPr wrap="square" lIns="0" tIns="0" rIns="0" bIns="0" rtlCol="0" anchor="ctr"/>
          <a:lstStyle/>
          <a:p>
            <a:pPr indent="0" marL="0">
              <a:buNone/>
            </a:pPr>
            <a:r>
              <a:rPr lang="en-US" sz="1100" i="1" dirty="0">
                <a:solidFill>
                  <a:srgbClr val="5E7A88"/>
                </a:solidFill>
              </a:rPr>
              <a:t>reviewed</a:t>
            </a:r>
            <a:endParaRPr lang="en-US" sz="11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692640" cy="731520"/>
          </a:xfrm>
          <a:prstGeom prst="rect">
            <a:avLst/>
          </a:prstGeom>
          <a:noFill/>
          <a:ln/>
        </p:spPr>
        <p:txBody>
          <a:bodyPr wrap="square" rtlCol="0" anchor="ctr"/>
          <a:lstStyle/>
          <a:p>
            <a:pPr algn="l" indent="0" marL="0">
              <a:buNone/>
            </a:pPr>
            <a:r>
              <a:rPr lang="en-US" sz="2600" b="1" dirty="0">
                <a:solidFill>
                  <a:schemeClr val="tx2"/>
                </a:solidFill>
              </a:rPr>
              <a:t>Types of knowledge and where they are recorded: full table</a:t>
            </a:r>
            <a:endParaRPr lang="en-US" sz="2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11064240" cy="914400"/>
        </p:xfrm>
        <a:graphic>
          <a:graphicData uri="http://schemas.openxmlformats.org/drawingml/2006/table">
            <a:tbl>
              <a:tblPr/>
              <a:tblGrid>
                <a:gridCol w="2194560"/>
                <a:gridCol w="5303520"/>
                <a:gridCol w="3566160"/>
              </a:tblGrid>
              <a:tr h="338328">
                <a:tc>
                  <a:txBody>
                    <a:bodyPr/>
                    <a:lstStyle/>
                    <a:p>
                      <a:pPr indent="0" marL="0">
                        <a:buNone/>
                      </a:pPr>
                      <a:r>
                        <a:rPr lang="en-US" sz="1400" b="1" dirty="0">
                          <a:solidFill>
                            <a:schemeClr val="bg1"/>
                          </a:solidFill>
                        </a:rPr>
                        <a:t>Kind</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Neuroimaging example</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Where it lives</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accent1"/>
                    </a:solidFill>
                  </a:tcPr>
                </a:tc>
              </a:tr>
              <a:tr h="338328">
                <a:tc>
                  <a:txBody>
                    <a:bodyPr/>
                    <a:lstStyle/>
                    <a:p>
                      <a:pPr indent="0" marL="0">
                        <a:buNone/>
                      </a:pPr>
                      <a:r>
                        <a:rPr lang="en-US" sz="1400" dirty="0">
                          <a:solidFill>
                            <a:schemeClr val="tx1"/>
                          </a:solidFill>
                        </a:rPr>
                        <a:t>Observations, facts</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TR = 2 s for this scan; mean FD = 0.18 mm</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Graph, with source</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r h="338328">
                <a:tc>
                  <a:txBody>
                    <a:bodyPr/>
                    <a:lstStyle/>
                    <a:p>
                      <a:pPr indent="0" marL="0">
                        <a:buNone/>
                      </a:pPr>
                      <a:r>
                        <a:rPr lang="en-US" sz="1400" dirty="0">
                          <a:solidFill>
                            <a:schemeClr val="tx1"/>
                          </a:solidFill>
                        </a:rPr>
                        <a:t>Definitions</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SSRT computed by quantile method; RAS+; MNI152NLin2009cAsym</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Graph + ontology terms</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r>
              <a:tr h="338328">
                <a:tc>
                  <a:txBody>
                    <a:bodyPr/>
                    <a:lstStyle/>
                    <a:p>
                      <a:pPr indent="0" marL="0">
                        <a:buNone/>
                      </a:pPr>
                      <a:r>
                        <a:rPr lang="en-US" sz="1400" dirty="0">
                          <a:solidFill>
                            <a:schemeClr val="tx1"/>
                          </a:solidFill>
                        </a:rPr>
                        <a:t>Theories, hypotheses</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Dysconnectivity hypothesis of autism</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Graph, as question/hypothesis with status</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r h="338328">
                <a:tc>
                  <a:txBody>
                    <a:bodyPr/>
                    <a:lstStyle/>
                    <a:p>
                      <a:pPr indent="0" marL="0">
                        <a:buNone/>
                      </a:pPr>
                      <a:r>
                        <a:rPr lang="en-US" sz="1400" dirty="0">
                          <a:solidFill>
                            <a:schemeClr val="tx1"/>
                          </a:solidFill>
                        </a:rPr>
                        <a:t>Findings, claims</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Under-connectivity in ASD, in this cohort, this measure</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Graph, scoped, with evidence</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r>
              <a:tr h="338328">
                <a:tc>
                  <a:txBody>
                    <a:bodyPr/>
                    <a:lstStyle/>
                    <a:p>
                      <a:pPr indent="0" marL="0">
                        <a:buNone/>
                      </a:pPr>
                      <a:r>
                        <a:rPr lang="en-US" sz="1400" dirty="0">
                          <a:solidFill>
                            <a:schemeClr val="tx1"/>
                          </a:solidFill>
                        </a:rPr>
                        <a:t>Methods</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What tangent-space connectivity estimates</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Graph + docs</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r h="338328">
                <a:tc>
                  <a:txBody>
                    <a:bodyPr/>
                    <a:lstStyle/>
                    <a:p>
                      <a:pPr indent="0" marL="0">
                        <a:buNone/>
                      </a:pPr>
                      <a:r>
                        <a:rPr lang="en-US" sz="1400" dirty="0">
                          <a:solidFill>
                            <a:schemeClr val="tx1"/>
                          </a:solidFill>
                        </a:rPr>
                        <a:t>Local knowledge</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Scanner B's phase-encoding quirk; lab naming conventions</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Graph + skill, scoped to site</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r>
              <a:tr h="338328">
                <a:tc>
                  <a:txBody>
                    <a:bodyPr/>
                    <a:lstStyle/>
                    <a:p>
                      <a:pPr indent="0" marL="0">
                        <a:buNone/>
                      </a:pPr>
                      <a:r>
                        <a:rPr lang="en-US" sz="1400" dirty="0">
                          <a:solidFill>
                            <a:schemeClr val="tx1"/>
                          </a:solidFill>
                        </a:rPr>
                        <a:t>Disagreement</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Two reviewers disagree on QC</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Graph, as separate attributed assessments</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r h="338328">
                <a:tc>
                  <a:txBody>
                    <a:bodyPr/>
                    <a:lstStyle/>
                    <a:p>
                      <a:pPr indent="0" marL="0">
                        <a:buNone/>
                      </a:pPr>
                      <a:r>
                        <a:rPr lang="en-US" sz="1400" dirty="0">
                          <a:solidFill>
                            <a:schemeClr val="tx1"/>
                          </a:solidFill>
                        </a:rPr>
                        <a:t>Currency</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Tool last released 3 weeks ago</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Graph, dated snapshot with age</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r>
              <a:tr h="338328">
                <a:tc>
                  <a:txBody>
                    <a:bodyPr/>
                    <a:lstStyle/>
                    <a:p>
                      <a:pPr indent="0" marL="0">
                        <a:buNone/>
                      </a:pPr>
                      <a:r>
                        <a:rPr lang="en-US" sz="1400" dirty="0">
                          <a:solidFill>
                            <a:schemeClr val="tx1"/>
                          </a:solidFill>
                        </a:rPr>
                        <a:t>Know-how</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How to register BOLD → T1 → template and check it</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Skill</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r h="338328">
                <a:tc>
                  <a:txBody>
                    <a:bodyPr/>
                    <a:lstStyle/>
                    <a:p>
                      <a:pPr indent="0" marL="0">
                        <a:buNone/>
                      </a:pPr>
                      <a:r>
                        <a:rPr lang="en-US" sz="1400" dirty="0">
                          <a:solidFill>
                            <a:schemeClr val="tx1"/>
                          </a:solidFill>
                        </a:rPr>
                        <a:t>Best practices</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COBIDAS; preprocessing inside CV folds</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Skill, citing the guideline</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r>
              <a:tr h="338328">
                <a:tc>
                  <a:txBody>
                    <a:bodyPr/>
                    <a:lstStyle/>
                    <a:p>
                      <a:pPr indent="0" marL="0">
                        <a:buNone/>
                      </a:pPr>
                      <a:r>
                        <a:rPr lang="en-US" sz="1400" dirty="0">
                          <a:solidFill>
                            <a:schemeClr val="tx1"/>
                          </a:solidFill>
                        </a:rPr>
                        <a:t>Heuristics</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Exclude mean FD &gt; 0.2 mm</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Skill parameter, with its derivation and limits</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r h="338328">
                <a:tc>
                  <a:txBody>
                    <a:bodyPr/>
                    <a:lstStyle/>
                    <a:p>
                      <a:pPr indent="0" marL="0">
                        <a:buNone/>
                      </a:pPr>
                      <a:r>
                        <a:rPr lang="en-US" sz="1400" dirty="0">
                          <a:solidFill>
                            <a:schemeClr val="tx1"/>
                          </a:solidFill>
                        </a:rPr>
                        <a:t>Failure modes</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Left–right flips; leakage across folds; site confounds; double dipping</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Harness check / test</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r>
              <a:tr h="338328">
                <a:tc>
                  <a:txBody>
                    <a:bodyPr/>
                    <a:lstStyle/>
                    <a:p>
                      <a:pPr indent="0" marL="0">
                        <a:buNone/>
                      </a:pPr>
                      <a:r>
                        <a:rPr lang="en-US" sz="1400" dirty="0">
                          <a:solidFill>
                            <a:schemeClr val="tx1"/>
                          </a:solidFill>
                        </a:rPr>
                        <a:t>Acceptance criteria</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Recomputed score matches; derivative has a source edge</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Harness check (SHACL, tests)</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r h="338328">
                <a:tc>
                  <a:txBody>
                    <a:bodyPr/>
                    <a:lstStyle/>
                    <a:p>
                      <a:pPr indent="0" marL="0">
                        <a:buNone/>
                      </a:pPr>
                      <a:r>
                        <a:rPr lang="en-US" sz="1400" dirty="0">
                          <a:solidFill>
                            <a:schemeClr val="tx1"/>
                          </a:solidFill>
                        </a:rPr>
                        <a:t>Tacit judgement</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Visual QC of a registration</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Human review, recorded as an attributed assessment</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r>
            </a:tbl>
          </a:graphicData>
        </a:graphic>
      </p:graphicFrame>
      <p:sp>
        <p:nvSpPr>
          <p:cNvPr id="5" name="badge48_H"/>
          <p:cNvSpPr txBox="1"/>
          <p:nvPr/>
        </p:nvSpPr>
        <p:spPr>
          <a:xfrm>
            <a:off x="274320"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H</a:t>
            </a:r>
            <a:endParaRPr lang="en-US" sz="1100" dirty="0"/>
          </a:p>
        </p:txBody>
      </p:sp>
      <p:sp>
        <p:nvSpPr>
          <p:cNvPr id="6" name="badge48_L"/>
          <p:cNvSpPr txBox="1"/>
          <p:nvPr/>
        </p:nvSpPr>
        <p:spPr>
          <a:xfrm>
            <a:off x="576072"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L</a:t>
            </a:r>
            <a:endParaRPr lang="en-US" sz="1100" dirty="0"/>
          </a:p>
        </p:txBody>
      </p:sp>
      <p:sp>
        <p:nvSpPr>
          <p:cNvPr id="7" name="badge48_check"/>
          <p:cNvSpPr txBox="1"/>
          <p:nvPr/>
        </p:nvSpPr>
        <p:spPr>
          <a:xfrm>
            <a:off x="932688" y="6473952"/>
            <a:ext cx="676656" cy="301752"/>
          </a:xfrm>
          <a:prstGeom prst="rect">
            <a:avLst/>
          </a:prstGeom>
          <a:noFill/>
          <a:ln/>
        </p:spPr>
        <p:txBody>
          <a:bodyPr wrap="square" lIns="0" tIns="0" rIns="0" bIns="0" rtlCol="0" anchor="ctr"/>
          <a:lstStyle/>
          <a:p>
            <a:pPr indent="0" marL="0">
              <a:buNone/>
            </a:pPr>
            <a:r>
              <a:rPr lang="en-US" sz="1100" i="1" dirty="0">
                <a:solidFill>
                  <a:srgbClr val="5E7A88"/>
                </a:solidFill>
              </a:rPr>
              <a:t>reviewed</a:t>
            </a:r>
            <a:endParaRPr lang="en-US" sz="11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692640" cy="731520"/>
          </a:xfrm>
          <a:prstGeom prst="rect">
            <a:avLst/>
          </a:prstGeom>
          <a:noFill/>
          <a:ln/>
        </p:spPr>
        <p:txBody>
          <a:bodyPr wrap="square" rtlCol="0" anchor="ctr"/>
          <a:lstStyle/>
          <a:p>
            <a:pPr algn="l" indent="0" marL="0">
              <a:buNone/>
            </a:pPr>
            <a:r>
              <a:rPr lang="en-US" sz="2600" b="1" dirty="0">
                <a:solidFill>
                  <a:schemeClr val="tx2"/>
                </a:solidFill>
              </a:rPr>
              <a:t>ReproPond and ReproLake: full table and transitions</a:t>
            </a:r>
            <a:endParaRPr lang="en-US" sz="2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48640" y="1005840"/>
          <a:ext cx="11064240" cy="914400"/>
        </p:xfrm>
        <a:graphic>
          <a:graphicData uri="http://schemas.openxmlformats.org/drawingml/2006/table">
            <a:tbl>
              <a:tblPr/>
              <a:tblGrid>
                <a:gridCol w="5532120"/>
                <a:gridCol w="5532120"/>
              </a:tblGrid>
              <a:tr h="292608">
                <a:tc>
                  <a:txBody>
                    <a:bodyPr/>
                    <a:lstStyle/>
                    <a:p>
                      <a:pPr indent="0" marL="0">
                        <a:buNone/>
                      </a:pPr>
                      <a:r>
                        <a:rPr lang="en-US" sz="1200" b="1" dirty="0">
                          <a:solidFill>
                            <a:schemeClr val="bg1"/>
                          </a:solidFill>
                        </a:rPr>
                        <a:t>ReproPond (lab / site)</a:t>
                      </a:r>
                      <a:endParaRPr lang="en-US" sz="12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ReproLake (shared)</a:t>
                      </a:r>
                      <a:endParaRPr lang="en-US" sz="12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accent1"/>
                    </a:solidFill>
                  </a:tcPr>
                </a:tc>
              </a:tr>
              <a:tr h="292608">
                <a:tc>
                  <a:txBody>
                    <a:bodyPr/>
                    <a:lstStyle/>
                    <a:p>
                      <a:pPr indent="0" marL="0">
                        <a:buNone/>
                      </a:pPr>
                      <a:r>
                        <a:rPr lang="en-US" sz="1200" dirty="0">
                          <a:solidFill>
                            <a:schemeClr val="tx1"/>
                          </a:solidFill>
                        </a:rPr>
                        <a:t>Scanner B phase-encoding quirk; site motion profile</a:t>
                      </a:r>
                      <a:endParaRPr lang="en-US" sz="12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BIDS spec, scanner-independent conventions</a:t>
                      </a:r>
                      <a:endParaRPr lang="en-US" sz="12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r h="292608">
                <a:tc>
                  <a:txBody>
                    <a:bodyPr/>
                    <a:lstStyle/>
                    <a:p>
                      <a:pPr indent="0" marL="0">
                        <a:buNone/>
                      </a:pPr>
                      <a:r>
                        <a:rPr lang="en-US" sz="1200" dirty="0">
                          <a:solidFill>
                            <a:schemeClr val="tx1"/>
                          </a:solidFill>
                        </a:rPr>
                        <a:t>Lab QC threshold and its derivation (FD &lt; 0.2 mm on our data)</a:t>
                      </a:r>
                      <a:endParaRPr lang="en-US" sz="12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Published guideline / consensus (COBIDAS, OHBM best practices)</a:t>
                      </a:r>
                      <a:endParaRPr lang="en-US" sz="12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r>
              <a:tr h="292608">
                <a:tc>
                  <a:txBody>
                    <a:bodyPr/>
                    <a:lstStyle/>
                    <a:p>
                      <a:pPr indent="0" marL="0">
                        <a:buNone/>
                      </a:pPr>
                      <a:r>
                        <a:rPr lang="en-US" sz="1200" dirty="0">
                          <a:solidFill>
                            <a:schemeClr val="tx1"/>
                          </a:solidFill>
                        </a:rPr>
                        <a:t>Exact cohort manifests, exclusions, per-participant derivatives</a:t>
                      </a:r>
                      <a:endParaRPr lang="en-US" sz="12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Dataset record, version, licence (OpenNeuro, DANDI, ABIDE)</a:t>
                      </a:r>
                      <a:endParaRPr lang="en-US" sz="12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r h="292608">
                <a:tc>
                  <a:txBody>
                    <a:bodyPr/>
                    <a:lstStyle/>
                    <a:p>
                      <a:pPr indent="0" marL="0">
                        <a:buNone/>
                      </a:pPr>
                      <a:r>
                        <a:rPr lang="en-US" sz="1200" dirty="0">
                          <a:solidFill>
                            <a:schemeClr val="tx1"/>
                          </a:solidFill>
                        </a:rPr>
                        <a:t>Lab skills and runbooks (how we register, how we QC)</a:t>
                      </a:r>
                      <a:endParaRPr lang="en-US" sz="12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Shared skill repos (ReproNim/skills, sensein/agent_skills)</a:t>
                      </a:r>
                      <a:endParaRPr lang="en-US" sz="12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r>
              <a:tr h="292608">
                <a:tc>
                  <a:txBody>
                    <a:bodyPr/>
                    <a:lstStyle/>
                    <a:p>
                      <a:pPr indent="0" marL="0">
                        <a:buNone/>
                      </a:pPr>
                      <a:r>
                        <a:rPr lang="en-US" sz="1200" dirty="0">
                          <a:solidFill>
                            <a:schemeClr val="tx1"/>
                          </a:solidFill>
                        </a:rPr>
                        <a:t>Local variable names, site-specific instruments</a:t>
                      </a:r>
                      <a:endParaRPr lang="en-US" sz="12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nidm-terms / InterLex concepts, ReproSchema library</a:t>
                      </a:r>
                      <a:endParaRPr lang="en-US" sz="12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r h="292608">
                <a:tc>
                  <a:txBody>
                    <a:bodyPr/>
                    <a:lstStyle/>
                    <a:p>
                      <a:pPr indent="0" marL="0">
                        <a:buNone/>
                      </a:pPr>
                      <a:r>
                        <a:rPr lang="en-US" sz="1200" dirty="0">
                          <a:solidFill>
                            <a:schemeClr val="tx1"/>
                          </a:solidFill>
                        </a:rPr>
                        <a:t>Unpublished findings, reviews, disagreements</a:t>
                      </a:r>
                      <a:endParaRPr lang="en-US" sz="12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Publications, scoped claims in literature KGs</a:t>
                      </a:r>
                      <a:endParaRPr lang="en-US" sz="12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r>
              <a:tr h="292608">
                <a:tc>
                  <a:txBody>
                    <a:bodyPr/>
                    <a:lstStyle/>
                    <a:p>
                      <a:pPr indent="0" marL="0">
                        <a:buNone/>
                      </a:pPr>
                      <a:r>
                        <a:rPr lang="en-US" sz="1200" dirty="0">
                          <a:solidFill>
                            <a:schemeClr val="tx1"/>
                          </a:solidFill>
                        </a:rPr>
                        <a:t>Data with consent scoped to the study or named uses; DUA-limited data</a:t>
                      </a:r>
                      <a:endParaRPr lang="en-US" sz="12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DUO codes; only de-identified, permitted summaries</a:t>
                      </a:r>
                      <a:endParaRPr lang="en-US" sz="12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bl>
          </a:graphicData>
        </a:graphic>
      </p:graphicFrame>
      <p:sp>
        <p:nvSpPr>
          <p:cNvPr id="4" name="transitions"/>
          <p:cNvSpPr txBox="1"/>
          <p:nvPr/>
        </p:nvSpPr>
        <p:spPr>
          <a:xfrm>
            <a:off x="548640" y="3520440"/>
            <a:ext cx="11064240" cy="2743200"/>
          </a:xfrm>
          <a:prstGeom prst="rect">
            <a:avLst/>
          </a:prstGeom>
          <a:noFill/>
          <a:ln/>
        </p:spPr>
        <p:txBody>
          <a:bodyPr wrap="square" rtlCol="0" anchor="t"/>
          <a:lstStyle/>
          <a:p>
            <a:pPr indent="0" marL="0">
              <a:spcAft>
                <a:spcPts val="400"/>
              </a:spcAft>
              <a:buNone/>
            </a:pPr>
            <a:r>
              <a:rPr lang="en-US" sz="1300" b="1" dirty="0">
                <a:solidFill>
                  <a:schemeClr val="tx1"/>
                </a:solidFill>
              </a:rPr>
              <a:t>pond → lake: </a:t>
            </a:r>
            <a:pPr indent="0" marL="0">
              <a:spcAft>
                <a:spcPts val="400"/>
              </a:spcAft>
              <a:buNone/>
            </a:pPr>
            <a:r>
              <a:rPr lang="en-US" sz="1300" dirty="0">
                <a:solidFill>
                  <a:schemeClr val="tx1"/>
                </a:solidFill>
              </a:rPr>
              <a:t>generality beyond one site or sample, review, de-identification, consent that covers broad sharing (DUO), licence, persistent identifier and version, provenance retained.</a:t>
            </a:r>
            <a:endParaRPr lang="en-US" sz="1300" dirty="0"/>
          </a:p>
          <a:p>
            <a:pPr indent="0" marL="0">
              <a:spcAft>
                <a:spcPts val="400"/>
              </a:spcAft>
              <a:buNone/>
            </a:pPr>
            <a:r>
              <a:rPr lang="en-US" sz="1300" b="1" dirty="0">
                <a:solidFill>
                  <a:schemeClr val="tx1"/>
                </a:solidFill>
              </a:rPr>
              <a:t>lake → pond: </a:t>
            </a:r>
            <a:pPr indent="0" marL="0">
              <a:spcAft>
                <a:spcPts val="400"/>
              </a:spcAft>
              <a:buNone/>
            </a:pPr>
            <a:r>
              <a:rPr lang="en-US" sz="1300" dirty="0">
                <a:solidFill>
                  <a:schemeClr val="tx1"/>
                </a:solidFill>
              </a:rPr>
              <a:t>pin the version, record local parameters and deviations, re-validate on local data.</a:t>
            </a:r>
            <a:endParaRPr lang="en-US" sz="1300" dirty="0"/>
          </a:p>
          <a:p>
            <a:pPr indent="0" marL="0">
              <a:spcAft>
                <a:spcPts val="400"/>
              </a:spcAft>
              <a:buNone/>
            </a:pPr>
            <a:r>
              <a:rPr lang="en-US" sz="1300" b="1" dirty="0">
                <a:solidFill>
                  <a:schemeClr val="tx1"/>
                </a:solidFill>
              </a:rPr>
              <a:t>Deprecation / revision: </a:t>
            </a:r>
            <a:pPr indent="0" marL="0">
              <a:spcAft>
                <a:spcPts val="400"/>
              </a:spcAft>
              <a:buNone/>
            </a:pPr>
            <a:r>
              <a:rPr lang="en-US" sz="1300" dirty="0">
                <a:solidFill>
                  <a:schemeClr val="tx1"/>
                </a:solidFill>
              </a:rPr>
              <a:t>shared knowledge ages or is contradicted; flag local copies when the source changes.</a:t>
            </a:r>
            <a:endParaRPr lang="en-US" sz="1300" dirty="0"/>
          </a:p>
          <a:p>
            <a:pPr indent="0" marL="0">
              <a:spcAft>
                <a:spcPts val="400"/>
              </a:spcAft>
              <a:buNone/>
            </a:pPr>
            <a:r>
              <a:rPr lang="en-US" sz="1300" b="1" dirty="0">
                <a:solidFill>
                  <a:schemeClr val="tx1"/>
                </a:solidFill>
              </a:rPr>
              <a:t>Stays in the pond: </a:t>
            </a:r>
            <a:pPr indent="0" marL="0">
              <a:spcAft>
                <a:spcPts val="400"/>
              </a:spcAft>
              <a:buNone/>
            </a:pPr>
            <a:r>
              <a:rPr lang="en-US" sz="1300" dirty="0">
                <a:solidFill>
                  <a:schemeClr val="tx1"/>
                </a:solidFill>
              </a:rPr>
              <a:t>data whose consent does not cover broad sharing (consent scoped to the study or to named uses; DUO-restricted; DUA-limited); direct identifiers and full dates; undefaced structural images; quasi-identifier combinations and small cells; restricted fields; linking keys between pseudonymous IDs and people.</a:t>
            </a:r>
            <a:endParaRPr lang="en-US" sz="1300" dirty="0"/>
          </a:p>
          <a:p>
            <a:pPr indent="0" marL="0">
              <a:spcAft>
                <a:spcPts val="400"/>
              </a:spcAft>
              <a:buNone/>
            </a:pPr>
            <a:r>
              <a:rPr lang="en-US" sz="1300" b="1" dirty="0">
                <a:solidFill>
                  <a:schemeClr val="tx1"/>
                </a:solidFill>
              </a:rPr>
              <a:t>Can flow after the gates: </a:t>
            </a:r>
            <a:pPr indent="0" marL="0">
              <a:spcAft>
                <a:spcPts val="400"/>
              </a:spcAft>
              <a:buNone/>
            </a:pPr>
            <a:r>
              <a:rPr lang="en-US" sz="1300" dirty="0">
                <a:solidFill>
                  <a:schemeClr val="tx1"/>
                </a:solidFill>
              </a:rPr>
              <a:t>dataset-level metadata, dictionaries and term mappings, aggregate counts above a minimum cell size, de-identified consented records, derived measures where consent allows, skills, provenance with pseudonymous IDs, scoped claims.</a:t>
            </a:r>
            <a:endParaRPr lang="en-US" sz="1300" dirty="0"/>
          </a:p>
        </p:txBody>
      </p:sp>
      <p:sp>
        <p:nvSpPr>
          <p:cNvPr id="6" name="badge49_H"/>
          <p:cNvSpPr txBox="1"/>
          <p:nvPr/>
        </p:nvSpPr>
        <p:spPr>
          <a:xfrm>
            <a:off x="274320"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H</a:t>
            </a:r>
            <a:endParaRPr lang="en-US" sz="1100" dirty="0"/>
          </a:p>
        </p:txBody>
      </p:sp>
      <p:sp>
        <p:nvSpPr>
          <p:cNvPr id="7" name="badge49_L"/>
          <p:cNvSpPr txBox="1"/>
          <p:nvPr/>
        </p:nvSpPr>
        <p:spPr>
          <a:xfrm>
            <a:off x="576072"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L</a:t>
            </a:r>
            <a:endParaRPr lang="en-US" sz="1100" dirty="0"/>
          </a:p>
        </p:txBody>
      </p:sp>
      <p:sp>
        <p:nvSpPr>
          <p:cNvPr id="8" name="badge49_R"/>
          <p:cNvSpPr txBox="1"/>
          <p:nvPr/>
        </p:nvSpPr>
        <p:spPr>
          <a:xfrm>
            <a:off x="877824"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R</a:t>
            </a:r>
            <a:endParaRPr lang="en-US" sz="1100" dirty="0"/>
          </a:p>
        </p:txBody>
      </p:sp>
      <p:sp>
        <p:nvSpPr>
          <p:cNvPr id="9" name="badge49_check"/>
          <p:cNvSpPr txBox="1"/>
          <p:nvPr/>
        </p:nvSpPr>
        <p:spPr>
          <a:xfrm>
            <a:off x="1234440" y="6473952"/>
            <a:ext cx="676656" cy="301752"/>
          </a:xfrm>
          <a:prstGeom prst="rect">
            <a:avLst/>
          </a:prstGeom>
          <a:noFill/>
          <a:ln/>
        </p:spPr>
        <p:txBody>
          <a:bodyPr wrap="square" lIns="0" tIns="0" rIns="0" bIns="0" rtlCol="0" anchor="ctr"/>
          <a:lstStyle/>
          <a:p>
            <a:pPr indent="0" marL="0">
              <a:buNone/>
            </a:pPr>
            <a:r>
              <a:rPr lang="en-US" sz="1100" i="1" dirty="0">
                <a:solidFill>
                  <a:srgbClr val="5E7A88"/>
                </a:solidFill>
              </a:rPr>
              <a:t>reviewed</a:t>
            </a:r>
            <a:endParaRPr lang="en-US" sz="11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692640" cy="731520"/>
          </a:xfrm>
          <a:prstGeom prst="rect">
            <a:avLst/>
          </a:prstGeom>
          <a:noFill/>
          <a:ln/>
        </p:spPr>
        <p:txBody>
          <a:bodyPr wrap="square" rtlCol="0" anchor="ctr"/>
          <a:lstStyle/>
          <a:p>
            <a:pPr algn="l" indent="0" marL="0">
              <a:buNone/>
            </a:pPr>
            <a:r>
              <a:rPr lang="en-US" sz="2600" b="1" dirty="0">
                <a:solidFill>
                  <a:schemeClr val="tx2"/>
                </a:solidFill>
              </a:rPr>
              <a:t>Provenance of a single phenotype measurement</a:t>
            </a:r>
            <a:endParaRPr lang="en-US" sz="2600" dirty="0"/>
          </a:p>
        </p:txBody>
      </p:sp>
      <p:sp>
        <p:nvSpPr>
          <p:cNvPr id="3" name="shape430"/>
          <p:cNvSpPr txBox="1"/>
          <p:nvPr/>
        </p:nvSpPr>
        <p:spPr>
          <a:xfrm>
            <a:off x="457200" y="1371600"/>
            <a:ext cx="2194560" cy="2194560"/>
          </a:xfrm>
          <a:prstGeom prst="ellipse">
            <a:avLst/>
          </a:prstGeom>
          <a:solidFill>
            <a:schemeClr val="tx2"/>
          </a:solidFill>
          <a:ln/>
        </p:spPr>
        <p:txBody>
          <a:bodyPr wrap="square" lIns="25400" tIns="25400" rIns="25400" bIns="25400" rtlCol="0" anchor="ctr"/>
          <a:lstStyle/>
          <a:p>
            <a:pPr algn="ctr" indent="0" marL="0">
              <a:buNone/>
            </a:pPr>
            <a:r>
              <a:rPr lang="en-US" sz="1800" b="1" dirty="0">
                <a:solidFill>
                  <a:schemeClr val="bg1"/>
                </a:solidFill>
              </a:rPr>
              <a:t>sub-10159</a:t>
            </a:r>
            <a:endParaRPr lang="en-US" sz="1800" dirty="0"/>
          </a:p>
          <a:p>
            <a:pPr algn="ctr" indent="0" marL="0">
              <a:buNone/>
            </a:pPr>
            <a:r>
              <a:rPr lang="en-US" sz="1200" dirty="0">
                <a:solidFill>
                  <a:schemeClr val="accent4"/>
                </a:solidFill>
              </a:rPr>
              <a:t>participant</a:t>
            </a:r>
            <a:endParaRPr lang="en-US" sz="1800" dirty="0"/>
          </a:p>
        </p:txBody>
      </p:sp>
      <p:sp>
        <p:nvSpPr>
          <p:cNvPr id="4" name="shape431"/>
          <p:cNvSpPr txBox="1"/>
          <p:nvPr/>
        </p:nvSpPr>
        <p:spPr>
          <a:xfrm>
            <a:off x="3291840" y="2971800"/>
            <a:ext cx="2194560" cy="2194560"/>
          </a:xfrm>
          <a:prstGeom prst="ellipse">
            <a:avLst/>
          </a:prstGeom>
          <a:solidFill>
            <a:schemeClr val="accent4"/>
          </a:solidFill>
          <a:ln/>
        </p:spPr>
        <p:txBody>
          <a:bodyPr wrap="square" lIns="25400" tIns="25400" rIns="25400" bIns="25400" rtlCol="0" anchor="ctr"/>
          <a:lstStyle/>
          <a:p>
            <a:pPr algn="ctr" indent="0" marL="0">
              <a:buNone/>
            </a:pPr>
            <a:r>
              <a:rPr lang="en-US" sz="1800" b="1" dirty="0">
                <a:solidFill>
                  <a:schemeClr val="tx1"/>
                </a:solidFill>
              </a:rPr>
              <a:t>Barratt</a:t>
            </a:r>
            <a:endParaRPr lang="en-US" sz="1800" dirty="0"/>
          </a:p>
          <a:p>
            <a:pPr algn="ctr" indent="0" marL="0">
              <a:buNone/>
            </a:pPr>
            <a:r>
              <a:rPr lang="en-US" sz="1800" b="1" dirty="0">
                <a:solidFill>
                  <a:schemeClr val="tx1"/>
                </a:solidFill>
              </a:rPr>
              <a:t>questionnaire</a:t>
            </a:r>
            <a:endParaRPr lang="en-US" sz="1800" dirty="0"/>
          </a:p>
          <a:p>
            <a:pPr algn="ctr" indent="0" marL="0">
              <a:buNone/>
            </a:pPr>
            <a:r>
              <a:rPr lang="en-US" sz="1800" b="1" dirty="0">
                <a:solidFill>
                  <a:schemeClr val="tx1"/>
                </a:solidFill>
              </a:rPr>
              <a:t>session</a:t>
            </a:r>
            <a:endParaRPr lang="en-US" sz="1800" dirty="0"/>
          </a:p>
          <a:p>
            <a:pPr algn="ctr" indent="0" marL="0">
              <a:buNone/>
            </a:pPr>
            <a:r>
              <a:rPr lang="en-US" sz="1200" dirty="0">
                <a:solidFill>
                  <a:schemeClr val="accent3"/>
                </a:solidFill>
              </a:rPr>
              <a:t>nidm:Acquisition</a:t>
            </a:r>
            <a:endParaRPr lang="en-US" sz="1800" dirty="0"/>
          </a:p>
        </p:txBody>
      </p:sp>
      <p:sp>
        <p:nvSpPr>
          <p:cNvPr id="5" name="shape432"/>
          <p:cNvSpPr txBox="1"/>
          <p:nvPr/>
        </p:nvSpPr>
        <p:spPr>
          <a:xfrm>
            <a:off x="6172200" y="1371600"/>
            <a:ext cx="2194560" cy="2194560"/>
          </a:xfrm>
          <a:prstGeom prst="ellipse">
            <a:avLst/>
          </a:prstGeom>
          <a:solidFill>
            <a:schemeClr val="accent4"/>
          </a:solidFill>
          <a:ln/>
        </p:spPr>
        <p:txBody>
          <a:bodyPr wrap="square" lIns="25400" tIns="25400" rIns="25400" bIns="25400" rtlCol="0" anchor="ctr"/>
          <a:lstStyle/>
          <a:p>
            <a:pPr algn="ctr" indent="0" marL="0">
              <a:buNone/>
            </a:pPr>
            <a:r>
              <a:rPr lang="en-US" sz="1800" b="1" dirty="0">
                <a:solidFill>
                  <a:schemeClr val="tx1"/>
                </a:solidFill>
              </a:rPr>
              <a:t>Questionnaire</a:t>
            </a:r>
            <a:endParaRPr lang="en-US" sz="1800" dirty="0"/>
          </a:p>
          <a:p>
            <a:pPr algn="ctr" indent="0" marL="0">
              <a:buNone/>
            </a:pPr>
            <a:r>
              <a:rPr lang="en-US" sz="1800" b="1" dirty="0">
                <a:solidFill>
                  <a:schemeClr val="tx1"/>
                </a:solidFill>
              </a:rPr>
              <a:t>record</a:t>
            </a:r>
            <a:endParaRPr lang="en-US" sz="1800" dirty="0"/>
          </a:p>
          <a:p>
            <a:pPr algn="ctr" indent="0" marL="0">
              <a:buNone/>
            </a:pPr>
            <a:r>
              <a:rPr lang="en-US" sz="1200" dirty="0">
                <a:solidFill>
                  <a:schemeClr val="accent3"/>
                </a:solidFill>
              </a:rPr>
              <a:t>nidm:AcquisitionObject</a:t>
            </a:r>
            <a:endParaRPr lang="en-US" sz="1800" dirty="0"/>
          </a:p>
        </p:txBody>
      </p:sp>
      <p:sp>
        <p:nvSpPr>
          <p:cNvPr id="6" name="shape433"/>
          <p:cNvSpPr txBox="1"/>
          <p:nvPr/>
        </p:nvSpPr>
        <p:spPr>
          <a:xfrm>
            <a:off x="9235440" y="2971800"/>
            <a:ext cx="2194560" cy="2194560"/>
          </a:xfrm>
          <a:prstGeom prst="ellipse">
            <a:avLst/>
          </a:prstGeom>
          <a:solidFill>
            <a:schemeClr val="accent1"/>
          </a:solidFill>
          <a:ln/>
        </p:spPr>
        <p:txBody>
          <a:bodyPr wrap="square" lIns="25400" tIns="25400" rIns="25400" bIns="25400" rtlCol="0" anchor="ctr"/>
          <a:lstStyle/>
          <a:p>
            <a:pPr algn="ctr" indent="0" marL="0">
              <a:buNone/>
            </a:pPr>
            <a:r>
              <a:rPr lang="en-US" sz="1800" b="1" dirty="0">
                <a:solidFill>
                  <a:schemeClr val="bg1"/>
                </a:solidFill>
              </a:rPr>
              <a:t>‘acts</a:t>
            </a:r>
            <a:endParaRPr lang="en-US" sz="1800" dirty="0"/>
          </a:p>
          <a:p>
            <a:pPr algn="ctr" indent="0" marL="0">
              <a:buNone/>
            </a:pPr>
            <a:r>
              <a:rPr lang="en-US" sz="1800" b="1" dirty="0">
                <a:solidFill>
                  <a:schemeClr val="bg1"/>
                </a:solidFill>
              </a:rPr>
              <a:t>impulsively’</a:t>
            </a:r>
            <a:endParaRPr lang="en-US" sz="1800" dirty="0"/>
          </a:p>
          <a:p>
            <a:pPr algn="ctr" indent="0" marL="0">
              <a:buNone/>
            </a:pPr>
            <a:r>
              <a:rPr lang="en-US" sz="1800" b="1" dirty="0">
                <a:solidFill>
                  <a:schemeClr val="bg1"/>
                </a:solidFill>
              </a:rPr>
              <a:t>= 2.0</a:t>
            </a:r>
            <a:endParaRPr lang="en-US" sz="1800" dirty="0"/>
          </a:p>
          <a:p>
            <a:pPr algn="ctr" indent="0" marL="0">
              <a:buNone/>
            </a:pPr>
            <a:r>
              <a:rPr lang="en-US" sz="1200" dirty="0">
                <a:solidFill>
                  <a:schemeClr val="accent4"/>
                </a:solidFill>
              </a:rPr>
              <a:t>bis_parcel1</a:t>
            </a:r>
            <a:endParaRPr lang="en-US" sz="1800" dirty="0"/>
          </a:p>
        </p:txBody>
      </p:sp>
      <p:sp>
        <p:nvSpPr>
          <p:cNvPr id="7" name="curve434"/>
          <p:cNvSpPr/>
          <p:nvPr/>
        </p:nvSpPr>
        <p:spPr>
          <a:xfrm>
            <a:off x="2377440" y="3108960"/>
            <a:ext cx="1051560" cy="640080"/>
          </a:xfrm>
          <a:custGeom>
            <a:avLst/>
            <a:gdLst/>
            <a:ahLst/>
            <a:cxnLst/>
            <a:rect l="l" t="t" r="r" b="b"/>
            <a:pathLst>
              <a:path w="1051560" h="640080">
                <a:moveTo>
                  <a:pt x="1051560" y="640080"/>
                </a:moveTo>
                <a:cubicBezTo>
                  <a:pt x="525780" y="640080"/>
                  <a:pt x="525780" y="0"/>
                  <a:pt x="0" y="0"/>
                </a:cubicBezTo>
              </a:path>
            </a:pathLst>
          </a:custGeom>
          <a:ln w="31750">
            <a:solidFill>
              <a:schemeClr val="accent3"/>
            </a:solidFill>
            <a:prstDash val="solid"/>
            <a:tailEnd type="triangle"/>
          </a:ln>
        </p:spPr>
      </p:sp>
      <p:sp>
        <p:nvSpPr>
          <p:cNvPr id="8" name="text435"/>
          <p:cNvSpPr txBox="1"/>
          <p:nvPr/>
        </p:nvSpPr>
        <p:spPr>
          <a:xfrm>
            <a:off x="548640" y="3977640"/>
            <a:ext cx="2743200" cy="365760"/>
          </a:xfrm>
          <a:prstGeom prst="rect">
            <a:avLst/>
          </a:prstGeom>
          <a:noFill/>
          <a:ln/>
        </p:spPr>
        <p:txBody>
          <a:bodyPr wrap="square" lIns="0" tIns="0" rIns="0" bIns="0" rtlCol="0" anchor="ctr"/>
          <a:lstStyle/>
          <a:p>
            <a:pPr algn="ctr" indent="0" marL="0">
              <a:buNone/>
            </a:pPr>
            <a:r>
              <a:rPr lang="en-US" sz="1600" i="1" dirty="0">
                <a:solidFill>
                  <a:schemeClr val="accent3"/>
                </a:solidFill>
              </a:rPr>
              <a:t>with participant (role: subject)</a:t>
            </a:r>
            <a:endParaRPr lang="en-US" sz="1600" dirty="0"/>
          </a:p>
        </p:txBody>
      </p:sp>
      <p:sp>
        <p:nvSpPr>
          <p:cNvPr id="9" name="curve436"/>
          <p:cNvSpPr/>
          <p:nvPr/>
        </p:nvSpPr>
        <p:spPr>
          <a:xfrm>
            <a:off x="5257800" y="2926080"/>
            <a:ext cx="1051560" cy="594360"/>
          </a:xfrm>
          <a:custGeom>
            <a:avLst/>
            <a:gdLst/>
            <a:ahLst/>
            <a:cxnLst/>
            <a:rect l="l" t="t" r="r" b="b"/>
            <a:pathLst>
              <a:path w="1051560" h="594360">
                <a:moveTo>
                  <a:pt x="1051560" y="0"/>
                </a:moveTo>
                <a:cubicBezTo>
                  <a:pt x="525780" y="0"/>
                  <a:pt x="525780" y="594360"/>
                  <a:pt x="0" y="594360"/>
                </a:cubicBezTo>
              </a:path>
            </a:pathLst>
          </a:custGeom>
          <a:ln w="31750">
            <a:solidFill>
              <a:schemeClr val="accent3"/>
            </a:solidFill>
            <a:prstDash val="solid"/>
            <a:tailEnd type="triangle"/>
          </a:ln>
        </p:spPr>
      </p:sp>
      <p:sp>
        <p:nvSpPr>
          <p:cNvPr id="10" name="text437"/>
          <p:cNvSpPr txBox="1"/>
          <p:nvPr/>
        </p:nvSpPr>
        <p:spPr>
          <a:xfrm>
            <a:off x="4480560" y="2514600"/>
            <a:ext cx="2011680" cy="365760"/>
          </a:xfrm>
          <a:prstGeom prst="rect">
            <a:avLst/>
          </a:prstGeom>
          <a:noFill/>
          <a:ln/>
        </p:spPr>
        <p:txBody>
          <a:bodyPr wrap="square" lIns="0" tIns="0" rIns="0" bIns="0" rtlCol="0" anchor="ctr"/>
          <a:lstStyle/>
          <a:p>
            <a:pPr algn="ctr" indent="0" marL="0">
              <a:buNone/>
            </a:pPr>
            <a:r>
              <a:rPr lang="en-US" sz="1600" i="1" dirty="0">
                <a:solidFill>
                  <a:schemeClr val="accent3"/>
                </a:solidFill>
              </a:rPr>
              <a:t>was generated by</a:t>
            </a:r>
            <a:endParaRPr lang="en-US" sz="1600" dirty="0"/>
          </a:p>
        </p:txBody>
      </p:sp>
      <p:sp>
        <p:nvSpPr>
          <p:cNvPr id="11" name="curve438"/>
          <p:cNvSpPr/>
          <p:nvPr/>
        </p:nvSpPr>
        <p:spPr>
          <a:xfrm>
            <a:off x="8229600" y="2926080"/>
            <a:ext cx="1143000" cy="594360"/>
          </a:xfrm>
          <a:custGeom>
            <a:avLst/>
            <a:gdLst/>
            <a:ahLst/>
            <a:cxnLst/>
            <a:rect l="l" t="t" r="r" b="b"/>
            <a:pathLst>
              <a:path w="1143000" h="594360">
                <a:moveTo>
                  <a:pt x="0" y="0"/>
                </a:moveTo>
                <a:cubicBezTo>
                  <a:pt x="571500" y="0"/>
                  <a:pt x="571500" y="594360"/>
                  <a:pt x="1143000" y="594360"/>
                </a:cubicBezTo>
              </a:path>
            </a:pathLst>
          </a:custGeom>
          <a:ln w="31750">
            <a:solidFill>
              <a:schemeClr val="accent3"/>
            </a:solidFill>
            <a:prstDash val="solid"/>
            <a:tailEnd type="triangle"/>
          </a:ln>
        </p:spPr>
      </p:sp>
      <p:sp>
        <p:nvSpPr>
          <p:cNvPr id="12" name="text439"/>
          <p:cNvSpPr txBox="1"/>
          <p:nvPr/>
        </p:nvSpPr>
        <p:spPr>
          <a:xfrm>
            <a:off x="8138160" y="2514600"/>
            <a:ext cx="2377440" cy="365760"/>
          </a:xfrm>
          <a:prstGeom prst="rect">
            <a:avLst/>
          </a:prstGeom>
          <a:noFill/>
          <a:ln/>
        </p:spPr>
        <p:txBody>
          <a:bodyPr wrap="square" lIns="0" tIns="0" rIns="0" bIns="0" rtlCol="0" anchor="ctr"/>
          <a:lstStyle/>
          <a:p>
            <a:pPr algn="ctr" indent="0" marL="0">
              <a:buNone/>
            </a:pPr>
            <a:r>
              <a:rPr lang="en-US" sz="1600" i="1" dirty="0">
                <a:solidFill>
                  <a:schemeClr val="accent3"/>
                </a:solidFill>
              </a:rPr>
              <a:t>‘acts impulsively’ score</a:t>
            </a:r>
            <a:endParaRPr lang="en-US" sz="1600" dirty="0"/>
          </a:p>
        </p:txBody>
      </p:sp>
      <p:sp>
        <p:nvSpPr>
          <p:cNvPr id="13" name="shape440"/>
          <p:cNvSpPr txBox="1"/>
          <p:nvPr/>
        </p:nvSpPr>
        <p:spPr>
          <a:xfrm>
            <a:off x="5897880" y="5257800"/>
            <a:ext cx="2743200" cy="1005840"/>
          </a:xfrm>
          <a:prstGeom prst="roundRect">
            <a:avLst>
              <a:gd name="adj" fmla="val 22727"/>
            </a:avLst>
          </a:prstGeom>
          <a:solidFill>
            <a:schemeClr val="bg2"/>
          </a:solidFill>
          <a:ln w="19050">
            <a:solidFill>
              <a:srgbClr val="B8C4C9"/>
            </a:solidFill>
            <a:prstDash val="solid"/>
          </a:ln>
        </p:spPr>
        <p:txBody>
          <a:bodyPr wrap="square" lIns="50800" tIns="50800" rIns="50800" bIns="50800" rtlCol="0" anchor="ctr"/>
          <a:lstStyle/>
          <a:p>
            <a:pPr algn="ctr" indent="0" marL="0">
              <a:buNone/>
            </a:pPr>
            <a:r>
              <a:rPr lang="en-US" sz="2000" b="1" dirty="0">
                <a:solidFill>
                  <a:schemeClr val="tx1"/>
                </a:solidFill>
              </a:rPr>
              <a:t>barratt.tsv</a:t>
            </a:r>
            <a:endParaRPr lang="en-US" sz="1800" dirty="0"/>
          </a:p>
          <a:p>
            <a:pPr algn="ctr" indent="0" marL="0">
              <a:buNone/>
            </a:pPr>
            <a:r>
              <a:rPr lang="en-US" sz="1800" dirty="0">
                <a:solidFill>
                  <a:schemeClr val="accent3"/>
                </a:solidFill>
              </a:rPr>
              <a:t>source row 2</a:t>
            </a:r>
            <a:endParaRPr lang="en-US" sz="1800" dirty="0"/>
          </a:p>
        </p:txBody>
      </p:sp>
      <p:sp>
        <p:nvSpPr>
          <p:cNvPr id="14" name="arrow441"/>
          <p:cNvSpPr/>
          <p:nvPr/>
        </p:nvSpPr>
        <p:spPr>
          <a:xfrm>
            <a:off x="7269480" y="3566160"/>
            <a:ext cx="914" cy="1691640"/>
          </a:xfrm>
          <a:prstGeom prst="line">
            <a:avLst/>
          </a:prstGeom>
          <a:noFill/>
          <a:ln w="25400">
            <a:solidFill>
              <a:schemeClr val="accent3"/>
            </a:solidFill>
            <a:prstDash val="solid"/>
            <a:tailEnd type="triangle"/>
          </a:ln>
        </p:spPr>
      </p:sp>
      <p:sp>
        <p:nvSpPr>
          <p:cNvPr id="15" name="text442"/>
          <p:cNvSpPr txBox="1"/>
          <p:nvPr/>
        </p:nvSpPr>
        <p:spPr>
          <a:xfrm>
            <a:off x="7360920" y="4251960"/>
            <a:ext cx="2011680" cy="365760"/>
          </a:xfrm>
          <a:prstGeom prst="rect">
            <a:avLst/>
          </a:prstGeom>
          <a:noFill/>
          <a:ln/>
        </p:spPr>
        <p:txBody>
          <a:bodyPr wrap="square" lIns="0" tIns="0" rIns="0" bIns="0" rtlCol="0" anchor="ctr"/>
          <a:lstStyle/>
          <a:p>
            <a:pPr algn="ctr" indent="0" marL="0">
              <a:buNone/>
            </a:pPr>
            <a:r>
              <a:rPr lang="en-US" sz="1600" i="1" dirty="0">
                <a:solidFill>
                  <a:schemeClr val="accent3"/>
                </a:solidFill>
              </a:rPr>
              <a:t>was derived from</a:t>
            </a:r>
            <a:endParaRPr lang="en-US" sz="1600" dirty="0"/>
          </a:p>
        </p:txBody>
      </p:sp>
      <p:sp>
        <p:nvSpPr>
          <p:cNvPr id="17" name="badge50_P"/>
          <p:cNvSpPr txBox="1"/>
          <p:nvPr/>
        </p:nvSpPr>
        <p:spPr>
          <a:xfrm>
            <a:off x="274320"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P</a:t>
            </a:r>
            <a:endParaRPr lang="en-US" sz="1100" dirty="0"/>
          </a:p>
        </p:txBody>
      </p:sp>
      <p:sp>
        <p:nvSpPr>
          <p:cNvPr id="18" name="badge50_R"/>
          <p:cNvSpPr txBox="1"/>
          <p:nvPr/>
        </p:nvSpPr>
        <p:spPr>
          <a:xfrm>
            <a:off x="576072"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R</a:t>
            </a:r>
            <a:endParaRPr lang="en-US" sz="1100" dirty="0"/>
          </a:p>
        </p:txBody>
      </p:sp>
      <p:sp>
        <p:nvSpPr>
          <p:cNvPr id="19" name="data50"/>
          <p:cNvSpPr txBox="1"/>
          <p:nvPr/>
        </p:nvSpPr>
        <p:spPr>
          <a:xfrm>
            <a:off x="2478024" y="6473952"/>
            <a:ext cx="8677656" cy="301752"/>
          </a:xfrm>
          <a:prstGeom prst="rect">
            <a:avLst/>
          </a:prstGeom>
          <a:noFill/>
          <a:ln/>
        </p:spPr>
        <p:txBody>
          <a:bodyPr wrap="square" lIns="0" tIns="0" rIns="0" bIns="0" rtlCol="0" anchor="ctr"/>
          <a:lstStyle/>
          <a:p>
            <a:pPr indent="0" marL="0">
              <a:buNone/>
            </a:pPr>
            <a:r>
              <a:rPr lang="en-US" sz="1100" dirty="0">
                <a:solidFill>
                  <a:srgbClr val="5E7A88"/>
                </a:solidFill>
              </a:rPr>
              <a:t>Data: ds000030 (UCLA CNP), OpenNeuro, commit 4070b6e</a:t>
            </a:r>
            <a:endParaRPr lang="en-US" sz="1100" dirty="0"/>
          </a:p>
        </p:txBody>
      </p:sp>
      <p:sp>
        <p:nvSpPr>
          <p:cNvPr id="20" name="badge50_check"/>
          <p:cNvSpPr txBox="1"/>
          <p:nvPr/>
        </p:nvSpPr>
        <p:spPr>
          <a:xfrm>
            <a:off x="932688" y="6473952"/>
            <a:ext cx="1408176" cy="301752"/>
          </a:xfrm>
          <a:prstGeom prst="rect">
            <a:avLst/>
          </a:prstGeom>
          <a:noFill/>
          <a:ln/>
        </p:spPr>
        <p:txBody>
          <a:bodyPr wrap="square" lIns="0" tIns="0" rIns="0" bIns="0" rtlCol="0" anchor="ctr"/>
          <a:lstStyle/>
          <a:p>
            <a:pPr indent="0" marL="0">
              <a:buNone/>
            </a:pPr>
            <a:r>
              <a:rPr lang="en-US" sz="1100" i="1" dirty="0">
                <a:solidFill>
                  <a:srgbClr val="5E7A88"/>
                </a:solidFill>
              </a:rPr>
              <a:t>re-run · validated</a:t>
            </a:r>
            <a:endParaRPr lang="en-US" sz="11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692640" cy="731520"/>
          </a:xfrm>
          <a:prstGeom prst="rect">
            <a:avLst/>
          </a:prstGeom>
          <a:noFill/>
          <a:ln/>
        </p:spPr>
        <p:txBody>
          <a:bodyPr wrap="square" rtlCol="0" anchor="ctr"/>
          <a:lstStyle/>
          <a:p>
            <a:pPr algn="l" indent="0" marL="0">
              <a:buNone/>
            </a:pPr>
            <a:r>
              <a:rPr lang="en-US" sz="2600" b="1" dirty="0">
                <a:solidFill>
                  <a:schemeClr val="tx2"/>
                </a:solidFill>
              </a:rPr>
              <a:t>AbstractAtlas: building blocks</a:t>
            </a:r>
            <a:endParaRPr lang="en-US" sz="2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4572000"/>
                <a:gridCol w="6492240"/>
              </a:tblGrid>
              <a:tr h="566928">
                <a:tc>
                  <a:txBody>
                    <a:bodyPr/>
                    <a:lstStyle/>
                    <a:p>
                      <a:pPr indent="0" marL="0">
                        <a:buNone/>
                      </a:pPr>
                      <a:r>
                        <a:rPr lang="en-US" sz="1800" b="1" dirty="0">
                          <a:solidFill>
                            <a:schemeClr val="bg1"/>
                          </a:solidFill>
                        </a:rPr>
                        <a:t>Available building block</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accent1"/>
                    </a:solidFill>
                  </a:tcPr>
                </a:tc>
                <a:tc>
                  <a:txBody>
                    <a:bodyPr/>
                    <a:lstStyle/>
                    <a:p>
                      <a:pPr indent="0" marL="0">
                        <a:buNone/>
                      </a:pPr>
                      <a:r>
                        <a:rPr lang="en-US" sz="1800" b="1" dirty="0">
                          <a:solidFill>
                            <a:schemeClr val="bg1"/>
                          </a:solidFill>
                        </a:rPr>
                        <a:t>Pointer for this workflow</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accent1"/>
                    </a:solidFill>
                  </a:tcPr>
                </a:tc>
              </a:tr>
              <a:tr h="566928">
                <a:tc>
                  <a:txBody>
                    <a:bodyPr/>
                    <a:lstStyle/>
                    <a:p>
                      <a:pPr indent="0" marL="0">
                        <a:buNone/>
                      </a:pPr>
                      <a:r>
                        <a:rPr lang="en-US" sz="1800" dirty="0">
                          <a:solidFill>
                            <a:schemeClr val="tx1"/>
                          </a:solidFill>
                        </a:rPr>
                        <a:t>Explore abstracts and related literature</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Semantic search, facets and NeuroScape map</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r h="566928">
                <a:tc>
                  <a:txBody>
                    <a:bodyPr/>
                    <a:lstStyle/>
                    <a:p>
                      <a:pPr indent="0" marL="0">
                        <a:buNone/>
                      </a:pPr>
                      <a:r>
                        <a:rPr lang="en-US" sz="1800" dirty="0">
                          <a:solidFill>
                            <a:schemeClr val="tx1"/>
                          </a:solidFill>
                        </a:rPr>
                        <a:t>Inspect extracted claims</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Source text, evidence category and ECO annotations</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r>
              <a:tr h="566928">
                <a:tc>
                  <a:txBody>
                    <a:bodyPr/>
                    <a:lstStyle/>
                    <a:p>
                      <a:pPr indent="0" marL="0">
                        <a:buNone/>
                      </a:pPr>
                      <a:r>
                        <a:rPr lang="en-US" sz="1800" dirty="0">
                          <a:solidFill>
                            <a:schemeClr val="tx1"/>
                          </a:solidFill>
                        </a:rPr>
                        <a:t>Connect authors to abstracts</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Author records and accepted poster identifiers</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r h="566928">
                <a:tc>
                  <a:txBody>
                    <a:bodyPr/>
                    <a:lstStyle/>
                    <a:p>
                      <a:pPr indent="0" marL="0">
                        <a:buNone/>
                      </a:pPr>
                      <a:r>
                        <a:rPr lang="en-US" sz="1800" dirty="0">
                          <a:solidFill>
                            <a:schemeClr val="tx1"/>
                          </a:solidFill>
                        </a:rPr>
                        <a:t>Preserve computation history</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Source snapshots, model IDs and component caches</a:t>
                      </a:r>
                      <a:endParaRPr lang="en-US" sz="18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r>
            </a:tbl>
          </a:graphicData>
        </a:graphic>
      </p:graphicFrame>
      <p:sp>
        <p:nvSpPr>
          <p:cNvPr id="4" name="text443"/>
          <p:cNvSpPr txBox="1"/>
          <p:nvPr/>
        </p:nvSpPr>
        <p:spPr>
          <a:xfrm>
            <a:off x="548640" y="4480560"/>
            <a:ext cx="10972800" cy="411480"/>
          </a:xfrm>
          <a:prstGeom prst="rect">
            <a:avLst/>
          </a:prstGeom>
          <a:noFill/>
          <a:ln/>
        </p:spPr>
        <p:txBody>
          <a:bodyPr wrap="square" lIns="0" tIns="0" rIns="0" bIns="0" rtlCol="0" anchor="t"/>
          <a:lstStyle/>
          <a:p>
            <a:pPr indent="0" marL="0">
              <a:buNone/>
            </a:pPr>
            <a:r>
              <a:rPr lang="en-US" sz="1600" dirty="0">
                <a:solidFill>
                  <a:schemeClr val="accent1"/>
                </a:solidFill>
              </a:rPr>
              <a:t>abstractatlas.brainkb.org · github.com/sensein/abstractatlas</a:t>
            </a:r>
            <a:endParaRPr lang="en-US" sz="1600" dirty="0"/>
          </a:p>
        </p:txBody>
      </p:sp>
      <p:sp>
        <p:nvSpPr>
          <p:cNvPr id="6" name="badge51_P"/>
          <p:cNvSpPr txBox="1"/>
          <p:nvPr/>
        </p:nvSpPr>
        <p:spPr>
          <a:xfrm>
            <a:off x="274320"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P</a:t>
            </a:r>
            <a:endParaRPr lang="en-US" sz="1100" dirty="0"/>
          </a:p>
        </p:txBody>
      </p:sp>
      <p:sp>
        <p:nvSpPr>
          <p:cNvPr id="7" name="badge51_R"/>
          <p:cNvSpPr txBox="1"/>
          <p:nvPr/>
        </p:nvSpPr>
        <p:spPr>
          <a:xfrm>
            <a:off x="576072"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R</a:t>
            </a:r>
            <a:endParaRPr lang="en-US" sz="1100" dirty="0"/>
          </a:p>
        </p:txBody>
      </p:sp>
      <p:sp>
        <p:nvSpPr>
          <p:cNvPr id="8" name="data51"/>
          <p:cNvSpPr txBox="1"/>
          <p:nvPr/>
        </p:nvSpPr>
        <p:spPr>
          <a:xfrm>
            <a:off x="1819656" y="6473952"/>
            <a:ext cx="9336024" cy="301752"/>
          </a:xfrm>
          <a:prstGeom prst="rect">
            <a:avLst/>
          </a:prstGeom>
          <a:noFill/>
          <a:ln/>
        </p:spPr>
        <p:txBody>
          <a:bodyPr wrap="square" lIns="0" tIns="0" rIns="0" bIns="0" rtlCol="0" anchor="ctr"/>
          <a:lstStyle/>
          <a:p>
            <a:pPr indent="0" marL="0">
              <a:buNone/>
            </a:pPr>
            <a:r>
              <a:rPr lang="en-US" sz="1100" dirty="0">
                <a:solidFill>
                  <a:srgbClr val="5E7A88"/>
                </a:solidFill>
              </a:rPr>
              <a:t>Data: AbstractAtlas (OHBM 2026)</a:t>
            </a:r>
            <a:endParaRPr lang="en-US" sz="1100" dirty="0"/>
          </a:p>
        </p:txBody>
      </p:sp>
      <p:sp>
        <p:nvSpPr>
          <p:cNvPr id="9" name="badge51_check"/>
          <p:cNvSpPr txBox="1"/>
          <p:nvPr/>
        </p:nvSpPr>
        <p:spPr>
          <a:xfrm>
            <a:off x="932688" y="6473952"/>
            <a:ext cx="749808" cy="301752"/>
          </a:xfrm>
          <a:prstGeom prst="rect">
            <a:avLst/>
          </a:prstGeom>
          <a:noFill/>
          <a:ln/>
        </p:spPr>
        <p:txBody>
          <a:bodyPr wrap="square" lIns="0" tIns="0" rIns="0" bIns="0" rtlCol="0" anchor="ctr"/>
          <a:lstStyle/>
          <a:p>
            <a:pPr indent="0" marL="0">
              <a:buNone/>
            </a:pPr>
            <a:r>
              <a:rPr lang="en-US" sz="1100" i="1" dirty="0">
                <a:solidFill>
                  <a:srgbClr val="5E7A88"/>
                </a:solidFill>
              </a:rPr>
              <a:t>validated</a:t>
            </a:r>
            <a:endParaRPr lang="en-US" sz="11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692640" cy="731520"/>
          </a:xfrm>
          <a:prstGeom prst="rect">
            <a:avLst/>
          </a:prstGeom>
          <a:noFill/>
          <a:ln/>
        </p:spPr>
        <p:txBody>
          <a:bodyPr wrap="square" rtlCol="0" anchor="ctr"/>
          <a:lstStyle/>
          <a:p>
            <a:pPr algn="l" indent="0" marL="0">
              <a:buNone/>
            </a:pPr>
            <a:r>
              <a:rPr lang="en-US" sz="2600" b="1" dirty="0">
                <a:solidFill>
                  <a:schemeClr val="tx2"/>
                </a:solidFill>
              </a:rPr>
              <a:t>Resource discovery with dated activity records</a:t>
            </a:r>
            <a:endParaRPr lang="en-US" sz="2600" dirty="0"/>
          </a:p>
        </p:txBody>
      </p:sp>
      <p:sp>
        <p:nvSpPr>
          <p:cNvPr id="3" name="card444"/>
          <p:cNvSpPr txBox="1"/>
          <p:nvPr/>
        </p:nvSpPr>
        <p:spPr>
          <a:xfrm>
            <a:off x="548640" y="1234440"/>
            <a:ext cx="6766560" cy="548640"/>
          </a:xfrm>
          <a:prstGeom prst="roundRect">
            <a:avLst>
              <a:gd name="adj" fmla="val 13333"/>
            </a:avLst>
          </a:prstGeom>
          <a:solidFill>
            <a:schemeClr val="tx2"/>
          </a:solidFill>
          <a:ln/>
        </p:spPr>
        <p:txBody>
          <a:bodyPr wrap="square" lIns="127000" tIns="127000" rIns="127000" bIns="127000" rtlCol="0" anchor="ctr"/>
          <a:lstStyle/>
          <a:p>
            <a:pPr algn="l" indent="0" marL="0">
              <a:buNone/>
            </a:pPr>
            <a:r>
              <a:rPr lang="en-US" sz="1600" b="1" dirty="0">
                <a:solidFill>
                  <a:schemeClr val="accent4"/>
                </a:solidFill>
              </a:rPr>
              <a:t>Query  </a:t>
            </a:r>
            <a:pPr algn="l" indent="0" marL="0">
              <a:buNone/>
            </a:pPr>
            <a:r>
              <a:rPr lang="en-US" sz="1800" dirty="0">
                <a:solidFill>
                  <a:schemeClr val="bg1"/>
                </a:solidFill>
              </a:rPr>
              <a:t>“convert FreeSurfer stats to NIDM”</a:t>
            </a:r>
            <a:endParaRPr lang="en-US" sz="1800" dirty="0"/>
          </a:p>
        </p:txBody>
      </p:sp>
      <p:sp>
        <p:nvSpPr>
          <p:cNvPr id="4" name="text445"/>
          <p:cNvSpPr txBox="1"/>
          <p:nvPr/>
        </p:nvSpPr>
        <p:spPr>
          <a:xfrm>
            <a:off x="7498080" y="1234440"/>
            <a:ext cx="4206240" cy="548640"/>
          </a:xfrm>
          <a:prstGeom prst="rect">
            <a:avLst/>
          </a:prstGeom>
          <a:noFill/>
          <a:ln/>
        </p:spPr>
        <p:txBody>
          <a:bodyPr wrap="square" lIns="0" tIns="0" rIns="0" bIns="0" rtlCol="0" anchor="ctr"/>
          <a:lstStyle/>
          <a:p>
            <a:pPr indent="0" marL="0">
              <a:buNone/>
            </a:pPr>
            <a:r>
              <a:rPr lang="en-US" sz="1400" i="1" dirty="0">
                <a:solidFill>
                  <a:schemeClr val="accent3"/>
                </a:solidFill>
              </a:rPr>
              <a:t>snapshot 2026-10-15 14:57 UTC, 0.46 h old at query time</a:t>
            </a:r>
            <a:endParaRPr lang="en-US" sz="1400" dirty="0"/>
          </a:p>
        </p:txBody>
      </p:sp>
      <p:sp>
        <p:nvSpPr>
          <p:cNvPr id="5" name="card446"/>
          <p:cNvSpPr txBox="1"/>
          <p:nvPr/>
        </p:nvSpPr>
        <p:spPr>
          <a:xfrm>
            <a:off x="548640" y="1920240"/>
            <a:ext cx="457200" cy="1600200"/>
          </a:xfrm>
          <a:prstGeom prst="roundRect">
            <a:avLst>
              <a:gd name="adj" fmla="val 16000"/>
            </a:avLst>
          </a:prstGeom>
          <a:solidFill>
            <a:schemeClr val="accent1"/>
          </a:solid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card447"/>
          <p:cNvSpPr txBox="1"/>
          <p:nvPr/>
        </p:nvSpPr>
        <p:spPr>
          <a:xfrm>
            <a:off x="1051560" y="1920240"/>
            <a:ext cx="3108960" cy="1600200"/>
          </a:xfrm>
          <a:prstGeom prst="roundRect">
            <a:avLst>
              <a:gd name="adj" fmla="val 4571"/>
            </a:avLst>
          </a:prstGeom>
          <a:solidFill>
            <a:schemeClr val="bg2"/>
          </a:solidFill>
          <a:ln w="19050">
            <a:solidFill>
              <a:srgbClr val="C9D3D7"/>
            </a:solidFill>
            <a:prstDash val="solid"/>
          </a:ln>
        </p:spPr>
        <p:txBody>
          <a:bodyPr wrap="square" lIns="88900" tIns="88900" rIns="88900" bIns="88900" rtlCol="0" anchor="t"/>
          <a:lstStyle/>
          <a:p>
            <a:pPr algn="l" indent="0" marL="0">
              <a:buNone/>
            </a:pPr>
            <a:r>
              <a:rPr lang="en-US" sz="1700" b="1" dirty="0">
                <a:solidFill>
                  <a:schemeClr val="tx2"/>
                </a:solidFill>
              </a:rPr>
              <a:t>FreeSurfer NIDM BIDS App</a:t>
            </a:r>
            <a:endParaRPr lang="en-US" sz="1800" dirty="0"/>
          </a:p>
          <a:p>
            <a:pPr algn="l" indent="0" marL="0">
              <a:buNone/>
            </a:pPr>
            <a:r>
              <a:rPr lang="en-US" sz="1400" i="1" dirty="0">
                <a:solidFill>
                  <a:schemeClr val="accent1"/>
                </a:solidFill>
              </a:rPr>
              <a:t>IDP extraction to NIDM</a:t>
            </a:r>
            <a:endParaRPr lang="en-US" sz="1800" dirty="0"/>
          </a:p>
          <a:p>
            <a:pPr algn="l" indent="0" marL="0">
              <a:buNone/>
            </a:pPr>
            <a:r>
              <a:rPr lang="en-US" sz="1400" dirty="0">
                <a:solidFill>
                  <a:schemeClr val="tx1"/>
                </a:solidFill>
              </a:rPr>
              <a:t>13 commits in 90 days, release v0.1.1</a:t>
            </a:r>
            <a:endParaRPr lang="en-US" sz="1800" dirty="0"/>
          </a:p>
          <a:p>
            <a:pPr algn="l" indent="0" marL="0">
              <a:buNone/>
            </a:pPr>
            <a:r>
              <a:rPr lang="en-US" sz="1400" i="1" dirty="0">
                <a:solidFill>
                  <a:schemeClr val="accent2"/>
                </a:solidFill>
              </a:rPr>
              <a:t>last commit 2 days before snapshot</a:t>
            </a:r>
            <a:endParaRPr lang="en-US" sz="1800" dirty="0"/>
          </a:p>
        </p:txBody>
      </p:sp>
      <p:sp>
        <p:nvSpPr>
          <p:cNvPr id="7" name="card448"/>
          <p:cNvSpPr txBox="1"/>
          <p:nvPr/>
        </p:nvSpPr>
        <p:spPr>
          <a:xfrm>
            <a:off x="4297680" y="1920240"/>
            <a:ext cx="457200" cy="1600200"/>
          </a:xfrm>
          <a:prstGeom prst="roundRect">
            <a:avLst>
              <a:gd name="adj" fmla="val 16000"/>
            </a:avLst>
          </a:prstGeom>
          <a:solidFill>
            <a:schemeClr val="accent1"/>
          </a:solid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8" name="card449"/>
          <p:cNvSpPr txBox="1"/>
          <p:nvPr/>
        </p:nvSpPr>
        <p:spPr>
          <a:xfrm>
            <a:off x="4800600" y="1920240"/>
            <a:ext cx="3108960" cy="1600200"/>
          </a:xfrm>
          <a:prstGeom prst="roundRect">
            <a:avLst>
              <a:gd name="adj" fmla="val 4571"/>
            </a:avLst>
          </a:prstGeom>
          <a:solidFill>
            <a:schemeClr val="bg2"/>
          </a:solidFill>
          <a:ln w="19050">
            <a:solidFill>
              <a:srgbClr val="C9D3D7"/>
            </a:solidFill>
            <a:prstDash val="solid"/>
          </a:ln>
        </p:spPr>
        <p:txBody>
          <a:bodyPr wrap="square" lIns="88900" tIns="88900" rIns="88900" bIns="88900" rtlCol="0" anchor="t"/>
          <a:lstStyle/>
          <a:p>
            <a:pPr algn="l" indent="0" marL="0">
              <a:buNone/>
            </a:pPr>
            <a:r>
              <a:rPr lang="en-US" sz="1700" b="1" dirty="0">
                <a:solidFill>
                  <a:schemeClr val="tx2"/>
                </a:solidFill>
              </a:rPr>
              <a:t>segstats_jsonld</a:t>
            </a:r>
            <a:endParaRPr lang="en-US" sz="1800" dirty="0"/>
          </a:p>
          <a:p>
            <a:pPr algn="l" indent="0" marL="0">
              <a:buNone/>
            </a:pPr>
            <a:r>
              <a:rPr lang="en-US" sz="1400" i="1" dirty="0">
                <a:solidFill>
                  <a:schemeClr val="accent1"/>
                </a:solidFill>
              </a:rPr>
              <a:t>IDP extraction to NIDM</a:t>
            </a:r>
            <a:endParaRPr lang="en-US" sz="1800" dirty="0"/>
          </a:p>
          <a:p>
            <a:pPr algn="l" indent="0" marL="0">
              <a:buNone/>
            </a:pPr>
            <a:r>
              <a:rPr lang="en-US" sz="1400" dirty="0">
                <a:solidFill>
                  <a:schemeClr val="tx1"/>
                </a:solidFill>
              </a:rPr>
              <a:t>0 commits in 90 days, used here as data source</a:t>
            </a:r>
            <a:endParaRPr lang="en-US" sz="1800" dirty="0"/>
          </a:p>
          <a:p>
            <a:pPr algn="l" indent="0" marL="0">
              <a:buNone/>
            </a:pPr>
            <a:r>
              <a:rPr lang="en-US" sz="1400" i="1" dirty="0">
                <a:solidFill>
                  <a:schemeClr val="accent2"/>
                </a:solidFill>
              </a:rPr>
              <a:t>last commit 318 days before snapshot</a:t>
            </a:r>
            <a:endParaRPr lang="en-US" sz="1800" dirty="0"/>
          </a:p>
        </p:txBody>
      </p:sp>
      <p:sp>
        <p:nvSpPr>
          <p:cNvPr id="9" name="card450"/>
          <p:cNvSpPr txBox="1"/>
          <p:nvPr/>
        </p:nvSpPr>
        <p:spPr>
          <a:xfrm>
            <a:off x="8046720" y="1920240"/>
            <a:ext cx="457200" cy="1600200"/>
          </a:xfrm>
          <a:prstGeom prst="roundRect">
            <a:avLst>
              <a:gd name="adj" fmla="val 16000"/>
            </a:avLst>
          </a:prstGeom>
          <a:solidFill>
            <a:schemeClr val="accent1"/>
          </a:solid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0" name="card451"/>
          <p:cNvSpPr txBox="1"/>
          <p:nvPr/>
        </p:nvSpPr>
        <p:spPr>
          <a:xfrm>
            <a:off x="8549640" y="1920240"/>
            <a:ext cx="3108960" cy="1600200"/>
          </a:xfrm>
          <a:prstGeom prst="roundRect">
            <a:avLst>
              <a:gd name="adj" fmla="val 4571"/>
            </a:avLst>
          </a:prstGeom>
          <a:solidFill>
            <a:schemeClr val="bg2"/>
          </a:solidFill>
          <a:ln w="19050">
            <a:solidFill>
              <a:srgbClr val="C9D3D7"/>
            </a:solidFill>
            <a:prstDash val="solid"/>
          </a:ln>
        </p:spPr>
        <p:txBody>
          <a:bodyPr wrap="square" lIns="88900" tIns="88900" rIns="88900" bIns="88900" rtlCol="0" anchor="t"/>
          <a:lstStyle/>
          <a:p>
            <a:pPr algn="l" indent="0" marL="0">
              <a:buNone/>
            </a:pPr>
            <a:r>
              <a:rPr lang="en-US" sz="1700" b="1" dirty="0">
                <a:solidFill>
                  <a:schemeClr val="tx2"/>
                </a:solidFill>
              </a:rPr>
              <a:t>MRIQC NIDM BIDS App</a:t>
            </a:r>
            <a:endParaRPr lang="en-US" sz="1800" dirty="0"/>
          </a:p>
          <a:p>
            <a:pPr algn="l" indent="0" marL="0">
              <a:buNone/>
            </a:pPr>
            <a:r>
              <a:rPr lang="en-US" sz="1400" i="1" dirty="0">
                <a:solidFill>
                  <a:schemeClr val="accent1"/>
                </a:solidFill>
              </a:rPr>
              <a:t>QC to NIDM</a:t>
            </a:r>
            <a:endParaRPr lang="en-US" sz="1800" dirty="0"/>
          </a:p>
          <a:p>
            <a:pPr algn="l" indent="0" marL="0">
              <a:buNone/>
            </a:pPr>
            <a:r>
              <a:rPr lang="en-US" sz="1400" dirty="0">
                <a:solidFill>
                  <a:schemeClr val="tx1"/>
                </a:solidFill>
              </a:rPr>
              <a:t>10 commits in 90 days, release v0.1.1</a:t>
            </a:r>
            <a:endParaRPr lang="en-US" sz="1800" dirty="0"/>
          </a:p>
          <a:p>
            <a:pPr algn="l" indent="0" marL="0">
              <a:buNone/>
            </a:pPr>
            <a:r>
              <a:rPr lang="en-US" sz="1400" i="1" dirty="0">
                <a:solidFill>
                  <a:schemeClr val="accent2"/>
                </a:solidFill>
              </a:rPr>
              <a:t>last commit 2 days before snapshot</a:t>
            </a:r>
            <a:endParaRPr lang="en-US" sz="1800" dirty="0"/>
          </a:p>
        </p:txBody>
      </p:sp>
      <p:pic>
        <p:nvPicPr>
          <p:cNvPr id="11" name="fig452" descr="resource_map_slide.png">    </p:cNvPr>
          <p:cNvPicPr>
            <a:picLocks noChangeAspect="1"/>
          </p:cNvPicPr>
          <p:nvPr/>
        </p:nvPicPr>
        <p:blipFill>
          <a:blip r:embed="rId1"/>
          <a:stretch>
            <a:fillRect/>
          </a:stretch>
        </p:blipFill>
        <p:spPr>
          <a:xfrm>
            <a:off x="640080" y="3657600"/>
            <a:ext cx="10972800" cy="2743200"/>
          </a:xfrm>
          <a:prstGeom prst="rect">
            <a:avLst/>
          </a:prstGeom>
        </p:spPr>
      </p:pic>
      <p:sp>
        <p:nvSpPr>
          <p:cNvPr id="13" name="badge52_A"/>
          <p:cNvSpPr txBox="1"/>
          <p:nvPr/>
        </p:nvSpPr>
        <p:spPr>
          <a:xfrm>
            <a:off x="274320"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A</a:t>
            </a:r>
            <a:endParaRPr lang="en-US" sz="1100" dirty="0"/>
          </a:p>
        </p:txBody>
      </p:sp>
      <p:sp>
        <p:nvSpPr>
          <p:cNvPr id="14" name="badge52_R"/>
          <p:cNvSpPr txBox="1"/>
          <p:nvPr/>
        </p:nvSpPr>
        <p:spPr>
          <a:xfrm>
            <a:off x="576072"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R</a:t>
            </a:r>
            <a:endParaRPr lang="en-US" sz="1100" dirty="0"/>
          </a:p>
        </p:txBody>
      </p:sp>
      <p:sp>
        <p:nvSpPr>
          <p:cNvPr id="15" name="badge52_check"/>
          <p:cNvSpPr txBox="1"/>
          <p:nvPr/>
        </p:nvSpPr>
        <p:spPr>
          <a:xfrm>
            <a:off x="932688" y="6473952"/>
            <a:ext cx="1408176" cy="301752"/>
          </a:xfrm>
          <a:prstGeom prst="rect">
            <a:avLst/>
          </a:prstGeom>
          <a:noFill/>
          <a:ln/>
        </p:spPr>
        <p:txBody>
          <a:bodyPr wrap="square" lIns="0" tIns="0" rIns="0" bIns="0" rtlCol="0" anchor="ctr"/>
          <a:lstStyle/>
          <a:p>
            <a:pPr indent="0" marL="0">
              <a:buNone/>
            </a:pPr>
            <a:r>
              <a:rPr lang="en-US" sz="1100" i="1" dirty="0">
                <a:solidFill>
                  <a:srgbClr val="5E7A88"/>
                </a:solidFill>
              </a:rPr>
              <a:t>re-run · validated</a:t>
            </a:r>
            <a:endParaRPr lang="en-US" sz="11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692640" cy="731520"/>
          </a:xfrm>
          <a:prstGeom prst="rect">
            <a:avLst/>
          </a:prstGeom>
          <a:noFill/>
          <a:ln/>
        </p:spPr>
        <p:txBody>
          <a:bodyPr wrap="square" rtlCol="0" anchor="ctr"/>
          <a:lstStyle/>
          <a:p>
            <a:pPr algn="l" indent="0" marL="0">
              <a:buNone/>
            </a:pPr>
            <a:r>
              <a:rPr lang="en-US" sz="2600" b="1" dirty="0">
                <a:solidFill>
                  <a:schemeClr val="tx2"/>
                </a:solidFill>
              </a:rPr>
              <a:t>Phenotype embedding linked to image-derived phenotypes</a:t>
            </a:r>
            <a:endParaRPr lang="en-US" sz="2600" dirty="0"/>
          </a:p>
        </p:txBody>
      </p:sp>
      <p:pic>
        <p:nvPicPr>
          <p:cNvPr id="3" name="fig453" descr="umap_primary.png">    </p:cNvPr>
          <p:cNvPicPr>
            <a:picLocks noChangeAspect="1"/>
          </p:cNvPicPr>
          <p:nvPr/>
        </p:nvPicPr>
        <p:blipFill>
          <a:blip r:embed="rId1"/>
          <a:stretch>
            <a:fillRect/>
          </a:stretch>
        </p:blipFill>
        <p:spPr>
          <a:xfrm>
            <a:off x="457200" y="1527048"/>
            <a:ext cx="11247120" cy="2249424"/>
          </a:xfrm>
          <a:prstGeom prst="rect">
            <a:avLst/>
          </a:prstGeom>
        </p:spPr>
      </p:pic>
      <p:sp>
        <p:nvSpPr>
          <p:cNvPr id="4" name="umapPoints"/>
          <p:cNvSpPr txBox="1"/>
          <p:nvPr/>
        </p:nvSpPr>
        <p:spPr>
          <a:xfrm>
            <a:off x="731520" y="4389120"/>
            <a:ext cx="10789920" cy="1737360"/>
          </a:xfrm>
          <a:prstGeom prst="rect">
            <a:avLst/>
          </a:prstGeom>
          <a:noFill/>
          <a:ln/>
        </p:spPr>
        <p:txBody>
          <a:bodyPr wrap="square" rtlCol="0" anchor="t"/>
          <a:lstStyle/>
          <a:p>
            <a:pPr marL="342900" indent="-342900">
              <a:spcAft>
                <a:spcPts val="800"/>
              </a:spcAft>
              <a:buSzPct val="100000"/>
              <a:buChar char="•"/>
            </a:pPr>
            <a:r>
              <a:rPr lang="en-US" sz="2000" dirty="0">
                <a:solidFill>
                  <a:schemeClr val="tx1"/>
                </a:solidFill>
              </a:rPr>
              <a:t>604 of B's 767 with age, FIQ, VIQ and PIQ; 15 sites</a:t>
            </a:r>
            <a:endParaRPr lang="en-US" sz="2000" dirty="0"/>
          </a:p>
          <a:p>
            <a:pPr marL="342900" indent="-342900">
              <a:spcAft>
                <a:spcPts val="800"/>
              </a:spcAft>
              <a:buSzPct val="100000"/>
              <a:buChar char="•"/>
            </a:pPr>
            <a:r>
              <a:rPr lang="en-US" sz="2000" dirty="0">
                <a:solidFill>
                  <a:schemeClr val="tx1"/>
                </a:solidFill>
              </a:rPr>
              <a:t>trustworthiness 0.977 (PCA 0.920); other seeds 0.973, 0.974</a:t>
            </a:r>
            <a:endParaRPr lang="en-US" sz="2000" dirty="0"/>
          </a:p>
          <a:p>
            <a:pPr marL="342900" indent="-342900">
              <a:spcAft>
                <a:spcPts val="800"/>
              </a:spcAft>
              <a:buSzPct val="100000"/>
              <a:buChar char="•"/>
            </a:pPr>
            <a:r>
              <a:rPr lang="en-US" sz="2000" dirty="0">
                <a:solidFill>
                  <a:schemeClr val="tx1"/>
                </a:solidFill>
              </a:rPr>
              <a:t>silhouette by diagnosis 0.03, by site −0.34</a:t>
            </a:r>
            <a:endParaRPr lang="en-US" sz="2000" dirty="0"/>
          </a:p>
        </p:txBody>
      </p:sp>
      <p:sp>
        <p:nvSpPr>
          <p:cNvPr id="6" name="badge53_A"/>
          <p:cNvSpPr txBox="1"/>
          <p:nvPr/>
        </p:nvSpPr>
        <p:spPr>
          <a:xfrm>
            <a:off x="274320"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A</a:t>
            </a:r>
            <a:endParaRPr lang="en-US" sz="1100" dirty="0"/>
          </a:p>
        </p:txBody>
      </p:sp>
      <p:sp>
        <p:nvSpPr>
          <p:cNvPr id="7" name="data53"/>
          <p:cNvSpPr txBox="1"/>
          <p:nvPr/>
        </p:nvSpPr>
        <p:spPr>
          <a:xfrm>
            <a:off x="5248656" y="6473952"/>
            <a:ext cx="5907024" cy="301752"/>
          </a:xfrm>
          <a:prstGeom prst="rect">
            <a:avLst/>
          </a:prstGeom>
          <a:noFill/>
          <a:ln/>
        </p:spPr>
        <p:txBody>
          <a:bodyPr wrap="square" lIns="0" tIns="0" rIns="0" bIns="0" rtlCol="0" anchor="ctr"/>
          <a:lstStyle/>
          <a:p>
            <a:pPr indent="0" marL="0">
              <a:buNone/>
            </a:pPr>
            <a:r>
              <a:rPr lang="en-US" sz="1100" dirty="0">
                <a:solidFill>
                  <a:srgbClr val="5E7A88"/>
                </a:solidFill>
              </a:rPr>
              <a:t>Data: ABIDE I (ABIDE Preprocessed, C-PAC)</a:t>
            </a:r>
            <a:endParaRPr lang="en-US" sz="1100" dirty="0"/>
          </a:p>
        </p:txBody>
      </p:sp>
      <p:sp>
        <p:nvSpPr>
          <p:cNvPr id="8" name="badge53_check"/>
          <p:cNvSpPr txBox="1"/>
          <p:nvPr/>
        </p:nvSpPr>
        <p:spPr>
          <a:xfrm>
            <a:off x="630936" y="6473952"/>
            <a:ext cx="4480560" cy="301752"/>
          </a:xfrm>
          <a:prstGeom prst="rect">
            <a:avLst/>
          </a:prstGeom>
          <a:noFill/>
          <a:ln/>
        </p:spPr>
        <p:txBody>
          <a:bodyPr wrap="square" lIns="0" tIns="0" rIns="0" bIns="0" rtlCol="0" anchor="ctr"/>
          <a:lstStyle/>
          <a:p>
            <a:pPr indent="0" marL="0">
              <a:buNone/>
            </a:pPr>
            <a:r>
              <a:rPr lang="en-US" sz="1100" i="1" dirty="0">
                <a:solidFill>
                  <a:srgbClr val="5E7A88"/>
                </a:solidFill>
              </a:rPr>
              <a:t>re-run (UMAP-derived values differ slightly across machines)</a:t>
            </a:r>
            <a:endParaRPr lang="en-US" sz="11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692640" cy="731520"/>
          </a:xfrm>
          <a:prstGeom prst="rect">
            <a:avLst/>
          </a:prstGeom>
          <a:noFill/>
          <a:ln/>
        </p:spPr>
        <p:txBody>
          <a:bodyPr wrap="square" rtlCol="0" anchor="ctr"/>
          <a:lstStyle/>
          <a:p>
            <a:pPr algn="l" indent="0" marL="0">
              <a:buNone/>
            </a:pPr>
            <a:r>
              <a:rPr lang="en-US" sz="2600" b="1" dirty="0">
                <a:solidFill>
                  <a:schemeClr val="tx2"/>
                </a:solidFill>
              </a:rPr>
              <a:t>Glossary</a:t>
            </a:r>
            <a:endParaRPr lang="en-US" sz="2600" dirty="0"/>
          </a:p>
        </p:txBody>
      </p:sp>
      <p:sp>
        <p:nvSpPr>
          <p:cNvPr id="3" name="gloss0"/>
          <p:cNvSpPr txBox="1"/>
          <p:nvPr/>
        </p:nvSpPr>
        <p:spPr>
          <a:xfrm>
            <a:off x="457200" y="1097280"/>
            <a:ext cx="5532120" cy="5257800"/>
          </a:xfrm>
          <a:prstGeom prst="rect">
            <a:avLst/>
          </a:prstGeom>
          <a:noFill/>
          <a:ln/>
        </p:spPr>
        <p:txBody>
          <a:bodyPr wrap="square" lIns="0" tIns="0" rIns="0" bIns="0" rtlCol="0" anchor="t"/>
          <a:lstStyle/>
          <a:p>
            <a:pPr indent="0" marL="0">
              <a:spcAft>
                <a:spcPts val="300"/>
              </a:spcAft>
              <a:buNone/>
            </a:pPr>
            <a:r>
              <a:rPr lang="en-US" sz="1200" b="1" dirty="0">
                <a:solidFill>
                  <a:schemeClr val="tx2"/>
                </a:solidFill>
              </a:rPr>
              <a:t>ds000030: </a:t>
            </a:r>
            <a:pPr indent="0" marL="0">
              <a:spcAft>
                <a:spcPts val="300"/>
              </a:spcAft>
              <a:buNone/>
            </a:pPr>
            <a:r>
              <a:rPr lang="en-US" sz="1200" dirty="0">
                <a:solidFill>
                  <a:schemeClr val="tx1"/>
                </a:solidFill>
              </a:rPr>
              <a:t>UCLA Consortium for Neuropsychiatric Phenomics dataset (OpenNeuro): schizophrenia, bipolar disorder, ADHD and controls</a:t>
            </a:r>
            <a:endParaRPr lang="en-US" sz="1200" dirty="0"/>
          </a:p>
          <a:p>
            <a:pPr indent="0" marL="0">
              <a:spcAft>
                <a:spcPts val="300"/>
              </a:spcAft>
              <a:buNone/>
            </a:pPr>
            <a:r>
              <a:rPr lang="en-US" sz="1200" b="1" dirty="0">
                <a:solidFill>
                  <a:schemeClr val="tx2"/>
                </a:solidFill>
              </a:rPr>
              <a:t>ABIDE I: </a:t>
            </a:r>
            <a:pPr indent="0" marL="0">
              <a:spcAft>
                <a:spcPts val="300"/>
              </a:spcAft>
              <a:buNone/>
            </a:pPr>
            <a:r>
              <a:rPr lang="en-US" sz="1200" dirty="0">
                <a:solidFill>
                  <a:schemeClr val="tx1"/>
                </a:solidFill>
              </a:rPr>
              <a:t>Autism Brain Imaging Data Exchange: resting-state fMRI and phenotypes, 17 sites, 1,112 participants</a:t>
            </a:r>
            <a:endParaRPr lang="en-US" sz="1200" dirty="0"/>
          </a:p>
          <a:p>
            <a:pPr indent="0" marL="0">
              <a:spcAft>
                <a:spcPts val="300"/>
              </a:spcAft>
              <a:buNone/>
            </a:pPr>
            <a:r>
              <a:rPr lang="en-US" sz="1200" b="1" dirty="0">
                <a:solidFill>
                  <a:schemeClr val="tx2"/>
                </a:solidFill>
              </a:rPr>
              <a:t>ASD / TD: </a:t>
            </a:r>
            <a:pPr indent="0" marL="0">
              <a:spcAft>
                <a:spcPts val="300"/>
              </a:spcAft>
              <a:buNone/>
            </a:pPr>
            <a:r>
              <a:rPr lang="en-US" sz="1200" dirty="0">
                <a:solidFill>
                  <a:schemeClr val="tx1"/>
                </a:solidFill>
              </a:rPr>
              <a:t>autistic / typically developing comparison participants</a:t>
            </a:r>
            <a:endParaRPr lang="en-US" sz="1200" dirty="0"/>
          </a:p>
          <a:p>
            <a:pPr indent="0" marL="0">
              <a:spcAft>
                <a:spcPts val="300"/>
              </a:spcAft>
              <a:buNone/>
            </a:pPr>
            <a:r>
              <a:rPr lang="en-US" sz="1200" b="1" dirty="0">
                <a:solidFill>
                  <a:schemeClr val="tx2"/>
                </a:solidFill>
              </a:rPr>
              <a:t>Barratt scale (BIS): </a:t>
            </a:r>
            <a:pPr indent="0" marL="0">
              <a:spcAft>
                <a:spcPts val="300"/>
              </a:spcAft>
              <a:buNone/>
            </a:pPr>
            <a:r>
              <a:rPr lang="en-US" sz="1200" dirty="0">
                <a:solidFill>
                  <a:schemeClr val="tx1"/>
                </a:solidFill>
              </a:rPr>
              <a:t>30-item impulsivity questionnaire; items scored 1 rarely to 4 almost always</a:t>
            </a:r>
            <a:endParaRPr lang="en-US" sz="1200" dirty="0"/>
          </a:p>
          <a:p>
            <a:pPr indent="0" marL="0">
              <a:spcAft>
                <a:spcPts val="300"/>
              </a:spcAft>
              <a:buNone/>
            </a:pPr>
            <a:r>
              <a:rPr lang="en-US" sz="1200" b="1" dirty="0">
                <a:solidFill>
                  <a:schemeClr val="tx2"/>
                </a:solidFill>
              </a:rPr>
              <a:t>bis_parcel1: </a:t>
            </a:r>
            <a:pPr indent="0" marL="0">
              <a:spcAft>
                <a:spcPts val="300"/>
              </a:spcAft>
              <a:buNone/>
            </a:pPr>
            <a:r>
              <a:rPr lang="en-US" sz="1200" dirty="0">
                <a:solidFill>
                  <a:schemeClr val="tx1"/>
                </a:solidFill>
              </a:rPr>
              <a:t>'acts impulsively': mean of items 17 and 19</a:t>
            </a:r>
            <a:endParaRPr lang="en-US" sz="1200" dirty="0"/>
          </a:p>
          <a:p>
            <a:pPr indent="0" marL="0">
              <a:spcAft>
                <a:spcPts val="300"/>
              </a:spcAft>
              <a:buNone/>
            </a:pPr>
            <a:r>
              <a:rPr lang="en-US" sz="1200" b="1" dirty="0">
                <a:solidFill>
                  <a:schemeClr val="tx2"/>
                </a:solidFill>
              </a:rPr>
              <a:t>SSRT: </a:t>
            </a:r>
            <a:pPr indent="0" marL="0">
              <a:spcAft>
                <a:spcPts val="300"/>
              </a:spcAft>
              <a:buNone/>
            </a:pPr>
            <a:r>
              <a:rPr lang="en-US" sz="1200" dirty="0">
                <a:solidFill>
                  <a:schemeClr val="tx1"/>
                </a:solidFill>
              </a:rPr>
              <a:t>stop-signal reaction time: how long it takes to cancel a started response</a:t>
            </a:r>
            <a:endParaRPr lang="en-US" sz="1200" dirty="0"/>
          </a:p>
          <a:p>
            <a:pPr indent="0" marL="0">
              <a:spcAft>
                <a:spcPts val="300"/>
              </a:spcAft>
              <a:buNone/>
            </a:pPr>
            <a:r>
              <a:rPr lang="en-US" sz="1200" b="1" dirty="0">
                <a:solidFill>
                  <a:schemeClr val="tx2"/>
                </a:solidFill>
              </a:rPr>
              <a:t>FIQ · SRS · ADOS: </a:t>
            </a:r>
            <a:pPr indent="0" marL="0">
              <a:spcAft>
                <a:spcPts val="300"/>
              </a:spcAft>
              <a:buNone/>
            </a:pPr>
            <a:r>
              <a:rPr lang="en-US" sz="1200" dirty="0">
                <a:solidFill>
                  <a:schemeClr val="tx1"/>
                </a:solidFill>
              </a:rPr>
              <a:t>full-scale IQ · Social Responsiveness Scale · Autism Diagnostic Observation Schedule</a:t>
            </a:r>
            <a:endParaRPr lang="en-US" sz="1200" dirty="0"/>
          </a:p>
          <a:p>
            <a:pPr indent="0" marL="0">
              <a:spcAft>
                <a:spcPts val="300"/>
              </a:spcAft>
              <a:buNone/>
            </a:pPr>
            <a:r>
              <a:rPr lang="en-US" sz="1200" b="1" dirty="0">
                <a:solidFill>
                  <a:schemeClr val="tx2"/>
                </a:solidFill>
              </a:rPr>
              <a:t>Mean FD: </a:t>
            </a:r>
            <a:pPr indent="0" marL="0">
              <a:spcAft>
                <a:spcPts val="300"/>
              </a:spcAft>
              <a:buNone/>
            </a:pPr>
            <a:r>
              <a:rPr lang="en-US" sz="1200" dirty="0">
                <a:solidFill>
                  <a:schemeClr val="tx1"/>
                </a:solidFill>
              </a:rPr>
              <a:t>average head movement between fMRI volumes, in mm</a:t>
            </a:r>
            <a:endParaRPr lang="en-US" sz="1200" dirty="0"/>
          </a:p>
          <a:p>
            <a:pPr indent="0" marL="0">
              <a:spcAft>
                <a:spcPts val="300"/>
              </a:spcAft>
              <a:buNone/>
            </a:pPr>
            <a:r>
              <a:rPr lang="en-US" sz="1200" b="1" dirty="0">
                <a:solidFill>
                  <a:schemeClr val="tx2"/>
                </a:solidFill>
              </a:rPr>
              <a:t>C-PAC · fMRIPrep: </a:t>
            </a:r>
            <a:pPr indent="0" marL="0">
              <a:spcAft>
                <a:spcPts val="300"/>
              </a:spcAft>
              <a:buNone/>
            </a:pPr>
            <a:r>
              <a:rPr lang="en-US" sz="1200" dirty="0">
                <a:solidFill>
                  <a:schemeClr val="tx1"/>
                </a:solidFill>
              </a:rPr>
              <a:t>preprocessing pipelines (ABIDE Preprocessed used C-PAC)</a:t>
            </a:r>
            <a:endParaRPr lang="en-US" sz="1200" dirty="0"/>
          </a:p>
          <a:p>
            <a:pPr indent="0" marL="0">
              <a:spcAft>
                <a:spcPts val="300"/>
              </a:spcAft>
              <a:buNone/>
            </a:pPr>
            <a:r>
              <a:rPr lang="en-US" sz="1200" b="1" dirty="0">
                <a:solidFill>
                  <a:schemeClr val="tx2"/>
                </a:solidFill>
              </a:rPr>
              <a:t>CC200: </a:t>
            </a:r>
            <a:pPr indent="0" marL="0">
              <a:spcAft>
                <a:spcPts val="300"/>
              </a:spcAft>
              <a:buNone/>
            </a:pPr>
            <a:r>
              <a:rPr lang="en-US" sz="1200" dirty="0">
                <a:solidFill>
                  <a:schemeClr val="tx1"/>
                </a:solidFill>
              </a:rPr>
              <a:t>200-region functional brain parcellation; connectivity = correlation between regions</a:t>
            </a:r>
            <a:endParaRPr lang="en-US" sz="1200" dirty="0"/>
          </a:p>
          <a:p>
            <a:pPr indent="0" marL="0">
              <a:spcAft>
                <a:spcPts val="300"/>
              </a:spcAft>
              <a:buNone/>
            </a:pPr>
            <a:r>
              <a:rPr lang="en-US" sz="1200" b="1" dirty="0">
                <a:solidFill>
                  <a:schemeClr val="tx2"/>
                </a:solidFill>
              </a:rPr>
              <a:t>BBR · ANTs SyN: </a:t>
            </a:r>
            <a:pPr indent="0" marL="0">
              <a:spcAft>
                <a:spcPts val="300"/>
              </a:spcAft>
              <a:buNone/>
            </a:pPr>
            <a:r>
              <a:rPr lang="en-US" sz="1200" dirty="0">
                <a:solidFill>
                  <a:schemeClr val="tx1"/>
                </a:solidFill>
              </a:rPr>
              <a:t>fMRI-to-anatomy registration · non-linear registration to a template</a:t>
            </a:r>
            <a:endParaRPr lang="en-US" sz="1200" dirty="0"/>
          </a:p>
          <a:p>
            <a:pPr indent="0" marL="0">
              <a:spcAft>
                <a:spcPts val="300"/>
              </a:spcAft>
              <a:buNone/>
            </a:pPr>
            <a:r>
              <a:rPr lang="en-US" sz="1200" b="1" dirty="0">
                <a:solidFill>
                  <a:schemeClr val="tx2"/>
                </a:solidFill>
              </a:rPr>
              <a:t>CPM · linear SVM: </a:t>
            </a:r>
            <a:pPr indent="0" marL="0">
              <a:spcAft>
                <a:spcPts val="300"/>
              </a:spcAft>
              <a:buNone/>
            </a:pPr>
            <a:r>
              <a:rPr lang="en-US" sz="1200" dirty="0">
                <a:solidFill>
                  <a:schemeClr val="tx1"/>
                </a:solidFill>
              </a:rPr>
              <a:t>connectome-based predictive modelling · a standard linear classifier</a:t>
            </a:r>
            <a:endParaRPr lang="en-US" sz="1200" dirty="0"/>
          </a:p>
        </p:txBody>
      </p:sp>
      <p:sp>
        <p:nvSpPr>
          <p:cNvPr id="4" name="gloss1"/>
          <p:cNvSpPr txBox="1"/>
          <p:nvPr/>
        </p:nvSpPr>
        <p:spPr>
          <a:xfrm>
            <a:off x="6172200" y="1097280"/>
            <a:ext cx="5532120" cy="5257800"/>
          </a:xfrm>
          <a:prstGeom prst="rect">
            <a:avLst/>
          </a:prstGeom>
          <a:noFill/>
          <a:ln/>
        </p:spPr>
        <p:txBody>
          <a:bodyPr wrap="square" lIns="0" tIns="0" rIns="0" bIns="0" rtlCol="0" anchor="t"/>
          <a:lstStyle/>
          <a:p>
            <a:pPr indent="0" marL="0">
              <a:spcAft>
                <a:spcPts val="300"/>
              </a:spcAft>
              <a:buNone/>
            </a:pPr>
            <a:r>
              <a:rPr lang="en-US" sz="1200" b="1" dirty="0">
                <a:solidFill>
                  <a:schemeClr val="tx2"/>
                </a:solidFill>
              </a:rPr>
              <a:t>LOOCV · leave-site-out: </a:t>
            </a:r>
            <a:pPr indent="0" marL="0">
              <a:spcAft>
                <a:spcPts val="300"/>
              </a:spcAft>
              <a:buNone/>
            </a:pPr>
            <a:r>
              <a:rPr lang="en-US" sz="1200" dirty="0">
                <a:solidFill>
                  <a:schemeClr val="tx1"/>
                </a:solidFill>
              </a:rPr>
              <a:t>leave one participant out · train on all sites but one, test on the held-out site</a:t>
            </a:r>
            <a:endParaRPr lang="en-US" sz="1200" dirty="0"/>
          </a:p>
          <a:p>
            <a:pPr indent="0" marL="0">
              <a:spcAft>
                <a:spcPts val="300"/>
              </a:spcAft>
              <a:buNone/>
            </a:pPr>
            <a:r>
              <a:rPr lang="en-US" sz="1200" b="1" dirty="0">
                <a:solidFill>
                  <a:schemeClr val="tx2"/>
                </a:solidFill>
              </a:rPr>
              <a:t>AUC · FDR · d: </a:t>
            </a:r>
            <a:pPr indent="0" marL="0">
              <a:spcAft>
                <a:spcPts val="300"/>
              </a:spcAft>
              <a:buNone/>
            </a:pPr>
            <a:r>
              <a:rPr lang="en-US" sz="1200" dirty="0">
                <a:solidFill>
                  <a:schemeClr val="tx1"/>
                </a:solidFill>
              </a:rPr>
              <a:t>0.5 = chance, 1 = perfect · false discovery rate correction · standardised effect size</a:t>
            </a:r>
            <a:endParaRPr lang="en-US" sz="1200" dirty="0"/>
          </a:p>
          <a:p>
            <a:pPr indent="0" marL="0">
              <a:spcAft>
                <a:spcPts val="300"/>
              </a:spcAft>
              <a:buNone/>
            </a:pPr>
            <a:r>
              <a:rPr lang="en-US" sz="1200" b="1" dirty="0">
                <a:solidFill>
                  <a:schemeClr val="tx2"/>
                </a:solidFill>
              </a:rPr>
              <a:t>UMAP · trustworthiness: </a:t>
            </a:r>
            <a:pPr indent="0" marL="0">
              <a:spcAft>
                <a:spcPts val="300"/>
              </a:spcAft>
              <a:buNone/>
            </a:pPr>
            <a:r>
              <a:rPr lang="en-US" sz="1200" dirty="0">
                <a:solidFill>
                  <a:schemeClr val="tx1"/>
                </a:solidFill>
              </a:rPr>
              <a:t>2-D map placing similar participants close · how well neighbours are preserved</a:t>
            </a:r>
            <a:endParaRPr lang="en-US" sz="1200" dirty="0"/>
          </a:p>
          <a:p>
            <a:pPr indent="0" marL="0">
              <a:spcAft>
                <a:spcPts val="300"/>
              </a:spcAft>
              <a:buNone/>
            </a:pPr>
            <a:r>
              <a:rPr lang="en-US" sz="1200" b="1" dirty="0">
                <a:solidFill>
                  <a:schemeClr val="tx2"/>
                </a:solidFill>
              </a:rPr>
              <a:t>Triple · query: </a:t>
            </a:r>
            <a:pPr indent="0" marL="0">
              <a:spcAft>
                <a:spcPts val="300"/>
              </a:spcAft>
              <a:buNone/>
            </a:pPr>
            <a:r>
              <a:rPr lang="en-US" sz="1200" dirty="0">
                <a:solidFill>
                  <a:schemeClr val="tx1"/>
                </a:solidFill>
              </a:rPr>
              <a:t>one statement: subject, relation, object · a statement pattern with blanks</a:t>
            </a:r>
            <a:endParaRPr lang="en-US" sz="1200" dirty="0"/>
          </a:p>
          <a:p>
            <a:pPr indent="0" marL="0">
              <a:spcAft>
                <a:spcPts val="300"/>
              </a:spcAft>
              <a:buNone/>
            </a:pPr>
            <a:r>
              <a:rPr lang="en-US" sz="1200" b="1" dirty="0">
                <a:solidFill>
                  <a:schemeClr val="tx2"/>
                </a:solidFill>
              </a:rPr>
              <a:t>RDF · SPARQL · Oxigraph: </a:t>
            </a:r>
            <a:pPr indent="0" marL="0">
              <a:spcAft>
                <a:spcPts val="300"/>
              </a:spcAft>
              <a:buNone/>
            </a:pPr>
            <a:r>
              <a:rPr lang="en-US" sz="1200" dirty="0">
                <a:solidFill>
                  <a:schemeClr val="tx1"/>
                </a:solidFill>
              </a:rPr>
              <a:t>file format for statements · query language · a graph database</a:t>
            </a:r>
            <a:endParaRPr lang="en-US" sz="1200" dirty="0"/>
          </a:p>
          <a:p>
            <a:pPr indent="0" marL="0">
              <a:spcAft>
                <a:spcPts val="300"/>
              </a:spcAft>
              <a:buNone/>
            </a:pPr>
            <a:r>
              <a:rPr lang="en-US" sz="1200" b="1" dirty="0">
                <a:solidFill>
                  <a:schemeClr val="tx2"/>
                </a:solidFill>
              </a:rPr>
              <a:t>NIDM · PROV: </a:t>
            </a:r>
            <a:pPr indent="0" marL="0">
              <a:spcAft>
                <a:spcPts val="300"/>
              </a:spcAft>
              <a:buNone/>
            </a:pPr>
            <a:r>
              <a:rPr lang="en-US" sz="1200" dirty="0">
                <a:solidFill>
                  <a:schemeClr val="tx1"/>
                </a:solidFill>
              </a:rPr>
              <a:t>neuroimaging data vocabulary · provenance standard (what produced what, from what)</a:t>
            </a:r>
            <a:endParaRPr lang="en-US" sz="1200" dirty="0"/>
          </a:p>
          <a:p>
            <a:pPr indent="0" marL="0">
              <a:spcAft>
                <a:spcPts val="300"/>
              </a:spcAft>
              <a:buNone/>
            </a:pPr>
            <a:r>
              <a:rPr lang="en-US" sz="1200" b="1" dirty="0">
                <a:solidFill>
                  <a:schemeClr val="tx2"/>
                </a:solidFill>
              </a:rPr>
              <a:t>SHACL: </a:t>
            </a:r>
            <a:pPr indent="0" marL="0">
              <a:spcAft>
                <a:spcPts val="300"/>
              </a:spcAft>
              <a:buNone/>
            </a:pPr>
            <a:r>
              <a:rPr lang="en-US" sz="1200" dirty="0">
                <a:solidFill>
                  <a:schemeClr val="tx1"/>
                </a:solidFill>
              </a:rPr>
              <a:t>machine-checkable rules a graph must satisfy</a:t>
            </a:r>
            <a:endParaRPr lang="en-US" sz="1200" dirty="0"/>
          </a:p>
          <a:p>
            <a:pPr indent="0" marL="0">
              <a:spcAft>
                <a:spcPts val="300"/>
              </a:spcAft>
              <a:buNone/>
            </a:pPr>
            <a:r>
              <a:rPr lang="en-US" sz="1200" b="1" dirty="0">
                <a:solidFill>
                  <a:schemeClr val="tx2"/>
                </a:solidFill>
              </a:rPr>
              <a:t>UBERON · InterLex · ECO: </a:t>
            </a:r>
            <a:pPr indent="0" marL="0">
              <a:spcAft>
                <a:spcPts val="300"/>
              </a:spcAft>
              <a:buNone/>
            </a:pPr>
            <a:r>
              <a:rPr lang="en-US" sz="1200" dirty="0">
                <a:solidFill>
                  <a:schemeClr val="tx1"/>
                </a:solidFill>
              </a:rPr>
              <a:t>anatomy vocabulary · shared variable definitions · evidence types for claims</a:t>
            </a:r>
            <a:endParaRPr lang="en-US" sz="1200" dirty="0"/>
          </a:p>
          <a:p>
            <a:pPr indent="0" marL="0">
              <a:spcAft>
                <a:spcPts val="300"/>
              </a:spcAft>
              <a:buNone/>
            </a:pPr>
            <a:r>
              <a:rPr lang="en-US" sz="1200" b="1" dirty="0">
                <a:solidFill>
                  <a:schemeClr val="tx2"/>
                </a:solidFill>
              </a:rPr>
              <a:t>DUO · DOI · ORCID · RRID: </a:t>
            </a:r>
            <a:pPr indent="0" marL="0">
              <a:spcAft>
                <a:spcPts val="300"/>
              </a:spcAft>
              <a:buNone/>
            </a:pPr>
            <a:r>
              <a:rPr lang="en-US" sz="1200" dirty="0">
                <a:solidFill>
                  <a:schemeClr val="tx1"/>
                </a:solidFill>
              </a:rPr>
              <a:t>data-use conditions · persistent IDs for papers, people, tools</a:t>
            </a:r>
            <a:endParaRPr lang="en-US" sz="1200" dirty="0"/>
          </a:p>
          <a:p>
            <a:pPr indent="0" marL="0">
              <a:spcAft>
                <a:spcPts val="300"/>
              </a:spcAft>
              <a:buNone/>
            </a:pPr>
            <a:r>
              <a:rPr lang="en-US" sz="1200" b="1" dirty="0">
                <a:solidFill>
                  <a:schemeClr val="tx2"/>
                </a:solidFill>
              </a:rPr>
              <a:t>PROBAST · ComBat: </a:t>
            </a:r>
            <a:pPr indent="0" marL="0">
              <a:spcAft>
                <a:spcPts val="300"/>
              </a:spcAft>
              <a:buNone/>
            </a:pPr>
            <a:r>
              <a:rPr lang="en-US" sz="1200" dirty="0">
                <a:solidFill>
                  <a:schemeClr val="tx1"/>
                </a:solidFill>
              </a:rPr>
              <a:t>risk-of-bias tool for prediction studies · site-effect harmonisation</a:t>
            </a:r>
            <a:endParaRPr lang="en-US" sz="1200" dirty="0"/>
          </a:p>
          <a:p>
            <a:pPr indent="0" marL="0">
              <a:spcAft>
                <a:spcPts val="300"/>
              </a:spcAft>
              <a:buNone/>
            </a:pPr>
            <a:r>
              <a:rPr lang="en-US" sz="1200" b="1" dirty="0">
                <a:solidFill>
                  <a:schemeClr val="tx2"/>
                </a:solidFill>
              </a:rPr>
              <a:t>ReproPond · ReproLake: </a:t>
            </a:r>
            <a:pPr indent="0" marL="0">
              <a:spcAft>
                <a:spcPts val="300"/>
              </a:spcAft>
              <a:buNone/>
            </a:pPr>
            <a:r>
              <a:rPr lang="en-US" sz="1200" dirty="0">
                <a:solidFill>
                  <a:schemeClr val="tx1"/>
                </a:solidFill>
              </a:rPr>
              <a:t>a lab's local metadata store · shared store of public datasets</a:t>
            </a:r>
            <a:endParaRPr lang="en-US" sz="1200" dirty="0"/>
          </a:p>
          <a:p>
            <a:pPr indent="0" marL="0">
              <a:spcAft>
                <a:spcPts val="300"/>
              </a:spcAft>
              <a:buNone/>
            </a:pPr>
            <a:r>
              <a:rPr lang="en-US" sz="1200" b="1" dirty="0">
                <a:solidFill>
                  <a:schemeClr val="tx2"/>
                </a:solidFill>
              </a:rPr>
              <a:t>Neurobagel · MCP: </a:t>
            </a:r>
            <a:pPr indent="0" marL="0">
              <a:spcAft>
                <a:spcPts val="300"/>
              </a:spcAft>
              <a:buNone/>
            </a:pPr>
            <a:r>
              <a:rPr lang="en-US" sz="1200" dirty="0">
                <a:solidFill>
                  <a:schemeClr val="tx1"/>
                </a:solidFill>
              </a:rPr>
              <a:t>sends a query to each pond, returns only permitted results · plug-in interface for AI tools</a:t>
            </a:r>
            <a:endParaRPr lang="en-US" sz="1200" dirty="0"/>
          </a:p>
        </p:txBody>
      </p:sp>
      <p:sp>
        <p:nvSpPr>
          <p:cNvPr id="6" name="badge54_H"/>
          <p:cNvSpPr txBox="1"/>
          <p:nvPr/>
        </p:nvSpPr>
        <p:spPr>
          <a:xfrm>
            <a:off x="274320"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H</a:t>
            </a:r>
            <a:endParaRPr lang="en-US" sz="1100" dirty="0"/>
          </a:p>
        </p:txBody>
      </p:sp>
      <p:sp>
        <p:nvSpPr>
          <p:cNvPr id="7" name="badge54_L"/>
          <p:cNvSpPr txBox="1"/>
          <p:nvPr/>
        </p:nvSpPr>
        <p:spPr>
          <a:xfrm>
            <a:off x="576072"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L</a:t>
            </a:r>
            <a:endParaRPr lang="en-US" sz="1100" dirty="0"/>
          </a:p>
        </p:txBody>
      </p:sp>
      <p:sp>
        <p:nvSpPr>
          <p:cNvPr id="8" name="badge54_R"/>
          <p:cNvSpPr txBox="1"/>
          <p:nvPr/>
        </p:nvSpPr>
        <p:spPr>
          <a:xfrm>
            <a:off x="877824"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R</a:t>
            </a:r>
            <a:endParaRPr lang="en-US" sz="1100" dirty="0"/>
          </a:p>
        </p:txBody>
      </p:sp>
      <p:sp>
        <p:nvSpPr>
          <p:cNvPr id="9" name="badge54_check"/>
          <p:cNvSpPr txBox="1"/>
          <p:nvPr/>
        </p:nvSpPr>
        <p:spPr>
          <a:xfrm>
            <a:off x="1234440" y="6473952"/>
            <a:ext cx="676656" cy="301752"/>
          </a:xfrm>
          <a:prstGeom prst="rect">
            <a:avLst/>
          </a:prstGeom>
          <a:noFill/>
          <a:ln/>
        </p:spPr>
        <p:txBody>
          <a:bodyPr wrap="square" lIns="0" tIns="0" rIns="0" bIns="0" rtlCol="0" anchor="ctr"/>
          <a:lstStyle/>
          <a:p>
            <a:pPr indent="0" marL="0">
              <a:buNone/>
            </a:pPr>
            <a:r>
              <a:rPr lang="en-US" sz="1100" i="1" dirty="0">
                <a:solidFill>
                  <a:srgbClr val="5E7A88"/>
                </a:solidFill>
              </a:rPr>
              <a:t>reviewed</a:t>
            </a:r>
            <a:endParaRPr lang="en-US" sz="11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692640" cy="731520"/>
          </a:xfrm>
          <a:prstGeom prst="rect">
            <a:avLst/>
          </a:prstGeom>
          <a:noFill/>
          <a:ln/>
        </p:spPr>
        <p:txBody>
          <a:bodyPr wrap="square" rtlCol="0" anchor="ctr"/>
          <a:lstStyle/>
          <a:p>
            <a:pPr algn="l" indent="0" marL="0">
              <a:buNone/>
            </a:pPr>
            <a:r>
              <a:rPr lang="en-US" sz="2600" b="1" dirty="0">
                <a:solidFill>
                  <a:schemeClr val="tx2"/>
                </a:solidFill>
              </a:rPr>
              <a:t>Key to the AI-involvement badges</a:t>
            </a:r>
            <a:endParaRPr lang="en-US" sz="2600" dirty="0"/>
          </a:p>
        </p:txBody>
      </p:sp>
      <p:sp>
        <p:nvSpPr>
          <p:cNvPr id="3" name="text454"/>
          <p:cNvSpPr txBox="1"/>
          <p:nvPr/>
        </p:nvSpPr>
        <p:spPr>
          <a:xfrm>
            <a:off x="548640" y="1188720"/>
            <a:ext cx="6766560" cy="411480"/>
          </a:xfrm>
          <a:prstGeom prst="rect">
            <a:avLst/>
          </a:prstGeom>
          <a:noFill/>
          <a:ln/>
        </p:spPr>
        <p:txBody>
          <a:bodyPr wrap="square" lIns="0" tIns="0" rIns="0" bIns="0" rtlCol="0" anchor="t"/>
          <a:lstStyle/>
          <a:p>
            <a:pPr indent="0" marL="0">
              <a:buNone/>
            </a:pPr>
            <a:r>
              <a:rPr lang="en-US" sz="2000" b="1" dirty="0">
                <a:solidFill>
                  <a:schemeClr val="tx2"/>
                </a:solidFill>
              </a:rPr>
              <a:t>How it was produced</a:t>
            </a:r>
            <a:endParaRPr lang="en-US" sz="2000" dirty="0"/>
          </a:p>
        </p:txBody>
      </p:sp>
      <p:sp>
        <p:nvSpPr>
          <p:cNvPr id="4" name="shape455"/>
          <p:cNvSpPr txBox="1"/>
          <p:nvPr/>
        </p:nvSpPr>
        <p:spPr>
          <a:xfrm>
            <a:off x="548640" y="1737360"/>
            <a:ext cx="502920" cy="502920"/>
          </a:xfrm>
          <a:prstGeom prst="ellipse">
            <a:avLst/>
          </a:prstGeom>
          <a:solidFill>
            <a:schemeClr val="accent6"/>
          </a:solidFill>
          <a:ln/>
        </p:spPr>
        <p:txBody>
          <a:bodyPr wrap="square" lIns="50800" tIns="50800" rIns="50800" bIns="50800" rtlCol="0" anchor="ctr"/>
          <a:lstStyle/>
          <a:p>
            <a:pPr algn="ctr" indent="0" marL="0">
              <a:buNone/>
            </a:pPr>
            <a:r>
              <a:rPr lang="en-US" sz="1800" b="1" dirty="0">
                <a:solidFill>
                  <a:schemeClr val="tx2"/>
                </a:solidFill>
              </a:rPr>
              <a:t>H</a:t>
            </a:r>
            <a:endParaRPr lang="en-US" sz="1800" dirty="0"/>
          </a:p>
        </p:txBody>
      </p:sp>
      <p:sp>
        <p:nvSpPr>
          <p:cNvPr id="5" name="text456"/>
          <p:cNvSpPr txBox="1"/>
          <p:nvPr/>
        </p:nvSpPr>
        <p:spPr>
          <a:xfrm>
            <a:off x="1234440" y="1664208"/>
            <a:ext cx="6035040" cy="640080"/>
          </a:xfrm>
          <a:prstGeom prst="rect">
            <a:avLst/>
          </a:prstGeom>
          <a:noFill/>
          <a:ln/>
        </p:spPr>
        <p:txBody>
          <a:bodyPr wrap="square" lIns="0" tIns="0" rIns="0" bIns="0" rtlCol="0" anchor="ctr"/>
          <a:lstStyle/>
          <a:p>
            <a:pPr indent="0" marL="0">
              <a:buNone/>
            </a:pPr>
            <a:r>
              <a:rPr lang="en-US" sz="1600" b="1" dirty="0">
                <a:solidFill>
                  <a:schemeClr val="tx1"/>
                </a:solidFill>
              </a:rPr>
              <a:t>Speaker: </a:t>
            </a:r>
            <a:pPr indent="0" marL="0">
              <a:buNone/>
            </a:pPr>
            <a:r>
              <a:rPr lang="en-US" sz="1600" dirty="0">
                <a:solidFill>
                  <a:schemeClr val="tx1"/>
                </a:solidFill>
              </a:rPr>
              <a:t>written or decided by the speaker</a:t>
            </a:r>
            <a:endParaRPr lang="en-US" sz="1600" dirty="0"/>
          </a:p>
        </p:txBody>
      </p:sp>
      <p:sp>
        <p:nvSpPr>
          <p:cNvPr id="6" name="shape457"/>
          <p:cNvSpPr txBox="1"/>
          <p:nvPr/>
        </p:nvSpPr>
        <p:spPr>
          <a:xfrm>
            <a:off x="548640" y="2423160"/>
            <a:ext cx="502920" cy="502920"/>
          </a:xfrm>
          <a:prstGeom prst="ellipse">
            <a:avLst/>
          </a:prstGeom>
          <a:solidFill>
            <a:schemeClr val="accent6"/>
          </a:solidFill>
          <a:ln/>
        </p:spPr>
        <p:txBody>
          <a:bodyPr wrap="square" lIns="50800" tIns="50800" rIns="50800" bIns="50800" rtlCol="0" anchor="ctr"/>
          <a:lstStyle/>
          <a:p>
            <a:pPr algn="ctr" indent="0" marL="0">
              <a:buNone/>
            </a:pPr>
            <a:r>
              <a:rPr lang="en-US" sz="1800" b="1" dirty="0">
                <a:solidFill>
                  <a:schemeClr val="tx2"/>
                </a:solidFill>
              </a:rPr>
              <a:t>L</a:t>
            </a:r>
            <a:endParaRPr lang="en-US" sz="1800" dirty="0"/>
          </a:p>
        </p:txBody>
      </p:sp>
      <p:sp>
        <p:nvSpPr>
          <p:cNvPr id="7" name="text458"/>
          <p:cNvSpPr txBox="1"/>
          <p:nvPr/>
        </p:nvSpPr>
        <p:spPr>
          <a:xfrm>
            <a:off x="1234440" y="2350008"/>
            <a:ext cx="6035040" cy="640080"/>
          </a:xfrm>
          <a:prstGeom prst="rect">
            <a:avLst/>
          </a:prstGeom>
          <a:noFill/>
          <a:ln/>
        </p:spPr>
        <p:txBody>
          <a:bodyPr wrap="square" lIns="0" tIns="0" rIns="0" bIns="0" rtlCol="0" anchor="ctr"/>
          <a:lstStyle/>
          <a:p>
            <a:pPr indent="0" marL="0">
              <a:buNone/>
            </a:pPr>
            <a:r>
              <a:rPr lang="en-US" sz="1600" b="1" dirty="0">
                <a:solidFill>
                  <a:schemeClr val="tx1"/>
                </a:solidFill>
              </a:rPr>
              <a:t>LLM draft: </a:t>
            </a:r>
            <a:pPr indent="0" marL="0">
              <a:buNone/>
            </a:pPr>
            <a:r>
              <a:rPr lang="en-US" sz="1600" dirty="0">
                <a:solidFill>
                  <a:schemeClr val="tx1"/>
                </a:solidFill>
              </a:rPr>
              <a:t>drafted by an LLM from the speaker's instructions, then edited by the speaker</a:t>
            </a:r>
            <a:endParaRPr lang="en-US" sz="1600" dirty="0"/>
          </a:p>
        </p:txBody>
      </p:sp>
      <p:sp>
        <p:nvSpPr>
          <p:cNvPr id="8" name="shape459"/>
          <p:cNvSpPr txBox="1"/>
          <p:nvPr/>
        </p:nvSpPr>
        <p:spPr>
          <a:xfrm>
            <a:off x="548640" y="3108960"/>
            <a:ext cx="502920" cy="502920"/>
          </a:xfrm>
          <a:prstGeom prst="ellipse">
            <a:avLst/>
          </a:prstGeom>
          <a:solidFill>
            <a:schemeClr val="accent6"/>
          </a:solidFill>
          <a:ln/>
        </p:spPr>
        <p:txBody>
          <a:bodyPr wrap="square" lIns="50800" tIns="50800" rIns="50800" bIns="50800" rtlCol="0" anchor="ctr"/>
          <a:lstStyle/>
          <a:p>
            <a:pPr algn="ctr" indent="0" marL="0">
              <a:buNone/>
            </a:pPr>
            <a:r>
              <a:rPr lang="en-US" sz="1800" b="1" dirty="0">
                <a:solidFill>
                  <a:schemeClr val="tx2"/>
                </a:solidFill>
              </a:rPr>
              <a:t>A</a:t>
            </a:r>
            <a:endParaRPr lang="en-US" sz="1800" dirty="0"/>
          </a:p>
        </p:txBody>
      </p:sp>
      <p:sp>
        <p:nvSpPr>
          <p:cNvPr id="9" name="text460"/>
          <p:cNvSpPr txBox="1"/>
          <p:nvPr/>
        </p:nvSpPr>
        <p:spPr>
          <a:xfrm>
            <a:off x="1234440" y="3035808"/>
            <a:ext cx="6035040" cy="640080"/>
          </a:xfrm>
          <a:prstGeom prst="rect">
            <a:avLst/>
          </a:prstGeom>
          <a:noFill/>
          <a:ln/>
        </p:spPr>
        <p:txBody>
          <a:bodyPr wrap="square" lIns="0" tIns="0" rIns="0" bIns="0" rtlCol="0" anchor="ctr"/>
          <a:lstStyle/>
          <a:p>
            <a:pPr indent="0" marL="0">
              <a:buNone/>
            </a:pPr>
            <a:r>
              <a:rPr lang="en-US" sz="1600" b="1" dirty="0">
                <a:solidFill>
                  <a:schemeClr val="tx1"/>
                </a:solidFill>
              </a:rPr>
              <a:t>Agent computed: </a:t>
            </a:r>
            <a:pPr indent="0" marL="0">
              <a:buNone/>
            </a:pPr>
            <a:r>
              <a:rPr lang="en-US" sz="1600" dirty="0">
                <a:solidFill>
                  <a:schemeClr val="tx1"/>
                </a:solidFill>
              </a:rPr>
              <a:t>computed by an agent writing and running code (Python, SPARQL, Slurm on ORCD)</a:t>
            </a:r>
            <a:endParaRPr lang="en-US" sz="1600" dirty="0"/>
          </a:p>
        </p:txBody>
      </p:sp>
      <p:sp>
        <p:nvSpPr>
          <p:cNvPr id="10" name="shape461"/>
          <p:cNvSpPr txBox="1"/>
          <p:nvPr/>
        </p:nvSpPr>
        <p:spPr>
          <a:xfrm>
            <a:off x="548640" y="3794760"/>
            <a:ext cx="502920" cy="502920"/>
          </a:xfrm>
          <a:prstGeom prst="ellipse">
            <a:avLst/>
          </a:prstGeom>
          <a:solidFill>
            <a:schemeClr val="accent6"/>
          </a:solidFill>
          <a:ln/>
        </p:spPr>
        <p:txBody>
          <a:bodyPr wrap="square" lIns="50800" tIns="50800" rIns="50800" bIns="50800" rtlCol="0" anchor="ctr"/>
          <a:lstStyle/>
          <a:p>
            <a:pPr algn="ctr" indent="0" marL="0">
              <a:buNone/>
            </a:pPr>
            <a:r>
              <a:rPr lang="en-US" sz="1800" b="1" dirty="0">
                <a:solidFill>
                  <a:schemeClr val="tx2"/>
                </a:solidFill>
              </a:rPr>
              <a:t>R</a:t>
            </a:r>
            <a:endParaRPr lang="en-US" sz="1800" dirty="0"/>
          </a:p>
        </p:txBody>
      </p:sp>
      <p:sp>
        <p:nvSpPr>
          <p:cNvPr id="11" name="text462"/>
          <p:cNvSpPr txBox="1"/>
          <p:nvPr/>
        </p:nvSpPr>
        <p:spPr>
          <a:xfrm>
            <a:off x="1234440" y="3721608"/>
            <a:ext cx="6035040" cy="640080"/>
          </a:xfrm>
          <a:prstGeom prst="rect">
            <a:avLst/>
          </a:prstGeom>
          <a:noFill/>
          <a:ln/>
        </p:spPr>
        <p:txBody>
          <a:bodyPr wrap="square" lIns="0" tIns="0" rIns="0" bIns="0" rtlCol="0" anchor="ctr"/>
          <a:lstStyle/>
          <a:p>
            <a:pPr indent="0" marL="0">
              <a:buNone/>
            </a:pPr>
            <a:r>
              <a:rPr lang="en-US" sz="1600" b="1" dirty="0">
                <a:solidFill>
                  <a:schemeClr val="tx1"/>
                </a:solidFill>
              </a:rPr>
              <a:t>Agent retrieved: </a:t>
            </a:r>
            <a:pPr indent="0" marL="0">
              <a:buNone/>
            </a:pPr>
            <a:r>
              <a:rPr lang="en-US" sz="1600" dirty="0">
                <a:solidFill>
                  <a:schemeClr val="tx1"/>
                </a:solidFill>
              </a:rPr>
              <a:t>retrieved by an agent from cited sources; quotes checked against the source</a:t>
            </a:r>
            <a:endParaRPr lang="en-US" sz="1600" dirty="0"/>
          </a:p>
        </p:txBody>
      </p:sp>
      <p:sp>
        <p:nvSpPr>
          <p:cNvPr id="12" name="shape463"/>
          <p:cNvSpPr txBox="1"/>
          <p:nvPr/>
        </p:nvSpPr>
        <p:spPr>
          <a:xfrm>
            <a:off x="548640" y="4480560"/>
            <a:ext cx="502920" cy="502920"/>
          </a:xfrm>
          <a:prstGeom prst="ellipse">
            <a:avLst/>
          </a:prstGeom>
          <a:solidFill>
            <a:schemeClr val="accent6"/>
          </a:solidFill>
          <a:ln/>
        </p:spPr>
        <p:txBody>
          <a:bodyPr wrap="square" lIns="50800" tIns="50800" rIns="50800" bIns="50800" rtlCol="0" anchor="ctr"/>
          <a:lstStyle/>
          <a:p>
            <a:pPr algn="ctr" indent="0" marL="0">
              <a:buNone/>
            </a:pPr>
            <a:r>
              <a:rPr lang="en-US" sz="1800" b="1" dirty="0">
                <a:solidFill>
                  <a:schemeClr val="tx2"/>
                </a:solidFill>
              </a:rPr>
              <a:t>M</a:t>
            </a:r>
            <a:endParaRPr lang="en-US" sz="1800" dirty="0"/>
          </a:p>
        </p:txBody>
      </p:sp>
      <p:sp>
        <p:nvSpPr>
          <p:cNvPr id="13" name="text464"/>
          <p:cNvSpPr txBox="1"/>
          <p:nvPr/>
        </p:nvSpPr>
        <p:spPr>
          <a:xfrm>
            <a:off x="1234440" y="4407408"/>
            <a:ext cx="6035040" cy="640080"/>
          </a:xfrm>
          <a:prstGeom prst="rect">
            <a:avLst/>
          </a:prstGeom>
          <a:noFill/>
          <a:ln/>
        </p:spPr>
        <p:txBody>
          <a:bodyPr wrap="square" lIns="0" tIns="0" rIns="0" bIns="0" rtlCol="0" anchor="ctr"/>
          <a:lstStyle/>
          <a:p>
            <a:pPr indent="0" marL="0">
              <a:buNone/>
            </a:pPr>
            <a:r>
              <a:rPr lang="en-US" sz="1600" b="1" dirty="0">
                <a:solidFill>
                  <a:schemeClr val="tx1"/>
                </a:solidFill>
              </a:rPr>
              <a:t>External agent (MCP): </a:t>
            </a:r>
            <a:pPr indent="0" marL="0">
              <a:buNone/>
            </a:pPr>
            <a:r>
              <a:rPr lang="en-US" sz="1600" dirty="0">
                <a:solidFill>
                  <a:schemeClr val="tx1"/>
                </a:solidFill>
              </a:rPr>
              <a:t>answered by an external agent system through MCP (Brain Researcher)</a:t>
            </a:r>
            <a:endParaRPr lang="en-US" sz="1600" dirty="0"/>
          </a:p>
        </p:txBody>
      </p:sp>
      <p:sp>
        <p:nvSpPr>
          <p:cNvPr id="14" name="shape465"/>
          <p:cNvSpPr txBox="1"/>
          <p:nvPr/>
        </p:nvSpPr>
        <p:spPr>
          <a:xfrm>
            <a:off x="548640" y="5166360"/>
            <a:ext cx="502920" cy="502920"/>
          </a:xfrm>
          <a:prstGeom prst="ellipse">
            <a:avLst/>
          </a:prstGeom>
          <a:solidFill>
            <a:schemeClr val="accent6"/>
          </a:solidFill>
          <a:ln/>
        </p:spPr>
        <p:txBody>
          <a:bodyPr wrap="square" lIns="50800" tIns="50800" rIns="50800" bIns="50800" rtlCol="0" anchor="ctr"/>
          <a:lstStyle/>
          <a:p>
            <a:pPr algn="ctr" indent="0" marL="0">
              <a:buNone/>
            </a:pPr>
            <a:r>
              <a:rPr lang="en-US" sz="1800" b="1" dirty="0">
                <a:solidFill>
                  <a:schemeClr val="tx2"/>
                </a:solidFill>
              </a:rPr>
              <a:t>P</a:t>
            </a:r>
            <a:endParaRPr lang="en-US" sz="1800" dirty="0"/>
          </a:p>
        </p:txBody>
      </p:sp>
      <p:sp>
        <p:nvSpPr>
          <p:cNvPr id="15" name="text466"/>
          <p:cNvSpPr txBox="1"/>
          <p:nvPr/>
        </p:nvSpPr>
        <p:spPr>
          <a:xfrm>
            <a:off x="1234440" y="5093208"/>
            <a:ext cx="6035040" cy="640080"/>
          </a:xfrm>
          <a:prstGeom prst="rect">
            <a:avLst/>
          </a:prstGeom>
          <a:noFill/>
          <a:ln/>
        </p:spPr>
        <p:txBody>
          <a:bodyPr wrap="square" lIns="0" tIns="0" rIns="0" bIns="0" rtlCol="0" anchor="ctr"/>
          <a:lstStyle/>
          <a:p>
            <a:pPr indent="0" marL="0">
              <a:buNone/>
            </a:pPr>
            <a:r>
              <a:rPr lang="en-US" sz="1600" b="1" dirty="0">
                <a:solidFill>
                  <a:schemeClr val="tx1"/>
                </a:solidFill>
              </a:rPr>
              <a:t>Earlier agentic session: </a:t>
            </a:r>
            <a:pPr indent="0" marL="0">
              <a:buNone/>
            </a:pPr>
            <a:r>
              <a:rPr lang="en-US" sz="1600" dirty="0">
                <a:solidFill>
                  <a:schemeClr val="tx1"/>
                </a:solidFill>
              </a:rPr>
              <a:t>produced in an earlier session by a different agentic system, reused</a:t>
            </a:r>
            <a:endParaRPr lang="en-US" sz="1600" dirty="0"/>
          </a:p>
        </p:txBody>
      </p:sp>
      <p:sp>
        <p:nvSpPr>
          <p:cNvPr id="16" name="text467"/>
          <p:cNvSpPr txBox="1"/>
          <p:nvPr/>
        </p:nvSpPr>
        <p:spPr>
          <a:xfrm>
            <a:off x="7680960" y="1188720"/>
            <a:ext cx="4023360" cy="411480"/>
          </a:xfrm>
          <a:prstGeom prst="rect">
            <a:avLst/>
          </a:prstGeom>
          <a:noFill/>
          <a:ln/>
        </p:spPr>
        <p:txBody>
          <a:bodyPr wrap="square" lIns="0" tIns="0" rIns="0" bIns="0" rtlCol="0" anchor="t"/>
          <a:lstStyle/>
          <a:p>
            <a:pPr indent="0" marL="0">
              <a:buNone/>
            </a:pPr>
            <a:r>
              <a:rPr lang="en-US" sz="2000" b="1" dirty="0">
                <a:solidFill>
                  <a:schemeClr val="tx2"/>
                </a:solidFill>
              </a:rPr>
              <a:t>How it was checked</a:t>
            </a:r>
            <a:endParaRPr lang="en-US" sz="2000" dirty="0"/>
          </a:p>
        </p:txBody>
      </p:sp>
      <p:sp>
        <p:nvSpPr>
          <p:cNvPr id="17" name="text468"/>
          <p:cNvSpPr txBox="1"/>
          <p:nvPr/>
        </p:nvSpPr>
        <p:spPr>
          <a:xfrm>
            <a:off x="7680960" y="1691640"/>
            <a:ext cx="4023360" cy="914400"/>
          </a:xfrm>
          <a:prstGeom prst="rect">
            <a:avLst/>
          </a:prstGeom>
          <a:noFill/>
          <a:ln/>
        </p:spPr>
        <p:txBody>
          <a:bodyPr wrap="square" lIns="0" tIns="0" rIns="0" bIns="0" rtlCol="0" anchor="t"/>
          <a:lstStyle/>
          <a:p>
            <a:pPr indent="0" marL="0">
              <a:buNone/>
            </a:pPr>
            <a:r>
              <a:rPr lang="en-US" sz="1600" b="1" i="1" dirty="0">
                <a:solidFill>
                  <a:schemeClr val="accent3"/>
                </a:solidFill>
              </a:rPr>
              <a:t>re-run</a:t>
            </a:r>
            <a:endParaRPr lang="en-US" sz="1600" dirty="0"/>
          </a:p>
          <a:p>
            <a:pPr indent="0" marL="0">
              <a:buNone/>
            </a:pPr>
            <a:r>
              <a:rPr lang="en-US" sz="1600" dirty="0">
                <a:solidFill>
                  <a:schemeClr val="tx1"/>
                </a:solidFill>
              </a:rPr>
              <a:t>recomputed independently (for example a clean rebuild on ORCD matched)</a:t>
            </a:r>
            <a:endParaRPr lang="en-US" sz="1600" dirty="0"/>
          </a:p>
        </p:txBody>
      </p:sp>
      <p:sp>
        <p:nvSpPr>
          <p:cNvPr id="18" name="text469"/>
          <p:cNvSpPr txBox="1"/>
          <p:nvPr/>
        </p:nvSpPr>
        <p:spPr>
          <a:xfrm>
            <a:off x="7680960" y="2697480"/>
            <a:ext cx="4023360" cy="914400"/>
          </a:xfrm>
          <a:prstGeom prst="rect">
            <a:avLst/>
          </a:prstGeom>
          <a:noFill/>
          <a:ln/>
        </p:spPr>
        <p:txBody>
          <a:bodyPr wrap="square" lIns="0" tIns="0" rIns="0" bIns="0" rtlCol="0" anchor="t"/>
          <a:lstStyle/>
          <a:p>
            <a:pPr indent="0" marL="0">
              <a:buNone/>
            </a:pPr>
            <a:r>
              <a:rPr lang="en-US" sz="1600" b="1" i="1" dirty="0">
                <a:solidFill>
                  <a:schemeClr val="accent3"/>
                </a:solidFill>
              </a:rPr>
              <a:t>validated</a:t>
            </a:r>
            <a:endParaRPr lang="en-US" sz="1600" dirty="0"/>
          </a:p>
          <a:p>
            <a:pPr indent="0" marL="0">
              <a:buNone/>
            </a:pPr>
            <a:r>
              <a:rPr lang="en-US" sz="1600" dirty="0">
                <a:solidFill>
                  <a:schemeClr val="tx1"/>
                </a:solidFill>
              </a:rPr>
              <a:t>passed automated checks (SHACL, schema, tests, render QA)</a:t>
            </a:r>
            <a:endParaRPr lang="en-US" sz="1600" dirty="0"/>
          </a:p>
        </p:txBody>
      </p:sp>
      <p:sp>
        <p:nvSpPr>
          <p:cNvPr id="19" name="text470"/>
          <p:cNvSpPr txBox="1"/>
          <p:nvPr/>
        </p:nvSpPr>
        <p:spPr>
          <a:xfrm>
            <a:off x="7680960" y="3703320"/>
            <a:ext cx="4023360" cy="914400"/>
          </a:xfrm>
          <a:prstGeom prst="rect">
            <a:avLst/>
          </a:prstGeom>
          <a:noFill/>
          <a:ln/>
        </p:spPr>
        <p:txBody>
          <a:bodyPr wrap="square" lIns="0" tIns="0" rIns="0" bIns="0" rtlCol="0" anchor="t"/>
          <a:lstStyle/>
          <a:p>
            <a:pPr indent="0" marL="0">
              <a:buNone/>
            </a:pPr>
            <a:r>
              <a:rPr lang="en-US" sz="1600" b="1" i="1" dirty="0">
                <a:solidFill>
                  <a:schemeClr val="accent3"/>
                </a:solidFill>
              </a:rPr>
              <a:t>reviewed</a:t>
            </a:r>
            <a:endParaRPr lang="en-US" sz="1600" dirty="0"/>
          </a:p>
          <a:p>
            <a:pPr indent="0" marL="0">
              <a:buNone/>
            </a:pPr>
            <a:r>
              <a:rPr lang="en-US" sz="1600" dirty="0">
                <a:solidFill>
                  <a:schemeClr val="tx1"/>
                </a:solidFill>
              </a:rPr>
              <a:t>read and corrected by the speaker</a:t>
            </a:r>
            <a:endParaRPr lang="en-US" sz="1600" dirty="0"/>
          </a:p>
        </p:txBody>
      </p:sp>
      <p:sp>
        <p:nvSpPr>
          <p:cNvPr id="20" name="text471"/>
          <p:cNvSpPr txBox="1"/>
          <p:nvPr/>
        </p:nvSpPr>
        <p:spPr>
          <a:xfrm>
            <a:off x="7680960" y="4709160"/>
            <a:ext cx="4023360" cy="914400"/>
          </a:xfrm>
          <a:prstGeom prst="rect">
            <a:avLst/>
          </a:prstGeom>
          <a:noFill/>
          <a:ln/>
        </p:spPr>
        <p:txBody>
          <a:bodyPr wrap="square" lIns="0" tIns="0" rIns="0" bIns="0" rtlCol="0" anchor="t"/>
          <a:lstStyle/>
          <a:p>
            <a:pPr indent="0" marL="0">
              <a:buNone/>
            </a:pPr>
            <a:r>
              <a:rPr lang="en-US" sz="1600" b="1" i="1" dirty="0">
                <a:solidFill>
                  <a:schemeClr val="accent3"/>
                </a:solidFill>
              </a:rPr>
              <a:t>unverified</a:t>
            </a:r>
            <a:endParaRPr lang="en-US" sz="1600" dirty="0"/>
          </a:p>
          <a:p>
            <a:pPr indent="0" marL="0">
              <a:buNone/>
            </a:pPr>
            <a:r>
              <a:rPr lang="en-US" sz="1600" dirty="0">
                <a:solidFill>
                  <a:schemeClr val="tx1"/>
                </a:solidFill>
              </a:rPr>
              <a:t>not independently checked; stated as such</a:t>
            </a:r>
            <a:endParaRPr lang="en-US" sz="1600" dirty="0"/>
          </a:p>
        </p:txBody>
      </p:sp>
      <p:sp>
        <p:nvSpPr>
          <p:cNvPr id="21" name="text472"/>
          <p:cNvSpPr txBox="1"/>
          <p:nvPr/>
        </p:nvSpPr>
        <p:spPr>
          <a:xfrm>
            <a:off x="548640" y="5989320"/>
            <a:ext cx="10972800" cy="365760"/>
          </a:xfrm>
          <a:prstGeom prst="rect">
            <a:avLst/>
          </a:prstGeom>
          <a:noFill/>
          <a:ln/>
        </p:spPr>
        <p:txBody>
          <a:bodyPr wrap="square" lIns="0" tIns="0" rIns="0" bIns="0" rtlCol="0" anchor="t"/>
          <a:lstStyle/>
          <a:p>
            <a:pPr indent="0" marL="0">
              <a:buNone/>
            </a:pPr>
            <a:r>
              <a:rPr lang="en-US" sz="1600" dirty="0">
                <a:solidFill>
                  <a:schemeClr val="accent3"/>
                </a:solidFill>
              </a:rPr>
              <a:t>Per-slide records are also exported as W3C PROV in talk_provenance.ttl.</a:t>
            </a:r>
            <a:endParaRPr lang="en-US" sz="1600" dirty="0"/>
          </a:p>
        </p:txBody>
      </p:sp>
      <p:sp>
        <p:nvSpPr>
          <p:cNvPr id="23" name="badge55_H"/>
          <p:cNvSpPr txBox="1"/>
          <p:nvPr/>
        </p:nvSpPr>
        <p:spPr>
          <a:xfrm>
            <a:off x="274320"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H</a:t>
            </a:r>
            <a:endParaRPr lang="en-US" sz="1100" dirty="0"/>
          </a:p>
        </p:txBody>
      </p:sp>
      <p:sp>
        <p:nvSpPr>
          <p:cNvPr id="24" name="badge55_L"/>
          <p:cNvSpPr txBox="1"/>
          <p:nvPr/>
        </p:nvSpPr>
        <p:spPr>
          <a:xfrm>
            <a:off x="576072"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L</a:t>
            </a:r>
            <a:endParaRPr lang="en-US" sz="1100" dirty="0"/>
          </a:p>
        </p:txBody>
      </p:sp>
      <p:sp>
        <p:nvSpPr>
          <p:cNvPr id="25" name="badge55_check"/>
          <p:cNvSpPr txBox="1"/>
          <p:nvPr/>
        </p:nvSpPr>
        <p:spPr>
          <a:xfrm>
            <a:off x="932688" y="6473952"/>
            <a:ext cx="676656" cy="301752"/>
          </a:xfrm>
          <a:prstGeom prst="rect">
            <a:avLst/>
          </a:prstGeom>
          <a:noFill/>
          <a:ln/>
        </p:spPr>
        <p:txBody>
          <a:bodyPr wrap="square" lIns="0" tIns="0" rIns="0" bIns="0" rtlCol="0" anchor="ctr"/>
          <a:lstStyle/>
          <a:p>
            <a:pPr indent="0" marL="0">
              <a:buNone/>
            </a:pPr>
            <a:r>
              <a:rPr lang="en-US" sz="1100" i="1" dirty="0">
                <a:solidFill>
                  <a:srgbClr val="5E7A88"/>
                </a:solidFill>
              </a:rPr>
              <a:t>reviewed</a:t>
            </a:r>
            <a:endParaRPr lang="en-US" sz="11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692640" cy="731520"/>
          </a:xfrm>
          <a:prstGeom prst="rect">
            <a:avLst/>
          </a:prstGeom>
          <a:noFill/>
          <a:ln/>
        </p:spPr>
        <p:txBody>
          <a:bodyPr wrap="square" rtlCol="0" anchor="ctr"/>
          <a:lstStyle/>
          <a:p>
            <a:pPr algn="l" indent="0" marL="0">
              <a:buNone/>
            </a:pPr>
            <a:r>
              <a:rPr lang="en-US" sz="2600" b="1" dirty="0">
                <a:solidFill>
                  <a:schemeClr val="tx2"/>
                </a:solidFill>
              </a:rPr>
              <a:t>ds000030 phenotype embedding from a graph query</a:t>
            </a:r>
            <a:endParaRPr lang="en-US" sz="2600" dirty="0"/>
          </a:p>
        </p:txBody>
      </p:sp>
      <p:pic>
        <p:nvPicPr>
          <p:cNvPr id="3" name="Image 0" descr="phenotype_embedding.png">    </p:cNvPr>
          <p:cNvPicPr>
            <a:picLocks noChangeAspect="1"/>
          </p:cNvPicPr>
          <p:nvPr/>
        </p:nvPicPr>
        <p:blipFill>
          <a:blip r:embed="rId1"/>
          <a:stretch>
            <a:fillRect/>
          </a:stretch>
        </p:blipFill>
        <p:spPr>
          <a:xfrm>
            <a:off x="1463040" y="1097280"/>
            <a:ext cx="9235440" cy="2770632"/>
          </a:xfrm>
          <a:prstGeom prst="rect">
            <a:avLst/>
          </a:prstGeom>
        </p:spPr>
      </p:pic>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548640" y="3977640"/>
          <a:ext cx="11064240" cy="914400"/>
        </p:xfrm>
        <a:graphic>
          <a:graphicData uri="http://schemas.openxmlformats.org/drawingml/2006/table">
            <a:tbl>
              <a:tblPr/>
              <a:tblGrid>
                <a:gridCol w="5577840"/>
                <a:gridCol w="2743200"/>
                <a:gridCol w="2743200"/>
              </a:tblGrid>
              <a:tr h="384048">
                <a:tc>
                  <a:txBody>
                    <a:bodyPr/>
                    <a:lstStyle/>
                    <a:p>
                      <a:pPr indent="0" marL="0">
                        <a:buNone/>
                      </a:pPr>
                      <a:r>
                        <a:rPr lang="en-US" sz="1400" b="1" dirty="0">
                          <a:solidFill>
                            <a:schemeClr val="bg1"/>
                          </a:solidFill>
                        </a:rPr>
                        <a:t>Check</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Original</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Re-run (ORCD)</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accent1"/>
                    </a:solidFill>
                  </a:tcPr>
                </a:tc>
              </a:tr>
              <a:tr h="384048">
                <a:tc>
                  <a:txBody>
                    <a:bodyPr/>
                    <a:lstStyle/>
                    <a:p>
                      <a:pPr indent="0" marL="0">
                        <a:buNone/>
                      </a:pPr>
                      <a:r>
                        <a:rPr lang="en-US" sz="1400" dirty="0">
                          <a:solidFill>
                            <a:schemeClr val="tx1"/>
                          </a:solidFill>
                        </a:rPr>
                        <a:t>UMAP trustworthiness, k = 15, seed 42</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0.874</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0.879</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r h="384048">
                <a:tc>
                  <a:txBody>
                    <a:bodyPr/>
                    <a:lstStyle/>
                    <a:p>
                      <a:pPr indent="0" marL="0">
                        <a:buNone/>
                      </a:pPr>
                      <a:r>
                        <a:rPr lang="en-US" sz="1400" dirty="0">
                          <a:solidFill>
                            <a:schemeClr val="tx1"/>
                          </a:solidFill>
                        </a:rPr>
                        <a:t>PCA trustworthiness, same matrix</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0.805</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0.805</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r>
              <a:tr h="384048">
                <a:tc>
                  <a:txBody>
                    <a:bodyPr/>
                    <a:lstStyle/>
                    <a:p>
                      <a:pPr indent="0" marL="0">
                        <a:buNone/>
                      </a:pPr>
                      <a:r>
                        <a:rPr lang="en-US" sz="1400" dirty="0">
                          <a:solidFill>
                            <a:schemeClr val="tx1"/>
                          </a:solidFill>
                        </a:rPr>
                        <a:t>UMAP seeds 43 / 44</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0.868 / 0.879</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0.878 / 0.870</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r h="384048">
                <a:tc>
                  <a:txBody>
                    <a:bodyPr/>
                    <a:lstStyle/>
                    <a:p>
                      <a:pPr indent="0" marL="0">
                        <a:buNone/>
                      </a:pPr>
                      <a:r>
                        <a:rPr lang="en-US" sz="1400" dirty="0">
                          <a:solidFill>
                            <a:schemeClr val="tx1"/>
                          </a:solidFill>
                        </a:rPr>
                        <a:t>UMAP with 30 neighbours</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0.867</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0.860</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2"/>
                    </a:solidFill>
                  </a:tcPr>
                </a:tc>
              </a:tr>
              <a:tr h="384048">
                <a:tc>
                  <a:txBody>
                    <a:bodyPr/>
                    <a:lstStyle/>
                    <a:p>
                      <a:pPr indent="0" marL="0">
                        <a:buNone/>
                      </a:pPr>
                      <a:r>
                        <a:rPr lang="en-US" sz="1400" dirty="0">
                          <a:solidFill>
                            <a:schemeClr val="tx1"/>
                          </a:solidFill>
                        </a:rPr>
                        <a:t>15-NN overlap with seed 42 (seeds 43 / 44)</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0.74 / 0.74</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0.75 / 0.73</a:t>
                      </a:r>
                      <a:endParaRPr lang="en-US" sz="1400" dirty="0"/>
                    </a:p>
                  </a:txBody>
                  <a:tcPr marL="50800" marR="50800" marT="50800" marB="5080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chemeClr val="bg1"/>
                    </a:solidFill>
                  </a:tcPr>
                </a:tc>
              </a:tr>
            </a:tbl>
          </a:graphicData>
        </a:graphic>
      </p:graphicFrame>
      <p:sp>
        <p:nvSpPr>
          <p:cNvPr id="6" name="badge56_P"/>
          <p:cNvSpPr txBox="1"/>
          <p:nvPr/>
        </p:nvSpPr>
        <p:spPr>
          <a:xfrm>
            <a:off x="274320" y="6492240"/>
            <a:ext cx="265176" cy="265176"/>
          </a:xfrm>
          <a:prstGeom prst="ellipse">
            <a:avLst/>
          </a:prstGeom>
          <a:solidFill>
            <a:srgbClr val="E3E9EC"/>
          </a:solidFill>
          <a:ln/>
        </p:spPr>
        <p:txBody>
          <a:bodyPr wrap="square" lIns="0" tIns="0" rIns="0" bIns="0" rtlCol="0" anchor="ctr"/>
          <a:lstStyle/>
          <a:p>
            <a:pPr algn="ctr" indent="0" marL="0">
              <a:buNone/>
            </a:pPr>
            <a:r>
              <a:rPr lang="en-US" sz="1100" b="1" dirty="0">
                <a:solidFill>
                  <a:srgbClr val="17303F"/>
                </a:solidFill>
              </a:rPr>
              <a:t>P</a:t>
            </a:r>
            <a:endParaRPr lang="en-US" sz="1100" dirty="0"/>
          </a:p>
        </p:txBody>
      </p:sp>
      <p:sp>
        <p:nvSpPr>
          <p:cNvPr id="7" name="data56"/>
          <p:cNvSpPr txBox="1"/>
          <p:nvPr/>
        </p:nvSpPr>
        <p:spPr>
          <a:xfrm>
            <a:off x="3054096" y="6473952"/>
            <a:ext cx="8101584" cy="301752"/>
          </a:xfrm>
          <a:prstGeom prst="rect">
            <a:avLst/>
          </a:prstGeom>
          <a:noFill/>
          <a:ln/>
        </p:spPr>
        <p:txBody>
          <a:bodyPr wrap="square" lIns="0" tIns="0" rIns="0" bIns="0" rtlCol="0" anchor="ctr"/>
          <a:lstStyle/>
          <a:p>
            <a:pPr indent="0" marL="0">
              <a:buNone/>
            </a:pPr>
            <a:r>
              <a:rPr lang="en-US" sz="1100" dirty="0">
                <a:solidFill>
                  <a:srgbClr val="5E7A88"/>
                </a:solidFill>
              </a:rPr>
              <a:t>Data: ds000030 (UCLA CNP), OpenNeuro, commit 4070b6e</a:t>
            </a:r>
            <a:endParaRPr lang="en-US" sz="1100" dirty="0"/>
          </a:p>
        </p:txBody>
      </p:sp>
      <p:sp>
        <p:nvSpPr>
          <p:cNvPr id="8" name="badge56_check"/>
          <p:cNvSpPr txBox="1"/>
          <p:nvPr/>
        </p:nvSpPr>
        <p:spPr>
          <a:xfrm>
            <a:off x="630936" y="6473952"/>
            <a:ext cx="2286000" cy="301752"/>
          </a:xfrm>
          <a:prstGeom prst="rect">
            <a:avLst/>
          </a:prstGeom>
          <a:noFill/>
          <a:ln/>
        </p:spPr>
        <p:txBody>
          <a:bodyPr wrap="square" lIns="0" tIns="0" rIns="0" bIns="0" rtlCol="0" anchor="ctr"/>
          <a:lstStyle/>
          <a:p>
            <a:pPr indent="0" marL="0">
              <a:buNone/>
            </a:pPr>
            <a:r>
              <a:rPr lang="en-US" sz="1100" i="1" dirty="0">
                <a:solidFill>
                  <a:srgbClr val="5E7A88"/>
                </a:solidFill>
              </a:rPr>
              <a:t>re-run (UMAP differed ≤ 0.011)</a:t>
            </a:r>
            <a:endParaRPr lang="en-US" sz="11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57</a:t>
            </a:fld>
            <a:endParaRPr lang="en-US"/>
          </a:p>
        </p:txBody>
      </p:sp>
    </p:spTree>
  </p:cSld>
  <p:clrMapOvr>
    <a:masterClrMapping/>
  </p:clrMapOvr>
</p:sld>
</file>

<file path=ppt/theme/theme1.xml><?xml version="1.0" encoding="utf-8"?>
<a:theme xmlns:a="http://schemas.openxmlformats.org/drawingml/2006/main" name="Repronim Graph">
  <a:themeElements>
    <a:clrScheme name="Repronim Graph">
      <a:dk1>
        <a:srgbClr val="1F2A30"/>
      </a:dk1>
      <a:lt1>
        <a:srgbClr val="FFFFFF"/>
      </a:lt1>
      <a:dk2>
        <a:srgbClr val="17303F"/>
      </a:dk2>
      <a:lt2>
        <a:srgbClr val="F3F6F6"/>
      </a:lt2>
      <a:accent1>
        <a:srgbClr val="0F7B7B"/>
      </a:accent1>
      <a:accent2>
        <a:srgbClr val="C0562B"/>
      </a:accent2>
      <a:accent3>
        <a:srgbClr val="5E7A88"/>
      </a:accent3>
      <a:accent4>
        <a:srgbClr val="DCEEEC"/>
      </a:accent4>
      <a:accent5>
        <a:srgbClr val="F7E4DA"/>
      </a:accent5>
      <a:accent6>
        <a:srgbClr val="E3E9EC"/>
      </a:accent6>
      <a:hlink>
        <a:srgbClr val="0F7B7B"/>
      </a:hlink>
      <a:folHlink>
        <a:srgbClr val="5E7A88"/>
      </a:folHlink>
    </a:clrScheme>
    <a:fontScheme name="Repronim Graph">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Connecting neuroimaging knowledge graphs across data, publications and labs</dc:title>
  <dc:subject>PptxGenJS Presentation</dc:subject>
  <dc:creator>Satrajit Ghosh</dc:creator>
  <cp:lastModifiedBy>Satrajit Ghosh</cp:lastModifiedBy>
  <cp:revision>1</cp:revision>
  <dcterms:created xsi:type="dcterms:W3CDTF">2026-10-16T11:07:49Z</dcterms:created>
  <dcterms:modified xsi:type="dcterms:W3CDTF">2026-10-16T11:07:49Z</dcterms:modified>
</cp:coreProperties>
</file>